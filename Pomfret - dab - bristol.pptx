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56"/>
  </p:notesMasterIdLst>
  <p:sldIdLst>
    <p:sldId id="268" r:id="rId2"/>
    <p:sldId id="311" r:id="rId3"/>
    <p:sldId id="269" r:id="rId4"/>
    <p:sldId id="309" r:id="rId5"/>
    <p:sldId id="270" r:id="rId6"/>
    <p:sldId id="316" r:id="rId7"/>
    <p:sldId id="271" r:id="rId8"/>
    <p:sldId id="296" r:id="rId9"/>
    <p:sldId id="293" r:id="rId10"/>
    <p:sldId id="383" r:id="rId11"/>
    <p:sldId id="297" r:id="rId12"/>
    <p:sldId id="273" r:id="rId13"/>
    <p:sldId id="322" r:id="rId14"/>
    <p:sldId id="321" r:id="rId15"/>
    <p:sldId id="324" r:id="rId16"/>
    <p:sldId id="274" r:id="rId17"/>
    <p:sldId id="275" r:id="rId18"/>
    <p:sldId id="277" r:id="rId19"/>
    <p:sldId id="279" r:id="rId20"/>
    <p:sldId id="284" r:id="rId21"/>
    <p:sldId id="331" r:id="rId22"/>
    <p:sldId id="282" r:id="rId23"/>
    <p:sldId id="283" r:id="rId24"/>
    <p:sldId id="329" r:id="rId25"/>
    <p:sldId id="332" r:id="rId26"/>
    <p:sldId id="360" r:id="rId27"/>
    <p:sldId id="312" r:id="rId28"/>
    <p:sldId id="363" r:id="rId29"/>
    <p:sldId id="378" r:id="rId30"/>
    <p:sldId id="364" r:id="rId31"/>
    <p:sldId id="379" r:id="rId32"/>
    <p:sldId id="362" r:id="rId33"/>
    <p:sldId id="368" r:id="rId34"/>
    <p:sldId id="365" r:id="rId35"/>
    <p:sldId id="371" r:id="rId36"/>
    <p:sldId id="369" r:id="rId37"/>
    <p:sldId id="373" r:id="rId38"/>
    <p:sldId id="374" r:id="rId39"/>
    <p:sldId id="375" r:id="rId40"/>
    <p:sldId id="372" r:id="rId41"/>
    <p:sldId id="376" r:id="rId42"/>
    <p:sldId id="367" r:id="rId43"/>
    <p:sldId id="386" r:id="rId44"/>
    <p:sldId id="385" r:id="rId45"/>
    <p:sldId id="286" r:id="rId46"/>
    <p:sldId id="359" r:id="rId47"/>
    <p:sldId id="361" r:id="rId48"/>
    <p:sldId id="289" r:id="rId49"/>
    <p:sldId id="380" r:id="rId50"/>
    <p:sldId id="310" r:id="rId51"/>
    <p:sldId id="320" r:id="rId52"/>
    <p:sldId id="288" r:id="rId53"/>
    <p:sldId id="276" r:id="rId54"/>
    <p:sldId id="333" r:id="rId5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7B3F7AAA-EC22-4A13-810C-159DD8463C83}">
          <p14:sldIdLst>
            <p14:sldId id="268"/>
            <p14:sldId id="311"/>
            <p14:sldId id="269"/>
            <p14:sldId id="309"/>
            <p14:sldId id="270"/>
            <p14:sldId id="316"/>
            <p14:sldId id="271"/>
            <p14:sldId id="296"/>
            <p14:sldId id="293"/>
            <p14:sldId id="383"/>
            <p14:sldId id="297"/>
            <p14:sldId id="273"/>
            <p14:sldId id="322"/>
            <p14:sldId id="321"/>
            <p14:sldId id="324"/>
            <p14:sldId id="274"/>
            <p14:sldId id="275"/>
            <p14:sldId id="277"/>
            <p14:sldId id="279"/>
            <p14:sldId id="284"/>
            <p14:sldId id="331"/>
            <p14:sldId id="282"/>
            <p14:sldId id="283"/>
            <p14:sldId id="329"/>
            <p14:sldId id="332"/>
            <p14:sldId id="360"/>
            <p14:sldId id="312"/>
            <p14:sldId id="363"/>
            <p14:sldId id="378"/>
            <p14:sldId id="364"/>
            <p14:sldId id="379"/>
            <p14:sldId id="362"/>
            <p14:sldId id="368"/>
            <p14:sldId id="365"/>
            <p14:sldId id="371"/>
            <p14:sldId id="369"/>
            <p14:sldId id="373"/>
            <p14:sldId id="374"/>
            <p14:sldId id="375"/>
            <p14:sldId id="372"/>
            <p14:sldId id="376"/>
            <p14:sldId id="367"/>
            <p14:sldId id="386"/>
            <p14:sldId id="385"/>
            <p14:sldId id="286"/>
            <p14:sldId id="359"/>
            <p14:sldId id="361"/>
            <p14:sldId id="289"/>
            <p14:sldId id="380"/>
            <p14:sldId id="310"/>
            <p14:sldId id="320"/>
            <p14:sldId id="288"/>
          </p14:sldIdLst>
        </p14:section>
        <p14:section name="archive" id="{73DDB065-2021-44A8-B3E7-8428005A1C50}">
          <p14:sldIdLst>
            <p14:sldId id="276"/>
            <p14:sldId id="333"/>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FAFC"/>
    <a:srgbClr val="E5E8ED"/>
    <a:srgbClr val="4FAAB3"/>
    <a:srgbClr val="DEF5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72" autoAdjust="0"/>
    <p:restoredTop sz="65979" autoAdjust="0"/>
  </p:normalViewPr>
  <p:slideViewPr>
    <p:cSldViewPr snapToGrid="0">
      <p:cViewPr>
        <p:scale>
          <a:sx n="72" d="100"/>
          <a:sy n="72" d="100"/>
        </p:scale>
        <p:origin x="1814" y="43"/>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E8AC2F16-8798-47F5-18F4-E5CE87182C63}"/>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8FD642B1-38E3-814A-7F40-6AFF6F3B8F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C4165065-845C-D332-A862-3DFBC758F2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dirty="0"/>
              <a:t>Welcome. I'm Jess. Today we're going to talk about Data API Builder — but I'm going to start with a story.</a:t>
            </a:r>
          </a:p>
        </p:txBody>
      </p:sp>
    </p:spTree>
    <p:extLst>
      <p:ext uri="{BB962C8B-B14F-4D97-AF65-F5344CB8AC3E}">
        <p14:creationId xmlns:p14="http://schemas.microsoft.com/office/powerpoint/2010/main" val="790504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888DEC1-F2AB-4DD2-8E1F-AE80EFAA403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7470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d73be8fb28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d73be8fb28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GB" dirty="0"/>
              <a:t>Last November I got a text message in a gym cycling group</a:t>
            </a:r>
          </a:p>
          <a:p>
            <a:r>
              <a:rPr lang="en-GB" dirty="0"/>
              <a:t>Pete said ‘hey does anyone want to do this’ … and I thought – what a terrible idea, absolutely not…</a:t>
            </a:r>
          </a:p>
          <a:p>
            <a:r>
              <a:rPr lang="en-GB" dirty="0"/>
              <a:t>And then… </a:t>
            </a:r>
          </a:p>
          <a:p>
            <a:r>
              <a:rPr lang="en-GB" dirty="0"/>
              <a:t>Wait a min…. </a:t>
            </a:r>
          </a:p>
          <a:p>
            <a:r>
              <a:rPr lang="en-GB" dirty="0"/>
              <a:t>That’s the gif of a tumbleweed… </a:t>
            </a:r>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A88CBC78-3F0F-D5EB-1A54-EC1498806C6E}"/>
            </a:ext>
          </a:extLst>
        </p:cNvPr>
        <p:cNvGrpSpPr/>
        <p:nvPr/>
      </p:nvGrpSpPr>
      <p:grpSpPr>
        <a:xfrm>
          <a:off x="0" y="0"/>
          <a:ext cx="0" cy="0"/>
          <a:chOff x="0" y="0"/>
          <a:chExt cx="0" cy="0"/>
        </a:xfrm>
      </p:grpSpPr>
      <p:sp>
        <p:nvSpPr>
          <p:cNvPr id="62" name="Google Shape;62;g3d73be8fb28_0_92:notes">
            <a:extLst>
              <a:ext uri="{FF2B5EF4-FFF2-40B4-BE49-F238E27FC236}">
                <a16:creationId xmlns:a16="http://schemas.microsoft.com/office/drawing/2014/main" id="{CE43B33A-8928-AB8A-BC6E-715E86FCB9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d73be8fb28_0_92:notes">
            <a:extLst>
              <a:ext uri="{FF2B5EF4-FFF2-40B4-BE49-F238E27FC236}">
                <a16:creationId xmlns:a16="http://schemas.microsoft.com/office/drawing/2014/main" id="{F84FB2E1-83CA-4EA2-8324-EEAA8EFEFA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dirty="0"/>
              <a:t>Big number, sets up the bet. Pause. Let it land.</a:t>
            </a:r>
            <a:endParaRPr lang="en-GB" dirty="0"/>
          </a:p>
          <a:p>
            <a:r>
              <a:rPr lang="en-GB" dirty="0"/>
              <a:t>what a great plan 🤣</a:t>
            </a:r>
          </a:p>
          <a:p>
            <a:endParaRPr lang="en-GB" dirty="0"/>
          </a:p>
          <a:p>
            <a:endParaRPr lang="en-GB" dirty="0"/>
          </a:p>
          <a:p>
            <a:r>
              <a:rPr lang="en-GB" dirty="0"/>
              <a:t>In 30 days time</a:t>
            </a:r>
            <a:endParaRPr dirty="0"/>
          </a:p>
        </p:txBody>
      </p:sp>
    </p:spTree>
    <p:extLst>
      <p:ext uri="{BB962C8B-B14F-4D97-AF65-F5344CB8AC3E}">
        <p14:creationId xmlns:p14="http://schemas.microsoft.com/office/powerpoint/2010/main" val="3949298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d73be8fb28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d73be8fb2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GB" dirty="0"/>
              <a:t>3 days after my 40</a:t>
            </a:r>
            <a:r>
              <a:rPr lang="en-GB" baseline="30000" dirty="0"/>
              <a:t>th</a:t>
            </a:r>
            <a:r>
              <a:rPr lang="en-GB" dirty="0"/>
              <a:t> birthday – midlife crisis anyone?</a:t>
            </a:r>
          </a:p>
          <a:p>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4306C70A-AFE7-86AB-CCEA-8CFD5FDBBC6E}"/>
            </a:ext>
          </a:extLst>
        </p:cNvPr>
        <p:cNvGrpSpPr/>
        <p:nvPr/>
      </p:nvGrpSpPr>
      <p:grpSpPr>
        <a:xfrm>
          <a:off x="0" y="0"/>
          <a:ext cx="0" cy="0"/>
          <a:chOff x="0" y="0"/>
          <a:chExt cx="0" cy="0"/>
        </a:xfrm>
      </p:grpSpPr>
      <p:sp>
        <p:nvSpPr>
          <p:cNvPr id="82" name="Google Shape;82;g3d73be8fb28_0_117:notes">
            <a:extLst>
              <a:ext uri="{FF2B5EF4-FFF2-40B4-BE49-F238E27FC236}">
                <a16:creationId xmlns:a16="http://schemas.microsoft.com/office/drawing/2014/main" id="{90625164-41D1-630E-EF3F-EFA87CF559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d73be8fb28_0_117:notes">
            <a:extLst>
              <a:ext uri="{FF2B5EF4-FFF2-40B4-BE49-F238E27FC236}">
                <a16:creationId xmlns:a16="http://schemas.microsoft.com/office/drawing/2014/main" id="{CDB307E5-7E29-CAB6-2F0B-84B88488E4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GB" dirty="0"/>
              <a:t>It’s also worth saying that I have a somewhat addictive personality – which tends to mean when I’m in… I’m all in….</a:t>
            </a:r>
          </a:p>
          <a:p>
            <a:endParaRPr lang="en-GB" dirty="0"/>
          </a:p>
          <a:p>
            <a:endParaRPr lang="en-GB" dirty="0"/>
          </a:p>
        </p:txBody>
      </p:sp>
    </p:spTree>
    <p:extLst>
      <p:ext uri="{BB962C8B-B14F-4D97-AF65-F5344CB8AC3E}">
        <p14:creationId xmlns:p14="http://schemas.microsoft.com/office/powerpoint/2010/main" val="40524237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d73be8fb28_0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d73be8fb28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dirty="0"/>
              <a:t>This has generated a lot of data – and I thought what better way to procrastinate writing this presentation… than building something to solve a real problem, while showing how cool DAB really is – so here we are!</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GB" dirty="0"/>
          </a:p>
          <a:p>
            <a:endParaRPr lang="en-GB" dirty="0"/>
          </a:p>
          <a:p>
            <a:r>
              <a:rPr lang="en-GB" dirty="0"/>
              <a:t>And when I say there has been a lot of data…</a:t>
            </a:r>
          </a:p>
          <a:p>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DDF1CDDD-AF23-0EB6-3181-56F9151DE4F2}"/>
            </a:ext>
          </a:extLst>
        </p:cNvPr>
        <p:cNvGrpSpPr/>
        <p:nvPr/>
      </p:nvGrpSpPr>
      <p:grpSpPr>
        <a:xfrm>
          <a:off x="0" y="0"/>
          <a:ext cx="0" cy="0"/>
          <a:chOff x="0" y="0"/>
          <a:chExt cx="0" cy="0"/>
        </a:xfrm>
      </p:grpSpPr>
      <p:sp>
        <p:nvSpPr>
          <p:cNvPr id="82" name="Google Shape;82;g3d73be8fb28_0_117:notes">
            <a:extLst>
              <a:ext uri="{FF2B5EF4-FFF2-40B4-BE49-F238E27FC236}">
                <a16:creationId xmlns:a16="http://schemas.microsoft.com/office/drawing/2014/main" id="{F51F95CE-224D-0CA7-8A43-BCA6EBAA27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d73be8fb28_0_117:notes">
            <a:extLst>
              <a:ext uri="{FF2B5EF4-FFF2-40B4-BE49-F238E27FC236}">
                <a16:creationId xmlns:a16="http://schemas.microsoft.com/office/drawing/2014/main" id="{FF1C531B-5F16-39CF-6AAB-0BE1E1FFAB4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lvl="0"/>
            <a:r>
              <a:rPr lang="en-GB" dirty="0"/>
              <a:t>We’ve got sleep stats, heart rate, heart rate variability, body battery, recovery, training readiness all coming from my Garmin watch</a:t>
            </a:r>
          </a:p>
          <a:p>
            <a:pPr lvl="0"/>
            <a:endParaRPr lang="en-GB" dirty="0"/>
          </a:p>
          <a:p>
            <a:pPr lvl="0"/>
            <a:r>
              <a:rPr lang="en-GB" dirty="0"/>
              <a:t>Weight and body comp stats coming from my Garmin Scale</a:t>
            </a:r>
          </a:p>
          <a:p>
            <a:pPr lvl="0"/>
            <a:endParaRPr lang="en-GB" dirty="0"/>
          </a:p>
          <a:p>
            <a:pPr lvl="0"/>
            <a:r>
              <a:rPr lang="en-GB" dirty="0"/>
              <a:t>And We’ve got bike ride data coming from a Garmin edge head unit – distance, speed, maps of where I’ve been</a:t>
            </a:r>
          </a:p>
          <a:p>
            <a:pPr lvl="0"/>
            <a:endParaRPr lang="en-GB" dirty="0"/>
          </a:p>
          <a:p>
            <a:pPr lvl="0"/>
            <a:r>
              <a:rPr lang="en-GB" dirty="0"/>
              <a:t>+ HR strap for more accurate HR reading</a:t>
            </a:r>
          </a:p>
          <a:p>
            <a:pPr lvl="0"/>
            <a:endParaRPr lang="en-GB" dirty="0"/>
          </a:p>
          <a:p>
            <a:pPr lvl="0"/>
            <a:r>
              <a:rPr lang="en-GB" dirty="0"/>
              <a:t>+ power pedals – how much force I’m putting through the pedals</a:t>
            </a:r>
          </a:p>
          <a:p>
            <a:pPr marL="158750" lvl="0" indent="0">
              <a:buNone/>
            </a:pPr>
            <a:endParaRPr lang="en-GB" dirty="0"/>
          </a:p>
          <a:p>
            <a:pPr lvl="0"/>
            <a:r>
              <a:rPr lang="en-GB" dirty="0"/>
              <a:t>And we’ve got weights and calories of all the food that my wife is cooking, and I’m busy eating… </a:t>
            </a:r>
          </a:p>
          <a:p>
            <a:pPr lvl="0"/>
            <a:endParaRPr lang="en-GB" dirty="0"/>
          </a:p>
          <a:p>
            <a:pPr lvl="0"/>
            <a:r>
              <a:rPr lang="en-GB" dirty="0"/>
              <a:t>The last few months have been a lot of cycling, eating, recovering… and obviously working (literally my whole team is here shh)</a:t>
            </a:r>
          </a:p>
          <a:p>
            <a:pPr lvl="0"/>
            <a:endParaRPr lang="en-GB" dirty="0"/>
          </a:p>
          <a:p>
            <a:pPr lvl="0"/>
            <a:endParaRPr lang="en-GB" dirty="0"/>
          </a:p>
          <a:p>
            <a:pPr lvl="0"/>
            <a:endParaRPr lang="en-GB" dirty="0"/>
          </a:p>
          <a:p>
            <a:pPr lvl="0"/>
            <a:r>
              <a:rPr lang="en-GB" sz="1100" b="1" dirty="0">
                <a:solidFill>
                  <a:srgbClr val="1A1A1A"/>
                </a:solidFill>
                <a:latin typeface="Garet"/>
              </a:rPr>
              <a:t>Heart rate, sleep, HRV, RPE, distance, speed, power, </a:t>
            </a:r>
            <a:r>
              <a:rPr lang="en-GB" sz="1100" b="1" dirty="0" err="1">
                <a:solidFill>
                  <a:srgbClr val="1A1A1A"/>
                </a:solidFill>
                <a:latin typeface="Garet"/>
              </a:rPr>
              <a:t>fueling</a:t>
            </a:r>
            <a:endParaRPr lang="en-GB" sz="1100" b="1" dirty="0">
              <a:solidFill>
                <a:srgbClr val="1A1A1A"/>
              </a:solidFill>
              <a:latin typeface="Garet"/>
            </a:endParaRPr>
          </a:p>
          <a:p>
            <a:pPr lvl="0"/>
            <a:endParaRPr lang="en-GB" sz="1100" b="1" dirty="0">
              <a:solidFill>
                <a:srgbClr val="1A1A1A"/>
              </a:solidFill>
              <a:latin typeface="Garet"/>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GB"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sz="1100" b="1" i="0" u="none" strike="noStrike" cap="none" dirty="0">
                <a:solidFill>
                  <a:srgbClr val="000000"/>
                </a:solidFill>
                <a:effectLst/>
                <a:latin typeface="Arial"/>
                <a:ea typeface="Arial"/>
                <a:cs typeface="Arial"/>
                <a:sym typeface="Arial"/>
              </a:rPr>
              <a:t>Heart Rate Variability (HRV) </a:t>
            </a:r>
            <a:r>
              <a:rPr lang="en-GB" sz="1100" b="0" i="0" u="none" strike="noStrike" cap="none" dirty="0">
                <a:solidFill>
                  <a:srgbClr val="000000"/>
                </a:solidFill>
                <a:effectLst/>
                <a:latin typeface="Arial"/>
                <a:ea typeface="Arial"/>
                <a:cs typeface="Arial"/>
                <a:sym typeface="Arial"/>
              </a:rPr>
              <a:t>is </a:t>
            </a:r>
            <a:r>
              <a:rPr lang="en-GB" dirty="0"/>
              <a:t>the measure of the variation in milliseconds between consecutive heartbeats</a:t>
            </a:r>
            <a:endParaRPr lang="en-GB" sz="1100" b="1" i="0" u="none" strike="noStrike" cap="none" dirty="0">
              <a:solidFill>
                <a:srgbClr val="000000"/>
              </a:solidFill>
              <a:effectLst/>
              <a:latin typeface="Arial"/>
              <a:ea typeface="Arial"/>
              <a:cs typeface="Arial"/>
              <a:sym typeface="Arial"/>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sz="1100" b="1" i="0" u="none" strike="noStrike" cap="none" dirty="0">
                <a:solidFill>
                  <a:srgbClr val="000000"/>
                </a:solidFill>
                <a:effectLst/>
                <a:latin typeface="Arial"/>
                <a:ea typeface="Arial"/>
                <a:cs typeface="Arial"/>
                <a:sym typeface="Arial"/>
              </a:rPr>
              <a:t>Rate of Perceived Exertion (RPE)</a:t>
            </a:r>
            <a:r>
              <a:rPr lang="en-GB" dirty="0"/>
              <a:t> is a subjective 1–10 scale</a:t>
            </a:r>
          </a:p>
          <a:p>
            <a:pPr lvl="0"/>
            <a:endParaRPr lang="en-GB" dirty="0"/>
          </a:p>
        </p:txBody>
      </p:sp>
    </p:spTree>
    <p:extLst>
      <p:ext uri="{BB962C8B-B14F-4D97-AF65-F5344CB8AC3E}">
        <p14:creationId xmlns:p14="http://schemas.microsoft.com/office/powerpoint/2010/main" val="6893367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So most of this data goes via Garmin into </a:t>
            </a:r>
            <a:r>
              <a:rPr lang="en-GB" dirty="0" err="1"/>
              <a:t>intervals.icu</a:t>
            </a:r>
            <a:r>
              <a:rPr lang="en-GB" dirty="0"/>
              <a:t> a great open source tool for training data</a:t>
            </a:r>
          </a:p>
          <a:p>
            <a:r>
              <a:rPr lang="en-GB" dirty="0"/>
              <a:t>They have all kinds of metrics, and explanations on metrics</a:t>
            </a:r>
          </a:p>
          <a:p>
            <a:r>
              <a:rPr lang="en-GB" dirty="0"/>
              <a:t>And all kinds of graphs – this top one is fitness  vs  fatigue, basically if you keep the purple fatigue line above the blue fitness line your fitness will increase</a:t>
            </a:r>
          </a:p>
          <a:p>
            <a:r>
              <a:rPr lang="en-GB" dirty="0"/>
              <a:t>You can see the opposite happened while I was in Australia</a:t>
            </a:r>
          </a:p>
          <a:p>
            <a:r>
              <a:rPr lang="en-GB" dirty="0"/>
              <a:t>But too much training is bad, so also aim to keep this form line close to green…</a:t>
            </a:r>
          </a:p>
          <a:p>
            <a:endParaRPr lang="en-GB" dirty="0"/>
          </a:p>
          <a:p>
            <a:r>
              <a:rPr lang="en-GB" dirty="0"/>
              <a:t>You can also plan your training here, chat to other cycling nerds, but nothing for weight\nutrition</a:t>
            </a:r>
          </a:p>
          <a:p>
            <a:endParaRPr lang="en-GB" dirty="0"/>
          </a:p>
          <a:p>
            <a:pPr marL="158750" indent="0">
              <a:buNone/>
            </a:pPr>
            <a:endParaRPr lang="en-GB" dirty="0"/>
          </a:p>
        </p:txBody>
      </p:sp>
    </p:spTree>
    <p:extLst>
      <p:ext uri="{BB962C8B-B14F-4D97-AF65-F5344CB8AC3E}">
        <p14:creationId xmlns:p14="http://schemas.microsoft.com/office/powerpoint/2010/main" val="12183351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484C6-A140-6EA0-C10A-2F0AC7F1B9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6D71D-BFC4-6764-0F35-B0D011EFA61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779E419-47E6-712B-C4E5-24D22B52FD29}"/>
              </a:ext>
            </a:extLst>
          </p:cNvPr>
          <p:cNvSpPr>
            <a:spLocks noGrp="1"/>
          </p:cNvSpPr>
          <p:nvPr>
            <p:ph type="body" idx="1"/>
          </p:nvPr>
        </p:nvSpPr>
        <p:spPr/>
        <p:txBody>
          <a:bodyPr/>
          <a:lstStyle/>
          <a:p>
            <a:r>
              <a:rPr lang="en-GB" dirty="0"/>
              <a:t>So most of this data goes via Garmin into </a:t>
            </a:r>
            <a:r>
              <a:rPr lang="en-GB" dirty="0" err="1"/>
              <a:t>intervals.icu</a:t>
            </a:r>
            <a:r>
              <a:rPr lang="en-GB" dirty="0"/>
              <a:t> a great open source tool for training data</a:t>
            </a:r>
          </a:p>
          <a:p>
            <a:r>
              <a:rPr lang="en-GB" dirty="0"/>
              <a:t>They have all kinds of metrics, and explanations on metrics</a:t>
            </a:r>
          </a:p>
          <a:p>
            <a:r>
              <a:rPr lang="en-GB" dirty="0"/>
              <a:t>And all kinds of graphs – this top one is fitness  vs  fatigue, basically if you keep the purple fatigue line above the blue fitness line your fitness will increase</a:t>
            </a:r>
          </a:p>
          <a:p>
            <a:r>
              <a:rPr lang="en-GB" dirty="0"/>
              <a:t>You can see the opposite happened while I was in Australia</a:t>
            </a:r>
          </a:p>
          <a:p>
            <a:r>
              <a:rPr lang="en-GB" dirty="0"/>
              <a:t>But too much training is bad, so also aim to keep this form line close to green…</a:t>
            </a:r>
          </a:p>
          <a:p>
            <a:endParaRPr lang="en-GB" dirty="0"/>
          </a:p>
          <a:p>
            <a:r>
              <a:rPr lang="en-GB" dirty="0"/>
              <a:t>You can also plan your training here, chat to other cycling nerds, but nothing for weight\nutrition</a:t>
            </a:r>
          </a:p>
          <a:p>
            <a:endParaRPr lang="en-GB" dirty="0"/>
          </a:p>
          <a:p>
            <a:pPr marL="158750" indent="0">
              <a:buNone/>
            </a:pPr>
            <a:endParaRPr lang="en-GB" dirty="0"/>
          </a:p>
        </p:txBody>
      </p:sp>
    </p:spTree>
    <p:extLst>
      <p:ext uri="{BB962C8B-B14F-4D97-AF65-F5344CB8AC3E}">
        <p14:creationId xmlns:p14="http://schemas.microsoft.com/office/powerpoint/2010/main" val="30629173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BAF87-BE6E-B3BF-CC72-B3B15E65CB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364D99-EA0B-D2E1-B09A-7276DF1CEDF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13F61E5-EBA1-437C-F588-8789D7A677F6}"/>
              </a:ext>
            </a:extLst>
          </p:cNvPr>
          <p:cNvSpPr>
            <a:spLocks noGrp="1"/>
          </p:cNvSpPr>
          <p:nvPr>
            <p:ph type="body" idx="1"/>
          </p:nvPr>
        </p:nvSpPr>
        <p:spPr/>
        <p:txBody>
          <a:bodyPr/>
          <a:lstStyle/>
          <a:p>
            <a:r>
              <a:rPr lang="en-GB" dirty="0"/>
              <a:t>So I built my own simple app</a:t>
            </a:r>
          </a:p>
          <a:p>
            <a:r>
              <a:rPr lang="en-GB" dirty="0"/>
              <a:t>And then I built my own app to track my calories consumed, it pulls in data from Garmin for my daily calories burned to make sure I’m eating enough \ not eating too much</a:t>
            </a:r>
          </a:p>
          <a:p>
            <a:endParaRPr lang="en-GB" dirty="0"/>
          </a:p>
          <a:p>
            <a:endParaRPr lang="en-GB" dirty="0"/>
          </a:p>
          <a:p>
            <a:pPr marL="158750" indent="0">
              <a:buNone/>
            </a:pPr>
            <a:endParaRPr lang="en-GB" dirty="0"/>
          </a:p>
        </p:txBody>
      </p:sp>
    </p:spTree>
    <p:extLst>
      <p:ext uri="{BB962C8B-B14F-4D97-AF65-F5344CB8AC3E}">
        <p14:creationId xmlns:p14="http://schemas.microsoft.com/office/powerpoint/2010/main" val="27320341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d73be8fb28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d73be8fb28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GB" dirty="0"/>
          </a:p>
          <a:p>
            <a:r>
              <a:rPr lang="en-GB" dirty="0"/>
              <a:t>I want to collect my data – load it into my Azure SQL Database – we’ll use Data API Builder as the API layer</a:t>
            </a:r>
          </a:p>
          <a:p>
            <a:endParaRPr lang="en-GB" dirty="0"/>
          </a:p>
          <a:p>
            <a:r>
              <a:rPr lang="en-GB" dirty="0"/>
              <a:t>We can use DAB to create GET and POST endpoints – meaning we can get and set data using this – and it’s so simple to get it set up</a:t>
            </a:r>
          </a:p>
          <a:p>
            <a:endParaRPr lang="en-GB"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So I created this… monstrosity </a:t>
            </a:r>
          </a:p>
          <a:p>
            <a:endParaRPr lang="en-GB" dirty="0"/>
          </a:p>
          <a:p>
            <a:r>
              <a:rPr lang="en-GB" dirty="0"/>
              <a:t>We’ll come back and talk more about this later on – but for now notice we have an Azure SQL Database, with Data API Builder sat in the middle as our integration layer</a:t>
            </a:r>
          </a:p>
          <a:p>
            <a:endParaRPr lang="en-GB" dirty="0"/>
          </a:p>
          <a:p>
            <a:endParaRPr lang="en-GB" dirty="0"/>
          </a:p>
          <a:p>
            <a:pPr marL="158750" indent="0">
              <a:buNone/>
            </a:pPr>
            <a:endParaRPr lang="en-GB" dirty="0"/>
          </a:p>
        </p:txBody>
      </p:sp>
    </p:spTree>
    <p:extLst>
      <p:ext uri="{BB962C8B-B14F-4D97-AF65-F5344CB8AC3E}">
        <p14:creationId xmlns:p14="http://schemas.microsoft.com/office/powerpoint/2010/main" val="11396192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And since the presentation I have promised you is all about DAB and not all about cycling and </a:t>
            </a:r>
            <a:r>
              <a:rPr lang="en-GB" dirty="0" err="1"/>
              <a:t>fueling</a:t>
            </a:r>
            <a:r>
              <a:rPr lang="en-GB" dirty="0"/>
              <a:t> – lets talk about that</a:t>
            </a:r>
          </a:p>
          <a:p>
            <a:endParaRPr lang="en-GB" dirty="0"/>
          </a:p>
        </p:txBody>
      </p:sp>
    </p:spTree>
    <p:extLst>
      <p:ext uri="{BB962C8B-B14F-4D97-AF65-F5344CB8AC3E}">
        <p14:creationId xmlns:p14="http://schemas.microsoft.com/office/powerpoint/2010/main" val="14982857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842A1C5-0B3B-D36F-1BDC-F6639B18089D}"/>
              </a:ext>
            </a:extLst>
          </p:cNvPr>
          <p:cNvSpPr>
            <a:spLocks noGrp="1"/>
          </p:cNvSpPr>
          <p:nvPr>
            <p:ph type="body" idx="1"/>
          </p:nvPr>
        </p:nvSpPr>
        <p:spPr/>
        <p:txBody>
          <a:bodyPr/>
          <a:lstStyle/>
          <a:p>
            <a:pPr marL="158750" indent="0">
              <a:buNone/>
            </a:pPr>
            <a:r>
              <a:rPr lang="en-GB" dirty="0"/>
              <a:t>10 mins</a:t>
            </a:r>
          </a:p>
          <a:p>
            <a:endParaRPr lang="en-GB" dirty="0"/>
          </a:p>
          <a:p>
            <a:r>
              <a:rPr lang="en-GB" dirty="0"/>
              <a:t>Ok so remember why we’re here… DAB not Jess’ cycling adventure</a:t>
            </a:r>
          </a:p>
          <a:p>
            <a:endParaRPr lang="en-GB" dirty="0"/>
          </a:p>
          <a:p>
            <a:r>
              <a:rPr lang="en-GB" dirty="0"/>
              <a:t>What is it?</a:t>
            </a:r>
          </a:p>
          <a:p>
            <a:endParaRPr lang="en-GB" dirty="0"/>
          </a:p>
          <a:p>
            <a:endParaRPr lang="en-GB"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d73be8fb28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d73be8fb28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GB" dirty="0"/>
              <a:t>Basically create a simple config file in JSON </a:t>
            </a:r>
          </a:p>
          <a:p>
            <a:r>
              <a:rPr lang="en-GB" dirty="0"/>
              <a:t>Tell DAB about the config file</a:t>
            </a:r>
          </a:p>
          <a:p>
            <a:r>
              <a:rPr lang="en-GB" dirty="0"/>
              <a:t>API magic</a:t>
            </a:r>
          </a:p>
          <a:p>
            <a:endParaRPr lang="en-GB" dirty="0"/>
          </a:p>
          <a:p>
            <a:r>
              <a:rPr lang="en-GB" dirty="0"/>
              <a:t>It’s that easy</a:t>
            </a:r>
          </a:p>
          <a:p>
            <a:endParaRPr lang="en-GB" dirty="0"/>
          </a:p>
          <a:p>
            <a:endParaRPr lang="en-GB" dirty="0"/>
          </a:p>
          <a:p>
            <a:endParaRPr lang="en-GB" dirty="0"/>
          </a:p>
          <a:p>
            <a:r>
              <a:rPr lang="en-GB" dirty="0"/>
              <a:t>The </a:t>
            </a:r>
            <a:r>
              <a:rPr lang="en-GB" dirty="0" err="1"/>
              <a:t>GraphQL</a:t>
            </a:r>
            <a:r>
              <a:rPr lang="en-GB" dirty="0"/>
              <a:t> stuff is great, the MCP stuff is in preview, coming soon – both neat but today we will focus on REST API </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d73be8fb28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d73be8fb28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GB" dirty="0"/>
              <a:t>Simplest setup – we have a database, we have DAB running in a container say, and then we can access the endpoints</a:t>
            </a:r>
          </a:p>
          <a:p>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d73be8fb28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3d73be8fb28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GB" dirty="0"/>
              <a:t>Simplest form of config</a:t>
            </a:r>
          </a:p>
          <a:p>
            <a:pPr lvl="1"/>
            <a:r>
              <a:rPr lang="en-GB" dirty="0"/>
              <a:t>Using an environment variable for the connection string</a:t>
            </a:r>
          </a:p>
          <a:p>
            <a:pPr lvl="1"/>
            <a:r>
              <a:rPr lang="en-GB" dirty="0"/>
              <a:t>Exposing one table for read (GET) access with no authentication</a:t>
            </a:r>
          </a:p>
          <a:p>
            <a:pPr lvl="1"/>
            <a:r>
              <a:rPr lang="en-GB" dirty="0"/>
              <a:t>The name of the entity ‘</a:t>
            </a:r>
            <a:r>
              <a:rPr lang="en-GB" dirty="0" err="1"/>
              <a:t>IntervalsWellness</a:t>
            </a:r>
            <a:r>
              <a:rPr lang="en-GB" dirty="0"/>
              <a:t>’ in this example will become the API endpoint</a:t>
            </a:r>
          </a:p>
          <a:p>
            <a:pPr lvl="1"/>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6D4A4BBE-4B58-9730-380C-D3F27A7A5433}"/>
              </a:ext>
            </a:extLst>
          </p:cNvPr>
          <p:cNvSpPr>
            <a:spLocks noGrp="1"/>
          </p:cNvSpPr>
          <p:nvPr>
            <p:ph type="body" idx="1"/>
          </p:nvPr>
        </p:nvSpPr>
        <p:spPr/>
        <p:txBody>
          <a:bodyPr/>
          <a:lstStyle/>
          <a:p>
            <a:pPr marL="158750" indent="0">
              <a:buNone/>
            </a:pPr>
            <a:r>
              <a:rPr lang="en-GB" dirty="0"/>
              <a:t>13.5 mins – 21.5 mins</a:t>
            </a:r>
          </a:p>
          <a:p>
            <a:pPr marL="158750" indent="0">
              <a:buNone/>
            </a:pPr>
            <a:r>
              <a:rPr lang="en-GB" dirty="0"/>
              <a:t>After demo</a:t>
            </a:r>
          </a:p>
          <a:p>
            <a:pPr marL="457200" indent="-298450">
              <a:buFontTx/>
              <a:buChar char="-"/>
            </a:pPr>
            <a:r>
              <a:rPr lang="en-GB" dirty="0"/>
              <a:t>So you can see how easy it is to get started with DAB locally</a:t>
            </a:r>
          </a:p>
          <a:p>
            <a:pPr marL="457200" indent="-298450">
              <a:buFontTx/>
              <a:buChar char="-"/>
            </a:pPr>
            <a:r>
              <a:rPr lang="en-GB" dirty="0"/>
              <a:t>And in a container… and that’s part of what makes DAB so easy to get going</a:t>
            </a:r>
          </a:p>
          <a:p>
            <a:pPr marL="457200" indent="-298450">
              <a:buFontTx/>
              <a:buChar char="-"/>
            </a:pPr>
            <a:endParaRPr lang="en-GB" dirty="0"/>
          </a:p>
          <a:p>
            <a:pPr marL="457200" indent="-298450">
              <a:buFontTx/>
              <a:buChar char="-"/>
            </a:pPr>
            <a:endParaRPr lang="en-GB" dirty="0"/>
          </a:p>
          <a:p>
            <a:pPr marL="158750" indent="0">
              <a:buFontTx/>
              <a:buNone/>
            </a:pPr>
            <a:r>
              <a:rPr lang="en-GB"/>
              <a:t>- But </a:t>
            </a:r>
            <a:r>
              <a:rPr lang="en-GB" dirty="0"/>
              <a:t>it’s also got some cool baked in features out of the box</a:t>
            </a:r>
          </a:p>
          <a:p>
            <a:pPr marL="158750" indent="0">
              <a:buFontTx/>
              <a:buNone/>
            </a:pPr>
            <a:endParaRPr lang="en-GB" dirty="0"/>
          </a:p>
          <a:p>
            <a:pPr marL="457200" indent="-298450">
              <a:buFontTx/>
              <a:buChar char="-"/>
            </a:pPr>
            <a:endParaRPr lang="en-GB" dirty="0"/>
          </a:p>
          <a:p>
            <a:pPr marL="457200" indent="-298450">
              <a:buFontTx/>
              <a:buChar char="-"/>
            </a:pPr>
            <a:endParaRPr lang="en-GB" dirty="0"/>
          </a:p>
          <a:p>
            <a:pPr marL="158750" indent="0">
              <a:buFontTx/>
              <a:buNone/>
            </a:pPr>
            <a:endParaRPr lang="en-GB"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d73be8fb28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d73be8fb28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GB" dirty="0"/>
              <a:t>How do we productionise? Well that container setup makes it really easy to deploy to the cloud</a:t>
            </a:r>
          </a:p>
          <a:p>
            <a:endParaRPr lang="en-GB" dirty="0"/>
          </a:p>
          <a:p>
            <a:r>
              <a:rPr lang="en-GB" dirty="0"/>
              <a:t>I just showed you option 1</a:t>
            </a:r>
          </a:p>
          <a:p>
            <a:pPr marL="158750" indent="0">
              <a:buNone/>
            </a:pPr>
            <a:endParaRPr lang="en-GB" dirty="0"/>
          </a:p>
          <a:p>
            <a:r>
              <a:rPr lang="en-GB" b="1" dirty="0"/>
              <a:t>Docker container:</a:t>
            </a:r>
          </a:p>
          <a:p>
            <a:r>
              <a:rPr lang="en-GB" dirty="0"/>
              <a:t>- The DAB runtime ships as a single Docker image from Microsoft Container Registry.</a:t>
            </a:r>
          </a:p>
          <a:p>
            <a:r>
              <a:rPr lang="en-GB" dirty="0"/>
              <a:t>- docker run is all you need for local development — pass your connection string as an environment variable.</a:t>
            </a:r>
          </a:p>
          <a:p>
            <a:r>
              <a:rPr lang="en-GB" dirty="0"/>
              <a:t>- Same image works in CI pipelines for integration testing — spin it up, run tests, tear it down.</a:t>
            </a:r>
          </a:p>
          <a:p>
            <a:r>
              <a:rPr lang="en-GB" dirty="0"/>
              <a:t>- For bare-metal or VM deployments, just run the container directly. No framework dependency on the host.</a:t>
            </a:r>
          </a:p>
          <a:p>
            <a:endParaRPr lang="en-GB" dirty="0"/>
          </a:p>
          <a:p>
            <a:r>
              <a:rPr lang="en-GB" b="1" dirty="0"/>
              <a:t>Azure Container Apps:</a:t>
            </a:r>
          </a:p>
          <a:p>
            <a:r>
              <a:rPr lang="en-GB" dirty="0"/>
              <a:t>- Recommended starting point for most teams. Serverless — you don't manage infrastructure.</a:t>
            </a:r>
          </a:p>
          <a:p>
            <a:r>
              <a:rPr lang="en-GB" dirty="0"/>
              <a:t>- Built-in auto-scale from zero to N replicas based on HTTP traffic. You pay per request, not per VM.</a:t>
            </a:r>
          </a:p>
          <a:p>
            <a:r>
              <a:rPr lang="en-GB" dirty="0"/>
              <a:t>- Supports revision-based traffic splitting for canary deployments.</a:t>
            </a:r>
          </a:p>
          <a:p>
            <a:endParaRPr lang="en-GB" dirty="0"/>
          </a:p>
          <a:p>
            <a:r>
              <a:rPr lang="en-GB" b="1" dirty="0"/>
              <a:t>Azure App Service:</a:t>
            </a:r>
          </a:p>
          <a:p>
            <a:r>
              <a:rPr lang="en-GB" dirty="0"/>
              <a:t>- If your team already runs .NET apps on App Service, DAB slots right in.</a:t>
            </a:r>
          </a:p>
          <a:p>
            <a:r>
              <a:rPr lang="en-GB" dirty="0"/>
              <a:t>- Deployment slots give you blue-green deployments out of the box.</a:t>
            </a:r>
          </a:p>
          <a:p>
            <a:r>
              <a:rPr lang="en-GB" dirty="0"/>
              <a:t>- Built-in auth integration with Entra ID (formerly AAD) — no code changes needed.</a:t>
            </a:r>
          </a:p>
          <a:p>
            <a:endParaRPr lang="en-GB" dirty="0"/>
          </a:p>
          <a:p>
            <a:r>
              <a:rPr lang="en-GB" b="1" dirty="0"/>
              <a:t>Azure Kubernetes Service (AKS):</a:t>
            </a:r>
          </a:p>
          <a:p>
            <a:r>
              <a:rPr lang="en-GB" dirty="0"/>
              <a:t>- For teams that already operate a K8s cluster. Helm chart is provided.</a:t>
            </a:r>
          </a:p>
          <a:p>
            <a:r>
              <a:rPr lang="en-GB" dirty="0"/>
              <a:t>- Fits into existing service mesh, observability, and scaling policies.</a:t>
            </a:r>
          </a:p>
          <a:p>
            <a:r>
              <a:rPr lang="en-GB" dirty="0"/>
              <a:t>- Most operational overhead — only choose this if you already have the K8s muscle.</a:t>
            </a:r>
          </a:p>
          <a:p>
            <a:endParaRPr lang="en-GB" dirty="0"/>
          </a:p>
          <a:p>
            <a:r>
              <a:rPr lang="en-GB" b="1" dirty="0"/>
              <a:t>Key message: identical image everywhere. The only thing that changes between environments is the config — connection strings, auth settings, CORS rules. All of that lives in environment variables or a JSON config file, never in source code. Connection strings should be stored in Azure Key Vault and referenced via env vars.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338B3BDB-4A97-BD71-2A94-42FDE21E2795}"/>
              </a:ext>
            </a:extLst>
          </p:cNvPr>
          <p:cNvSpPr>
            <a:spLocks noGrp="1"/>
          </p:cNvSpPr>
          <p:nvPr>
            <p:ph type="body" idx="1"/>
          </p:nvPr>
        </p:nvSpPr>
        <p:spPr/>
        <p:txBody>
          <a:bodyPr/>
          <a:lstStyle/>
          <a:p>
            <a:r>
              <a:rPr lang="en-GB" dirty="0"/>
              <a:t>Or you can run it locally</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B290C450-44F9-2ECC-C2B2-23D970E01CBD}"/>
              </a:ext>
            </a:extLst>
          </p:cNvPr>
          <p:cNvSpPr>
            <a:spLocks noGrp="1"/>
          </p:cNvSpPr>
          <p:nvPr>
            <p:ph type="body" idx="1"/>
          </p:nvPr>
        </p:nvSpPr>
        <p:spPr/>
        <p:txBody>
          <a:bodyPr/>
          <a:lstStyle/>
          <a:p>
            <a:r>
              <a:rPr lang="en-GB" dirty="0"/>
              <a:t>demos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B92018FC-EF95-3EBC-8EE4-04AC9899E080}"/>
              </a:ext>
            </a:extLst>
          </p:cNvPr>
          <p:cNvSpPr>
            <a:spLocks noGrp="1"/>
          </p:cNvSpPr>
          <p:nvPr>
            <p:ph type="body" idx="1"/>
          </p:nvPr>
        </p:nvSpPr>
        <p:spPr/>
        <p:txBody>
          <a:bodyPr/>
          <a:lstStyle/>
          <a:p>
            <a:r>
              <a:rPr lang="en-GB" dirty="0"/>
              <a:t>DAB has some pretty advanced features built in too – remember we’re writing no code for this integration layer – just grabbing a container image, and providing some </a:t>
            </a:r>
            <a:r>
              <a:rPr lang="en-GB" dirty="0" err="1"/>
              <a:t>json</a:t>
            </a:r>
            <a:r>
              <a:rPr lang="en-GB" dirty="0"/>
              <a:t> config.</a:t>
            </a:r>
          </a:p>
          <a:p>
            <a:endParaRPr lang="en-GB" dirty="0"/>
          </a:p>
          <a:p>
            <a:r>
              <a:rPr lang="en-GB" dirty="0"/>
              <a:t>And built in we get stuff like paging results – we don’t want to overwhelm clients receiving this data – so chunk it into pages</a:t>
            </a:r>
          </a:p>
          <a:p>
            <a:endParaRPr lang="en-GB" dirty="0"/>
          </a:p>
          <a:p>
            <a:r>
              <a:rPr lang="en-GB" dirty="0"/>
              <a:t>First 25 records</a:t>
            </a:r>
          </a:p>
          <a:p>
            <a:r>
              <a:rPr lang="en-GB" dirty="0"/>
              <a:t>After the record with id 25 - that’s base encoded</a:t>
            </a:r>
          </a:p>
          <a:p>
            <a:endParaRPr lang="en-GB" dirty="0"/>
          </a:p>
          <a:p>
            <a:r>
              <a:rPr lang="en-GB" dirty="0"/>
              <a:t>Offset-based paging means the database has to skip more rows each time and so gets slower and slower</a:t>
            </a:r>
          </a:p>
          <a:p>
            <a:endParaRPr lang="en-GB" dirty="0"/>
          </a:p>
          <a:p>
            <a:r>
              <a:rPr lang="en-GB" dirty="0"/>
              <a:t>Cursor-based paging jumps straight to the point in the index, id &gt; 25 and then grabs the next 25 rows</a:t>
            </a:r>
          </a:p>
          <a:p>
            <a:endParaRPr lang="en-GB" dirty="0"/>
          </a:p>
          <a:p>
            <a:endParaRPr lang="en-GB"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B92018FC-EF95-3EBC-8EE4-04AC9899E080}"/>
              </a:ext>
            </a:extLst>
          </p:cNvPr>
          <p:cNvSpPr>
            <a:spLocks noGrp="1"/>
          </p:cNvSpPr>
          <p:nvPr>
            <p:ph type="body" idx="1"/>
          </p:nvPr>
        </p:nvSpPr>
        <p:spPr/>
        <p:txBody>
          <a:bodyPr/>
          <a:lstStyle/>
          <a:p>
            <a:r>
              <a:rPr lang="en-GB" dirty="0"/>
              <a:t>Filtering &amp; querying — the built-in query surface</a:t>
            </a:r>
          </a:p>
          <a:p>
            <a:pPr marL="158750" indent="0">
              <a:buNone/>
            </a:pPr>
            <a:endParaRPr lang="en-GB" dirty="0"/>
          </a:p>
          <a:p>
            <a:r>
              <a:rPr lang="en-GB" b="1" dirty="0"/>
              <a:t>$select:</a:t>
            </a:r>
          </a:p>
          <a:p>
            <a:r>
              <a:rPr lang="en-GB" dirty="0"/>
              <a:t>- Project only the columns you need. Reduces payload size over the wire.</a:t>
            </a:r>
          </a:p>
          <a:p>
            <a:r>
              <a:rPr lang="en-GB" dirty="0"/>
              <a:t>- Particularly useful for wide tables — instead of returning 40 columns, pick the 5 you need.</a:t>
            </a:r>
          </a:p>
          <a:p>
            <a:r>
              <a:rPr lang="en-GB" dirty="0"/>
              <a:t>- Example: $select=date,distance,tss returns only those three fields.</a:t>
            </a:r>
          </a:p>
          <a:p>
            <a:endParaRPr lang="en-GB" dirty="0"/>
          </a:p>
          <a:p>
            <a:r>
              <a:rPr lang="en-GB" b="1" dirty="0"/>
              <a:t>$filter:</a:t>
            </a:r>
          </a:p>
          <a:p>
            <a:r>
              <a:rPr lang="en-GB" dirty="0"/>
              <a:t>- OData-style filter expressions on any exposed column.</a:t>
            </a:r>
          </a:p>
          <a:p>
            <a:r>
              <a:rPr lang="en-GB" dirty="0"/>
              <a:t>- Supports: </a:t>
            </a:r>
            <a:r>
              <a:rPr lang="en-GB" dirty="0" err="1"/>
              <a:t>eq</a:t>
            </a:r>
            <a:r>
              <a:rPr lang="en-GB" dirty="0"/>
              <a:t>, ne, </a:t>
            </a:r>
            <a:r>
              <a:rPr lang="en-GB" dirty="0" err="1"/>
              <a:t>gt</a:t>
            </a:r>
            <a:r>
              <a:rPr lang="en-GB" dirty="0"/>
              <a:t>, </a:t>
            </a:r>
            <a:r>
              <a:rPr lang="en-GB" dirty="0" err="1"/>
              <a:t>ge</a:t>
            </a:r>
            <a:r>
              <a:rPr lang="en-GB" dirty="0"/>
              <a:t>, </a:t>
            </a:r>
            <a:r>
              <a:rPr lang="en-GB" dirty="0" err="1"/>
              <a:t>lt</a:t>
            </a:r>
            <a:r>
              <a:rPr lang="en-GB" dirty="0"/>
              <a:t>, le, contains, </a:t>
            </a:r>
            <a:r>
              <a:rPr lang="en-GB" dirty="0" err="1"/>
              <a:t>startswith</a:t>
            </a:r>
            <a:r>
              <a:rPr lang="en-GB" dirty="0"/>
              <a:t>, </a:t>
            </a:r>
            <a:r>
              <a:rPr lang="en-GB" dirty="0" err="1"/>
              <a:t>endswith</a:t>
            </a:r>
            <a:r>
              <a:rPr lang="en-GB" dirty="0"/>
              <a:t>.</a:t>
            </a:r>
          </a:p>
          <a:p>
            <a:r>
              <a:rPr lang="en-GB" dirty="0"/>
              <a:t>- Combine with AND/OR logic: $filter=type </a:t>
            </a:r>
            <a:r>
              <a:rPr lang="en-GB" dirty="0" err="1"/>
              <a:t>eq</a:t>
            </a:r>
            <a:r>
              <a:rPr lang="en-GB" dirty="0"/>
              <a:t> 'Ride' and distance </a:t>
            </a:r>
            <a:r>
              <a:rPr lang="en-GB" dirty="0" err="1"/>
              <a:t>gt</a:t>
            </a:r>
            <a:r>
              <a:rPr lang="en-GB" dirty="0"/>
              <a:t> 50.</a:t>
            </a:r>
          </a:p>
          <a:p>
            <a:r>
              <a:rPr lang="en-GB" dirty="0"/>
              <a:t>- DAB translates these to parameterised SQL — no injection risk.</a:t>
            </a:r>
          </a:p>
          <a:p>
            <a:endParaRPr lang="en-GB" dirty="0"/>
          </a:p>
          <a:p>
            <a:r>
              <a:rPr lang="en-GB" b="1" dirty="0"/>
              <a:t>$orderby:</a:t>
            </a:r>
          </a:p>
          <a:p>
            <a:r>
              <a:rPr lang="en-GB" dirty="0"/>
              <a:t>- Sort on one or more columns: $orderby=date desc, distance asc.</a:t>
            </a:r>
          </a:p>
          <a:p>
            <a:r>
              <a:rPr lang="en-GB" dirty="0"/>
              <a:t>- Sorting happens server-side in the database — not in memory in the API layer.</a:t>
            </a:r>
          </a:p>
          <a:p>
            <a:r>
              <a:rPr lang="en-GB" dirty="0"/>
              <a:t>- Default sort order is by primary key if $orderby is not specified.</a:t>
            </a:r>
          </a:p>
          <a:p>
            <a:endParaRPr lang="en-GB" dirty="0"/>
          </a:p>
          <a:p>
            <a:r>
              <a:rPr lang="en-GB" b="1" dirty="0"/>
              <a:t>Key point for the audience: these are standard OData query parameters. If anyone has used Power BI, Dynamics, or any Microsoft data API, the syntax is identical. No learning curve.</a:t>
            </a:r>
          </a:p>
          <a:p>
            <a:endParaRPr lang="en-GB" dirty="0"/>
          </a:p>
          <a:p>
            <a:r>
              <a:rPr lang="en-GB" dirty="0"/>
              <a:t>The REST endpoint and the GraphQL endpoint both support filtering. REST uses query-string parameters; GraphQL uses typed filter arguments in the schema.</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This is a big topic – and vital if you’re going to take DAB and use it with your production data - this is a getting started session – but I do want to highlight that… </a:t>
            </a:r>
          </a:p>
          <a:p>
            <a:endParaRPr lang="en-GB" dirty="0"/>
          </a:p>
          <a:p>
            <a:r>
              <a:rPr lang="en-GB" dirty="0"/>
              <a:t>DAB delegates authentication to your identity provider and validates the tokens it receives. Four provider options cover every scenario:</a:t>
            </a:r>
          </a:p>
          <a:p>
            <a:endParaRPr lang="en-GB" dirty="0"/>
          </a:p>
          <a:p>
            <a:r>
              <a:rPr lang="en-GB" b="1" dirty="0"/>
              <a:t>EntraID / AzureAD</a:t>
            </a:r>
            <a:r>
              <a:rPr lang="en-GB" dirty="0"/>
              <a:t> – JWT bearer validation with extra signing-key issuer checks specific to Microsoft Entra tokens. Configure audience and issuer in the host section. Supports managed identity for the database connection.</a:t>
            </a:r>
          </a:p>
          <a:p>
            <a:r>
              <a:rPr lang="en-GB" b="1" dirty="0"/>
              <a:t>AppService (EasyAuth)</a:t>
            </a:r>
            <a:r>
              <a:rPr lang="en-GB" dirty="0"/>
              <a:t> – App Service handles the OAuth flow and injects the X-MS-CLIENT-PRINCIPAL header. Works with Microsoft, Google, Facebook, Twitter, and OpenID Connect. No jwt.audience or jwt.issuer settings needed.</a:t>
            </a:r>
          </a:p>
          <a:p>
            <a:r>
              <a:rPr lang="en-GB" b="1" dirty="0"/>
              <a:t>Custom JWT</a:t>
            </a:r>
            <a:r>
              <a:rPr lang="en-GB" dirty="0"/>
              <a:t> – Any standards-compliant JWT server (e.g. Keycloak, Auth0, Okta). You supply the audience and issuer.</a:t>
            </a:r>
          </a:p>
          <a:p>
            <a:r>
              <a:rPr lang="en-GB" b="1" dirty="0"/>
              <a:t>Simulator</a:t>
            </a:r>
            <a:r>
              <a:rPr lang="en-GB" dirty="0"/>
              <a:t> – Treats all requests as authenticated without validating a real token. Development and testing only.</a:t>
            </a:r>
          </a:p>
          <a:p>
            <a:endParaRPr lang="en-GB" dirty="0"/>
          </a:p>
          <a:p>
            <a:r>
              <a:rPr lang="en-GB" dirty="0"/>
              <a:t>Authorization is role-based. Every request resolves to exactly one effective role. Two system roles (Anonymous, Authenticated) are auto-assigned; custom roles map to token claims via the X-MS-API-ROLE header. </a:t>
            </a:r>
          </a:p>
          <a:p>
            <a:endParaRPr lang="en-GB" dirty="0"/>
          </a:p>
          <a:p>
            <a:r>
              <a:rPr lang="en-GB" dirty="0"/>
              <a:t>Database policies add row-level filtering – predicates are injected into queries so users only see authorised records. Token claims can also be passed to the SQL session context for stored-procedure or trigger-level logic.</a:t>
            </a:r>
          </a:p>
          <a:p>
            <a:endParaRPr lang="en-GB" dirty="0"/>
          </a:p>
          <a:p>
            <a:r>
              <a:rPr lang="en-GB" dirty="0"/>
              <a:t>Key detail: DAB validates the user token but connects to the database with its own credentials (managed identity or SQL auth) by default. On-Behalf-Of (OBO) is optional if you need the database to authenticate as the actual caller. Secrets can be stored in Azure Key Vault and referenced via @akv() in the config.</a:t>
            </a:r>
          </a:p>
        </p:txBody>
      </p:sp>
    </p:spTree>
    <p:extLst>
      <p:ext uri="{BB962C8B-B14F-4D97-AF65-F5344CB8AC3E}">
        <p14:creationId xmlns:p14="http://schemas.microsoft.com/office/powerpoint/2010/main" val="15812638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DD0E9-B14F-2E21-1BC9-C1E6B2A06046}"/>
            </a:ext>
          </a:extLst>
        </p:cNvPr>
        <p:cNvGrpSpPr/>
        <p:nvPr/>
      </p:nvGrpSpPr>
      <p:grpSpPr>
        <a:xfrm>
          <a:off x="0" y="0"/>
          <a:ext cx="0" cy="0"/>
          <a:chOff x="0" y="0"/>
          <a:chExt cx="0" cy="0"/>
        </a:xfrm>
      </p:grpSpPr>
      <p:sp>
        <p:nvSpPr>
          <p:cNvPr id="2" name="Notes Placeholder 1">
            <a:extLst>
              <a:ext uri="{FF2B5EF4-FFF2-40B4-BE49-F238E27FC236}">
                <a16:creationId xmlns:a16="http://schemas.microsoft.com/office/drawing/2014/main" id="{853EA684-E066-E2B5-91DD-F7370C7A299A}"/>
              </a:ext>
            </a:extLst>
          </p:cNvPr>
          <p:cNvSpPr>
            <a:spLocks noGrp="1"/>
          </p:cNvSpPr>
          <p:nvPr>
            <p:ph type="body" idx="1"/>
          </p:nvPr>
        </p:nvSpPr>
        <p:spPr/>
        <p:txBody>
          <a:bodyPr/>
          <a:lstStyle/>
          <a:p>
            <a:pPr marL="158750" indent="0">
              <a:buNone/>
            </a:pPr>
            <a:r>
              <a:rPr lang="en-GB" dirty="0"/>
              <a:t>26 mins</a:t>
            </a:r>
          </a:p>
          <a:p>
            <a:pPr marL="158750" indent="0">
              <a:buNone/>
            </a:pPr>
            <a:endParaRPr lang="en-GB" dirty="0"/>
          </a:p>
          <a:p>
            <a:pPr marL="158750" indent="0">
              <a:buNone/>
            </a:pPr>
            <a:r>
              <a:rPr lang="en-GB" dirty="0"/>
              <a:t>So lets go back to our more complicated example – how this might look in a production setup</a:t>
            </a:r>
          </a:p>
        </p:txBody>
      </p:sp>
    </p:spTree>
    <p:extLst>
      <p:ext uri="{BB962C8B-B14F-4D97-AF65-F5344CB8AC3E}">
        <p14:creationId xmlns:p14="http://schemas.microsoft.com/office/powerpoint/2010/main" val="2520320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Ok so back to the </a:t>
            </a:r>
            <a:r>
              <a:rPr lang="en-GB" dirty="0" err="1"/>
              <a:t>center</a:t>
            </a:r>
            <a:r>
              <a:rPr lang="en-GB" dirty="0"/>
              <a:t> of this project I built – DAB</a:t>
            </a:r>
          </a:p>
          <a:p>
            <a:endParaRPr lang="en-GB" dirty="0"/>
          </a:p>
          <a:p>
            <a:r>
              <a:rPr lang="en-GB" dirty="0"/>
              <a:t>How have I taken it from what we saw locally that was simple, and so easy to setup and moved it to be production ready</a:t>
            </a:r>
          </a:p>
          <a:p>
            <a:endParaRPr lang="en-GB" dirty="0"/>
          </a:p>
          <a:p>
            <a:r>
              <a:rPr lang="en-GB" dirty="0"/>
              <a:t>Well that container, with the mounted config file… that’s how</a:t>
            </a:r>
          </a:p>
          <a:p>
            <a:endParaRPr lang="en-GB" dirty="0"/>
          </a:p>
          <a:p>
            <a:r>
              <a:rPr lang="en-GB" dirty="0"/>
              <a:t>We now know what data </a:t>
            </a:r>
            <a:r>
              <a:rPr lang="en-GB" dirty="0" err="1"/>
              <a:t>api</a:t>
            </a:r>
            <a:r>
              <a:rPr lang="en-GB" dirty="0"/>
              <a:t> builder is – and how we can set it up</a:t>
            </a:r>
          </a:p>
          <a:p>
            <a:endParaRPr lang="en-GB" dirty="0"/>
          </a:p>
          <a:p>
            <a:r>
              <a:rPr lang="en-GB" dirty="0"/>
              <a:t>Lets zoom out and look at how we’re using that</a:t>
            </a:r>
          </a:p>
        </p:txBody>
      </p:sp>
    </p:spTree>
    <p:extLst>
      <p:ext uri="{BB962C8B-B14F-4D97-AF65-F5344CB8AC3E}">
        <p14:creationId xmlns:p14="http://schemas.microsoft.com/office/powerpoint/2010/main" val="14486597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876CB-3CD9-79A9-52A2-C724EF37E3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6C2FE8-C39B-F809-7D55-54699CCC573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94FB354-CDA0-0219-A792-26BA586BC1BE}"/>
              </a:ext>
            </a:extLst>
          </p:cNvPr>
          <p:cNvSpPr>
            <a:spLocks noGrp="1"/>
          </p:cNvSpPr>
          <p:nvPr>
            <p:ph type="body" idx="1"/>
          </p:nvPr>
        </p:nvSpPr>
        <p:spPr/>
        <p:txBody>
          <a:bodyPr/>
          <a:lstStyle/>
          <a:p>
            <a:r>
              <a:rPr lang="en-GB" dirty="0"/>
              <a:t>So we have the DAB container deployed to an Azure Container App</a:t>
            </a:r>
          </a:p>
          <a:p>
            <a:endParaRPr lang="en-GB" dirty="0"/>
          </a:p>
          <a:p>
            <a:r>
              <a:rPr lang="en-GB" dirty="0"/>
              <a:t>The most important part of DAB… the config file – that’s hosted in an Azure file share in a storage account</a:t>
            </a:r>
          </a:p>
          <a:p>
            <a:endParaRPr lang="en-GB" dirty="0"/>
          </a:p>
          <a:p>
            <a:r>
              <a:rPr lang="en-GB" dirty="0"/>
              <a:t>How do you update DAB config? Update the </a:t>
            </a:r>
            <a:r>
              <a:rPr lang="en-GB" dirty="0" err="1"/>
              <a:t>json</a:t>
            </a:r>
            <a:r>
              <a:rPr lang="en-GB" dirty="0"/>
              <a:t>, upload to file share, restart container…done</a:t>
            </a:r>
          </a:p>
        </p:txBody>
      </p:sp>
    </p:spTree>
    <p:extLst>
      <p:ext uri="{BB962C8B-B14F-4D97-AF65-F5344CB8AC3E}">
        <p14:creationId xmlns:p14="http://schemas.microsoft.com/office/powerpoint/2010/main" val="20216190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indent="-298450">
              <a:buFontTx/>
              <a:buChar char="-"/>
            </a:pPr>
            <a:r>
              <a:rPr lang="en-GB" dirty="0"/>
              <a:t>Azure Container App</a:t>
            </a:r>
          </a:p>
          <a:p>
            <a:pPr marL="457200" indent="-298450">
              <a:buFontTx/>
              <a:buChar char="-"/>
            </a:pPr>
            <a:r>
              <a:rPr lang="en-GB" dirty="0"/>
              <a:t>Deployed from Microsoft registry</a:t>
            </a:r>
          </a:p>
          <a:p>
            <a:pPr marL="457200" indent="-298450">
              <a:buFontTx/>
              <a:buChar char="-"/>
            </a:pPr>
            <a:r>
              <a:rPr lang="en-GB" dirty="0"/>
              <a:t>Overwriting where the config file can be found</a:t>
            </a:r>
          </a:p>
          <a:p>
            <a:pPr marL="457200" indent="-298450">
              <a:buFontTx/>
              <a:buChar char="-"/>
            </a:pPr>
            <a:endParaRPr lang="en-GB" dirty="0"/>
          </a:p>
          <a:p>
            <a:pPr marL="457200" indent="-298450">
              <a:buFontTx/>
              <a:buChar char="-"/>
            </a:pPr>
            <a:endParaRPr lang="en-GB" dirty="0"/>
          </a:p>
          <a:p>
            <a:pPr marL="457200" indent="-298450">
              <a:buFontTx/>
              <a:buChar char="-"/>
            </a:pPr>
            <a:r>
              <a:rPr lang="en-GB" dirty="0"/>
              <a:t>Note about :latest – vs tie to a version</a:t>
            </a:r>
          </a:p>
          <a:p>
            <a:pPr marL="457200" indent="-298450">
              <a:buFontTx/>
              <a:buChar char="-"/>
            </a:pPr>
            <a:endParaRPr lang="en-GB" dirty="0"/>
          </a:p>
          <a:p>
            <a:pPr marL="457200" indent="-298450">
              <a:buFontTx/>
              <a:buChar char="-"/>
            </a:pPr>
            <a:endParaRPr lang="en-GB" dirty="0"/>
          </a:p>
          <a:p>
            <a:pPr marL="457200" indent="-298450">
              <a:buFontTx/>
              <a:buChar char="-"/>
            </a:pPr>
            <a:endParaRPr lang="en-GB" dirty="0"/>
          </a:p>
          <a:p>
            <a:pPr marL="158750" indent="0">
              <a:buFontTx/>
              <a:buNone/>
            </a:pPr>
            <a:endParaRPr lang="en-GB" dirty="0"/>
          </a:p>
          <a:p>
            <a:pPr marL="158750" indent="0">
              <a:buNone/>
            </a:pPr>
            <a:endParaRPr lang="en-GB" dirty="0"/>
          </a:p>
        </p:txBody>
      </p:sp>
    </p:spTree>
    <p:extLst>
      <p:ext uri="{BB962C8B-B14F-4D97-AF65-F5344CB8AC3E}">
        <p14:creationId xmlns:p14="http://schemas.microsoft.com/office/powerpoint/2010/main" val="19268352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D43F9-585C-258F-0992-13666B3F49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717DA4-7D6A-7443-CCA6-95D6D25CDCC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FE24F4C-6D66-8F26-6B82-C464531F5883}"/>
              </a:ext>
            </a:extLst>
          </p:cNvPr>
          <p:cNvSpPr>
            <a:spLocks noGrp="1"/>
          </p:cNvSpPr>
          <p:nvPr>
            <p:ph type="body" idx="1"/>
          </p:nvPr>
        </p:nvSpPr>
        <p:spPr/>
        <p:txBody>
          <a:bodyPr/>
          <a:lstStyle/>
          <a:p>
            <a:pPr marL="158750" indent="0">
              <a:buNone/>
            </a:pPr>
            <a:r>
              <a:rPr lang="en-GB" dirty="0"/>
              <a:t>Lets look at what’s interfacing with DAB</a:t>
            </a:r>
          </a:p>
          <a:p>
            <a:pPr marL="158750" indent="0">
              <a:buNone/>
            </a:pPr>
            <a:endParaRPr lang="en-GB" dirty="0"/>
          </a:p>
        </p:txBody>
      </p:sp>
    </p:spTree>
    <p:extLst>
      <p:ext uri="{BB962C8B-B14F-4D97-AF65-F5344CB8AC3E}">
        <p14:creationId xmlns:p14="http://schemas.microsoft.com/office/powerpoint/2010/main" val="38452737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GB" dirty="0"/>
              <a:t>First I have an Azure Function</a:t>
            </a:r>
          </a:p>
          <a:p>
            <a:pPr marL="158750" indent="0">
              <a:buNone/>
            </a:pPr>
            <a:endParaRPr lang="en-GB" dirty="0"/>
          </a:p>
          <a:p>
            <a:pPr marL="158750" indent="0">
              <a:buNone/>
            </a:pPr>
            <a:r>
              <a:rPr lang="en-GB" dirty="0"/>
              <a:t>Now Azure Functions are super cool – basically serverless bits of PowerShell or .NET or python, or basically whatever language you want – running in the cloud.</a:t>
            </a:r>
          </a:p>
          <a:p>
            <a:pPr marL="158750" indent="0">
              <a:buNone/>
            </a:pPr>
            <a:endParaRPr lang="en-GB" dirty="0"/>
          </a:p>
          <a:p>
            <a:pPr marL="158750" indent="0">
              <a:buNone/>
            </a:pPr>
            <a:r>
              <a:rPr lang="en-GB" dirty="0"/>
              <a:t>Cheap, easy to build &amp; deploy, magical</a:t>
            </a:r>
          </a:p>
          <a:p>
            <a:pPr marL="158750" indent="0">
              <a:buNone/>
            </a:pPr>
            <a:endParaRPr lang="en-GB" dirty="0"/>
          </a:p>
          <a:p>
            <a:pPr marL="158750" indent="0">
              <a:buNone/>
            </a:pPr>
            <a:endParaRPr lang="en-GB" dirty="0"/>
          </a:p>
        </p:txBody>
      </p:sp>
    </p:spTree>
    <p:extLst>
      <p:ext uri="{BB962C8B-B14F-4D97-AF65-F5344CB8AC3E}">
        <p14:creationId xmlns:p14="http://schemas.microsoft.com/office/powerpoint/2010/main" val="20060619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GB" dirty="0"/>
              <a:t>My Azure Function is running PowerShell to grab data from </a:t>
            </a:r>
            <a:r>
              <a:rPr lang="en-GB" dirty="0" err="1"/>
              <a:t>intervals.icu</a:t>
            </a:r>
            <a:r>
              <a:rPr lang="en-GB" dirty="0"/>
              <a:t> via Rest API calls… and then POST that data to DAB</a:t>
            </a:r>
          </a:p>
          <a:p>
            <a:pPr marL="158750" indent="0">
              <a:buNone/>
            </a:pPr>
            <a:endParaRPr lang="en-GB" dirty="0"/>
          </a:p>
          <a:p>
            <a:pPr marL="158750" indent="0">
              <a:buNone/>
            </a:pPr>
            <a:r>
              <a:rPr lang="en-GB" dirty="0"/>
              <a:t>Again we’re making use of managed identity – this time the Azure Function App (which is where my Azure Function lives) has a managed identity – that allows us to give that Function access to Entra to get tokens</a:t>
            </a:r>
          </a:p>
          <a:p>
            <a:pPr marL="158750" indent="0">
              <a:buNone/>
            </a:pPr>
            <a:endParaRPr lang="en-GB" dirty="0"/>
          </a:p>
          <a:p>
            <a:pPr marL="158750" indent="0">
              <a:buNone/>
            </a:pPr>
            <a:r>
              <a:rPr lang="en-GB" dirty="0"/>
              <a:t>As we said you can configure role based access controls to determine which endpoints the function can call</a:t>
            </a:r>
          </a:p>
          <a:p>
            <a:pPr marL="158750" indent="0">
              <a:buNone/>
            </a:pPr>
            <a:endParaRPr lang="en-GB" dirty="0"/>
          </a:p>
          <a:p>
            <a:pPr marL="158750" indent="0">
              <a:buNone/>
            </a:pPr>
            <a:r>
              <a:rPr lang="en-GB" dirty="0"/>
              <a:t>I have a wrapper function that handles error handling, but basically throw JSON at the endpoint</a:t>
            </a:r>
          </a:p>
        </p:txBody>
      </p:sp>
    </p:spTree>
    <p:extLst>
      <p:ext uri="{BB962C8B-B14F-4D97-AF65-F5344CB8AC3E}">
        <p14:creationId xmlns:p14="http://schemas.microsoft.com/office/powerpoint/2010/main" val="13420189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1756989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CDC0F6F8-7B80-FCF4-03DA-E07CF9E491E0}"/>
            </a:ext>
          </a:extLst>
        </p:cNvPr>
        <p:cNvGrpSpPr/>
        <p:nvPr/>
      </p:nvGrpSpPr>
      <p:grpSpPr>
        <a:xfrm>
          <a:off x="0" y="0"/>
          <a:ext cx="0" cy="0"/>
          <a:chOff x="0" y="0"/>
          <a:chExt cx="0" cy="0"/>
        </a:xfrm>
      </p:grpSpPr>
      <p:sp>
        <p:nvSpPr>
          <p:cNvPr id="62" name="Google Shape;62;g3d73be8fb28_0_92:notes">
            <a:extLst>
              <a:ext uri="{FF2B5EF4-FFF2-40B4-BE49-F238E27FC236}">
                <a16:creationId xmlns:a16="http://schemas.microsoft.com/office/drawing/2014/main" id="{35434A53-8BF9-563C-6831-41D5DA35BB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d73be8fb28_0_92:notes">
            <a:extLst>
              <a:ext uri="{FF2B5EF4-FFF2-40B4-BE49-F238E27FC236}">
                <a16:creationId xmlns:a16="http://schemas.microsoft.com/office/drawing/2014/main" id="{E25A11E9-FE34-7799-F9E1-98D521FC05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dirty="0"/>
              <a:t>Big number, sets up the bet. Pause. Let it land.</a:t>
            </a:r>
            <a:endParaRPr lang="en-GB" dirty="0"/>
          </a:p>
          <a:p>
            <a:r>
              <a:rPr lang="en-GB" dirty="0"/>
              <a:t>what a great plan 🤣</a:t>
            </a:r>
          </a:p>
          <a:p>
            <a:endParaRPr lang="en-GB" dirty="0"/>
          </a:p>
          <a:p>
            <a:endParaRPr lang="en-GB" dirty="0"/>
          </a:p>
          <a:p>
            <a:r>
              <a:rPr lang="en-GB" dirty="0"/>
              <a:t>In 30 days time</a:t>
            </a:r>
            <a:endParaRPr dirty="0"/>
          </a:p>
        </p:txBody>
      </p:sp>
    </p:spTree>
    <p:extLst>
      <p:ext uri="{BB962C8B-B14F-4D97-AF65-F5344CB8AC3E}">
        <p14:creationId xmlns:p14="http://schemas.microsoft.com/office/powerpoint/2010/main" val="34953111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C2601511-F924-EA37-DB84-15AD1B6D342A}"/>
            </a:ext>
          </a:extLst>
        </p:cNvPr>
        <p:cNvGrpSpPr/>
        <p:nvPr/>
      </p:nvGrpSpPr>
      <p:grpSpPr>
        <a:xfrm>
          <a:off x="0" y="0"/>
          <a:ext cx="0" cy="0"/>
          <a:chOff x="0" y="0"/>
          <a:chExt cx="0" cy="0"/>
        </a:xfrm>
      </p:grpSpPr>
      <p:sp>
        <p:nvSpPr>
          <p:cNvPr id="62" name="Google Shape;62;g3d73be8fb28_0_92:notes">
            <a:extLst>
              <a:ext uri="{FF2B5EF4-FFF2-40B4-BE49-F238E27FC236}">
                <a16:creationId xmlns:a16="http://schemas.microsoft.com/office/drawing/2014/main" id="{A032A78C-F277-6304-7646-8C85F13130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d73be8fb28_0_92:notes">
            <a:extLst>
              <a:ext uri="{FF2B5EF4-FFF2-40B4-BE49-F238E27FC236}">
                <a16:creationId xmlns:a16="http://schemas.microsoft.com/office/drawing/2014/main" id="{B5D731B6-5169-3F09-99F2-8C7273A0E3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dirty="0"/>
              <a:t>Big number, sets up the bet. Pause. Let it land.</a:t>
            </a:r>
            <a:endParaRPr lang="en-GB" dirty="0"/>
          </a:p>
          <a:p>
            <a:r>
              <a:rPr lang="en-GB" dirty="0"/>
              <a:t>what a great plan 🤣</a:t>
            </a:r>
          </a:p>
          <a:p>
            <a:endParaRPr lang="en-GB" dirty="0"/>
          </a:p>
          <a:p>
            <a:endParaRPr lang="en-GB" dirty="0"/>
          </a:p>
          <a:p>
            <a:r>
              <a:rPr lang="en-GB" dirty="0"/>
              <a:t>In 30 days time</a:t>
            </a:r>
            <a:endParaRPr dirty="0"/>
          </a:p>
        </p:txBody>
      </p:sp>
    </p:spTree>
    <p:extLst>
      <p:ext uri="{BB962C8B-B14F-4D97-AF65-F5344CB8AC3E}">
        <p14:creationId xmlns:p14="http://schemas.microsoft.com/office/powerpoint/2010/main" val="11328868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74485B5D-1573-0820-8AEF-E69CA4E8550A}"/>
              </a:ext>
            </a:extLst>
          </p:cNvPr>
          <p:cNvSpPr>
            <a:spLocks noGrp="1"/>
          </p:cNvSpPr>
          <p:nvPr>
            <p:ph type="body" idx="1"/>
          </p:nvPr>
        </p:nvSpPr>
        <p:spPr/>
        <p:txBody>
          <a:bodyPr/>
          <a:lstStyle/>
          <a:p>
            <a:r>
              <a:rPr lang="en-GB" dirty="0"/>
              <a:t>Go to the dashboard</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Auto Entities is a new feature in DAB 2.0 that lets you define patterns to automatically discover and expose database objects.</a:t>
            </a:r>
          </a:p>
          <a:p>
            <a:endParaRPr lang="en-GB" dirty="0"/>
          </a:p>
          <a:p>
            <a:r>
              <a:rPr lang="en-GB" dirty="0"/>
              <a:t>Key points:</a:t>
            </a:r>
          </a:p>
          <a:p>
            <a:r>
              <a:rPr lang="en-GB" dirty="0"/>
              <a:t>- Patterns use T-SQL LIKE syntax (e.g. dbo.% matches all objects in the dbo schema). Include and exclude arrays fine-tune which objects are exposed.</a:t>
            </a:r>
          </a:p>
          <a:p>
            <a:r>
              <a:rPr lang="en-GB" dirty="0"/>
              <a:t>- Each autoentities definition carries its own template (REST/GraphQL/MCP toggles, caching) and permissions, so different schemas can have different access levels.</a:t>
            </a:r>
          </a:p>
          <a:p>
            <a:r>
              <a:rPr lang="en-GB" dirty="0"/>
              <a:t>- New tables matching the pattern are picked up on each DAB restart with zero config changes.</a:t>
            </a:r>
          </a:p>
          <a:p>
            <a:r>
              <a:rPr lang="en-GB" dirty="0"/>
              <a:t>- Currently MSSQL only.</a:t>
            </a:r>
          </a:p>
          <a:p>
            <a:r>
              <a:rPr lang="en-GB" dirty="0"/>
              <a:t>- CLI: dab auto-config creates definitions; dab auto-config-simulate previews matches before committing.</a:t>
            </a:r>
          </a:p>
          <a:p>
            <a:r>
              <a:rPr lang="en-GB" dirty="0"/>
              <a:t>- When autoentities is present the entities section is optional. Both can coexist; explicit entities take precedence.</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SQL MCP Server is built into Data API builder starting from version 1.7. It exposes database operations as a small family of MCP tools so AI agents can interact with your data through a controlled contract rather than raw SQL.</a:t>
            </a:r>
          </a:p>
          <a:p>
            <a:endParaRPr lang="en-GB" dirty="0"/>
          </a:p>
          <a:p>
            <a:r>
              <a:rPr lang="en-GB" b="1" dirty="0"/>
              <a:t>NL2DAB, not NL2SQL</a:t>
            </a:r>
            <a:r>
              <a:rPr lang="en-GB" dirty="0"/>
              <a:t> – The key design decision. Models are not deterministic, and complex queries are the most likely to produce subtle errors. Instead of letting agents generate free-form SQL, SQL MCP Server uses DAB’s entity abstraction layer and the built-in Query Builder to produce accurate, well-formed T-SQL in a fully deterministic way. This removes the risk associated with NL2SQL while preserving reliability for agent-generated queries.</a:t>
            </a:r>
          </a:p>
          <a:p>
            <a:endParaRPr lang="en-GB" dirty="0"/>
          </a:p>
          <a:p>
            <a:r>
              <a:rPr lang="en-GB" b="1" dirty="0"/>
              <a:t>Entity abstraction</a:t>
            </a:r>
            <a:r>
              <a:rPr lang="en-GB" dirty="0"/>
              <a:t> – The internal database schema is never exposed to agents. You define entities, alias fields, set relationships, and apply permissions at the API layer. This prevents schema leaks and lets you evolve the database independently of the agent interface.</a:t>
            </a:r>
          </a:p>
          <a:p>
            <a:endParaRPr lang="en-GB" dirty="0"/>
          </a:p>
          <a:p>
            <a:r>
              <a:rPr lang="en-GB" b="1" dirty="0"/>
              <a:t>DML only, no DDL</a:t>
            </a:r>
            <a:r>
              <a:rPr lang="en-GB" dirty="0"/>
              <a:t> – SQL MCP Server is designed to work with data (Create, Read, Update, Delete, and stored procedure execution), not schema. Agents cannot alter tables or create objects. This aligns with production use cases where AI interacts with mission-critical systems.</a:t>
            </a:r>
          </a:p>
          <a:p>
            <a:endParaRPr lang="en-GB" dirty="0"/>
          </a:p>
          <a:p>
            <a:r>
              <a:rPr lang="en-GB" b="1" dirty="0"/>
              <a:t>Same security and telemetry</a:t>
            </a:r>
            <a:r>
              <a:rPr lang="en-GB" dirty="0"/>
              <a:t> – RBAC, L1/L2 caching, and OpenTelemetry apply identically across REST, GraphQL, and MCP endpoints. MCP tool execution appears in the same dashboards and trace IDs as API traffic. No extra configuration required.</a:t>
            </a:r>
          </a:p>
          <a:p>
            <a:endParaRPr lang="en-GB" dirty="0"/>
          </a:p>
          <a:p>
            <a:r>
              <a:rPr lang="en-GB" b="1" dirty="0"/>
              <a:t>Two transports</a:t>
            </a:r>
            <a:r>
              <a:rPr lang="en-GB" dirty="0"/>
              <a:t> – Streamable HTTP for standard hosted scenarios (e.g. App Service, containers), and stdio for local development where VS Code manages the DAB process directly. Both use the same DAB config file that also drives REST and GraphQL.</a:t>
            </a:r>
          </a:p>
          <a:p>
            <a:endParaRPr lang="en-GB" dirty="0"/>
          </a:p>
          <a:p>
            <a:r>
              <a:rPr lang="en-GB" dirty="0"/>
              <a:t>SQL MCP Server implements MCP protocol version 2025-06-18. It supports SQL Server, Azure SQL, PostgreSQL, Azure Cosmos DB, and MySQL. A single DAB configuration can expose MCP, REST, and GraphQL endpoints simultaneously from one runtime.</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37484730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d73be8fb28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d73be8fb28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dirty="0"/>
              <a:t>Live demo part two. Show the schedule view, walk through how planned TSS compares to actual TSS, and the projection out to 13 June.</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B92018FC-EF95-3EBC-8EE4-04AC9899E080}"/>
              </a:ext>
            </a:extLst>
          </p:cNvPr>
          <p:cNvSpPr>
            <a:spLocks noGrp="1"/>
          </p:cNvSpPr>
          <p:nvPr>
            <p:ph type="body" idx="1"/>
          </p:nvPr>
        </p:nvSpPr>
        <p:spPr/>
        <p:txBody>
          <a:bodyPr/>
          <a:lstStyle/>
          <a:p>
            <a:r>
              <a:rPr lang="en-GB" dirty="0"/>
              <a:t>Relationships &amp; GraphQL — nested data without custom code</a:t>
            </a:r>
          </a:p>
          <a:p>
            <a:endParaRPr lang="en-GB" dirty="0"/>
          </a:p>
          <a:p>
            <a:r>
              <a:rPr lang="en-GB" b="1" dirty="0"/>
              <a:t>Relationships:</a:t>
            </a:r>
          </a:p>
          <a:p>
            <a:r>
              <a:rPr lang="en-GB" dirty="0"/>
              <a:t>- Defined in the config file under each entity's "relationships" section.</a:t>
            </a:r>
          </a:p>
          <a:p>
            <a:r>
              <a:rPr lang="en-GB" dirty="0"/>
              <a:t>- You specify the source and target entities, the linking columns, and the cardinality (one-to-many, many-to-one).</a:t>
            </a:r>
          </a:p>
          <a:p>
            <a:r>
              <a:rPr lang="en-GB" dirty="0"/>
              <a:t>- DAB generates the join logic — no stored procedures, no views required.</a:t>
            </a:r>
          </a:p>
          <a:p>
            <a:r>
              <a:rPr lang="en-GB" dirty="0"/>
              <a:t>- One API call returns parent + child records together — eliminates N+1 query patterns on the client.</a:t>
            </a:r>
          </a:p>
          <a:p>
            <a:endParaRPr lang="en-GB" dirty="0"/>
          </a:p>
          <a:p>
            <a:r>
              <a:rPr lang="en-GB" b="1" dirty="0"/>
              <a:t>GraphQL endpoint:</a:t>
            </a:r>
          </a:p>
          <a:p>
            <a:r>
              <a:rPr lang="en-GB" dirty="0"/>
              <a:t>- DAB auto-generates a full GraphQL schema from your entity definitions.</a:t>
            </a:r>
          </a:p>
          <a:p>
            <a:r>
              <a:rPr lang="en-GB" dirty="0"/>
              <a:t>- Callers request exactly the fields they need — no over-fetching, no under-fetching.</a:t>
            </a:r>
          </a:p>
          <a:p>
            <a:r>
              <a:rPr lang="en-GB" dirty="0"/>
              <a:t>- Supports nested queries that follow the relationships you defined — e.g., query an athlete and get their activities in one request.</a:t>
            </a:r>
          </a:p>
          <a:p>
            <a:r>
              <a:rPr lang="en-GB" dirty="0"/>
              <a:t>- Supports aliases, fragments, and introspection out of the box.</a:t>
            </a:r>
          </a:p>
          <a:p>
            <a:r>
              <a:rPr lang="en-GB" dirty="0"/>
              <a:t>- The GraphQL endpoint lives at /graphql on the same host as the REST endpoint.</a:t>
            </a:r>
          </a:p>
          <a:p>
            <a:endParaRPr lang="en-GB" dirty="0"/>
          </a:p>
          <a:p>
            <a:r>
              <a:rPr lang="en-GB" b="1" dirty="0"/>
              <a:t>When to use REST vs GraphQL:</a:t>
            </a:r>
          </a:p>
          <a:p>
            <a:r>
              <a:rPr lang="en-GB" dirty="0"/>
              <a:t>- REST is simpler and works with any HTTP client — good for CRUD and straightforward queries.</a:t>
            </a:r>
          </a:p>
          <a:p>
            <a:r>
              <a:rPr lang="en-GB" dirty="0"/>
              <a:t>- GraphQL shines when the client needs flexible field selection or traverses relationships — fewer round-trips, exactly the data shape you want.</a:t>
            </a:r>
          </a:p>
          <a:p>
            <a:r>
              <a:rPr lang="en-GB" dirty="0"/>
              <a:t>- Both endpoints are always available simultaneously — no need to choose one at deploy time.</a:t>
            </a:r>
          </a:p>
          <a:p>
            <a:endParaRPr lang="en-GB" dirty="0"/>
          </a:p>
          <a:p>
            <a:r>
              <a:rPr lang="en-GB" b="1" dirty="0"/>
              <a:t>Demo tip: show the GraphQL playground at /graphql — it has auto-complete and schema docs built in. Let the audience explore the schema interactively.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pic>
        <p:nvPicPr>
          <p:cNvPr id="2" name="Google Shape;66;p14" title="Wave.png">
            <a:extLst>
              <a:ext uri="{FF2B5EF4-FFF2-40B4-BE49-F238E27FC236}">
                <a16:creationId xmlns:a16="http://schemas.microsoft.com/office/drawing/2014/main" id="{F4F64EAE-7921-4F7A-F198-C32F3F0287C8}"/>
              </a:ext>
            </a:extLst>
          </p:cNvPr>
          <p:cNvPicPr preferRelativeResize="0"/>
          <p:nvPr userDrawn="1"/>
        </p:nvPicPr>
        <p:blipFill rotWithShape="1">
          <a:blip r:embed="rId2">
            <a:alphaModFix/>
          </a:blip>
          <a:srcRect l="1896" r="1886" b="28947"/>
          <a:stretch/>
        </p:blipFill>
        <p:spPr>
          <a:xfrm>
            <a:off x="2145" y="3455650"/>
            <a:ext cx="9151677" cy="168785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Picture with Captio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36151D4-DB60-411B-A528-50BAE53F57B2}"/>
              </a:ext>
            </a:extLst>
          </p:cNvPr>
          <p:cNvSpPr/>
          <p:nvPr userDrawn="1"/>
        </p:nvSpPr>
        <p:spPr>
          <a:xfrm>
            <a:off x="1" y="0"/>
            <a:ext cx="3790536" cy="509504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050" dirty="0"/>
          </a:p>
        </p:txBody>
      </p:sp>
      <p:cxnSp>
        <p:nvCxnSpPr>
          <p:cNvPr id="17" name="Straight Connector 16">
            <a:extLst>
              <a:ext uri="{FF2B5EF4-FFF2-40B4-BE49-F238E27FC236}">
                <a16:creationId xmlns:a16="http://schemas.microsoft.com/office/drawing/2014/main" id="{4A60309D-55BA-4D22-AAD6-E5A0B50ECF2B}"/>
              </a:ext>
            </a:extLst>
          </p:cNvPr>
          <p:cNvCxnSpPr>
            <a:cxnSpLocks/>
          </p:cNvCxnSpPr>
          <p:nvPr userDrawn="1"/>
        </p:nvCxnSpPr>
        <p:spPr>
          <a:xfrm>
            <a:off x="-3591" y="1247614"/>
            <a:ext cx="3794128"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Picture Placeholder 2"/>
          <p:cNvSpPr>
            <a:spLocks noGrp="1" noChangeAspect="1"/>
          </p:cNvSpPr>
          <p:nvPr>
            <p:ph type="pic" idx="1"/>
          </p:nvPr>
        </p:nvSpPr>
        <p:spPr>
          <a:xfrm>
            <a:off x="3887391" y="149088"/>
            <a:ext cx="5028008" cy="4246700"/>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fld id="{6F7AEB39-490D-4470-BB4F-F7E09AA2B520}" type="datetimeFigureOut">
              <a:rPr lang="en-US" smtClean="0"/>
              <a:t>9/7/2026</a:t>
            </a:fld>
            <a:endParaRPr lang="en-US"/>
          </a:p>
        </p:txBody>
      </p:sp>
      <p:sp>
        <p:nvSpPr>
          <p:cNvPr id="6" name="Footer Placeholder 5"/>
          <p:cNvSpPr>
            <a:spLocks noGrp="1"/>
          </p:cNvSpPr>
          <p:nvPr>
            <p:ph type="ftr" sz="quarter" idx="11"/>
          </p:nvPr>
        </p:nvSpPr>
        <p:spPr>
          <a:xfrm>
            <a:off x="3028950" y="4767263"/>
            <a:ext cx="3086100"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4767263"/>
            <a:ext cx="2057400" cy="273844"/>
          </a:xfrm>
          <a:prstGeom prst="rect">
            <a:avLst/>
          </a:prstGeom>
        </p:spPr>
        <p:txBody>
          <a:bodyPr/>
          <a:lstStyle/>
          <a:p>
            <a:fld id="{7685D492-989E-4C18-9C16-618523FA8F89}" type="slidenum">
              <a:rPr lang="en-US" smtClean="0"/>
              <a:t>‹#›</a:t>
            </a:fld>
            <a:endParaRPr lang="en-US"/>
          </a:p>
        </p:txBody>
      </p:sp>
      <p:sp>
        <p:nvSpPr>
          <p:cNvPr id="9" name="Rectangle 8">
            <a:extLst>
              <a:ext uri="{FF2B5EF4-FFF2-40B4-BE49-F238E27FC236}">
                <a16:creationId xmlns:a16="http://schemas.microsoft.com/office/drawing/2014/main" id="{9C07EFE7-5B1E-4F40-811D-08FCD8D618DD}"/>
              </a:ext>
            </a:extLst>
          </p:cNvPr>
          <p:cNvSpPr/>
          <p:nvPr userDrawn="1"/>
        </p:nvSpPr>
        <p:spPr>
          <a:xfrm>
            <a:off x="0" y="4676767"/>
            <a:ext cx="9147590" cy="46857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050" dirty="0"/>
          </a:p>
        </p:txBody>
      </p:sp>
      <p:sp>
        <p:nvSpPr>
          <p:cNvPr id="11" name="TextBox 10">
            <a:extLst>
              <a:ext uri="{FF2B5EF4-FFF2-40B4-BE49-F238E27FC236}">
                <a16:creationId xmlns:a16="http://schemas.microsoft.com/office/drawing/2014/main" id="{B0B38A53-4A23-41D0-8BA1-0FA329586176}"/>
              </a:ext>
            </a:extLst>
          </p:cNvPr>
          <p:cNvSpPr txBox="1"/>
          <p:nvPr userDrawn="1"/>
        </p:nvSpPr>
        <p:spPr>
          <a:xfrm>
            <a:off x="3872435" y="4780327"/>
            <a:ext cx="1395538" cy="253916"/>
          </a:xfrm>
          <a:prstGeom prst="rect">
            <a:avLst/>
          </a:prstGeom>
          <a:noFill/>
        </p:spPr>
        <p:txBody>
          <a:bodyPr wrap="square" rtlCol="0">
            <a:spAutoFit/>
          </a:bodyPr>
          <a:lstStyle/>
          <a:p>
            <a:pPr algn="ctr"/>
            <a:r>
              <a:rPr lang="en-US" sz="1050" dirty="0">
                <a:solidFill>
                  <a:schemeClr val="bg1"/>
                </a:solidFill>
              </a:rPr>
              <a:t>JessPomfret.com</a:t>
            </a:r>
          </a:p>
        </p:txBody>
      </p:sp>
      <p:sp>
        <p:nvSpPr>
          <p:cNvPr id="12" name="TextBox 11">
            <a:extLst>
              <a:ext uri="{FF2B5EF4-FFF2-40B4-BE49-F238E27FC236}">
                <a16:creationId xmlns:a16="http://schemas.microsoft.com/office/drawing/2014/main" id="{8E9766BB-530B-4DC7-AD7C-CC8099056C53}"/>
              </a:ext>
            </a:extLst>
          </p:cNvPr>
          <p:cNvSpPr txBox="1"/>
          <p:nvPr userDrawn="1"/>
        </p:nvSpPr>
        <p:spPr>
          <a:xfrm>
            <a:off x="6595888" y="4789565"/>
            <a:ext cx="2319511" cy="253916"/>
          </a:xfrm>
          <a:prstGeom prst="rect">
            <a:avLst/>
          </a:prstGeom>
          <a:noFill/>
        </p:spPr>
        <p:txBody>
          <a:bodyPr wrap="square" rtlCol="0">
            <a:spAutoFit/>
          </a:bodyPr>
          <a:lstStyle/>
          <a:p>
            <a:pPr algn="r"/>
            <a:r>
              <a:rPr lang="en-US" sz="1050" dirty="0">
                <a:solidFill>
                  <a:schemeClr val="bg1"/>
                </a:solidFill>
              </a:rPr>
              <a:t>jpomfret7@gmail.com</a:t>
            </a:r>
          </a:p>
        </p:txBody>
      </p:sp>
      <p:sp>
        <p:nvSpPr>
          <p:cNvPr id="14" name="Title 1">
            <a:extLst>
              <a:ext uri="{FF2B5EF4-FFF2-40B4-BE49-F238E27FC236}">
                <a16:creationId xmlns:a16="http://schemas.microsoft.com/office/drawing/2014/main" id="{35E0488E-0427-43E8-BBA5-D99047E554F4}"/>
              </a:ext>
            </a:extLst>
          </p:cNvPr>
          <p:cNvSpPr>
            <a:spLocks noGrp="1"/>
          </p:cNvSpPr>
          <p:nvPr>
            <p:ph type="title"/>
          </p:nvPr>
        </p:nvSpPr>
        <p:spPr>
          <a:xfrm>
            <a:off x="238539" y="149088"/>
            <a:ext cx="3340480" cy="1054790"/>
          </a:xfrm>
        </p:spPr>
        <p:txBody>
          <a:bodyPr anchor="b"/>
          <a:lstStyle>
            <a:lvl1pPr>
              <a:defRPr sz="2400"/>
            </a:lvl1pPr>
          </a:lstStyle>
          <a:p>
            <a:r>
              <a:rPr lang="en-US"/>
              <a:t>Click to edit Master title style</a:t>
            </a:r>
          </a:p>
        </p:txBody>
      </p:sp>
      <p:sp>
        <p:nvSpPr>
          <p:cNvPr id="15" name="Text Placeholder 3">
            <a:extLst>
              <a:ext uri="{FF2B5EF4-FFF2-40B4-BE49-F238E27FC236}">
                <a16:creationId xmlns:a16="http://schemas.microsoft.com/office/drawing/2014/main" id="{2FE8AD4E-3E68-45C9-8E82-47CD85003D2D}"/>
              </a:ext>
            </a:extLst>
          </p:cNvPr>
          <p:cNvSpPr>
            <a:spLocks noGrp="1"/>
          </p:cNvSpPr>
          <p:nvPr>
            <p:ph type="body" sz="half" idx="2"/>
          </p:nvPr>
        </p:nvSpPr>
        <p:spPr>
          <a:xfrm>
            <a:off x="238539" y="1343400"/>
            <a:ext cx="3340480" cy="3058341"/>
          </a:xfrm>
        </p:spPr>
        <p:txBody>
          <a:bodyPr/>
          <a:lstStyle>
            <a:lvl1pPr marL="0" indent="0">
              <a:buNone/>
              <a:defRPr sz="1200">
                <a:solidFill>
                  <a:schemeClr val="bg2"/>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2" name="TextBox 1">
            <a:extLst>
              <a:ext uri="{FF2B5EF4-FFF2-40B4-BE49-F238E27FC236}">
                <a16:creationId xmlns:a16="http://schemas.microsoft.com/office/drawing/2014/main" id="{48DBCFCE-7AC5-DF08-B76C-5409937C4E5A}"/>
              </a:ext>
            </a:extLst>
          </p:cNvPr>
          <p:cNvSpPr txBox="1"/>
          <p:nvPr userDrawn="1"/>
        </p:nvSpPr>
        <p:spPr>
          <a:xfrm>
            <a:off x="387922" y="4784094"/>
            <a:ext cx="1598309" cy="253916"/>
          </a:xfrm>
          <a:prstGeom prst="rect">
            <a:avLst/>
          </a:prstGeom>
          <a:noFill/>
        </p:spPr>
        <p:txBody>
          <a:bodyPr wrap="square" rtlCol="0">
            <a:spAutoFit/>
          </a:bodyPr>
          <a:lstStyle/>
          <a:p>
            <a:r>
              <a:rPr lang="en-US" sz="1050" dirty="0" err="1">
                <a:solidFill>
                  <a:schemeClr val="bg1"/>
                </a:solidFill>
              </a:rPr>
              <a:t>jpomfret</a:t>
            </a:r>
            <a:endParaRPr lang="en-US" sz="1050" dirty="0">
              <a:solidFill>
                <a:schemeClr val="bg1"/>
              </a:solidFill>
            </a:endParaRPr>
          </a:p>
        </p:txBody>
      </p:sp>
      <p:pic>
        <p:nvPicPr>
          <p:cNvPr id="18" name="Picture 17">
            <a:extLst>
              <a:ext uri="{FF2B5EF4-FFF2-40B4-BE49-F238E27FC236}">
                <a16:creationId xmlns:a16="http://schemas.microsoft.com/office/drawing/2014/main" id="{66B5D76B-9DC3-A1CB-6DE1-8FEDC14AC27C}"/>
              </a:ext>
            </a:extLst>
          </p:cNvPr>
          <p:cNvPicPr>
            <a:picLocks noChangeAspect="1"/>
          </p:cNvPicPr>
          <p:nvPr userDrawn="1"/>
        </p:nvPicPr>
        <p:blipFill>
          <a:blip r:embed="rId2"/>
          <a:stretch>
            <a:fillRect/>
          </a:stretch>
        </p:blipFill>
        <p:spPr>
          <a:xfrm>
            <a:off x="257664" y="4838648"/>
            <a:ext cx="167961" cy="155764"/>
          </a:xfrm>
          <a:prstGeom prst="rect">
            <a:avLst/>
          </a:prstGeom>
        </p:spPr>
      </p:pic>
    </p:spTree>
    <p:extLst>
      <p:ext uri="{BB962C8B-B14F-4D97-AF65-F5344CB8AC3E}">
        <p14:creationId xmlns:p14="http://schemas.microsoft.com/office/powerpoint/2010/main" val="2246014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1.xml"/><Relationship Id="rId5" Type="http://schemas.openxmlformats.org/officeDocument/2006/relationships/image" Target="../media/image6.pn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gif"/><Relationship Id="rId5" Type="http://schemas.openxmlformats.org/officeDocument/2006/relationships/image" Target="../media/image7.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4.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9.jpeg"/><Relationship Id="rId5" Type="http://schemas.openxmlformats.org/officeDocument/2006/relationships/image" Target="../media/image11.png"/><Relationship Id="rId10" Type="http://schemas.openxmlformats.org/officeDocument/2006/relationships/image" Target="../media/image18.png"/><Relationship Id="rId4" Type="http://schemas.openxmlformats.org/officeDocument/2006/relationships/image" Target="../media/image1.png"/><Relationship Id="rId9"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4.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11.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3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36.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36.jp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38.jpg"/><Relationship Id="rId4" Type="http://schemas.openxmlformats.org/officeDocument/2006/relationships/image" Target="../media/image24.png"/></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10.png"/><Relationship Id="rId4" Type="http://schemas.openxmlformats.org/officeDocument/2006/relationships/image" Target="../media/image11.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Google Shape;54;p13">
            <a:extLst>
              <a:ext uri="{FF2B5EF4-FFF2-40B4-BE49-F238E27FC236}">
                <a16:creationId xmlns:a16="http://schemas.microsoft.com/office/drawing/2014/main" id="{29768075-4408-C9DE-7541-FF79A785C691}"/>
              </a:ext>
            </a:extLst>
          </p:cNvPr>
          <p:cNvSpPr txBox="1">
            <a:spLocks noGrp="1"/>
          </p:cNvSpPr>
          <p:nvPr>
            <p:ph type="ctrTitle"/>
          </p:nvPr>
        </p:nvSpPr>
        <p:spPr>
          <a:xfrm>
            <a:off x="311700" y="744575"/>
            <a:ext cx="8520600" cy="1446300"/>
          </a:xfrm>
          <a:prstGeom prst="rect">
            <a:avLst/>
          </a:prstGeom>
        </p:spPr>
        <p:txBody>
          <a:bodyPr spcFirstLastPara="1" wrap="square" lIns="91425" tIns="91425" rIns="91425" bIns="91425" anchor="b" anchorCtr="0">
            <a:normAutofit/>
          </a:bodyPr>
          <a:lstStyle/>
          <a:p>
            <a:pPr algn="l"/>
            <a:r>
              <a:rPr sz="4800" b="1" dirty="0">
                <a:solidFill>
                  <a:srgbClr val="10265D"/>
                </a:solidFill>
                <a:latin typeface="Etna"/>
              </a:rPr>
              <a:t>Data API Builder</a:t>
            </a:r>
            <a:endParaRPr lang="en-GB" dirty="0"/>
          </a:p>
        </p:txBody>
      </p:sp>
      <p:pic>
        <p:nvPicPr>
          <p:cNvPr id="55" name="Google Shape;55;p13" title="Wave.png">
            <a:extLst>
              <a:ext uri="{FF2B5EF4-FFF2-40B4-BE49-F238E27FC236}">
                <a16:creationId xmlns:a16="http://schemas.microsoft.com/office/drawing/2014/main" id="{7851F0E5-F47D-8BDA-4596-7D01B4A0996E}"/>
              </a:ext>
            </a:extLst>
          </p:cNvPr>
          <p:cNvPicPr preferRelativeResize="0"/>
          <p:nvPr/>
        </p:nvPicPr>
        <p:blipFill rotWithShape="1">
          <a:blip r:embed="rId3">
            <a:alphaModFix/>
          </a:blip>
          <a:srcRect l="1876" r="1905" b="6209"/>
          <a:stretch/>
        </p:blipFill>
        <p:spPr>
          <a:xfrm>
            <a:off x="-7675" y="2571750"/>
            <a:ext cx="9151677" cy="2577075"/>
          </a:xfrm>
          <a:prstGeom prst="rect">
            <a:avLst/>
          </a:prstGeom>
          <a:noFill/>
          <a:ln>
            <a:noFill/>
          </a:ln>
        </p:spPr>
      </p:pic>
      <p:sp>
        <p:nvSpPr>
          <p:cNvPr id="56" name="Google Shape;56;p13">
            <a:extLst>
              <a:ext uri="{FF2B5EF4-FFF2-40B4-BE49-F238E27FC236}">
                <a16:creationId xmlns:a16="http://schemas.microsoft.com/office/drawing/2014/main" id="{249B031B-D21C-F914-51F5-761F281ED9DA}"/>
              </a:ext>
            </a:extLst>
          </p:cNvPr>
          <p:cNvSpPr txBox="1">
            <a:spLocks noGrp="1"/>
          </p:cNvSpPr>
          <p:nvPr>
            <p:ph type="subTitle" idx="1"/>
          </p:nvPr>
        </p:nvSpPr>
        <p:spPr>
          <a:xfrm>
            <a:off x="311700" y="2175450"/>
            <a:ext cx="8520600" cy="792600"/>
          </a:xfrm>
          <a:prstGeom prst="rect">
            <a:avLst/>
          </a:prstGeom>
        </p:spPr>
        <p:txBody>
          <a:bodyPr spcFirstLastPara="1" wrap="square" lIns="91425" tIns="91425" rIns="91425" bIns="91425" anchor="t" anchorCtr="0">
            <a:normAutofit fontScale="92500" lnSpcReduction="10000"/>
          </a:bodyPr>
          <a:lstStyle/>
          <a:p>
            <a:pPr algn="l"/>
            <a:r>
              <a:rPr sz="2200" dirty="0">
                <a:solidFill>
                  <a:srgbClr val="530080"/>
                </a:solidFill>
                <a:latin typeface="Garet"/>
              </a:rPr>
              <a:t>Create an API for your database in seconds</a:t>
            </a:r>
            <a:endParaRPr lang="en-GB" dirty="0"/>
          </a:p>
          <a:p>
            <a:pPr algn="l">
              <a:spcBef>
                <a:spcPts val="800"/>
              </a:spcBef>
            </a:pPr>
            <a:r>
              <a:rPr sz="1600" dirty="0">
                <a:solidFill>
                  <a:srgbClr val="4FAAB3"/>
                </a:solidFill>
                <a:latin typeface="Garet"/>
              </a:rPr>
              <a:t>Jess Pomfret  ·  </a:t>
            </a:r>
            <a:r>
              <a:rPr lang="en-GB" sz="1600" dirty="0">
                <a:solidFill>
                  <a:srgbClr val="4FAAB3"/>
                </a:solidFill>
                <a:latin typeface="Garet"/>
              </a:rPr>
              <a:t>Data Bristol </a:t>
            </a:r>
            <a:r>
              <a:rPr sz="1600" dirty="0">
                <a:solidFill>
                  <a:srgbClr val="4FAAB3"/>
                </a:solidFill>
                <a:latin typeface="Garet"/>
              </a:rPr>
              <a:t>2026</a:t>
            </a:r>
          </a:p>
        </p:txBody>
      </p:sp>
      <p:pic>
        <p:nvPicPr>
          <p:cNvPr id="2" name="Google Shape;70;p14" title="Tentacles.png">
            <a:extLst>
              <a:ext uri="{FF2B5EF4-FFF2-40B4-BE49-F238E27FC236}">
                <a16:creationId xmlns:a16="http://schemas.microsoft.com/office/drawing/2014/main" id="{1080E83B-07FF-BC83-703F-084068A6CC20}"/>
              </a:ext>
            </a:extLst>
          </p:cNvPr>
          <p:cNvPicPr preferRelativeResize="0"/>
          <p:nvPr/>
        </p:nvPicPr>
        <p:blipFill>
          <a:blip r:embed="rId4">
            <a:alphaModFix/>
          </a:blip>
          <a:stretch>
            <a:fillRect/>
          </a:stretch>
        </p:blipFill>
        <p:spPr>
          <a:xfrm>
            <a:off x="-117765" y="3824371"/>
            <a:ext cx="2514600" cy="131912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E9CB3-7382-4630-9D25-124626170B5C}"/>
              </a:ext>
            </a:extLst>
          </p:cNvPr>
          <p:cNvSpPr>
            <a:spLocks noGrp="1"/>
          </p:cNvSpPr>
          <p:nvPr>
            <p:ph type="title"/>
          </p:nvPr>
        </p:nvSpPr>
        <p:spPr>
          <a:xfrm>
            <a:off x="238539" y="149088"/>
            <a:ext cx="3340480" cy="954884"/>
          </a:xfrm>
        </p:spPr>
        <p:txBody>
          <a:bodyPr>
            <a:normAutofit fontScale="90000"/>
          </a:bodyPr>
          <a:lstStyle/>
          <a:p>
            <a:pPr algn="l"/>
            <a:r>
              <a:rPr lang="en-US" sz="3600" b="1" dirty="0">
                <a:solidFill>
                  <a:srgbClr val="10265D"/>
                </a:solidFill>
                <a:latin typeface="Etna"/>
              </a:rPr>
              <a:t>Jess Pomfret</a:t>
            </a:r>
          </a:p>
          <a:p>
            <a:pPr algn="l"/>
            <a:r>
              <a:rPr lang="en-US" sz="1800" dirty="0">
                <a:solidFill>
                  <a:schemeClr val="accent2"/>
                </a:solidFill>
                <a:latin typeface="Garet"/>
              </a:rPr>
              <a:t>(She/Her)</a:t>
            </a:r>
          </a:p>
        </p:txBody>
      </p:sp>
      <p:pic>
        <p:nvPicPr>
          <p:cNvPr id="7" name="Picture 6" descr="A close up of a sign  Description automatically generated">
            <a:extLst>
              <a:ext uri="{FF2B5EF4-FFF2-40B4-BE49-F238E27FC236}">
                <a16:creationId xmlns:a16="http://schemas.microsoft.com/office/drawing/2014/main" id="{DC714AD4-83A8-4057-BC8E-2D231207D3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2991" y="3048104"/>
            <a:ext cx="972519" cy="1539821"/>
          </a:xfrm>
          <a:prstGeom prst="rect">
            <a:avLst/>
          </a:prstGeom>
        </p:spPr>
      </p:pic>
      <p:pic>
        <p:nvPicPr>
          <p:cNvPr id="6" name="Picture 5" descr="A person smiling for a picture  AI-generated content may be incorrect.">
            <a:extLst>
              <a:ext uri="{FF2B5EF4-FFF2-40B4-BE49-F238E27FC236}">
                <a16:creationId xmlns:a16="http://schemas.microsoft.com/office/drawing/2014/main" id="{1FDAF9AD-CE55-000A-47C3-57C965972D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8539" y="1455486"/>
            <a:ext cx="3218688" cy="3218688"/>
          </a:xfrm>
          <a:prstGeom prst="rect">
            <a:avLst/>
          </a:prstGeom>
        </p:spPr>
      </p:pic>
      <p:sp>
        <p:nvSpPr>
          <p:cNvPr id="5" name="Content Placeholder 2">
            <a:extLst>
              <a:ext uri="{FF2B5EF4-FFF2-40B4-BE49-F238E27FC236}">
                <a16:creationId xmlns:a16="http://schemas.microsoft.com/office/drawing/2014/main" id="{31A60581-8059-605C-38CC-3A7FBE9F32A9}"/>
              </a:ext>
            </a:extLst>
          </p:cNvPr>
          <p:cNvSpPr txBox="1">
            <a:spLocks/>
          </p:cNvSpPr>
          <p:nvPr/>
        </p:nvSpPr>
        <p:spPr>
          <a:xfrm>
            <a:off x="3887391" y="1197429"/>
            <a:ext cx="4213667" cy="3390496"/>
          </a:xfrm>
          <a:prstGeom prst="rect">
            <a:avLst/>
          </a:prstGeom>
        </p:spPr>
        <p:txBody>
          <a:bodyPr vert="horz" lIns="68580" tIns="34290" rIns="68580" bIns="34290" rtlCol="0" anchor="t">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9pPr>
          </a:lstStyle>
          <a:p>
            <a:pPr marL="342900" indent="-342900">
              <a:buFont typeface="Arial"/>
              <a:buChar char="•"/>
            </a:pPr>
            <a:r>
              <a:rPr lang="en-US" sz="2000" dirty="0">
                <a:solidFill>
                  <a:srgbClr val="10265D"/>
                </a:solidFill>
                <a:latin typeface="Garet"/>
              </a:rPr>
              <a:t>Data Platform Engineer</a:t>
            </a:r>
          </a:p>
          <a:p>
            <a:pPr marL="342900" indent="-342900">
              <a:buFont typeface="Arial"/>
              <a:buChar char="•"/>
            </a:pPr>
            <a:r>
              <a:rPr lang="en-US" sz="2000" dirty="0">
                <a:solidFill>
                  <a:srgbClr val="10265D"/>
                </a:solidFill>
                <a:latin typeface="Garet"/>
              </a:rPr>
              <a:t>LinkedIn Learning Instructor</a:t>
            </a:r>
          </a:p>
          <a:p>
            <a:pPr marL="342900" indent="-342900">
              <a:buFont typeface="Arial"/>
              <a:buChar char="•"/>
            </a:pPr>
            <a:r>
              <a:rPr lang="en-US" sz="2000" dirty="0">
                <a:solidFill>
                  <a:srgbClr val="10265D"/>
                </a:solidFill>
                <a:latin typeface="Garet"/>
              </a:rPr>
              <a:t>Open Source Contributor</a:t>
            </a:r>
          </a:p>
          <a:p>
            <a:pPr marL="685800" lvl="1" indent="-342900">
              <a:buFont typeface="Arial"/>
              <a:buChar char="•"/>
            </a:pPr>
            <a:r>
              <a:rPr lang="en-US" sz="1700" dirty="0">
                <a:solidFill>
                  <a:schemeClr val="accent2"/>
                </a:solidFill>
                <a:latin typeface="Garet"/>
              </a:rPr>
              <a:t>dbatools, MicrosoftFabricMgmt</a:t>
            </a:r>
          </a:p>
          <a:p>
            <a:pPr marL="342900" indent="-342900">
              <a:buFont typeface="Arial"/>
              <a:buChar char="•"/>
            </a:pPr>
            <a:r>
              <a:rPr lang="en-US" sz="2000" dirty="0">
                <a:solidFill>
                  <a:srgbClr val="10265D"/>
                </a:solidFill>
                <a:latin typeface="Garet"/>
              </a:rPr>
              <a:t>Passionate about Automation, Proper Football &amp; Fitness</a:t>
            </a:r>
          </a:p>
          <a:p>
            <a:pPr>
              <a:buNone/>
            </a:pPr>
            <a:endParaRPr lang="en-US" sz="1200" dirty="0"/>
          </a:p>
          <a:p>
            <a:pPr>
              <a:buNone/>
            </a:pPr>
            <a:r>
              <a:rPr lang="en-US" sz="1600" dirty="0">
                <a:solidFill>
                  <a:schemeClr val="accent2"/>
                </a:solidFill>
                <a:latin typeface="Garet"/>
              </a:rPr>
              <a:t>jpomfret7@gmail.com</a:t>
            </a:r>
          </a:p>
          <a:p>
            <a:pPr>
              <a:buNone/>
            </a:pPr>
            <a:r>
              <a:rPr lang="en-US" sz="1600" dirty="0">
                <a:solidFill>
                  <a:schemeClr val="accent2"/>
                </a:solidFill>
                <a:latin typeface="Garet"/>
              </a:rPr>
              <a:t>jesspomfret.com</a:t>
            </a:r>
          </a:p>
          <a:p>
            <a:pPr>
              <a:buNone/>
            </a:pPr>
            <a:r>
              <a:rPr lang="en-US" sz="1600" dirty="0">
                <a:solidFill>
                  <a:schemeClr val="accent2"/>
                </a:solidFill>
                <a:latin typeface="Garet"/>
              </a:rPr>
              <a:t>linkedin.com/in/jpomfret/</a:t>
            </a:r>
          </a:p>
        </p:txBody>
      </p:sp>
      <p:pic>
        <p:nvPicPr>
          <p:cNvPr id="12" name="Picture 11">
            <a:extLst>
              <a:ext uri="{FF2B5EF4-FFF2-40B4-BE49-F238E27FC236}">
                <a16:creationId xmlns:a16="http://schemas.microsoft.com/office/drawing/2014/main" id="{70BA7A62-ABC3-F587-3BC6-43423ED040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96427" y="134084"/>
            <a:ext cx="2618870" cy="571043"/>
          </a:xfrm>
          <a:prstGeom prst="rect">
            <a:avLst/>
          </a:prstGeom>
        </p:spPr>
      </p:pic>
    </p:spTree>
    <p:extLst>
      <p:ext uri="{BB962C8B-B14F-4D97-AF65-F5344CB8AC3E}">
        <p14:creationId xmlns:p14="http://schemas.microsoft.com/office/powerpoint/2010/main" val="211336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Google Shape;71;p14"/>
          <p:cNvSpPr txBox="1">
            <a:spLocks noGrp="1"/>
          </p:cNvSpPr>
          <p:nvPr>
            <p:ph type="ctrTitle"/>
          </p:nvPr>
        </p:nvSpPr>
        <p:spPr>
          <a:xfrm>
            <a:off x="311700" y="1551251"/>
            <a:ext cx="8520600" cy="635452"/>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br>
              <a:rPr lang="en-GB" sz="4000" b="1" dirty="0">
                <a:solidFill>
                  <a:srgbClr val="10265D"/>
                </a:solidFill>
                <a:latin typeface="Etna"/>
              </a:rPr>
            </a:br>
            <a:r>
              <a:rPr lang="en-GB" sz="4000" b="1" dirty="0">
                <a:solidFill>
                  <a:srgbClr val="10265D"/>
                </a:solidFill>
                <a:latin typeface="Etna"/>
              </a:rPr>
              <a:t>if I wanted to cycle 205 miles in one day…</a:t>
            </a:r>
            <a:endParaRPr dirty="0"/>
          </a:p>
        </p:txBody>
      </p:sp>
      <p:sp>
        <p:nvSpPr>
          <p:cNvPr id="4" name="Google Shape;71;p14">
            <a:extLst>
              <a:ext uri="{FF2B5EF4-FFF2-40B4-BE49-F238E27FC236}">
                <a16:creationId xmlns:a16="http://schemas.microsoft.com/office/drawing/2014/main" id="{0C7D8898-B412-3E4D-F257-88646A90A92F}"/>
              </a:ext>
            </a:extLst>
          </p:cNvPr>
          <p:cNvSpPr txBox="1">
            <a:spLocks/>
          </p:cNvSpPr>
          <p:nvPr/>
        </p:nvSpPr>
        <p:spPr>
          <a:xfrm>
            <a:off x="311700" y="727316"/>
            <a:ext cx="8520600" cy="970855"/>
          </a:xfrm>
          <a:prstGeom prst="rect">
            <a:avLst/>
          </a:prstGeom>
          <a:noFill/>
          <a:ln>
            <a:noFill/>
          </a:ln>
        </p:spPr>
        <p:txBody>
          <a:bodyPr spcFirstLastPara="1" wrap="square" lIns="91425" tIns="91425" rIns="91425" bIns="91425" anchor="b" anchorCtr="0">
            <a:normAutofit fontScale="975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9pPr>
          </a:lstStyle>
          <a:p>
            <a:pPr algn="l"/>
            <a:r>
              <a:rPr lang="en-GB" sz="4000" b="1" dirty="0">
                <a:solidFill>
                  <a:srgbClr val="10265D"/>
                </a:solidFill>
                <a:latin typeface="Etna"/>
              </a:rPr>
              <a:t>One day someone asked</a:t>
            </a:r>
            <a:endParaRPr lang="en-GB" dirty="0"/>
          </a:p>
        </p:txBody>
      </p:sp>
      <p:sp>
        <p:nvSpPr>
          <p:cNvPr id="65" name="Google Shape;65;p14"/>
          <p:cNvSpPr/>
          <p:nvPr/>
        </p:nvSpPr>
        <p:spPr>
          <a:xfrm rot="10800000" flipH="1">
            <a:off x="-9816" y="2428866"/>
            <a:ext cx="9163638" cy="2714634"/>
          </a:xfrm>
          <a:prstGeom prst="flowChartDocument">
            <a:avLst/>
          </a:prstGeom>
          <a:solidFill>
            <a:srgbClr val="DEF5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6" name="Google Shape;66;p14" title="Wave.png"/>
          <p:cNvPicPr preferRelativeResize="0"/>
          <p:nvPr/>
        </p:nvPicPr>
        <p:blipFill rotWithShape="1">
          <a:blip r:embed="rId3">
            <a:alphaModFix/>
          </a:blip>
          <a:srcRect l="1896" r="1886" b="28947"/>
          <a:stretch/>
        </p:blipFill>
        <p:spPr>
          <a:xfrm>
            <a:off x="2145" y="3455650"/>
            <a:ext cx="9151677" cy="1687850"/>
          </a:xfrm>
          <a:prstGeom prst="rect">
            <a:avLst/>
          </a:prstGeom>
          <a:noFill/>
          <a:ln>
            <a:noFill/>
          </a:ln>
        </p:spPr>
      </p:pic>
      <p:pic>
        <p:nvPicPr>
          <p:cNvPr id="70" name="Google Shape;70;p14" title="Tentacles.png"/>
          <p:cNvPicPr preferRelativeResize="0"/>
          <p:nvPr/>
        </p:nvPicPr>
        <p:blipFill>
          <a:blip r:embed="rId4">
            <a:alphaModFix/>
          </a:blip>
          <a:stretch>
            <a:fillRect/>
          </a:stretch>
        </p:blipFill>
        <p:spPr>
          <a:xfrm>
            <a:off x="5864377" y="3364666"/>
            <a:ext cx="3406625" cy="1787075"/>
          </a:xfrm>
          <a:prstGeom prst="rect">
            <a:avLst/>
          </a:prstGeom>
          <a:noFill/>
          <a:ln>
            <a:noFill/>
          </a:ln>
        </p:spPr>
      </p:pic>
      <p:grpSp>
        <p:nvGrpSpPr>
          <p:cNvPr id="7" name="Group 6">
            <a:extLst>
              <a:ext uri="{FF2B5EF4-FFF2-40B4-BE49-F238E27FC236}">
                <a16:creationId xmlns:a16="http://schemas.microsoft.com/office/drawing/2014/main" id="{852BBBB5-4318-895F-2CA3-62890C2D26EA}"/>
              </a:ext>
            </a:extLst>
          </p:cNvPr>
          <p:cNvGrpSpPr/>
          <p:nvPr/>
        </p:nvGrpSpPr>
        <p:grpSpPr>
          <a:xfrm>
            <a:off x="0" y="2579991"/>
            <a:ext cx="3206338" cy="2571750"/>
            <a:chOff x="0" y="2579991"/>
            <a:chExt cx="3206338" cy="2571750"/>
          </a:xfrm>
        </p:grpSpPr>
        <p:pic>
          <p:nvPicPr>
            <p:cNvPr id="3" name="Picture 2">
              <a:extLst>
                <a:ext uri="{FF2B5EF4-FFF2-40B4-BE49-F238E27FC236}">
                  <a16:creationId xmlns:a16="http://schemas.microsoft.com/office/drawing/2014/main" id="{5BC94C9C-A6E5-7A26-A885-233F9EF1933B}"/>
                </a:ext>
              </a:extLst>
            </p:cNvPr>
            <p:cNvPicPr>
              <a:picLocks noChangeAspect="1"/>
            </p:cNvPicPr>
            <p:nvPr/>
          </p:nvPicPr>
          <p:blipFill>
            <a:blip r:embed="rId5"/>
            <a:stretch>
              <a:fillRect/>
            </a:stretch>
          </p:blipFill>
          <p:spPr>
            <a:xfrm>
              <a:off x="0" y="2579991"/>
              <a:ext cx="3206338" cy="2571750"/>
            </a:xfrm>
            <a:prstGeom prst="rect">
              <a:avLst/>
            </a:prstGeom>
          </p:spPr>
        </p:pic>
        <p:pic>
          <p:nvPicPr>
            <p:cNvPr id="5" name="Picture 4">
              <a:extLst>
                <a:ext uri="{FF2B5EF4-FFF2-40B4-BE49-F238E27FC236}">
                  <a16:creationId xmlns:a16="http://schemas.microsoft.com/office/drawing/2014/main" id="{0C14543D-123E-BD55-B56F-C452734C4F10}"/>
                </a:ext>
              </a:extLst>
            </p:cNvPr>
            <p:cNvPicPr>
              <a:picLocks noChangeAspect="1"/>
            </p:cNvPicPr>
            <p:nvPr/>
          </p:nvPicPr>
          <p:blipFill>
            <a:blip r:embed="rId6"/>
            <a:stretch>
              <a:fillRect/>
            </a:stretch>
          </p:blipFill>
          <p:spPr>
            <a:xfrm>
              <a:off x="338415" y="3931049"/>
              <a:ext cx="2236510" cy="1028794"/>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par>
                                <p:cTn id="7" presetID="2" presetClass="entr" presetSubtype="4" fill="hold" nodeType="withEffect">
                                  <p:stCondLst>
                                    <p:cond delay="0"/>
                                  </p:stCondLst>
                                  <p:childTnLst>
                                    <p:set>
                                      <p:cBhvr>
                                        <p:cTn id="8" dur="1" fill="hold">
                                          <p:stCondLst>
                                            <p:cond delay="0"/>
                                          </p:stCondLst>
                                        </p:cTn>
                                        <p:tgtEl>
                                          <p:spTgt spid="7"/>
                                        </p:tgtEl>
                                        <p:attrNameLst>
                                          <p:attrName>style.visibility</p:attrName>
                                        </p:attrNameLst>
                                      </p:cBhvr>
                                      <p:to>
                                        <p:strVal val="visible"/>
                                      </p:to>
                                    </p:set>
                                    <p:anim calcmode="lin" valueType="num">
                                      <p:cBhvr additive="base">
                                        <p:cTn id="9" dur="500" fill="hold"/>
                                        <p:tgtEl>
                                          <p:spTgt spid="7"/>
                                        </p:tgtEl>
                                        <p:attrNameLst>
                                          <p:attrName>ppt_x</p:attrName>
                                        </p:attrNameLst>
                                      </p:cBhvr>
                                      <p:tavLst>
                                        <p:tav tm="0">
                                          <p:val>
                                            <p:strVal val="#ppt_x"/>
                                          </p:val>
                                        </p:tav>
                                        <p:tav tm="100000">
                                          <p:val>
                                            <p:strVal val="#ppt_x"/>
                                          </p:val>
                                        </p:tav>
                                      </p:tavLst>
                                    </p:anim>
                                    <p:anim calcmode="lin" valueType="num">
                                      <p:cBhvr additive="base">
                                        <p:cTn id="1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67802-AB0B-F549-635E-9BF55181D2E1}"/>
            </a:ext>
          </a:extLst>
        </p:cNvPr>
        <p:cNvGrpSpPr/>
        <p:nvPr/>
      </p:nvGrpSpPr>
      <p:grpSpPr>
        <a:xfrm>
          <a:off x="0" y="0"/>
          <a:ext cx="0" cy="0"/>
          <a:chOff x="0" y="0"/>
          <a:chExt cx="0" cy="0"/>
        </a:xfrm>
      </p:grpSpPr>
      <p:sp>
        <p:nvSpPr>
          <p:cNvPr id="65" name="Google Shape;65;p14">
            <a:extLst>
              <a:ext uri="{FF2B5EF4-FFF2-40B4-BE49-F238E27FC236}">
                <a16:creationId xmlns:a16="http://schemas.microsoft.com/office/drawing/2014/main" id="{830D509F-5B67-D4D1-B023-3DF4609895FA}"/>
              </a:ext>
            </a:extLst>
          </p:cNvPr>
          <p:cNvSpPr/>
          <p:nvPr/>
        </p:nvSpPr>
        <p:spPr>
          <a:xfrm rot="10800000" flipH="1">
            <a:off x="-9816" y="2428866"/>
            <a:ext cx="9163638" cy="2714634"/>
          </a:xfrm>
          <a:prstGeom prst="flowChartDocument">
            <a:avLst/>
          </a:prstGeom>
          <a:solidFill>
            <a:srgbClr val="DEF5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6" name="Google Shape;66;p14" title="Wave.png">
            <a:extLst>
              <a:ext uri="{FF2B5EF4-FFF2-40B4-BE49-F238E27FC236}">
                <a16:creationId xmlns:a16="http://schemas.microsoft.com/office/drawing/2014/main" id="{D0423DF8-6803-62F5-0378-AE40B03A37F7}"/>
              </a:ext>
            </a:extLst>
          </p:cNvPr>
          <p:cNvPicPr preferRelativeResize="0"/>
          <p:nvPr/>
        </p:nvPicPr>
        <p:blipFill rotWithShape="1">
          <a:blip r:embed="rId3">
            <a:alphaModFix/>
          </a:blip>
          <a:srcRect l="1896" r="1886" b="28947"/>
          <a:stretch/>
        </p:blipFill>
        <p:spPr>
          <a:xfrm>
            <a:off x="-3850" y="3455650"/>
            <a:ext cx="9151677" cy="1687850"/>
          </a:xfrm>
          <a:prstGeom prst="rect">
            <a:avLst/>
          </a:prstGeom>
          <a:noFill/>
          <a:ln>
            <a:noFill/>
          </a:ln>
        </p:spPr>
      </p:pic>
      <p:pic>
        <p:nvPicPr>
          <p:cNvPr id="70" name="Google Shape;70;p14" title="Tentacles.png">
            <a:extLst>
              <a:ext uri="{FF2B5EF4-FFF2-40B4-BE49-F238E27FC236}">
                <a16:creationId xmlns:a16="http://schemas.microsoft.com/office/drawing/2014/main" id="{BC37F823-ECD9-BD19-E586-D7E3FAEE4F78}"/>
              </a:ext>
            </a:extLst>
          </p:cNvPr>
          <p:cNvPicPr preferRelativeResize="0"/>
          <p:nvPr/>
        </p:nvPicPr>
        <p:blipFill>
          <a:blip r:embed="rId4">
            <a:alphaModFix/>
          </a:blip>
          <a:stretch>
            <a:fillRect/>
          </a:stretch>
        </p:blipFill>
        <p:spPr>
          <a:xfrm>
            <a:off x="5864377" y="3364666"/>
            <a:ext cx="3406625" cy="1787075"/>
          </a:xfrm>
          <a:prstGeom prst="rect">
            <a:avLst/>
          </a:prstGeom>
          <a:noFill/>
          <a:ln>
            <a:noFill/>
          </a:ln>
        </p:spPr>
      </p:pic>
      <p:sp>
        <p:nvSpPr>
          <p:cNvPr id="71" name="Google Shape;71;p14">
            <a:extLst>
              <a:ext uri="{FF2B5EF4-FFF2-40B4-BE49-F238E27FC236}">
                <a16:creationId xmlns:a16="http://schemas.microsoft.com/office/drawing/2014/main" id="{A103968F-0BA7-6A49-DA4F-49EC41980BBE}"/>
              </a:ext>
            </a:extLst>
          </p:cNvPr>
          <p:cNvSpPr txBox="1">
            <a:spLocks noGrp="1"/>
          </p:cNvSpPr>
          <p:nvPr>
            <p:ph type="ctrTitle"/>
          </p:nvPr>
        </p:nvSpPr>
        <p:spPr>
          <a:xfrm>
            <a:off x="311700" y="744575"/>
            <a:ext cx="8520600" cy="14463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sz="4000" b="1" dirty="0">
                <a:solidFill>
                  <a:srgbClr val="10265D"/>
                </a:solidFill>
                <a:latin typeface="Etna"/>
              </a:rPr>
              <a:t>On </a:t>
            </a:r>
            <a:r>
              <a:rPr lang="en-GB" sz="4000" b="1" dirty="0">
                <a:solidFill>
                  <a:srgbClr val="10265D"/>
                </a:solidFill>
                <a:latin typeface="Etna"/>
              </a:rPr>
              <a:t>20</a:t>
            </a:r>
            <a:r>
              <a:rPr lang="en-GB" sz="4000" b="1" baseline="30000" dirty="0">
                <a:solidFill>
                  <a:srgbClr val="10265D"/>
                </a:solidFill>
                <a:latin typeface="Etna"/>
              </a:rPr>
              <a:t>th</a:t>
            </a:r>
            <a:r>
              <a:rPr lang="en-GB" sz="4000" b="1" dirty="0">
                <a:solidFill>
                  <a:srgbClr val="10265D"/>
                </a:solidFill>
                <a:latin typeface="Etna"/>
              </a:rPr>
              <a:t> </a:t>
            </a:r>
            <a:r>
              <a:rPr sz="4000" b="1" dirty="0">
                <a:solidFill>
                  <a:srgbClr val="10265D"/>
                </a:solidFill>
                <a:latin typeface="Etna"/>
              </a:rPr>
              <a:t>June</a:t>
            </a:r>
            <a:r>
              <a:rPr lang="en-GB" sz="4000" b="1" dirty="0">
                <a:solidFill>
                  <a:srgbClr val="10265D"/>
                </a:solidFill>
                <a:latin typeface="Etna"/>
              </a:rPr>
              <a:t> 2026</a:t>
            </a:r>
            <a:r>
              <a:rPr sz="4000" b="1" dirty="0">
                <a:solidFill>
                  <a:srgbClr val="10265D"/>
                </a:solidFill>
                <a:latin typeface="Etna"/>
              </a:rPr>
              <a:t>,</a:t>
            </a:r>
            <a:br>
              <a:rPr lang="en-GB" sz="4000" b="1" dirty="0">
                <a:solidFill>
                  <a:srgbClr val="10265D"/>
                </a:solidFill>
                <a:latin typeface="Etna"/>
              </a:rPr>
            </a:br>
            <a:r>
              <a:rPr lang="en-GB" sz="4000" b="1" dirty="0">
                <a:solidFill>
                  <a:srgbClr val="10265D"/>
                </a:solidFill>
                <a:latin typeface="Etna"/>
              </a:rPr>
              <a:t>I set out to cycle 205 miles… in one day!</a:t>
            </a:r>
            <a:endParaRPr dirty="0"/>
          </a:p>
        </p:txBody>
      </p:sp>
    </p:spTree>
    <p:extLst>
      <p:ext uri="{BB962C8B-B14F-4D97-AF65-F5344CB8AC3E}">
        <p14:creationId xmlns:p14="http://schemas.microsoft.com/office/powerpoint/2010/main" val="846054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Google Shape;76;p15" title="Wave.png"/>
          <p:cNvPicPr preferRelativeResize="0"/>
          <p:nvPr/>
        </p:nvPicPr>
        <p:blipFill rotWithShape="1">
          <a:blip r:embed="rId3">
            <a:alphaModFix amt="50000"/>
          </a:blip>
          <a:srcRect l="1876" r="1905" b="34193"/>
          <a:stretch/>
        </p:blipFill>
        <p:spPr>
          <a:xfrm>
            <a:off x="-3850" y="3580350"/>
            <a:ext cx="9151677" cy="1563150"/>
          </a:xfrm>
          <a:prstGeom prst="rect">
            <a:avLst/>
          </a:prstGeom>
          <a:noFill/>
          <a:ln>
            <a:noFill/>
          </a:ln>
        </p:spPr>
      </p:pic>
      <p:sp>
        <p:nvSpPr>
          <p:cNvPr id="81" name="TextBox 80"/>
          <p:cNvSpPr txBox="1"/>
          <p:nvPr/>
        </p:nvSpPr>
        <p:spPr>
          <a:xfrm>
            <a:off x="311700" y="350000"/>
            <a:ext cx="8520600" cy="615553"/>
          </a:xfrm>
          <a:prstGeom prst="rect">
            <a:avLst/>
          </a:prstGeom>
          <a:noFill/>
        </p:spPr>
        <p:txBody>
          <a:bodyPr wrap="square" lIns="0" tIns="0" rIns="0" bIns="0" anchor="t">
            <a:spAutoFit/>
          </a:bodyPr>
          <a:lstStyle/>
          <a:p>
            <a:pPr algn="l"/>
            <a:r>
              <a:rPr sz="4000" b="1" dirty="0">
                <a:solidFill>
                  <a:srgbClr val="10265D"/>
                </a:solidFill>
                <a:latin typeface="Etna"/>
              </a:rPr>
              <a:t>Chase the Sun</a:t>
            </a:r>
            <a:r>
              <a:rPr lang="en-GB" sz="4000" b="1" dirty="0">
                <a:solidFill>
                  <a:srgbClr val="10265D"/>
                </a:solidFill>
                <a:latin typeface="Etna"/>
              </a:rPr>
              <a:t> 2026</a:t>
            </a:r>
            <a:endParaRPr sz="4000" b="1" dirty="0">
              <a:solidFill>
                <a:srgbClr val="10265D"/>
              </a:solidFill>
              <a:latin typeface="Etna"/>
            </a:endParaRPr>
          </a:p>
        </p:txBody>
      </p:sp>
      <p:sp>
        <p:nvSpPr>
          <p:cNvPr id="82" name="TextBox 81"/>
          <p:cNvSpPr txBox="1"/>
          <p:nvPr/>
        </p:nvSpPr>
        <p:spPr>
          <a:xfrm>
            <a:off x="311700" y="1500000"/>
            <a:ext cx="8520600" cy="692497"/>
          </a:xfrm>
          <a:prstGeom prst="rect">
            <a:avLst/>
          </a:prstGeom>
          <a:noFill/>
        </p:spPr>
        <p:txBody>
          <a:bodyPr wrap="square" lIns="0" tIns="0" rIns="0" bIns="0" anchor="t">
            <a:spAutoFit/>
          </a:bodyPr>
          <a:lstStyle/>
          <a:p>
            <a:pPr algn="l">
              <a:spcAft>
                <a:spcPts val="600"/>
              </a:spcAft>
            </a:pPr>
            <a:r>
              <a:rPr sz="2000" b="1" dirty="0">
                <a:solidFill>
                  <a:srgbClr val="1A1A1A"/>
                </a:solidFill>
                <a:latin typeface="Garet"/>
              </a:rPr>
              <a:t>205 miles. Minster-on-Sea </a:t>
            </a:r>
            <a:r>
              <a:rPr lang="en-GB" sz="2000" b="1" dirty="0">
                <a:solidFill>
                  <a:srgbClr val="1A1A1A"/>
                </a:solidFill>
                <a:latin typeface="Garet"/>
              </a:rPr>
              <a:t>to Weston-Super-Mare</a:t>
            </a:r>
            <a:endParaRPr sz="2000" b="1" dirty="0">
              <a:solidFill>
                <a:srgbClr val="1A1A1A"/>
              </a:solidFill>
              <a:latin typeface="Garet"/>
            </a:endParaRPr>
          </a:p>
          <a:p>
            <a:pPr algn="l">
              <a:spcAft>
                <a:spcPts val="600"/>
              </a:spcAft>
            </a:pPr>
            <a:r>
              <a:rPr sz="2000" b="0" dirty="0">
                <a:solidFill>
                  <a:srgbClr val="1A1A1A"/>
                </a:solidFill>
                <a:latin typeface="Garet"/>
              </a:rPr>
              <a:t>Sunrise to sunset. One day. Coast to coast.</a:t>
            </a:r>
          </a:p>
        </p:txBody>
      </p:sp>
      <p:pic>
        <p:nvPicPr>
          <p:cNvPr id="2" name="Picture 2" descr="Chase The Sun South detailed route map from Minster-on-sea to Weston-Super-Mare cycling challenge.">
            <a:extLst>
              <a:ext uri="{FF2B5EF4-FFF2-40B4-BE49-F238E27FC236}">
                <a16:creationId xmlns:a16="http://schemas.microsoft.com/office/drawing/2014/main" id="{01EC6B6D-8291-7C14-481A-2652621C9F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7367" y="2689782"/>
            <a:ext cx="5669242" cy="245371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41D3527-A8AF-4722-10CA-B2CADB6FD967}"/>
              </a:ext>
            </a:extLst>
          </p:cNvPr>
          <p:cNvSpPr txBox="1"/>
          <p:nvPr/>
        </p:nvSpPr>
        <p:spPr>
          <a:xfrm>
            <a:off x="311700" y="2263973"/>
            <a:ext cx="8520600" cy="307777"/>
          </a:xfrm>
          <a:prstGeom prst="rect">
            <a:avLst/>
          </a:prstGeom>
          <a:noFill/>
        </p:spPr>
        <p:txBody>
          <a:bodyPr wrap="square" lIns="0" tIns="0" rIns="0" bIns="0" anchor="t">
            <a:spAutoFit/>
          </a:bodyPr>
          <a:lstStyle/>
          <a:p>
            <a:pPr algn="l">
              <a:spcAft>
                <a:spcPts val="600"/>
              </a:spcAft>
            </a:pPr>
            <a:r>
              <a:rPr lang="en-GB" sz="2000" b="0" dirty="0">
                <a:solidFill>
                  <a:srgbClr val="1A1A1A"/>
                </a:solidFill>
                <a:latin typeface="Garet"/>
              </a:rPr>
              <a:t>3 days after m</a:t>
            </a:r>
            <a:r>
              <a:rPr sz="2000" b="0" dirty="0">
                <a:solidFill>
                  <a:srgbClr val="1A1A1A"/>
                </a:solidFill>
                <a:latin typeface="Garet"/>
              </a:rPr>
              <a:t>y 40th birthday.</a:t>
            </a:r>
            <a:endParaRPr lang="en-GB" sz="2000" b="0" dirty="0">
              <a:solidFill>
                <a:srgbClr val="1A1A1A"/>
              </a:solidFill>
              <a:latin typeface="Gare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8580C-068A-B688-AFEF-542AFA986ADF}"/>
            </a:ext>
          </a:extLst>
        </p:cNvPr>
        <p:cNvGrpSpPr/>
        <p:nvPr/>
      </p:nvGrpSpPr>
      <p:grpSpPr>
        <a:xfrm>
          <a:off x="0" y="0"/>
          <a:ext cx="0" cy="0"/>
          <a:chOff x="0" y="0"/>
          <a:chExt cx="0" cy="0"/>
        </a:xfrm>
      </p:grpSpPr>
      <p:pic>
        <p:nvPicPr>
          <p:cNvPr id="85" name="Google Shape;85;p16" title="Wave.png">
            <a:extLst>
              <a:ext uri="{FF2B5EF4-FFF2-40B4-BE49-F238E27FC236}">
                <a16:creationId xmlns:a16="http://schemas.microsoft.com/office/drawing/2014/main" id="{F6854720-F99F-E802-23F5-6FD92E682CC6}"/>
              </a:ext>
            </a:extLst>
          </p:cNvPr>
          <p:cNvPicPr preferRelativeResize="0"/>
          <p:nvPr/>
        </p:nvPicPr>
        <p:blipFill rotWithShape="1">
          <a:blip r:embed="rId3">
            <a:alphaModFix amt="50000"/>
          </a:blip>
          <a:srcRect l="1876" r="1905" b="34193"/>
          <a:stretch/>
        </p:blipFill>
        <p:spPr>
          <a:xfrm>
            <a:off x="-3850" y="3580350"/>
            <a:ext cx="9151677" cy="1563150"/>
          </a:xfrm>
          <a:prstGeom prst="rect">
            <a:avLst/>
          </a:prstGeom>
          <a:noFill/>
          <a:ln>
            <a:noFill/>
          </a:ln>
        </p:spPr>
      </p:pic>
      <p:pic>
        <p:nvPicPr>
          <p:cNvPr id="86" name="Google Shape;86;p16" title="bubbles 2.png">
            <a:extLst>
              <a:ext uri="{FF2B5EF4-FFF2-40B4-BE49-F238E27FC236}">
                <a16:creationId xmlns:a16="http://schemas.microsoft.com/office/drawing/2014/main" id="{67D88593-F105-DCDD-FFC3-6BF0FBE24C51}"/>
              </a:ext>
            </a:extLst>
          </p:cNvPr>
          <p:cNvPicPr preferRelativeResize="0"/>
          <p:nvPr/>
        </p:nvPicPr>
        <p:blipFill rotWithShape="1">
          <a:blip r:embed="rId4">
            <a:alphaModFix/>
          </a:blip>
          <a:srcRect l="15139" t="47353" r="57355" b="19349"/>
          <a:stretch/>
        </p:blipFill>
        <p:spPr>
          <a:xfrm rot="742634">
            <a:off x="183865" y="3325606"/>
            <a:ext cx="711448" cy="1017014"/>
          </a:xfrm>
          <a:prstGeom prst="rect">
            <a:avLst/>
          </a:prstGeom>
          <a:noFill/>
          <a:ln>
            <a:noFill/>
          </a:ln>
        </p:spPr>
      </p:pic>
      <p:pic>
        <p:nvPicPr>
          <p:cNvPr id="87" name="Google Shape;87;p16" title="bubbles.png">
            <a:extLst>
              <a:ext uri="{FF2B5EF4-FFF2-40B4-BE49-F238E27FC236}">
                <a16:creationId xmlns:a16="http://schemas.microsoft.com/office/drawing/2014/main" id="{61CBA296-626F-DA04-E0FA-C3C8C38952F0}"/>
              </a:ext>
            </a:extLst>
          </p:cNvPr>
          <p:cNvPicPr preferRelativeResize="0"/>
          <p:nvPr/>
        </p:nvPicPr>
        <p:blipFill rotWithShape="1">
          <a:blip r:embed="rId5">
            <a:alphaModFix/>
          </a:blip>
          <a:srcRect l="40505" r="29998"/>
          <a:stretch/>
        </p:blipFill>
        <p:spPr>
          <a:xfrm>
            <a:off x="8489514" y="1887525"/>
            <a:ext cx="620274" cy="2385650"/>
          </a:xfrm>
          <a:prstGeom prst="rect">
            <a:avLst/>
          </a:prstGeom>
          <a:noFill/>
          <a:ln>
            <a:noFill/>
          </a:ln>
        </p:spPr>
      </p:pic>
      <p:pic>
        <p:nvPicPr>
          <p:cNvPr id="88" name="Google Shape;88;p16" title="bubbles 2.png">
            <a:extLst>
              <a:ext uri="{FF2B5EF4-FFF2-40B4-BE49-F238E27FC236}">
                <a16:creationId xmlns:a16="http://schemas.microsoft.com/office/drawing/2014/main" id="{2B515443-42A2-94E9-C789-08B30F23D998}"/>
              </a:ext>
            </a:extLst>
          </p:cNvPr>
          <p:cNvPicPr preferRelativeResize="0"/>
          <p:nvPr/>
        </p:nvPicPr>
        <p:blipFill rotWithShape="1">
          <a:blip r:embed="rId4">
            <a:alphaModFix/>
          </a:blip>
          <a:srcRect r="57354" b="65392"/>
          <a:stretch/>
        </p:blipFill>
        <p:spPr>
          <a:xfrm rot="-308349">
            <a:off x="252920" y="2687159"/>
            <a:ext cx="573357" cy="549431"/>
          </a:xfrm>
          <a:prstGeom prst="rect">
            <a:avLst/>
          </a:prstGeom>
          <a:noFill/>
          <a:ln>
            <a:noFill/>
          </a:ln>
        </p:spPr>
      </p:pic>
      <p:pic>
        <p:nvPicPr>
          <p:cNvPr id="89" name="Google Shape;89;p16" title="Octopus.png">
            <a:extLst>
              <a:ext uri="{FF2B5EF4-FFF2-40B4-BE49-F238E27FC236}">
                <a16:creationId xmlns:a16="http://schemas.microsoft.com/office/drawing/2014/main" id="{AEA89477-58EA-D5E8-5042-4C16C46CD1C3}"/>
              </a:ext>
            </a:extLst>
          </p:cNvPr>
          <p:cNvPicPr preferRelativeResize="0"/>
          <p:nvPr/>
        </p:nvPicPr>
        <p:blipFill>
          <a:blip r:embed="rId6">
            <a:alphaModFix/>
          </a:blip>
          <a:stretch>
            <a:fillRect/>
          </a:stretch>
        </p:blipFill>
        <p:spPr>
          <a:xfrm rot="1376300">
            <a:off x="7587669" y="3744539"/>
            <a:ext cx="1341412" cy="1341422"/>
          </a:xfrm>
          <a:prstGeom prst="rect">
            <a:avLst/>
          </a:prstGeom>
          <a:noFill/>
          <a:ln>
            <a:noFill/>
          </a:ln>
        </p:spPr>
      </p:pic>
      <p:sp>
        <p:nvSpPr>
          <p:cNvPr id="90" name="TextBox 89">
            <a:extLst>
              <a:ext uri="{FF2B5EF4-FFF2-40B4-BE49-F238E27FC236}">
                <a16:creationId xmlns:a16="http://schemas.microsoft.com/office/drawing/2014/main" id="{3A1919FD-485D-F265-9429-021D37504FDB}"/>
              </a:ext>
            </a:extLst>
          </p:cNvPr>
          <p:cNvSpPr txBox="1"/>
          <p:nvPr/>
        </p:nvSpPr>
        <p:spPr>
          <a:xfrm>
            <a:off x="311700" y="350000"/>
            <a:ext cx="8520600" cy="553998"/>
          </a:xfrm>
          <a:prstGeom prst="rect">
            <a:avLst/>
          </a:prstGeom>
          <a:noFill/>
        </p:spPr>
        <p:txBody>
          <a:bodyPr wrap="square" lIns="0" tIns="0" rIns="0" bIns="0" anchor="t">
            <a:spAutoFit/>
          </a:bodyPr>
          <a:lstStyle/>
          <a:p>
            <a:pPr algn="l"/>
            <a:r>
              <a:rPr lang="en-GB" sz="3600" b="1" dirty="0">
                <a:solidFill>
                  <a:srgbClr val="10265D"/>
                </a:solidFill>
                <a:latin typeface="Etna"/>
              </a:rPr>
              <a:t>The Problem?</a:t>
            </a:r>
            <a:endParaRPr sz="3600" b="1" dirty="0">
              <a:solidFill>
                <a:srgbClr val="10265D"/>
              </a:solidFill>
              <a:latin typeface="Etna"/>
            </a:endParaRPr>
          </a:p>
        </p:txBody>
      </p:sp>
      <p:sp>
        <p:nvSpPr>
          <p:cNvPr id="91" name="TextBox 90">
            <a:extLst>
              <a:ext uri="{FF2B5EF4-FFF2-40B4-BE49-F238E27FC236}">
                <a16:creationId xmlns:a16="http://schemas.microsoft.com/office/drawing/2014/main" id="{532120D1-5950-D90B-0CF7-DDA7F85A18BF}"/>
              </a:ext>
            </a:extLst>
          </p:cNvPr>
          <p:cNvSpPr txBox="1"/>
          <p:nvPr/>
        </p:nvSpPr>
        <p:spPr>
          <a:xfrm>
            <a:off x="311700" y="1500000"/>
            <a:ext cx="8520600" cy="307777"/>
          </a:xfrm>
          <a:prstGeom prst="rect">
            <a:avLst/>
          </a:prstGeom>
          <a:noFill/>
        </p:spPr>
        <p:txBody>
          <a:bodyPr wrap="square" lIns="0" tIns="0" rIns="0" bIns="0" anchor="t">
            <a:spAutoFit/>
          </a:bodyPr>
          <a:lstStyle/>
          <a:p>
            <a:pPr algn="l">
              <a:spcAft>
                <a:spcPts val="600"/>
              </a:spcAft>
            </a:pPr>
            <a:r>
              <a:rPr lang="en-GB" sz="2000" b="1" dirty="0">
                <a:solidFill>
                  <a:srgbClr val="1A1A1A"/>
                </a:solidFill>
                <a:latin typeface="Garet"/>
              </a:rPr>
              <a:t>Getting to the start line. Trained. Fuelled. Ready</a:t>
            </a:r>
            <a:endParaRPr sz="2000" b="0" dirty="0">
              <a:solidFill>
                <a:srgbClr val="1A1A1A"/>
              </a:solidFill>
              <a:latin typeface="Garet"/>
            </a:endParaRPr>
          </a:p>
        </p:txBody>
      </p:sp>
      <p:pic>
        <p:nvPicPr>
          <p:cNvPr id="3" name="Picture 2">
            <a:extLst>
              <a:ext uri="{FF2B5EF4-FFF2-40B4-BE49-F238E27FC236}">
                <a16:creationId xmlns:a16="http://schemas.microsoft.com/office/drawing/2014/main" id="{A37A4775-7904-011F-D760-46DBAB9064AD}"/>
              </a:ext>
            </a:extLst>
          </p:cNvPr>
          <p:cNvPicPr>
            <a:picLocks noChangeAspect="1"/>
          </p:cNvPicPr>
          <p:nvPr/>
        </p:nvPicPr>
        <p:blipFill>
          <a:blip r:embed="rId7"/>
          <a:srcRect t="15395" b="24490"/>
          <a:stretch>
            <a:fillRect/>
          </a:stretch>
        </p:blipFill>
        <p:spPr>
          <a:xfrm>
            <a:off x="3384161" y="2051509"/>
            <a:ext cx="2375654" cy="3091991"/>
          </a:xfrm>
          <a:prstGeom prst="rect">
            <a:avLst/>
          </a:prstGeom>
        </p:spPr>
      </p:pic>
    </p:spTree>
    <p:extLst>
      <p:ext uri="{BB962C8B-B14F-4D97-AF65-F5344CB8AC3E}">
        <p14:creationId xmlns:p14="http://schemas.microsoft.com/office/powerpoint/2010/main" val="928005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5" name="Google Shape;85;p16" title="Wave.png"/>
          <p:cNvPicPr preferRelativeResize="0"/>
          <p:nvPr/>
        </p:nvPicPr>
        <p:blipFill rotWithShape="1">
          <a:blip r:embed="rId3">
            <a:alphaModFix amt="50000"/>
          </a:blip>
          <a:srcRect l="1876" r="1905" b="34193"/>
          <a:stretch/>
        </p:blipFill>
        <p:spPr>
          <a:xfrm>
            <a:off x="-3850" y="3580350"/>
            <a:ext cx="9151677" cy="1563150"/>
          </a:xfrm>
          <a:prstGeom prst="rect">
            <a:avLst/>
          </a:prstGeom>
          <a:noFill/>
          <a:ln>
            <a:noFill/>
          </a:ln>
        </p:spPr>
      </p:pic>
      <p:pic>
        <p:nvPicPr>
          <p:cNvPr id="86" name="Google Shape;86;p16" title="bubbles 2.png"/>
          <p:cNvPicPr preferRelativeResize="0"/>
          <p:nvPr/>
        </p:nvPicPr>
        <p:blipFill rotWithShape="1">
          <a:blip r:embed="rId4">
            <a:alphaModFix/>
          </a:blip>
          <a:srcRect l="15139" t="47353" r="57355" b="19349"/>
          <a:stretch/>
        </p:blipFill>
        <p:spPr>
          <a:xfrm rot="742634">
            <a:off x="183865" y="3325606"/>
            <a:ext cx="711448" cy="1017014"/>
          </a:xfrm>
          <a:prstGeom prst="rect">
            <a:avLst/>
          </a:prstGeom>
          <a:noFill/>
          <a:ln>
            <a:noFill/>
          </a:ln>
        </p:spPr>
      </p:pic>
      <p:pic>
        <p:nvPicPr>
          <p:cNvPr id="87" name="Google Shape;87;p16" title="bubbles.png"/>
          <p:cNvPicPr preferRelativeResize="0"/>
          <p:nvPr/>
        </p:nvPicPr>
        <p:blipFill rotWithShape="1">
          <a:blip r:embed="rId5">
            <a:alphaModFix/>
          </a:blip>
          <a:srcRect l="40505" r="29998"/>
          <a:stretch/>
        </p:blipFill>
        <p:spPr>
          <a:xfrm>
            <a:off x="8489514" y="1887525"/>
            <a:ext cx="620274" cy="2385650"/>
          </a:xfrm>
          <a:prstGeom prst="rect">
            <a:avLst/>
          </a:prstGeom>
          <a:noFill/>
          <a:ln>
            <a:noFill/>
          </a:ln>
        </p:spPr>
      </p:pic>
      <p:pic>
        <p:nvPicPr>
          <p:cNvPr id="88" name="Google Shape;88;p16" title="bubbles 2.png"/>
          <p:cNvPicPr preferRelativeResize="0"/>
          <p:nvPr/>
        </p:nvPicPr>
        <p:blipFill rotWithShape="1">
          <a:blip r:embed="rId4">
            <a:alphaModFix/>
          </a:blip>
          <a:srcRect r="57354" b="65392"/>
          <a:stretch/>
        </p:blipFill>
        <p:spPr>
          <a:xfrm rot="-308349">
            <a:off x="252920" y="2687159"/>
            <a:ext cx="573357" cy="549431"/>
          </a:xfrm>
          <a:prstGeom prst="rect">
            <a:avLst/>
          </a:prstGeom>
          <a:noFill/>
          <a:ln>
            <a:noFill/>
          </a:ln>
        </p:spPr>
      </p:pic>
      <p:pic>
        <p:nvPicPr>
          <p:cNvPr id="89" name="Google Shape;89;p16" title="Octopus.png"/>
          <p:cNvPicPr preferRelativeResize="0"/>
          <p:nvPr/>
        </p:nvPicPr>
        <p:blipFill>
          <a:blip r:embed="rId6">
            <a:alphaModFix/>
          </a:blip>
          <a:stretch>
            <a:fillRect/>
          </a:stretch>
        </p:blipFill>
        <p:spPr>
          <a:xfrm rot="1376300">
            <a:off x="7587669" y="3744539"/>
            <a:ext cx="1341412" cy="1341422"/>
          </a:xfrm>
          <a:prstGeom prst="rect">
            <a:avLst/>
          </a:prstGeom>
          <a:noFill/>
          <a:ln>
            <a:noFill/>
          </a:ln>
        </p:spPr>
      </p:pic>
      <p:sp>
        <p:nvSpPr>
          <p:cNvPr id="90" name="TextBox 89"/>
          <p:cNvSpPr txBox="1"/>
          <p:nvPr/>
        </p:nvSpPr>
        <p:spPr>
          <a:xfrm>
            <a:off x="311700" y="350000"/>
            <a:ext cx="8520600" cy="553998"/>
          </a:xfrm>
          <a:prstGeom prst="rect">
            <a:avLst/>
          </a:prstGeom>
          <a:noFill/>
        </p:spPr>
        <p:txBody>
          <a:bodyPr wrap="square" lIns="0" tIns="0" rIns="0" bIns="0" anchor="t">
            <a:spAutoFit/>
          </a:bodyPr>
          <a:lstStyle/>
          <a:p>
            <a:pPr algn="l"/>
            <a:r>
              <a:rPr lang="en-GB" sz="3600" b="1" dirty="0">
                <a:solidFill>
                  <a:srgbClr val="10265D"/>
                </a:solidFill>
                <a:latin typeface="Etna"/>
              </a:rPr>
              <a:t>This generated a lot of data</a:t>
            </a:r>
            <a:endParaRPr sz="3600" b="1" dirty="0">
              <a:solidFill>
                <a:srgbClr val="10265D"/>
              </a:solidFill>
              <a:latin typeface="Etna"/>
            </a:endParaRPr>
          </a:p>
        </p:txBody>
      </p:sp>
      <p:sp>
        <p:nvSpPr>
          <p:cNvPr id="91" name="TextBox 90"/>
          <p:cNvSpPr txBox="1"/>
          <p:nvPr/>
        </p:nvSpPr>
        <p:spPr>
          <a:xfrm>
            <a:off x="311700" y="1500000"/>
            <a:ext cx="8520600" cy="1077218"/>
          </a:xfrm>
          <a:prstGeom prst="rect">
            <a:avLst/>
          </a:prstGeom>
          <a:noFill/>
        </p:spPr>
        <p:txBody>
          <a:bodyPr wrap="square" lIns="0" tIns="0" rIns="0" bIns="0" anchor="t">
            <a:spAutoFit/>
          </a:bodyPr>
          <a:lstStyle/>
          <a:p>
            <a:pPr>
              <a:spcAft>
                <a:spcPts val="600"/>
              </a:spcAft>
            </a:pPr>
            <a:r>
              <a:rPr lang="en-GB" sz="2000" b="1" dirty="0">
                <a:solidFill>
                  <a:srgbClr val="1A1A1A"/>
                </a:solidFill>
                <a:latin typeface="Garet"/>
              </a:rPr>
              <a:t>Wellness, fitness,</a:t>
            </a:r>
            <a:r>
              <a:rPr sz="2000" b="1" dirty="0">
                <a:solidFill>
                  <a:srgbClr val="1A1A1A"/>
                </a:solidFill>
                <a:latin typeface="Garet"/>
              </a:rPr>
              <a:t> fueling.</a:t>
            </a:r>
          </a:p>
          <a:p>
            <a:pPr algn="l">
              <a:spcAft>
                <a:spcPts val="600"/>
              </a:spcAft>
            </a:pPr>
            <a:r>
              <a:rPr lang="en-GB" sz="2000" b="0" dirty="0">
                <a:solidFill>
                  <a:srgbClr val="1A1A1A"/>
                </a:solidFill>
                <a:latin typeface="Garet"/>
              </a:rPr>
              <a:t>Many devices. Many Apps</a:t>
            </a:r>
            <a:r>
              <a:rPr sz="2000" b="0" dirty="0">
                <a:solidFill>
                  <a:srgbClr val="1A1A1A"/>
                </a:solidFill>
                <a:latin typeface="Garet"/>
              </a:rPr>
              <a:t>. No shared view. No way to query it together.</a:t>
            </a:r>
          </a:p>
          <a:p>
            <a:pPr algn="l">
              <a:spcAft>
                <a:spcPts val="600"/>
              </a:spcAft>
            </a:pPr>
            <a:r>
              <a:rPr sz="2000" b="0" dirty="0">
                <a:solidFill>
                  <a:srgbClr val="1A1A1A"/>
                </a:solidFill>
                <a:latin typeface="Garet"/>
              </a:rPr>
              <a:t>I'm a </a:t>
            </a:r>
            <a:r>
              <a:rPr lang="en-GB" sz="2000" b="0" dirty="0">
                <a:solidFill>
                  <a:srgbClr val="1A1A1A"/>
                </a:solidFill>
                <a:latin typeface="Garet"/>
              </a:rPr>
              <a:t>data nerd</a:t>
            </a:r>
            <a:r>
              <a:rPr sz="2000" b="0" dirty="0">
                <a:solidFill>
                  <a:srgbClr val="1A1A1A"/>
                </a:solidFill>
                <a:latin typeface="Garet"/>
              </a:rPr>
              <a:t>. I want it in my database.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AB019-52A5-1E63-3C7E-0B252B34826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1A869C6-9162-3C00-BB83-5532E2B63079}"/>
              </a:ext>
            </a:extLst>
          </p:cNvPr>
          <p:cNvPicPr>
            <a:picLocks noChangeAspect="1"/>
          </p:cNvPicPr>
          <p:nvPr/>
        </p:nvPicPr>
        <p:blipFill>
          <a:blip r:embed="rId3"/>
          <a:stretch>
            <a:fillRect/>
          </a:stretch>
        </p:blipFill>
        <p:spPr>
          <a:xfrm>
            <a:off x="2268801" y="1008940"/>
            <a:ext cx="927915" cy="1806793"/>
          </a:xfrm>
          <a:prstGeom prst="rect">
            <a:avLst/>
          </a:prstGeom>
        </p:spPr>
      </p:pic>
      <p:pic>
        <p:nvPicPr>
          <p:cNvPr id="85" name="Google Shape;85;p16" title="Wave.png">
            <a:extLst>
              <a:ext uri="{FF2B5EF4-FFF2-40B4-BE49-F238E27FC236}">
                <a16:creationId xmlns:a16="http://schemas.microsoft.com/office/drawing/2014/main" id="{6DD976CD-26E8-FEFB-3ADD-9216433ED1B2}"/>
              </a:ext>
            </a:extLst>
          </p:cNvPr>
          <p:cNvPicPr preferRelativeResize="0"/>
          <p:nvPr/>
        </p:nvPicPr>
        <p:blipFill rotWithShape="1">
          <a:blip r:embed="rId4">
            <a:alphaModFix amt="50000"/>
          </a:blip>
          <a:srcRect l="1876" r="1905" b="34193"/>
          <a:stretch/>
        </p:blipFill>
        <p:spPr>
          <a:xfrm>
            <a:off x="-3850" y="3580350"/>
            <a:ext cx="9151677" cy="1563150"/>
          </a:xfrm>
          <a:prstGeom prst="rect">
            <a:avLst/>
          </a:prstGeom>
          <a:noFill/>
          <a:ln>
            <a:noFill/>
          </a:ln>
        </p:spPr>
      </p:pic>
      <p:pic>
        <p:nvPicPr>
          <p:cNvPr id="87" name="Google Shape;87;p16" title="bubbles.png">
            <a:extLst>
              <a:ext uri="{FF2B5EF4-FFF2-40B4-BE49-F238E27FC236}">
                <a16:creationId xmlns:a16="http://schemas.microsoft.com/office/drawing/2014/main" id="{ACA7499B-15BC-2D04-9FC0-0AE1861D2536}"/>
              </a:ext>
            </a:extLst>
          </p:cNvPr>
          <p:cNvPicPr preferRelativeResize="0"/>
          <p:nvPr/>
        </p:nvPicPr>
        <p:blipFill rotWithShape="1">
          <a:blip r:embed="rId5">
            <a:alphaModFix/>
          </a:blip>
          <a:srcRect l="40505" r="29998"/>
          <a:stretch/>
        </p:blipFill>
        <p:spPr>
          <a:xfrm>
            <a:off x="8489514" y="1887525"/>
            <a:ext cx="620274" cy="2385650"/>
          </a:xfrm>
          <a:prstGeom prst="rect">
            <a:avLst/>
          </a:prstGeom>
          <a:noFill/>
          <a:ln>
            <a:noFill/>
          </a:ln>
        </p:spPr>
      </p:pic>
      <p:pic>
        <p:nvPicPr>
          <p:cNvPr id="89" name="Google Shape;89;p16" title="Octopus.png">
            <a:extLst>
              <a:ext uri="{FF2B5EF4-FFF2-40B4-BE49-F238E27FC236}">
                <a16:creationId xmlns:a16="http://schemas.microsoft.com/office/drawing/2014/main" id="{AF969701-C066-F06F-52F1-14A402F186F9}"/>
              </a:ext>
            </a:extLst>
          </p:cNvPr>
          <p:cNvPicPr preferRelativeResize="0"/>
          <p:nvPr/>
        </p:nvPicPr>
        <p:blipFill>
          <a:blip r:embed="rId6">
            <a:alphaModFix/>
          </a:blip>
          <a:stretch>
            <a:fillRect/>
          </a:stretch>
        </p:blipFill>
        <p:spPr>
          <a:xfrm rot="1376300">
            <a:off x="7587669" y="3744539"/>
            <a:ext cx="1341412" cy="1341422"/>
          </a:xfrm>
          <a:prstGeom prst="rect">
            <a:avLst/>
          </a:prstGeom>
          <a:noFill/>
          <a:ln>
            <a:noFill/>
          </a:ln>
        </p:spPr>
      </p:pic>
      <p:sp>
        <p:nvSpPr>
          <p:cNvPr id="90" name="TextBox 89">
            <a:extLst>
              <a:ext uri="{FF2B5EF4-FFF2-40B4-BE49-F238E27FC236}">
                <a16:creationId xmlns:a16="http://schemas.microsoft.com/office/drawing/2014/main" id="{74B841DA-BFDA-074C-65FC-A45E2F333025}"/>
              </a:ext>
            </a:extLst>
          </p:cNvPr>
          <p:cNvSpPr txBox="1"/>
          <p:nvPr/>
        </p:nvSpPr>
        <p:spPr>
          <a:xfrm>
            <a:off x="311700" y="350000"/>
            <a:ext cx="8520600" cy="553998"/>
          </a:xfrm>
          <a:prstGeom prst="rect">
            <a:avLst/>
          </a:prstGeom>
          <a:noFill/>
        </p:spPr>
        <p:txBody>
          <a:bodyPr wrap="square" lIns="0" tIns="0" rIns="0" bIns="0" anchor="t">
            <a:spAutoFit/>
          </a:bodyPr>
          <a:lstStyle/>
          <a:p>
            <a:pPr algn="l"/>
            <a:r>
              <a:rPr lang="en-GB" sz="3600" b="1" dirty="0">
                <a:solidFill>
                  <a:srgbClr val="10265D"/>
                </a:solidFill>
                <a:latin typeface="Etna"/>
              </a:rPr>
              <a:t>No… like A LOT of data</a:t>
            </a:r>
            <a:endParaRPr sz="3600" b="1" dirty="0">
              <a:solidFill>
                <a:srgbClr val="10265D"/>
              </a:solidFill>
              <a:latin typeface="Etna"/>
            </a:endParaRPr>
          </a:p>
        </p:txBody>
      </p:sp>
      <p:pic>
        <p:nvPicPr>
          <p:cNvPr id="7" name="Picture 6">
            <a:extLst>
              <a:ext uri="{FF2B5EF4-FFF2-40B4-BE49-F238E27FC236}">
                <a16:creationId xmlns:a16="http://schemas.microsoft.com/office/drawing/2014/main" id="{999C5FC6-B8C8-A158-2EDC-49614EF82AC1}"/>
              </a:ext>
            </a:extLst>
          </p:cNvPr>
          <p:cNvPicPr>
            <a:picLocks noChangeAspect="1"/>
          </p:cNvPicPr>
          <p:nvPr/>
        </p:nvPicPr>
        <p:blipFill>
          <a:blip r:embed="rId7"/>
          <a:stretch>
            <a:fillRect/>
          </a:stretch>
        </p:blipFill>
        <p:spPr>
          <a:xfrm>
            <a:off x="311700" y="1214785"/>
            <a:ext cx="1750845" cy="1540182"/>
          </a:xfrm>
          <a:prstGeom prst="rect">
            <a:avLst/>
          </a:prstGeom>
        </p:spPr>
      </p:pic>
      <p:pic>
        <p:nvPicPr>
          <p:cNvPr id="9" name="Picture 8">
            <a:extLst>
              <a:ext uri="{FF2B5EF4-FFF2-40B4-BE49-F238E27FC236}">
                <a16:creationId xmlns:a16="http://schemas.microsoft.com/office/drawing/2014/main" id="{4F9878DC-1B8E-90A0-861B-92C571C6A49F}"/>
              </a:ext>
            </a:extLst>
          </p:cNvPr>
          <p:cNvPicPr>
            <a:picLocks noChangeAspect="1"/>
          </p:cNvPicPr>
          <p:nvPr/>
        </p:nvPicPr>
        <p:blipFill>
          <a:blip r:embed="rId8"/>
          <a:stretch/>
        </p:blipFill>
        <p:spPr>
          <a:xfrm>
            <a:off x="2045162" y="2876500"/>
            <a:ext cx="1151554" cy="1149864"/>
          </a:xfrm>
          <a:prstGeom prst="rect">
            <a:avLst/>
          </a:prstGeom>
        </p:spPr>
      </p:pic>
      <p:pic>
        <p:nvPicPr>
          <p:cNvPr id="13" name="Picture 12">
            <a:extLst>
              <a:ext uri="{FF2B5EF4-FFF2-40B4-BE49-F238E27FC236}">
                <a16:creationId xmlns:a16="http://schemas.microsoft.com/office/drawing/2014/main" id="{7ED72D87-783E-EDAF-877A-A78C38038987}"/>
              </a:ext>
            </a:extLst>
          </p:cNvPr>
          <p:cNvPicPr>
            <a:picLocks noChangeAspect="1"/>
          </p:cNvPicPr>
          <p:nvPr/>
        </p:nvPicPr>
        <p:blipFill>
          <a:blip r:embed="rId9"/>
          <a:stretch>
            <a:fillRect/>
          </a:stretch>
        </p:blipFill>
        <p:spPr>
          <a:xfrm>
            <a:off x="3517882" y="1136705"/>
            <a:ext cx="1758147" cy="1501639"/>
          </a:xfrm>
          <a:prstGeom prst="rect">
            <a:avLst/>
          </a:prstGeom>
        </p:spPr>
      </p:pic>
      <p:pic>
        <p:nvPicPr>
          <p:cNvPr id="14" name="Picture 13">
            <a:extLst>
              <a:ext uri="{FF2B5EF4-FFF2-40B4-BE49-F238E27FC236}">
                <a16:creationId xmlns:a16="http://schemas.microsoft.com/office/drawing/2014/main" id="{38C30222-1EEE-E733-14CA-3B718E728351}"/>
              </a:ext>
            </a:extLst>
          </p:cNvPr>
          <p:cNvPicPr>
            <a:picLocks noChangeAspect="1"/>
          </p:cNvPicPr>
          <p:nvPr/>
        </p:nvPicPr>
        <p:blipFill>
          <a:blip r:embed="rId10"/>
          <a:stretch>
            <a:fillRect/>
          </a:stretch>
        </p:blipFill>
        <p:spPr>
          <a:xfrm>
            <a:off x="5649147" y="758357"/>
            <a:ext cx="1800027" cy="3190650"/>
          </a:xfrm>
          <a:prstGeom prst="rect">
            <a:avLst/>
          </a:prstGeom>
        </p:spPr>
      </p:pic>
      <p:pic>
        <p:nvPicPr>
          <p:cNvPr id="1026" name="Picture 2" descr="Garmin Index S2 Smart Bathroom Scale - Black 0">
            <a:extLst>
              <a:ext uri="{FF2B5EF4-FFF2-40B4-BE49-F238E27FC236}">
                <a16:creationId xmlns:a16="http://schemas.microsoft.com/office/drawing/2014/main" id="{9D9D4862-87BC-5099-D12C-70FD7A756E55}"/>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9646" r="12986"/>
          <a:stretch>
            <a:fillRect/>
          </a:stretch>
        </p:blipFill>
        <p:spPr bwMode="auto">
          <a:xfrm>
            <a:off x="281171" y="2815844"/>
            <a:ext cx="1676400" cy="1271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2867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A0FC571-2881-2BE1-A064-3517F7C5C22E}"/>
              </a:ext>
            </a:extLst>
          </p:cNvPr>
          <p:cNvSpPr txBox="1"/>
          <p:nvPr/>
        </p:nvSpPr>
        <p:spPr>
          <a:xfrm>
            <a:off x="311700" y="402172"/>
            <a:ext cx="8520600" cy="615553"/>
          </a:xfrm>
          <a:prstGeom prst="rect">
            <a:avLst/>
          </a:prstGeom>
          <a:noFill/>
        </p:spPr>
        <p:txBody>
          <a:bodyPr wrap="square" lIns="0" tIns="0" rIns="0" bIns="0" anchor="t">
            <a:spAutoFit/>
          </a:bodyPr>
          <a:lstStyle/>
          <a:p>
            <a:pPr algn="l"/>
            <a:r>
              <a:rPr lang="en-GB" sz="4000" b="1" dirty="0" err="1">
                <a:solidFill>
                  <a:srgbClr val="10265D"/>
                </a:solidFill>
                <a:latin typeface="Etna"/>
              </a:rPr>
              <a:t>Intervals.icu</a:t>
            </a:r>
            <a:endParaRPr sz="4000" b="1" dirty="0">
              <a:solidFill>
                <a:srgbClr val="10265D"/>
              </a:solidFill>
              <a:latin typeface="Etna"/>
            </a:endParaRPr>
          </a:p>
        </p:txBody>
      </p:sp>
      <p:pic>
        <p:nvPicPr>
          <p:cNvPr id="12" name="Picture 11">
            <a:extLst>
              <a:ext uri="{FF2B5EF4-FFF2-40B4-BE49-F238E27FC236}">
                <a16:creationId xmlns:a16="http://schemas.microsoft.com/office/drawing/2014/main" id="{6C9894B5-3F07-E5F6-5ADE-70D67F1F429E}"/>
              </a:ext>
            </a:extLst>
          </p:cNvPr>
          <p:cNvPicPr>
            <a:picLocks noChangeAspect="1"/>
          </p:cNvPicPr>
          <p:nvPr/>
        </p:nvPicPr>
        <p:blipFill>
          <a:blip r:embed="rId3"/>
          <a:stretch>
            <a:fillRect/>
          </a:stretch>
        </p:blipFill>
        <p:spPr>
          <a:xfrm>
            <a:off x="0" y="943218"/>
            <a:ext cx="9144000" cy="4540149"/>
          </a:xfrm>
          <a:prstGeom prst="rect">
            <a:avLst/>
          </a:prstGeom>
        </p:spPr>
      </p:pic>
    </p:spTree>
    <p:extLst>
      <p:ext uri="{BB962C8B-B14F-4D97-AF65-F5344CB8AC3E}">
        <p14:creationId xmlns:p14="http://schemas.microsoft.com/office/powerpoint/2010/main" val="2492100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BDD68-8576-D7EB-ACC4-CB244C95BBB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770C9E8-4EDF-CCBA-F6EF-351D89BB3EC0}"/>
              </a:ext>
            </a:extLst>
          </p:cNvPr>
          <p:cNvSpPr txBox="1"/>
          <p:nvPr/>
        </p:nvSpPr>
        <p:spPr>
          <a:xfrm>
            <a:off x="311700" y="402172"/>
            <a:ext cx="8520600" cy="615553"/>
          </a:xfrm>
          <a:prstGeom prst="rect">
            <a:avLst/>
          </a:prstGeom>
          <a:noFill/>
        </p:spPr>
        <p:txBody>
          <a:bodyPr wrap="square" lIns="0" tIns="0" rIns="0" bIns="0" anchor="t">
            <a:spAutoFit/>
          </a:bodyPr>
          <a:lstStyle/>
          <a:p>
            <a:pPr algn="l"/>
            <a:r>
              <a:rPr lang="en-GB" sz="4000" b="1" dirty="0" err="1">
                <a:solidFill>
                  <a:srgbClr val="10265D"/>
                </a:solidFill>
                <a:latin typeface="Etna"/>
              </a:rPr>
              <a:t>Intervals.icu</a:t>
            </a:r>
            <a:endParaRPr sz="4000" b="1" dirty="0">
              <a:solidFill>
                <a:srgbClr val="10265D"/>
              </a:solidFill>
              <a:latin typeface="Etna"/>
            </a:endParaRPr>
          </a:p>
        </p:txBody>
      </p:sp>
      <p:pic>
        <p:nvPicPr>
          <p:cNvPr id="3" name="Picture 2">
            <a:extLst>
              <a:ext uri="{FF2B5EF4-FFF2-40B4-BE49-F238E27FC236}">
                <a16:creationId xmlns:a16="http://schemas.microsoft.com/office/drawing/2014/main" id="{0A2D0F6C-097A-2F98-192A-59EC65051104}"/>
              </a:ext>
            </a:extLst>
          </p:cNvPr>
          <p:cNvPicPr>
            <a:picLocks noChangeAspect="1"/>
          </p:cNvPicPr>
          <p:nvPr/>
        </p:nvPicPr>
        <p:blipFill>
          <a:blip r:embed="rId3"/>
          <a:stretch>
            <a:fillRect/>
          </a:stretch>
        </p:blipFill>
        <p:spPr>
          <a:xfrm>
            <a:off x="0" y="1017725"/>
            <a:ext cx="9144000" cy="4192438"/>
          </a:xfrm>
          <a:prstGeom prst="rect">
            <a:avLst/>
          </a:prstGeom>
        </p:spPr>
      </p:pic>
    </p:spTree>
    <p:extLst>
      <p:ext uri="{BB962C8B-B14F-4D97-AF65-F5344CB8AC3E}">
        <p14:creationId xmlns:p14="http://schemas.microsoft.com/office/powerpoint/2010/main" val="3901907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2EA8E-AB57-A334-D89A-0A1056B7107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F908824-C035-D708-618B-32016397A9D1}"/>
              </a:ext>
            </a:extLst>
          </p:cNvPr>
          <p:cNvSpPr txBox="1"/>
          <p:nvPr/>
        </p:nvSpPr>
        <p:spPr>
          <a:xfrm>
            <a:off x="311700" y="402172"/>
            <a:ext cx="8520600" cy="615553"/>
          </a:xfrm>
          <a:prstGeom prst="rect">
            <a:avLst/>
          </a:prstGeom>
          <a:noFill/>
        </p:spPr>
        <p:txBody>
          <a:bodyPr wrap="square" lIns="0" tIns="0" rIns="0" bIns="0" anchor="t">
            <a:spAutoFit/>
          </a:bodyPr>
          <a:lstStyle/>
          <a:p>
            <a:pPr algn="l"/>
            <a:r>
              <a:rPr lang="en-GB" sz="4000" b="1" dirty="0" err="1">
                <a:solidFill>
                  <a:srgbClr val="10265D"/>
                </a:solidFill>
                <a:latin typeface="Etna"/>
              </a:rPr>
              <a:t>FuelGauge</a:t>
            </a:r>
            <a:endParaRPr sz="4000" b="1" dirty="0">
              <a:solidFill>
                <a:srgbClr val="10265D"/>
              </a:solidFill>
              <a:latin typeface="Etna"/>
            </a:endParaRPr>
          </a:p>
        </p:txBody>
      </p:sp>
      <p:pic>
        <p:nvPicPr>
          <p:cNvPr id="5" name="Picture 4">
            <a:extLst>
              <a:ext uri="{FF2B5EF4-FFF2-40B4-BE49-F238E27FC236}">
                <a16:creationId xmlns:a16="http://schemas.microsoft.com/office/drawing/2014/main" id="{21084D70-49FD-CB6C-7AA4-285C269E36E3}"/>
              </a:ext>
            </a:extLst>
          </p:cNvPr>
          <p:cNvPicPr>
            <a:picLocks noChangeAspect="1"/>
          </p:cNvPicPr>
          <p:nvPr/>
        </p:nvPicPr>
        <p:blipFill>
          <a:blip r:embed="rId3"/>
          <a:stretch>
            <a:fillRect/>
          </a:stretch>
        </p:blipFill>
        <p:spPr>
          <a:xfrm>
            <a:off x="6122682" y="0"/>
            <a:ext cx="3021318" cy="5143500"/>
          </a:xfrm>
          <a:prstGeom prst="rect">
            <a:avLst/>
          </a:prstGeom>
        </p:spPr>
      </p:pic>
      <p:sp>
        <p:nvSpPr>
          <p:cNvPr id="2" name="TextBox 1">
            <a:extLst>
              <a:ext uri="{FF2B5EF4-FFF2-40B4-BE49-F238E27FC236}">
                <a16:creationId xmlns:a16="http://schemas.microsoft.com/office/drawing/2014/main" id="{48B493FE-E56D-E7B7-CCBD-3746DEA063EC}"/>
              </a:ext>
            </a:extLst>
          </p:cNvPr>
          <p:cNvSpPr txBox="1"/>
          <p:nvPr/>
        </p:nvSpPr>
        <p:spPr>
          <a:xfrm>
            <a:off x="311700" y="1500000"/>
            <a:ext cx="2649614" cy="1692771"/>
          </a:xfrm>
          <a:prstGeom prst="rect">
            <a:avLst/>
          </a:prstGeom>
          <a:noFill/>
        </p:spPr>
        <p:txBody>
          <a:bodyPr wrap="square" lIns="0" tIns="0" rIns="0" bIns="0" anchor="t">
            <a:spAutoFit/>
          </a:bodyPr>
          <a:lstStyle/>
          <a:p>
            <a:pPr algn="l">
              <a:spcAft>
                <a:spcPts val="600"/>
              </a:spcAft>
            </a:pPr>
            <a:r>
              <a:rPr lang="en-GB" sz="2000" b="1" dirty="0">
                <a:solidFill>
                  <a:srgbClr val="1A1A1A"/>
                </a:solidFill>
                <a:latin typeface="Garet"/>
              </a:rPr>
              <a:t>Home grown app</a:t>
            </a:r>
          </a:p>
          <a:p>
            <a:pPr algn="l">
              <a:spcAft>
                <a:spcPts val="600"/>
              </a:spcAft>
            </a:pPr>
            <a:r>
              <a:rPr lang="en-GB" sz="2000" dirty="0">
                <a:solidFill>
                  <a:srgbClr val="1A1A1A"/>
                </a:solidFill>
                <a:latin typeface="Garet"/>
              </a:rPr>
              <a:t>Tracks Calories Consumed</a:t>
            </a:r>
          </a:p>
          <a:p>
            <a:pPr algn="l">
              <a:spcAft>
                <a:spcPts val="600"/>
              </a:spcAft>
            </a:pPr>
            <a:r>
              <a:rPr lang="en-GB" sz="2000" dirty="0">
                <a:solidFill>
                  <a:srgbClr val="1A1A1A"/>
                </a:solidFill>
                <a:latin typeface="Garet"/>
              </a:rPr>
              <a:t>Compares to Calories Burnt</a:t>
            </a:r>
          </a:p>
        </p:txBody>
      </p:sp>
      <p:pic>
        <p:nvPicPr>
          <p:cNvPr id="4" name="Picture 3">
            <a:extLst>
              <a:ext uri="{FF2B5EF4-FFF2-40B4-BE49-F238E27FC236}">
                <a16:creationId xmlns:a16="http://schemas.microsoft.com/office/drawing/2014/main" id="{80FECBA4-776D-E396-8DBC-AA1C358FF69C}"/>
              </a:ext>
            </a:extLst>
          </p:cNvPr>
          <p:cNvPicPr>
            <a:picLocks noChangeAspect="1"/>
          </p:cNvPicPr>
          <p:nvPr/>
        </p:nvPicPr>
        <p:blipFill>
          <a:blip r:embed="rId4"/>
          <a:srcRect l="6939" r="2894"/>
          <a:stretch>
            <a:fillRect/>
          </a:stretch>
        </p:blipFill>
        <p:spPr>
          <a:xfrm>
            <a:off x="3061341" y="0"/>
            <a:ext cx="3021318" cy="5143500"/>
          </a:xfrm>
          <a:prstGeom prst="rect">
            <a:avLst/>
          </a:prstGeom>
        </p:spPr>
      </p:pic>
      <p:sp>
        <p:nvSpPr>
          <p:cNvPr id="8" name="TextBox 7">
            <a:extLst>
              <a:ext uri="{FF2B5EF4-FFF2-40B4-BE49-F238E27FC236}">
                <a16:creationId xmlns:a16="http://schemas.microsoft.com/office/drawing/2014/main" id="{454728DE-A1DD-1AD0-BAEF-453DBB4B74D5}"/>
              </a:ext>
            </a:extLst>
          </p:cNvPr>
          <p:cNvSpPr txBox="1"/>
          <p:nvPr/>
        </p:nvSpPr>
        <p:spPr>
          <a:xfrm>
            <a:off x="311700" y="4510495"/>
            <a:ext cx="2365695" cy="646331"/>
          </a:xfrm>
          <a:prstGeom prst="rect">
            <a:avLst/>
          </a:prstGeom>
          <a:noFill/>
        </p:spPr>
        <p:txBody>
          <a:bodyPr wrap="square">
            <a:spAutoFit/>
          </a:bodyPr>
          <a:lstStyle/>
          <a:p>
            <a:pPr algn="l">
              <a:spcAft>
                <a:spcPts val="600"/>
              </a:spcAft>
            </a:pPr>
            <a:r>
              <a:rPr lang="en-GB" sz="1200" dirty="0">
                <a:solidFill>
                  <a:srgbClr val="1A1A1A"/>
                </a:solidFill>
                <a:latin typeface="Garet"/>
              </a:rPr>
              <a:t>Stored in </a:t>
            </a:r>
            <a:r>
              <a:rPr lang="en-GB" sz="1200" dirty="0" err="1">
                <a:solidFill>
                  <a:srgbClr val="1A1A1A"/>
                </a:solidFill>
                <a:latin typeface="Garet"/>
              </a:rPr>
              <a:t>postgres</a:t>
            </a:r>
            <a:r>
              <a:rPr lang="en-GB" sz="1200" dirty="0">
                <a:solidFill>
                  <a:srgbClr val="1A1A1A"/>
                </a:solidFill>
                <a:latin typeface="Garet"/>
              </a:rPr>
              <a:t> &amp; influx databases running on Kubernetes (don’t ask)</a:t>
            </a:r>
          </a:p>
        </p:txBody>
      </p:sp>
    </p:spTree>
    <p:extLst>
      <p:ext uri="{BB962C8B-B14F-4D97-AF65-F5344CB8AC3E}">
        <p14:creationId xmlns:p14="http://schemas.microsoft.com/office/powerpoint/2010/main" val="2041468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 name="Google Shape;104;p18" title="Wave.png"/>
          <p:cNvPicPr preferRelativeResize="0"/>
          <p:nvPr/>
        </p:nvPicPr>
        <p:blipFill rotWithShape="1">
          <a:blip r:embed="rId3">
            <a:alphaModFix amt="50000"/>
          </a:blip>
          <a:srcRect l="1876" r="1905" b="34193"/>
          <a:stretch/>
        </p:blipFill>
        <p:spPr>
          <a:xfrm>
            <a:off x="-3850" y="3580350"/>
            <a:ext cx="9151677" cy="1563150"/>
          </a:xfrm>
          <a:prstGeom prst="rect">
            <a:avLst/>
          </a:prstGeom>
          <a:noFill/>
          <a:ln>
            <a:noFill/>
          </a:ln>
        </p:spPr>
      </p:pic>
      <p:pic>
        <p:nvPicPr>
          <p:cNvPr id="105" name="Google Shape;105;p18" title="bubbles.png"/>
          <p:cNvPicPr preferRelativeResize="0"/>
          <p:nvPr/>
        </p:nvPicPr>
        <p:blipFill rotWithShape="1">
          <a:blip r:embed="rId4">
            <a:alphaModFix/>
          </a:blip>
          <a:srcRect l="40507" r="16342"/>
          <a:stretch/>
        </p:blipFill>
        <p:spPr>
          <a:xfrm rot="10800000">
            <a:off x="8146807" y="970750"/>
            <a:ext cx="907418" cy="2385675"/>
          </a:xfrm>
          <a:prstGeom prst="rect">
            <a:avLst/>
          </a:prstGeom>
          <a:noFill/>
          <a:ln>
            <a:noFill/>
          </a:ln>
        </p:spPr>
      </p:pic>
      <p:pic>
        <p:nvPicPr>
          <p:cNvPr id="106" name="Google Shape;106;p18" title="Tentacles-ind.png"/>
          <p:cNvPicPr preferRelativeResize="0"/>
          <p:nvPr/>
        </p:nvPicPr>
        <p:blipFill rotWithShape="1">
          <a:blip r:embed="rId5">
            <a:alphaModFix/>
          </a:blip>
          <a:srcRect l="49571" t="721" r="31537" b="445"/>
          <a:stretch/>
        </p:blipFill>
        <p:spPr>
          <a:xfrm rot="-2501693">
            <a:off x="7445555" y="3987141"/>
            <a:ext cx="971391" cy="1617194"/>
          </a:xfrm>
          <a:prstGeom prst="rect">
            <a:avLst/>
          </a:prstGeom>
          <a:noFill/>
          <a:ln>
            <a:noFill/>
          </a:ln>
        </p:spPr>
      </p:pic>
      <p:pic>
        <p:nvPicPr>
          <p:cNvPr id="107" name="Google Shape;107;p18" title="bubbles 2.png"/>
          <p:cNvPicPr preferRelativeResize="0"/>
          <p:nvPr/>
        </p:nvPicPr>
        <p:blipFill rotWithShape="1">
          <a:blip r:embed="rId6">
            <a:alphaModFix/>
          </a:blip>
          <a:srcRect t="47355" r="57354"/>
          <a:stretch/>
        </p:blipFill>
        <p:spPr>
          <a:xfrm rot="-9252631">
            <a:off x="-55300" y="3280125"/>
            <a:ext cx="1103049" cy="1607925"/>
          </a:xfrm>
          <a:prstGeom prst="rect">
            <a:avLst/>
          </a:prstGeom>
          <a:noFill/>
          <a:ln>
            <a:noFill/>
          </a:ln>
        </p:spPr>
      </p:pic>
      <p:pic>
        <p:nvPicPr>
          <p:cNvPr id="108" name="Google Shape;108;p18" title="Tentacles-ind.png"/>
          <p:cNvPicPr preferRelativeResize="0"/>
          <p:nvPr/>
        </p:nvPicPr>
        <p:blipFill rotWithShape="1">
          <a:blip r:embed="rId5">
            <a:alphaModFix/>
          </a:blip>
          <a:srcRect l="86032" t="15454" r="-185" b="646"/>
          <a:stretch/>
        </p:blipFill>
        <p:spPr>
          <a:xfrm rot="2272541">
            <a:off x="8016359" y="3980950"/>
            <a:ext cx="934982" cy="1763774"/>
          </a:xfrm>
          <a:prstGeom prst="rect">
            <a:avLst/>
          </a:prstGeom>
          <a:noFill/>
          <a:ln>
            <a:noFill/>
          </a:ln>
        </p:spPr>
      </p:pic>
      <p:sp>
        <p:nvSpPr>
          <p:cNvPr id="109" name="TextBox 108"/>
          <p:cNvSpPr txBox="1"/>
          <p:nvPr/>
        </p:nvSpPr>
        <p:spPr>
          <a:xfrm>
            <a:off x="311700" y="350000"/>
            <a:ext cx="8520600" cy="1050000"/>
          </a:xfrm>
          <a:prstGeom prst="rect">
            <a:avLst/>
          </a:prstGeom>
          <a:noFill/>
        </p:spPr>
        <p:txBody>
          <a:bodyPr wrap="square" lIns="0" tIns="0" rIns="0" bIns="0" anchor="t">
            <a:spAutoFit/>
          </a:bodyPr>
          <a:lstStyle/>
          <a:p>
            <a:pPr algn="l"/>
            <a:r>
              <a:rPr sz="3200" b="1">
                <a:solidFill>
                  <a:srgbClr val="10265D"/>
                </a:solidFill>
                <a:latin typeface="Etna"/>
              </a:rPr>
              <a:t>One place. One way in. One way out.</a:t>
            </a:r>
          </a:p>
        </p:txBody>
      </p:sp>
      <p:sp>
        <p:nvSpPr>
          <p:cNvPr id="110" name="TextBox 109"/>
          <p:cNvSpPr txBox="1"/>
          <p:nvPr/>
        </p:nvSpPr>
        <p:spPr>
          <a:xfrm>
            <a:off x="311700" y="1500000"/>
            <a:ext cx="8520600" cy="2000000"/>
          </a:xfrm>
          <a:prstGeom prst="rect">
            <a:avLst/>
          </a:prstGeom>
          <a:noFill/>
        </p:spPr>
        <p:txBody>
          <a:bodyPr wrap="square" lIns="0" tIns="0" rIns="0" bIns="0" anchor="t">
            <a:spAutoFit/>
          </a:bodyPr>
          <a:lstStyle/>
          <a:p>
            <a:pPr algn="l">
              <a:spcAft>
                <a:spcPts val="600"/>
              </a:spcAft>
            </a:pPr>
            <a:r>
              <a:rPr sz="2200" b="1" dirty="0">
                <a:solidFill>
                  <a:srgbClr val="1A1A1A"/>
                </a:solidFill>
                <a:latin typeface="Garet"/>
              </a:rPr>
              <a:t>Everything in SQL Server.</a:t>
            </a:r>
          </a:p>
          <a:p>
            <a:pPr algn="l">
              <a:spcAft>
                <a:spcPts val="600"/>
              </a:spcAft>
            </a:pPr>
            <a:r>
              <a:rPr sz="2200" b="1" dirty="0">
                <a:solidFill>
                  <a:srgbClr val="1A1A1A"/>
                </a:solidFill>
                <a:latin typeface="Garet"/>
              </a:rPr>
              <a:t>PowerShell writes to it.</a:t>
            </a:r>
          </a:p>
          <a:p>
            <a:pPr algn="l">
              <a:spcAft>
                <a:spcPts val="600"/>
              </a:spcAft>
            </a:pPr>
            <a:r>
              <a:rPr sz="2200" b="1" dirty="0">
                <a:solidFill>
                  <a:srgbClr val="1A1A1A"/>
                </a:solidFill>
                <a:latin typeface="Garet"/>
              </a:rPr>
              <a:t>A dashboard reads from it.</a:t>
            </a:r>
          </a:p>
          <a:p>
            <a:pPr algn="l">
              <a:spcAft>
                <a:spcPts val="600"/>
              </a:spcAft>
            </a:pPr>
            <a:r>
              <a:rPr sz="2200" b="0" dirty="0">
                <a:solidFill>
                  <a:srgbClr val="1A1A1A"/>
                </a:solidFill>
                <a:latin typeface="Garet"/>
              </a:rPr>
              <a:t>I do not want to write a backend.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A966E-DF25-DD7C-1A78-F3FF6A90DA34}"/>
              </a:ext>
            </a:extLst>
          </p:cNvPr>
          <p:cNvSpPr>
            <a:spLocks noGrp="1"/>
          </p:cNvSpPr>
          <p:nvPr>
            <p:ph type="title"/>
          </p:nvPr>
        </p:nvSpPr>
        <p:spPr/>
        <p:txBody>
          <a:bodyPr>
            <a:normAutofit fontScale="90000"/>
          </a:bodyPr>
          <a:lstStyle/>
          <a:p>
            <a:endParaRPr lang="en-GB"/>
          </a:p>
        </p:txBody>
      </p:sp>
      <p:sp>
        <p:nvSpPr>
          <p:cNvPr id="3" name="Text Placeholder 2">
            <a:extLst>
              <a:ext uri="{FF2B5EF4-FFF2-40B4-BE49-F238E27FC236}">
                <a16:creationId xmlns:a16="http://schemas.microsoft.com/office/drawing/2014/main" id="{9EB7135B-9DA0-B292-8694-C38E3C9A38C0}"/>
              </a:ext>
            </a:extLst>
          </p:cNvPr>
          <p:cNvSpPr>
            <a:spLocks noGrp="1"/>
          </p:cNvSpPr>
          <p:nvPr>
            <p:ph type="body" idx="1"/>
          </p:nvPr>
        </p:nvSpPr>
        <p:spPr/>
        <p:txBody>
          <a:bodyPr/>
          <a:lstStyle/>
          <a:p>
            <a:endParaRPr lang="en-GB"/>
          </a:p>
        </p:txBody>
      </p:sp>
      <p:pic>
        <p:nvPicPr>
          <p:cNvPr id="7" name="Graphic 6">
            <a:extLst>
              <a:ext uri="{FF2B5EF4-FFF2-40B4-BE49-F238E27FC236}">
                <a16:creationId xmlns:a16="http://schemas.microsoft.com/office/drawing/2014/main" id="{0D994A98-13BF-13C1-F65D-3603FFDDA5F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240030"/>
            <a:ext cx="9144000" cy="4663440"/>
          </a:xfrm>
          <a:prstGeom prst="rect">
            <a:avLst/>
          </a:prstGeom>
        </p:spPr>
      </p:pic>
    </p:spTree>
    <p:extLst>
      <p:ext uri="{BB962C8B-B14F-4D97-AF65-F5344CB8AC3E}">
        <p14:creationId xmlns:p14="http://schemas.microsoft.com/office/powerpoint/2010/main" val="4274933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5407B-F641-025F-7091-80BEC89B5C88}"/>
              </a:ext>
            </a:extLst>
          </p:cNvPr>
          <p:cNvSpPr>
            <a:spLocks noGrp="1"/>
          </p:cNvSpPr>
          <p:nvPr>
            <p:ph type="title"/>
          </p:nvPr>
        </p:nvSpPr>
        <p:spPr/>
        <p:txBody>
          <a:bodyPr>
            <a:normAutofit fontScale="90000"/>
          </a:bodyPr>
          <a:lstStyle/>
          <a:p>
            <a:endParaRPr lang="en-GB"/>
          </a:p>
        </p:txBody>
      </p:sp>
      <p:sp>
        <p:nvSpPr>
          <p:cNvPr id="3" name="Text Placeholder 2">
            <a:extLst>
              <a:ext uri="{FF2B5EF4-FFF2-40B4-BE49-F238E27FC236}">
                <a16:creationId xmlns:a16="http://schemas.microsoft.com/office/drawing/2014/main" id="{B0A76AEE-A0A7-E75E-DC48-EAABAFCC52BC}"/>
              </a:ext>
            </a:extLst>
          </p:cNvPr>
          <p:cNvSpPr>
            <a:spLocks noGrp="1"/>
          </p:cNvSpPr>
          <p:nvPr>
            <p:ph type="body" idx="1"/>
          </p:nvPr>
        </p:nvSpPr>
        <p:spPr/>
        <p:txBody>
          <a:bodyPr/>
          <a:lstStyle/>
          <a:p>
            <a:endParaRPr lang="en-GB"/>
          </a:p>
        </p:txBody>
      </p:sp>
      <p:pic>
        <p:nvPicPr>
          <p:cNvPr id="11" name="Graphic 10">
            <a:extLst>
              <a:ext uri="{FF2B5EF4-FFF2-40B4-BE49-F238E27FC236}">
                <a16:creationId xmlns:a16="http://schemas.microsoft.com/office/drawing/2014/main" id="{59DFC8DC-CBF0-5DC0-EF1C-C23F25114B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240030"/>
            <a:ext cx="9144000" cy="4663440"/>
          </a:xfrm>
          <a:prstGeom prst="rect">
            <a:avLst/>
          </a:prstGeom>
        </p:spPr>
      </p:pic>
    </p:spTree>
    <p:extLst>
      <p:ext uri="{BB962C8B-B14F-4D97-AF65-F5344CB8AC3E}">
        <p14:creationId xmlns:p14="http://schemas.microsoft.com/office/powerpoint/2010/main" val="10540791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4E208-95E6-68CE-A5EC-A72FCC936D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AFE767-B07D-3847-92D5-E18F15E1D53D}"/>
              </a:ext>
            </a:extLst>
          </p:cNvPr>
          <p:cNvSpPr>
            <a:spLocks noGrp="1"/>
          </p:cNvSpPr>
          <p:nvPr>
            <p:ph type="title"/>
          </p:nvPr>
        </p:nvSpPr>
        <p:spPr/>
        <p:txBody>
          <a:bodyPr>
            <a:normAutofit fontScale="90000"/>
          </a:bodyPr>
          <a:lstStyle/>
          <a:p>
            <a:endParaRPr lang="en-GB"/>
          </a:p>
        </p:txBody>
      </p:sp>
      <p:sp>
        <p:nvSpPr>
          <p:cNvPr id="3" name="Text Placeholder 2">
            <a:extLst>
              <a:ext uri="{FF2B5EF4-FFF2-40B4-BE49-F238E27FC236}">
                <a16:creationId xmlns:a16="http://schemas.microsoft.com/office/drawing/2014/main" id="{F3168DB6-EDBD-858A-3E9D-5CF2C48366EE}"/>
              </a:ext>
            </a:extLst>
          </p:cNvPr>
          <p:cNvSpPr>
            <a:spLocks noGrp="1"/>
          </p:cNvSpPr>
          <p:nvPr>
            <p:ph type="body" idx="1"/>
          </p:nvPr>
        </p:nvSpPr>
        <p:spPr/>
        <p:txBody>
          <a:bodyPr/>
          <a:lstStyle/>
          <a:p>
            <a:endParaRPr lang="en-GB"/>
          </a:p>
        </p:txBody>
      </p:sp>
      <p:pic>
        <p:nvPicPr>
          <p:cNvPr id="11" name="Graphic 10">
            <a:extLst>
              <a:ext uri="{FF2B5EF4-FFF2-40B4-BE49-F238E27FC236}">
                <a16:creationId xmlns:a16="http://schemas.microsoft.com/office/drawing/2014/main" id="{2037291C-653B-7DC5-E21F-44D542FF1A3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60675" y="-2489346"/>
            <a:ext cx="22436950" cy="11442845"/>
          </a:xfrm>
          <a:prstGeom prst="rect">
            <a:avLst/>
          </a:prstGeom>
        </p:spPr>
      </p:pic>
    </p:spTree>
    <p:extLst>
      <p:ext uri="{BB962C8B-B14F-4D97-AF65-F5344CB8AC3E}">
        <p14:creationId xmlns:p14="http://schemas.microsoft.com/office/powerpoint/2010/main" val="35730327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Google Shape;65;p14"/>
          <p:cNvSpPr/>
          <p:nvPr/>
        </p:nvSpPr>
        <p:spPr>
          <a:xfrm rot="10800000" flipH="1">
            <a:off x="-9816" y="2428866"/>
            <a:ext cx="9163638" cy="2714634"/>
          </a:xfrm>
          <a:prstGeom prst="flowChartDocument">
            <a:avLst/>
          </a:prstGeom>
          <a:solidFill>
            <a:srgbClr val="DEF5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6" name="Google Shape;66;p14" title="Wave.png"/>
          <p:cNvPicPr preferRelativeResize="0"/>
          <p:nvPr/>
        </p:nvPicPr>
        <p:blipFill rotWithShape="1">
          <a:blip r:embed="rId3">
            <a:alphaModFix/>
          </a:blip>
          <a:srcRect l="1896" r="1886" b="28947"/>
          <a:stretch/>
        </p:blipFill>
        <p:spPr>
          <a:xfrm>
            <a:off x="-3850" y="3455650"/>
            <a:ext cx="9151677" cy="1687850"/>
          </a:xfrm>
          <a:prstGeom prst="rect">
            <a:avLst/>
          </a:prstGeom>
          <a:noFill/>
          <a:ln>
            <a:noFill/>
          </a:ln>
        </p:spPr>
      </p:pic>
      <p:pic>
        <p:nvPicPr>
          <p:cNvPr id="67" name="Google Shape;67;p14" title="bubbles.png"/>
          <p:cNvPicPr preferRelativeResize="0"/>
          <p:nvPr/>
        </p:nvPicPr>
        <p:blipFill rotWithShape="1">
          <a:blip r:embed="rId4">
            <a:alphaModFix/>
          </a:blip>
          <a:srcRect l="40507" r="16342"/>
          <a:stretch/>
        </p:blipFill>
        <p:spPr>
          <a:xfrm rot="10800000">
            <a:off x="8308600" y="1506410"/>
            <a:ext cx="765850" cy="2013450"/>
          </a:xfrm>
          <a:prstGeom prst="rect">
            <a:avLst/>
          </a:prstGeom>
          <a:noFill/>
          <a:ln>
            <a:noFill/>
          </a:ln>
        </p:spPr>
      </p:pic>
      <p:pic>
        <p:nvPicPr>
          <p:cNvPr id="68" name="Google Shape;68;p14" title="bubbles 2.png"/>
          <p:cNvPicPr preferRelativeResize="0"/>
          <p:nvPr/>
        </p:nvPicPr>
        <p:blipFill rotWithShape="1">
          <a:blip r:embed="rId5">
            <a:alphaModFix/>
          </a:blip>
          <a:srcRect l="15139" t="58400" r="62500" b="19350"/>
          <a:stretch/>
        </p:blipFill>
        <p:spPr>
          <a:xfrm rot="742639">
            <a:off x="149255" y="3644868"/>
            <a:ext cx="578386" cy="679568"/>
          </a:xfrm>
          <a:prstGeom prst="rect">
            <a:avLst/>
          </a:prstGeom>
          <a:noFill/>
          <a:ln>
            <a:noFill/>
          </a:ln>
        </p:spPr>
      </p:pic>
      <p:pic>
        <p:nvPicPr>
          <p:cNvPr id="69" name="Google Shape;69;p14" title="bubbles 2.png"/>
          <p:cNvPicPr preferRelativeResize="0"/>
          <p:nvPr/>
        </p:nvPicPr>
        <p:blipFill rotWithShape="1">
          <a:blip r:embed="rId5">
            <a:alphaModFix/>
          </a:blip>
          <a:srcRect r="57354" b="65392"/>
          <a:stretch/>
        </p:blipFill>
        <p:spPr>
          <a:xfrm rot="-308349">
            <a:off x="19632" y="2782409"/>
            <a:ext cx="573357" cy="549431"/>
          </a:xfrm>
          <a:prstGeom prst="rect">
            <a:avLst/>
          </a:prstGeom>
          <a:noFill/>
          <a:ln>
            <a:noFill/>
          </a:ln>
        </p:spPr>
      </p:pic>
      <p:pic>
        <p:nvPicPr>
          <p:cNvPr id="70" name="Google Shape;70;p14" title="Tentacles.png"/>
          <p:cNvPicPr preferRelativeResize="0"/>
          <p:nvPr/>
        </p:nvPicPr>
        <p:blipFill>
          <a:blip r:embed="rId6">
            <a:alphaModFix/>
          </a:blip>
          <a:stretch>
            <a:fillRect/>
          </a:stretch>
        </p:blipFill>
        <p:spPr>
          <a:xfrm>
            <a:off x="5864377" y="3364666"/>
            <a:ext cx="3406625" cy="1787075"/>
          </a:xfrm>
          <a:prstGeom prst="rect">
            <a:avLst/>
          </a:prstGeom>
          <a:noFill/>
          <a:ln>
            <a:noFill/>
          </a:ln>
        </p:spPr>
      </p:pic>
      <p:sp>
        <p:nvSpPr>
          <p:cNvPr id="71" name="Google Shape;71;p14"/>
          <p:cNvSpPr txBox="1">
            <a:spLocks noGrp="1"/>
          </p:cNvSpPr>
          <p:nvPr>
            <p:ph type="ctrTitle"/>
          </p:nvPr>
        </p:nvSpPr>
        <p:spPr>
          <a:xfrm>
            <a:off x="311700" y="744575"/>
            <a:ext cx="8520600" cy="1446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sz="4000" b="1">
                <a:solidFill>
                  <a:srgbClr val="10265D"/>
                </a:solidFill>
                <a:latin typeface="Etna"/>
              </a:rPr>
              <a:t>What is Data API Builder?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 name="Google Shape;113;p19" title="Wave.png"/>
          <p:cNvPicPr preferRelativeResize="0"/>
          <p:nvPr/>
        </p:nvPicPr>
        <p:blipFill rotWithShape="1">
          <a:blip r:embed="rId3">
            <a:alphaModFix amt="50000"/>
          </a:blip>
          <a:srcRect l="1876" r="1905" b="34193"/>
          <a:stretch/>
        </p:blipFill>
        <p:spPr>
          <a:xfrm>
            <a:off x="-3850" y="3580350"/>
            <a:ext cx="9151677" cy="1563150"/>
          </a:xfrm>
          <a:prstGeom prst="rect">
            <a:avLst/>
          </a:prstGeom>
          <a:noFill/>
          <a:ln>
            <a:noFill/>
          </a:ln>
        </p:spPr>
      </p:pic>
      <p:pic>
        <p:nvPicPr>
          <p:cNvPr id="115" name="Google Shape;115;p19" title="Tentacles-ind.png"/>
          <p:cNvPicPr preferRelativeResize="0"/>
          <p:nvPr/>
        </p:nvPicPr>
        <p:blipFill rotWithShape="1">
          <a:blip r:embed="rId4">
            <a:alphaModFix/>
          </a:blip>
          <a:srcRect l="68941" t="1670" r="12167" b="-504"/>
          <a:stretch/>
        </p:blipFill>
        <p:spPr>
          <a:xfrm rot="477805">
            <a:off x="5342718" y="4076284"/>
            <a:ext cx="971396" cy="1617191"/>
          </a:xfrm>
          <a:prstGeom prst="rect">
            <a:avLst/>
          </a:prstGeom>
          <a:noFill/>
          <a:ln>
            <a:noFill/>
          </a:ln>
        </p:spPr>
      </p:pic>
      <p:pic>
        <p:nvPicPr>
          <p:cNvPr id="117" name="Google Shape;117;p19" title="Tentacles-ind.png"/>
          <p:cNvPicPr preferRelativeResize="0"/>
          <p:nvPr/>
        </p:nvPicPr>
        <p:blipFill rotWithShape="1">
          <a:blip r:embed="rId4">
            <a:alphaModFix/>
          </a:blip>
          <a:srcRect l="11379" t="4220" r="72849" b="-3054"/>
          <a:stretch/>
        </p:blipFill>
        <p:spPr>
          <a:xfrm rot="4189594">
            <a:off x="5772703" y="4106841"/>
            <a:ext cx="810940" cy="1617199"/>
          </a:xfrm>
          <a:prstGeom prst="rect">
            <a:avLst/>
          </a:prstGeom>
          <a:noFill/>
          <a:ln>
            <a:noFill/>
          </a:ln>
        </p:spPr>
      </p:pic>
      <p:pic>
        <p:nvPicPr>
          <p:cNvPr id="118" name="Google Shape;118;p19" title="Tentacles-ind.png"/>
          <p:cNvPicPr preferRelativeResize="0"/>
          <p:nvPr/>
        </p:nvPicPr>
        <p:blipFill rotWithShape="1">
          <a:blip r:embed="rId4">
            <a:alphaModFix/>
          </a:blip>
          <a:srcRect l="-179" t="27751" r="87145" b="744"/>
          <a:stretch/>
        </p:blipFill>
        <p:spPr>
          <a:xfrm rot="-3698090">
            <a:off x="5007930" y="4475714"/>
            <a:ext cx="670174" cy="1170053"/>
          </a:xfrm>
          <a:prstGeom prst="rect">
            <a:avLst/>
          </a:prstGeom>
          <a:noFill/>
          <a:ln>
            <a:noFill/>
          </a:ln>
        </p:spPr>
      </p:pic>
      <p:sp>
        <p:nvSpPr>
          <p:cNvPr id="119" name="TextBox 118"/>
          <p:cNvSpPr txBox="1"/>
          <p:nvPr/>
        </p:nvSpPr>
        <p:spPr>
          <a:xfrm>
            <a:off x="311700" y="350000"/>
            <a:ext cx="8520600" cy="1050000"/>
          </a:xfrm>
          <a:prstGeom prst="rect">
            <a:avLst/>
          </a:prstGeom>
          <a:noFill/>
        </p:spPr>
        <p:txBody>
          <a:bodyPr wrap="square" lIns="0" tIns="0" rIns="0" bIns="0" anchor="t">
            <a:spAutoFit/>
          </a:bodyPr>
          <a:lstStyle/>
          <a:p>
            <a:pPr algn="l"/>
            <a:r>
              <a:rPr sz="3600" b="1">
                <a:solidFill>
                  <a:srgbClr val="10265D"/>
                </a:solidFill>
                <a:latin typeface="Etna"/>
              </a:rPr>
              <a:t>What is DAB?</a:t>
            </a:r>
          </a:p>
        </p:txBody>
      </p:sp>
      <p:sp>
        <p:nvSpPr>
          <p:cNvPr id="120" name="TextBox 119"/>
          <p:cNvSpPr txBox="1"/>
          <p:nvPr/>
        </p:nvSpPr>
        <p:spPr>
          <a:xfrm>
            <a:off x="311700" y="1500000"/>
            <a:ext cx="8520600" cy="1461939"/>
          </a:xfrm>
          <a:prstGeom prst="rect">
            <a:avLst/>
          </a:prstGeom>
          <a:noFill/>
        </p:spPr>
        <p:txBody>
          <a:bodyPr wrap="square" lIns="0" tIns="0" rIns="0" bIns="0" anchor="t">
            <a:spAutoFit/>
          </a:bodyPr>
          <a:lstStyle/>
          <a:p>
            <a:pPr algn="l">
              <a:spcAft>
                <a:spcPts val="600"/>
              </a:spcAft>
            </a:pPr>
            <a:r>
              <a:rPr sz="2000" b="1" dirty="0">
                <a:solidFill>
                  <a:srgbClr val="1A1A1A"/>
                </a:solidFill>
                <a:latin typeface="Garet"/>
              </a:rPr>
              <a:t>A config-driven REST</a:t>
            </a:r>
            <a:r>
              <a:rPr lang="en-GB" sz="2000" b="1" dirty="0">
                <a:solidFill>
                  <a:srgbClr val="1A1A1A"/>
                </a:solidFill>
                <a:latin typeface="Garet"/>
              </a:rPr>
              <a:t>, </a:t>
            </a:r>
            <a:r>
              <a:rPr sz="2000" b="1" dirty="0" err="1">
                <a:solidFill>
                  <a:srgbClr val="1A1A1A"/>
                </a:solidFill>
                <a:latin typeface="Garet"/>
              </a:rPr>
              <a:t>GraphQL</a:t>
            </a:r>
            <a:r>
              <a:rPr lang="en-GB" sz="2000" b="1" dirty="0">
                <a:solidFill>
                  <a:srgbClr val="1A1A1A"/>
                </a:solidFill>
                <a:latin typeface="Garet"/>
              </a:rPr>
              <a:t> &amp; MCP (preview)</a:t>
            </a:r>
            <a:r>
              <a:rPr sz="2000" b="1" dirty="0">
                <a:solidFill>
                  <a:srgbClr val="1A1A1A"/>
                </a:solidFill>
                <a:latin typeface="Garet"/>
              </a:rPr>
              <a:t> layer over your database.</a:t>
            </a:r>
          </a:p>
          <a:p>
            <a:pPr algn="l">
              <a:spcAft>
                <a:spcPts val="600"/>
              </a:spcAft>
            </a:pPr>
            <a:r>
              <a:rPr sz="2000" b="0" dirty="0">
                <a:solidFill>
                  <a:srgbClr val="1A1A1A"/>
                </a:solidFill>
                <a:latin typeface="Garet"/>
              </a:rPr>
              <a:t>Point it at SQL Server, Postgres, MySQL, or Cosmos DB.</a:t>
            </a:r>
          </a:p>
          <a:p>
            <a:pPr algn="l">
              <a:spcAft>
                <a:spcPts val="600"/>
              </a:spcAft>
            </a:pPr>
            <a:r>
              <a:rPr sz="2000" b="0" dirty="0">
                <a:solidFill>
                  <a:srgbClr val="1A1A1A"/>
                </a:solidFill>
                <a:latin typeface="Garet"/>
              </a:rPr>
              <a:t>It serves your tables, views, and stored procs over HTTP.</a:t>
            </a:r>
          </a:p>
          <a:p>
            <a:pPr algn="l">
              <a:spcAft>
                <a:spcPts val="600"/>
              </a:spcAft>
            </a:pPr>
            <a:r>
              <a:rPr sz="2000" b="0" dirty="0">
                <a:solidFill>
                  <a:srgbClr val="1A1A1A"/>
                </a:solidFill>
                <a:latin typeface="Garet"/>
              </a:rPr>
              <a:t>No backend code. Just configuration.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 name="Google Shape;133;p21" title="Wave.png"/>
          <p:cNvPicPr preferRelativeResize="0"/>
          <p:nvPr/>
        </p:nvPicPr>
        <p:blipFill rotWithShape="1">
          <a:blip r:embed="rId3">
            <a:alphaModFix amt="50000"/>
          </a:blip>
          <a:srcRect l="1876" r="1905" b="34193"/>
          <a:stretch/>
        </p:blipFill>
        <p:spPr>
          <a:xfrm>
            <a:off x="-3850" y="3580350"/>
            <a:ext cx="9151677" cy="1563150"/>
          </a:xfrm>
          <a:prstGeom prst="rect">
            <a:avLst/>
          </a:prstGeom>
          <a:noFill/>
          <a:ln>
            <a:noFill/>
          </a:ln>
        </p:spPr>
      </p:pic>
      <p:pic>
        <p:nvPicPr>
          <p:cNvPr id="136" name="Google Shape;136;p21" title="Tentacles-ind.png"/>
          <p:cNvPicPr preferRelativeResize="0"/>
          <p:nvPr/>
        </p:nvPicPr>
        <p:blipFill rotWithShape="1">
          <a:blip r:embed="rId4">
            <a:alphaModFix/>
          </a:blip>
          <a:srcRect l="14411" t="-385" r="70221" b="1552"/>
          <a:stretch/>
        </p:blipFill>
        <p:spPr>
          <a:xfrm rot="754882">
            <a:off x="80254" y="3713151"/>
            <a:ext cx="790202" cy="1617174"/>
          </a:xfrm>
          <a:prstGeom prst="rect">
            <a:avLst/>
          </a:prstGeom>
          <a:noFill/>
          <a:ln>
            <a:noFill/>
          </a:ln>
        </p:spPr>
      </p:pic>
      <p:pic>
        <p:nvPicPr>
          <p:cNvPr id="137" name="Google Shape;137;p21" title="Tentacles-ind.png"/>
          <p:cNvPicPr preferRelativeResize="0"/>
          <p:nvPr/>
        </p:nvPicPr>
        <p:blipFill rotWithShape="1">
          <a:blip r:embed="rId4">
            <a:alphaModFix/>
          </a:blip>
          <a:srcRect l="86642" t="-3013" r="-800" b="2237"/>
          <a:stretch/>
        </p:blipFill>
        <p:spPr>
          <a:xfrm rot="3469674" flipH="1">
            <a:off x="670980" y="4067354"/>
            <a:ext cx="727975" cy="1649039"/>
          </a:xfrm>
          <a:prstGeom prst="rect">
            <a:avLst/>
          </a:prstGeom>
          <a:noFill/>
          <a:ln>
            <a:noFill/>
          </a:ln>
        </p:spPr>
      </p:pic>
      <p:pic>
        <p:nvPicPr>
          <p:cNvPr id="138" name="Google Shape;138;p21" title="Tentacles-ind.png"/>
          <p:cNvPicPr preferRelativeResize="0"/>
          <p:nvPr/>
        </p:nvPicPr>
        <p:blipFill rotWithShape="1">
          <a:blip r:embed="rId4">
            <a:alphaModFix/>
          </a:blip>
          <a:srcRect l="28611" t="257" r="50006" b="909"/>
          <a:stretch/>
        </p:blipFill>
        <p:spPr>
          <a:xfrm rot="3202202">
            <a:off x="267247" y="3999171"/>
            <a:ext cx="1099418" cy="1617204"/>
          </a:xfrm>
          <a:prstGeom prst="rect">
            <a:avLst/>
          </a:prstGeom>
          <a:noFill/>
          <a:ln>
            <a:noFill/>
          </a:ln>
        </p:spPr>
      </p:pic>
      <p:sp>
        <p:nvSpPr>
          <p:cNvPr id="139" name="TextBox 138"/>
          <p:cNvSpPr txBox="1"/>
          <p:nvPr/>
        </p:nvSpPr>
        <p:spPr>
          <a:xfrm>
            <a:off x="311700" y="350000"/>
            <a:ext cx="8520600" cy="1050000"/>
          </a:xfrm>
          <a:prstGeom prst="rect">
            <a:avLst/>
          </a:prstGeom>
          <a:noFill/>
        </p:spPr>
        <p:txBody>
          <a:bodyPr wrap="square" lIns="0" tIns="0" rIns="0" bIns="0" anchor="t">
            <a:spAutoFit/>
          </a:bodyPr>
          <a:lstStyle/>
          <a:p>
            <a:pPr algn="l"/>
            <a:r>
              <a:rPr sz="3600" b="1">
                <a:solidFill>
                  <a:srgbClr val="10265D"/>
                </a:solidFill>
                <a:latin typeface="Etna"/>
              </a:rPr>
              <a:t>Architecture</a:t>
            </a:r>
          </a:p>
        </p:txBody>
      </p:sp>
      <p:sp>
        <p:nvSpPr>
          <p:cNvPr id="140" name="Rectangle 139"/>
          <p:cNvSpPr/>
          <p:nvPr/>
        </p:nvSpPr>
        <p:spPr>
          <a:xfrm>
            <a:off x="700000" y="1700000"/>
            <a:ext cx="2200000" cy="1100000"/>
          </a:xfrm>
          <a:prstGeom prst="rect">
            <a:avLst/>
          </a:prstGeom>
          <a:solidFill>
            <a:srgbClr val="10265D"/>
          </a:solidFill>
          <a:ln>
            <a:solidFill>
              <a:srgbClr val="10265D"/>
            </a:solidFill>
          </a:ln>
        </p:spPr>
        <p:style>
          <a:lnRef idx="1">
            <a:schemeClr val="accent1"/>
          </a:lnRef>
          <a:fillRef idx="3">
            <a:schemeClr val="accent1"/>
          </a:fillRef>
          <a:effectRef idx="2">
            <a:schemeClr val="accent1"/>
          </a:effectRef>
          <a:fontRef idx="minor">
            <a:schemeClr val="lt1"/>
          </a:fontRef>
        </p:style>
        <p:txBody>
          <a:bodyPr wrap="square" lIns="80000" tIns="80000" rIns="80000" bIns="80000" rtlCol="0" anchor="ctr"/>
          <a:lstStyle/>
          <a:p>
            <a:pPr algn="ctr"/>
            <a:r>
              <a:rPr sz="1800" b="1">
                <a:solidFill>
                  <a:srgbClr val="FFFFFF"/>
                </a:solidFill>
                <a:latin typeface="Etna"/>
              </a:rPr>
              <a:t>SQL Server</a:t>
            </a:r>
          </a:p>
          <a:p>
            <a:pPr algn="ctr"/>
            <a:r>
              <a:rPr sz="1400" b="1">
                <a:solidFill>
                  <a:srgbClr val="FFFFFF"/>
                </a:solidFill>
                <a:latin typeface="Etna"/>
              </a:rPr>
              <a:t>(or Postgres)</a:t>
            </a:r>
          </a:p>
        </p:txBody>
      </p:sp>
      <p:sp>
        <p:nvSpPr>
          <p:cNvPr id="141" name="Can 140"/>
          <p:cNvSpPr/>
          <p:nvPr/>
        </p:nvSpPr>
        <p:spPr>
          <a:xfrm>
            <a:off x="2960000" y="2130000"/>
            <a:ext cx="280000" cy="240000"/>
          </a:xfrm>
          <a:prstGeom prst="can">
            <a:avLst/>
          </a:prstGeom>
          <a:solidFill>
            <a:srgbClr val="BDECFE"/>
          </a:solidFill>
          <a:ln>
            <a:solidFill>
              <a:srgbClr val="BDEC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Rectangle 141"/>
          <p:cNvSpPr/>
          <p:nvPr/>
        </p:nvSpPr>
        <p:spPr>
          <a:xfrm>
            <a:off x="3300000" y="1700000"/>
            <a:ext cx="2200000" cy="1100000"/>
          </a:xfrm>
          <a:prstGeom prst="rect">
            <a:avLst/>
          </a:prstGeom>
          <a:solidFill>
            <a:srgbClr val="530080"/>
          </a:solidFill>
          <a:ln>
            <a:solidFill>
              <a:srgbClr val="530080"/>
            </a:solidFill>
          </a:ln>
        </p:spPr>
        <p:style>
          <a:lnRef idx="1">
            <a:schemeClr val="accent1"/>
          </a:lnRef>
          <a:fillRef idx="3">
            <a:schemeClr val="accent1"/>
          </a:fillRef>
          <a:effectRef idx="2">
            <a:schemeClr val="accent1"/>
          </a:effectRef>
          <a:fontRef idx="minor">
            <a:schemeClr val="lt1"/>
          </a:fontRef>
        </p:style>
        <p:txBody>
          <a:bodyPr wrap="square" lIns="80000" tIns="80000" rIns="80000" bIns="80000" rtlCol="0" anchor="ctr"/>
          <a:lstStyle/>
          <a:p>
            <a:pPr algn="ctr"/>
            <a:r>
              <a:rPr sz="1800" b="1">
                <a:solidFill>
                  <a:srgbClr val="FFFFFF"/>
                </a:solidFill>
                <a:latin typeface="Etna"/>
              </a:rPr>
              <a:t>DAB</a:t>
            </a:r>
          </a:p>
          <a:p>
            <a:pPr algn="ctr"/>
            <a:r>
              <a:rPr sz="1400" b="1">
                <a:solidFill>
                  <a:srgbClr val="FFFFFF"/>
                </a:solidFill>
                <a:latin typeface="Etna"/>
              </a:rPr>
              <a:t>(config-driven)</a:t>
            </a:r>
          </a:p>
        </p:txBody>
      </p:sp>
      <p:sp>
        <p:nvSpPr>
          <p:cNvPr id="143" name="Can 142"/>
          <p:cNvSpPr/>
          <p:nvPr/>
        </p:nvSpPr>
        <p:spPr>
          <a:xfrm>
            <a:off x="5560000" y="2130000"/>
            <a:ext cx="280000" cy="240000"/>
          </a:xfrm>
          <a:prstGeom prst="can">
            <a:avLst/>
          </a:prstGeom>
          <a:solidFill>
            <a:srgbClr val="BDECFE"/>
          </a:solidFill>
          <a:ln>
            <a:solidFill>
              <a:srgbClr val="BDEC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Rectangle 143"/>
          <p:cNvSpPr/>
          <p:nvPr/>
        </p:nvSpPr>
        <p:spPr>
          <a:xfrm>
            <a:off x="5900000" y="1700000"/>
            <a:ext cx="2200000" cy="1100000"/>
          </a:xfrm>
          <a:prstGeom prst="rect">
            <a:avLst/>
          </a:prstGeom>
          <a:solidFill>
            <a:srgbClr val="4FAAB3"/>
          </a:solidFill>
          <a:ln>
            <a:solidFill>
              <a:srgbClr val="4FAAB3"/>
            </a:solidFill>
          </a:ln>
        </p:spPr>
        <p:style>
          <a:lnRef idx="1">
            <a:schemeClr val="accent1"/>
          </a:lnRef>
          <a:fillRef idx="3">
            <a:schemeClr val="accent1"/>
          </a:fillRef>
          <a:effectRef idx="2">
            <a:schemeClr val="accent1"/>
          </a:effectRef>
          <a:fontRef idx="minor">
            <a:schemeClr val="lt1"/>
          </a:fontRef>
        </p:style>
        <p:txBody>
          <a:bodyPr wrap="square" lIns="80000" tIns="80000" rIns="80000" bIns="80000" rtlCol="0" anchor="ctr"/>
          <a:lstStyle/>
          <a:p>
            <a:pPr algn="ctr"/>
            <a:r>
              <a:rPr sz="1800" b="1">
                <a:solidFill>
                  <a:srgbClr val="FFFFFF"/>
                </a:solidFill>
                <a:latin typeface="Etna"/>
              </a:rPr>
              <a:t>REST + GraphQL</a:t>
            </a:r>
          </a:p>
          <a:p>
            <a:pPr algn="ctr"/>
            <a:r>
              <a:rPr sz="1400" b="1">
                <a:solidFill>
                  <a:srgbClr val="FFFFFF"/>
                </a:solidFill>
                <a:latin typeface="Etna"/>
              </a:rPr>
              <a:t>endpoints</a:t>
            </a:r>
          </a:p>
        </p:txBody>
      </p:sp>
      <p:sp>
        <p:nvSpPr>
          <p:cNvPr id="145" name="TextBox 144"/>
          <p:cNvSpPr txBox="1"/>
          <p:nvPr/>
        </p:nvSpPr>
        <p:spPr>
          <a:xfrm>
            <a:off x="311700" y="3000000"/>
            <a:ext cx="8520600" cy="2000000"/>
          </a:xfrm>
          <a:prstGeom prst="rect">
            <a:avLst/>
          </a:prstGeom>
          <a:noFill/>
        </p:spPr>
        <p:txBody>
          <a:bodyPr wrap="square" lIns="0" tIns="0" rIns="0" bIns="0" anchor="t">
            <a:spAutoFit/>
          </a:bodyPr>
          <a:lstStyle/>
          <a:p>
            <a:pPr algn="ctr">
              <a:spcAft>
                <a:spcPts val="600"/>
              </a:spcAft>
            </a:pPr>
            <a:r>
              <a:rPr sz="1600" b="0">
                <a:solidFill>
                  <a:srgbClr val="1A1A1A"/>
                </a:solidFill>
                <a:latin typeface="Garet"/>
              </a:rPr>
              <a:t>One config file describes which entities are exposed and how.</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 name="Google Shape;143;p22"/>
          <p:cNvGrpSpPr/>
          <p:nvPr/>
        </p:nvGrpSpPr>
        <p:grpSpPr>
          <a:xfrm>
            <a:off x="-3850" y="-100"/>
            <a:ext cx="4734609" cy="5143600"/>
            <a:chOff x="-3850" y="-100"/>
            <a:chExt cx="4734609" cy="5143600"/>
          </a:xfrm>
        </p:grpSpPr>
        <p:sp>
          <p:nvSpPr>
            <p:cNvPr id="144" name="Google Shape;144;p22"/>
            <p:cNvSpPr/>
            <p:nvPr/>
          </p:nvSpPr>
          <p:spPr>
            <a:xfrm>
              <a:off x="-3850" y="-100"/>
              <a:ext cx="2099400" cy="5143500"/>
            </a:xfrm>
            <a:prstGeom prst="rect">
              <a:avLst/>
            </a:prstGeom>
            <a:solidFill>
              <a:srgbClr val="DEF5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 name="Google Shape;145;p22"/>
            <p:cNvSpPr/>
            <p:nvPr/>
          </p:nvSpPr>
          <p:spPr>
            <a:xfrm rot="-5400000">
              <a:off x="801692" y="1214433"/>
              <a:ext cx="5143500" cy="2714634"/>
            </a:xfrm>
            <a:prstGeom prst="flowChartDocument">
              <a:avLst/>
            </a:prstGeom>
            <a:solidFill>
              <a:srgbClr val="DEF5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pic>
        <p:nvPicPr>
          <p:cNvPr id="146" name="Google Shape;146;p22" title="Wave.png"/>
          <p:cNvPicPr preferRelativeResize="0"/>
          <p:nvPr/>
        </p:nvPicPr>
        <p:blipFill rotWithShape="1">
          <a:blip r:embed="rId3">
            <a:alphaModFix/>
          </a:blip>
          <a:srcRect l="1896" r="1886" b="41643"/>
          <a:stretch/>
        </p:blipFill>
        <p:spPr>
          <a:xfrm>
            <a:off x="-3837" y="4224415"/>
            <a:ext cx="9151677" cy="919084"/>
          </a:xfrm>
          <a:prstGeom prst="rect">
            <a:avLst/>
          </a:prstGeom>
          <a:noFill/>
          <a:ln>
            <a:noFill/>
          </a:ln>
        </p:spPr>
      </p:pic>
      <p:pic>
        <p:nvPicPr>
          <p:cNvPr id="148" name="Google Shape;148;p22" title="bubbles.png"/>
          <p:cNvPicPr preferRelativeResize="0"/>
          <p:nvPr/>
        </p:nvPicPr>
        <p:blipFill rotWithShape="1">
          <a:blip r:embed="rId4">
            <a:alphaModFix/>
          </a:blip>
          <a:srcRect l="40507" r="16342"/>
          <a:stretch/>
        </p:blipFill>
        <p:spPr>
          <a:xfrm>
            <a:off x="229150" y="1000625"/>
            <a:ext cx="765850" cy="2013450"/>
          </a:xfrm>
          <a:prstGeom prst="rect">
            <a:avLst/>
          </a:prstGeom>
          <a:noFill/>
          <a:ln>
            <a:noFill/>
          </a:ln>
        </p:spPr>
      </p:pic>
      <p:sp>
        <p:nvSpPr>
          <p:cNvPr id="152" name="TextBox 151"/>
          <p:cNvSpPr txBox="1"/>
          <p:nvPr/>
        </p:nvSpPr>
        <p:spPr>
          <a:xfrm>
            <a:off x="311700" y="350000"/>
            <a:ext cx="8520600" cy="1050000"/>
          </a:xfrm>
          <a:prstGeom prst="rect">
            <a:avLst/>
          </a:prstGeom>
          <a:noFill/>
        </p:spPr>
        <p:txBody>
          <a:bodyPr wrap="square" lIns="0" tIns="0" rIns="0" bIns="0" anchor="t">
            <a:spAutoFit/>
          </a:bodyPr>
          <a:lstStyle/>
          <a:p>
            <a:pPr algn="l"/>
            <a:r>
              <a:rPr sz="3600" b="1">
                <a:solidFill>
                  <a:srgbClr val="10265D"/>
                </a:solidFill>
                <a:latin typeface="Etna"/>
              </a:rPr>
              <a:t>The config file</a:t>
            </a:r>
          </a:p>
        </p:txBody>
      </p:sp>
      <p:sp>
        <p:nvSpPr>
          <p:cNvPr id="153" name="TextBox 152"/>
          <p:cNvSpPr txBox="1"/>
          <p:nvPr/>
        </p:nvSpPr>
        <p:spPr>
          <a:xfrm>
            <a:off x="311700" y="1100000"/>
            <a:ext cx="8520600" cy="276999"/>
          </a:xfrm>
          <a:prstGeom prst="rect">
            <a:avLst/>
          </a:prstGeom>
          <a:noFill/>
        </p:spPr>
        <p:txBody>
          <a:bodyPr wrap="square" lIns="0" tIns="0" rIns="0" bIns="0" anchor="t">
            <a:spAutoFit/>
          </a:bodyPr>
          <a:lstStyle/>
          <a:p>
            <a:pPr algn="l">
              <a:spcAft>
                <a:spcPts val="600"/>
              </a:spcAft>
            </a:pPr>
            <a:r>
              <a:rPr sz="1800" b="0" dirty="0">
                <a:solidFill>
                  <a:srgbClr val="1A1A1A"/>
                </a:solidFill>
                <a:latin typeface="Garet"/>
              </a:rPr>
              <a:t>One JSON file. Two </a:t>
            </a:r>
            <a:r>
              <a:rPr lang="en-GB" sz="1800" b="0" dirty="0">
                <a:solidFill>
                  <a:srgbClr val="1A1A1A"/>
                </a:solidFill>
                <a:latin typeface="Garet"/>
              </a:rPr>
              <a:t>important parts</a:t>
            </a:r>
            <a:r>
              <a:rPr sz="1800" b="0" dirty="0">
                <a:solidFill>
                  <a:srgbClr val="1A1A1A"/>
                </a:solidFill>
                <a:latin typeface="Garet"/>
              </a:rPr>
              <a:t>: data source and entities.</a:t>
            </a:r>
          </a:p>
        </p:txBody>
      </p:sp>
      <p:sp>
        <p:nvSpPr>
          <p:cNvPr id="154" name="TextBox 153"/>
          <p:cNvSpPr txBox="1"/>
          <p:nvPr/>
        </p:nvSpPr>
        <p:spPr>
          <a:xfrm>
            <a:off x="300300" y="1473830"/>
            <a:ext cx="8532000" cy="3608660"/>
          </a:xfrm>
          <a:prstGeom prst="rect">
            <a:avLst/>
          </a:prstGeom>
          <a:solidFill>
            <a:srgbClr val="F4F7FB"/>
          </a:solidFill>
          <a:ln>
            <a:solidFill>
              <a:srgbClr val="BDECFE"/>
            </a:solidFill>
          </a:ln>
        </p:spPr>
        <p:txBody>
          <a:bodyPr wrap="square" lIns="120000" tIns="80000" rIns="120000" bIns="80000">
            <a:spAutoFit/>
          </a:bodyPr>
          <a:lstStyle/>
          <a:p>
            <a:pPr algn="l">
              <a:spcAft>
                <a:spcPts val="0"/>
              </a:spcAft>
            </a:pPr>
            <a:r>
              <a:rPr sz="1400" dirty="0">
                <a:solidFill>
                  <a:srgbClr val="10265D"/>
                </a:solidFill>
                <a:latin typeface="Cascadia Mono"/>
              </a:rPr>
              <a:t>{</a:t>
            </a:r>
          </a:p>
          <a:p>
            <a:pPr algn="l">
              <a:spcAft>
                <a:spcPts val="0"/>
              </a:spcAft>
            </a:pPr>
            <a:r>
              <a:rPr sz="1400" dirty="0">
                <a:solidFill>
                  <a:srgbClr val="10265D"/>
                </a:solidFill>
                <a:latin typeface="Cascadia Mono"/>
              </a:rPr>
              <a:t>  "data-source": {</a:t>
            </a:r>
          </a:p>
          <a:p>
            <a:pPr algn="l">
              <a:spcAft>
                <a:spcPts val="0"/>
              </a:spcAft>
            </a:pPr>
            <a:r>
              <a:rPr sz="1400" dirty="0">
                <a:solidFill>
                  <a:srgbClr val="10265D"/>
                </a:solidFill>
                <a:latin typeface="Cascadia Mono"/>
              </a:rPr>
              <a:t>    "database-type": "</a:t>
            </a:r>
            <a:r>
              <a:rPr sz="1400" dirty="0" err="1">
                <a:solidFill>
                  <a:srgbClr val="10265D"/>
                </a:solidFill>
                <a:latin typeface="Cascadia Mono"/>
              </a:rPr>
              <a:t>mssql</a:t>
            </a:r>
            <a:r>
              <a:rPr sz="1400" dirty="0">
                <a:solidFill>
                  <a:srgbClr val="10265D"/>
                </a:solidFill>
                <a:latin typeface="Cascadia Mono"/>
              </a:rPr>
              <a:t>",</a:t>
            </a:r>
          </a:p>
          <a:p>
            <a:pPr algn="l">
              <a:spcAft>
                <a:spcPts val="0"/>
              </a:spcAft>
            </a:pPr>
            <a:r>
              <a:rPr sz="1400" dirty="0">
                <a:solidFill>
                  <a:srgbClr val="10265D"/>
                </a:solidFill>
                <a:latin typeface="Cascadia Mono"/>
              </a:rPr>
              <a:t>    "connection-string": "@env('</a:t>
            </a:r>
            <a:r>
              <a:rPr lang="en-GB" sz="1400" dirty="0">
                <a:solidFill>
                  <a:srgbClr val="10265D"/>
                </a:solidFill>
                <a:latin typeface="Cascadia Mono"/>
              </a:rPr>
              <a:t>DATABASE_CONNECTION_STRING</a:t>
            </a:r>
            <a:r>
              <a:rPr sz="1400" dirty="0">
                <a:solidFill>
                  <a:srgbClr val="10265D"/>
                </a:solidFill>
                <a:latin typeface="Cascadia Mono"/>
              </a:rPr>
              <a:t>')"</a:t>
            </a:r>
          </a:p>
          <a:p>
            <a:pPr algn="l">
              <a:spcAft>
                <a:spcPts val="0"/>
              </a:spcAft>
            </a:pPr>
            <a:r>
              <a:rPr sz="1400" dirty="0">
                <a:solidFill>
                  <a:srgbClr val="10265D"/>
                </a:solidFill>
                <a:latin typeface="Cascadia Mono"/>
              </a:rPr>
              <a:t>  },</a:t>
            </a:r>
            <a:endParaRPr lang="en-GB" sz="1400" dirty="0">
              <a:solidFill>
                <a:srgbClr val="10265D"/>
              </a:solidFill>
              <a:latin typeface="Cascadia Mono"/>
            </a:endParaRPr>
          </a:p>
          <a:p>
            <a:pPr algn="l">
              <a:spcAft>
                <a:spcPts val="0"/>
              </a:spcAft>
            </a:pPr>
            <a:r>
              <a:rPr lang="en-GB" dirty="0">
                <a:solidFill>
                  <a:srgbClr val="10265D"/>
                </a:solidFill>
                <a:latin typeface="Cascadia Mono"/>
              </a:rPr>
              <a:t>...</a:t>
            </a:r>
            <a:endParaRPr sz="1400" dirty="0">
              <a:solidFill>
                <a:srgbClr val="10265D"/>
              </a:solidFill>
              <a:latin typeface="Cascadia Mono"/>
            </a:endParaRPr>
          </a:p>
          <a:p>
            <a:pPr algn="l">
              <a:spcAft>
                <a:spcPts val="0"/>
              </a:spcAft>
            </a:pPr>
            <a:r>
              <a:rPr sz="1400" dirty="0">
                <a:solidFill>
                  <a:srgbClr val="10265D"/>
                </a:solidFill>
                <a:latin typeface="Cascadia Mono"/>
              </a:rPr>
              <a:t>  "entities": {</a:t>
            </a:r>
          </a:p>
          <a:p>
            <a:pPr algn="l">
              <a:spcAft>
                <a:spcPts val="0"/>
              </a:spcAft>
            </a:pPr>
            <a:r>
              <a:rPr sz="1400" dirty="0">
                <a:solidFill>
                  <a:srgbClr val="10265D"/>
                </a:solidFill>
                <a:latin typeface="Cascadia Mono"/>
              </a:rPr>
              <a:t>    "</a:t>
            </a:r>
            <a:r>
              <a:rPr lang="en-GB" sz="1400" dirty="0" err="1">
                <a:solidFill>
                  <a:srgbClr val="10265D"/>
                </a:solidFill>
                <a:latin typeface="Cascadia Mono"/>
              </a:rPr>
              <a:t>IntervalsWellness</a:t>
            </a:r>
            <a:r>
              <a:rPr sz="1400" dirty="0">
                <a:solidFill>
                  <a:srgbClr val="10265D"/>
                </a:solidFill>
                <a:latin typeface="Cascadia Mono"/>
              </a:rPr>
              <a:t>": {</a:t>
            </a:r>
          </a:p>
          <a:p>
            <a:pPr algn="l">
              <a:spcAft>
                <a:spcPts val="0"/>
              </a:spcAft>
            </a:pPr>
            <a:r>
              <a:rPr sz="1400" dirty="0">
                <a:solidFill>
                  <a:srgbClr val="10265D"/>
                </a:solidFill>
                <a:latin typeface="Cascadia Mono"/>
              </a:rPr>
              <a:t>      </a:t>
            </a:r>
            <a:r>
              <a:rPr lang="en-GB" sz="1400" dirty="0">
                <a:solidFill>
                  <a:srgbClr val="10265D"/>
                </a:solidFill>
                <a:latin typeface="Cascadia Mono"/>
              </a:rPr>
              <a:t>"source": {</a:t>
            </a:r>
          </a:p>
          <a:p>
            <a:pPr algn="l">
              <a:spcAft>
                <a:spcPts val="0"/>
              </a:spcAft>
            </a:pPr>
            <a:r>
              <a:rPr lang="en-GB" sz="1400" dirty="0">
                <a:solidFill>
                  <a:srgbClr val="10265D"/>
                </a:solidFill>
                <a:latin typeface="Cascadia Mono"/>
              </a:rPr>
              <a:t>        "object": "</a:t>
            </a:r>
            <a:r>
              <a:rPr lang="en-GB" sz="1400" dirty="0" err="1">
                <a:solidFill>
                  <a:srgbClr val="10265D"/>
                </a:solidFill>
                <a:latin typeface="Cascadia Mono"/>
              </a:rPr>
              <a:t>dbo.IntervalsWellness</a:t>
            </a:r>
            <a:r>
              <a:rPr lang="en-GB" sz="1400" dirty="0">
                <a:solidFill>
                  <a:srgbClr val="10265D"/>
                </a:solidFill>
                <a:latin typeface="Cascadia Mono"/>
              </a:rPr>
              <a:t>",</a:t>
            </a:r>
          </a:p>
          <a:p>
            <a:pPr algn="l">
              <a:spcAft>
                <a:spcPts val="0"/>
              </a:spcAft>
            </a:pPr>
            <a:r>
              <a:rPr lang="en-GB" sz="1400" dirty="0">
                <a:solidFill>
                  <a:srgbClr val="10265D"/>
                </a:solidFill>
                <a:latin typeface="Cascadia Mono"/>
              </a:rPr>
              <a:t>        "type": "table"</a:t>
            </a:r>
          </a:p>
          <a:p>
            <a:pPr algn="l">
              <a:spcAft>
                <a:spcPts val="0"/>
              </a:spcAft>
            </a:pPr>
            <a:r>
              <a:rPr lang="en-GB" sz="1400" dirty="0">
                <a:solidFill>
                  <a:srgbClr val="10265D"/>
                </a:solidFill>
                <a:latin typeface="Cascadia Mono"/>
              </a:rPr>
              <a:t>      },</a:t>
            </a:r>
            <a:endParaRPr sz="1400" dirty="0">
              <a:solidFill>
                <a:srgbClr val="10265D"/>
              </a:solidFill>
              <a:latin typeface="Cascadia Mono"/>
            </a:endParaRPr>
          </a:p>
          <a:p>
            <a:pPr algn="l">
              <a:spcAft>
                <a:spcPts val="0"/>
              </a:spcAft>
            </a:pPr>
            <a:r>
              <a:rPr sz="1400" dirty="0">
                <a:solidFill>
                  <a:srgbClr val="10265D"/>
                </a:solidFill>
                <a:latin typeface="Cascadia Mono"/>
              </a:rPr>
              <a:t>      "permissions": [{ "role": "anonymous", "actions": ["read"] }]</a:t>
            </a:r>
          </a:p>
          <a:p>
            <a:pPr algn="l">
              <a:spcAft>
                <a:spcPts val="0"/>
              </a:spcAft>
            </a:pPr>
            <a:r>
              <a:rPr sz="1400" dirty="0">
                <a:solidFill>
                  <a:srgbClr val="10265D"/>
                </a:solidFill>
                <a:latin typeface="Cascadia Mono"/>
              </a:rPr>
              <a:t>    }</a:t>
            </a:r>
          </a:p>
          <a:p>
            <a:pPr algn="l">
              <a:spcAft>
                <a:spcPts val="0"/>
              </a:spcAft>
            </a:pPr>
            <a:r>
              <a:rPr sz="1400" dirty="0">
                <a:solidFill>
                  <a:srgbClr val="10265D"/>
                </a:solidFill>
                <a:latin typeface="Cascadia Mono"/>
              </a:rPr>
              <a:t>  }</a:t>
            </a:r>
          </a:p>
          <a:p>
            <a:pPr algn="l">
              <a:spcAft>
                <a:spcPts val="0"/>
              </a:spcAft>
            </a:pPr>
            <a:r>
              <a:rPr sz="1400" dirty="0">
                <a:solidFill>
                  <a:srgbClr val="10265D"/>
                </a:solidFill>
                <a:latin typeface="Cascadia Mono"/>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Google Shape;65;p14"/>
          <p:cNvSpPr/>
          <p:nvPr/>
        </p:nvSpPr>
        <p:spPr>
          <a:xfrm rot="10800000" flipH="1">
            <a:off x="-9816" y="2428866"/>
            <a:ext cx="9163638" cy="2714634"/>
          </a:xfrm>
          <a:prstGeom prst="flowChartDocument">
            <a:avLst/>
          </a:prstGeom>
          <a:solidFill>
            <a:srgbClr val="DEF5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6" name="Google Shape;66;p14" title="Wave.png"/>
          <p:cNvPicPr preferRelativeResize="0"/>
          <p:nvPr/>
        </p:nvPicPr>
        <p:blipFill rotWithShape="1">
          <a:blip r:embed="rId3">
            <a:alphaModFix/>
          </a:blip>
          <a:srcRect l="1896" r="1886" b="28947"/>
          <a:stretch/>
        </p:blipFill>
        <p:spPr>
          <a:xfrm>
            <a:off x="-3850" y="3455650"/>
            <a:ext cx="9151677" cy="1687850"/>
          </a:xfrm>
          <a:prstGeom prst="rect">
            <a:avLst/>
          </a:prstGeom>
          <a:noFill/>
          <a:ln>
            <a:noFill/>
          </a:ln>
        </p:spPr>
      </p:pic>
      <p:pic>
        <p:nvPicPr>
          <p:cNvPr id="67" name="Google Shape;67;p14" title="bubbles.png"/>
          <p:cNvPicPr preferRelativeResize="0"/>
          <p:nvPr/>
        </p:nvPicPr>
        <p:blipFill rotWithShape="1">
          <a:blip r:embed="rId4">
            <a:alphaModFix/>
          </a:blip>
          <a:srcRect l="40507" r="16342"/>
          <a:stretch/>
        </p:blipFill>
        <p:spPr>
          <a:xfrm rot="10800000">
            <a:off x="8308600" y="1506410"/>
            <a:ext cx="765850" cy="2013450"/>
          </a:xfrm>
          <a:prstGeom prst="rect">
            <a:avLst/>
          </a:prstGeom>
          <a:noFill/>
          <a:ln>
            <a:noFill/>
          </a:ln>
        </p:spPr>
      </p:pic>
      <p:pic>
        <p:nvPicPr>
          <p:cNvPr id="68" name="Google Shape;68;p14" title="bubbles 2.png"/>
          <p:cNvPicPr preferRelativeResize="0"/>
          <p:nvPr/>
        </p:nvPicPr>
        <p:blipFill rotWithShape="1">
          <a:blip r:embed="rId5">
            <a:alphaModFix/>
          </a:blip>
          <a:srcRect l="15139" t="58400" r="62500" b="19350"/>
          <a:stretch/>
        </p:blipFill>
        <p:spPr>
          <a:xfrm rot="742639">
            <a:off x="149255" y="3644868"/>
            <a:ext cx="578386" cy="679568"/>
          </a:xfrm>
          <a:prstGeom prst="rect">
            <a:avLst/>
          </a:prstGeom>
          <a:noFill/>
          <a:ln>
            <a:noFill/>
          </a:ln>
        </p:spPr>
      </p:pic>
      <p:pic>
        <p:nvPicPr>
          <p:cNvPr id="69" name="Google Shape;69;p14" title="bubbles 2.png"/>
          <p:cNvPicPr preferRelativeResize="0"/>
          <p:nvPr/>
        </p:nvPicPr>
        <p:blipFill rotWithShape="1">
          <a:blip r:embed="rId5">
            <a:alphaModFix/>
          </a:blip>
          <a:srcRect r="57354" b="65392"/>
          <a:stretch/>
        </p:blipFill>
        <p:spPr>
          <a:xfrm rot="-308349">
            <a:off x="19632" y="2782409"/>
            <a:ext cx="573357" cy="549431"/>
          </a:xfrm>
          <a:prstGeom prst="rect">
            <a:avLst/>
          </a:prstGeom>
          <a:noFill/>
          <a:ln>
            <a:noFill/>
          </a:ln>
        </p:spPr>
      </p:pic>
      <p:pic>
        <p:nvPicPr>
          <p:cNvPr id="70" name="Google Shape;70;p14" title="Tentacles.png"/>
          <p:cNvPicPr preferRelativeResize="0"/>
          <p:nvPr/>
        </p:nvPicPr>
        <p:blipFill>
          <a:blip r:embed="rId6">
            <a:alphaModFix/>
          </a:blip>
          <a:stretch>
            <a:fillRect/>
          </a:stretch>
        </p:blipFill>
        <p:spPr>
          <a:xfrm>
            <a:off x="5864377" y="3364666"/>
            <a:ext cx="3406625" cy="1787075"/>
          </a:xfrm>
          <a:prstGeom prst="rect">
            <a:avLst/>
          </a:prstGeom>
          <a:noFill/>
          <a:ln>
            <a:noFill/>
          </a:ln>
        </p:spPr>
      </p:pic>
      <p:sp>
        <p:nvSpPr>
          <p:cNvPr id="71" name="Google Shape;71;p14"/>
          <p:cNvSpPr txBox="1">
            <a:spLocks noGrp="1"/>
          </p:cNvSpPr>
          <p:nvPr>
            <p:ph type="ctrTitle"/>
          </p:nvPr>
        </p:nvSpPr>
        <p:spPr>
          <a:xfrm>
            <a:off x="311700" y="744575"/>
            <a:ext cx="8520600" cy="1446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sz="4000" b="1" dirty="0">
                <a:solidFill>
                  <a:srgbClr val="10265D"/>
                </a:solidFill>
                <a:latin typeface="Etna"/>
              </a:rPr>
              <a:t>Demo: </a:t>
            </a:r>
            <a:r>
              <a:rPr lang="en-GB" sz="4000" b="1" dirty="0">
                <a:solidFill>
                  <a:srgbClr val="10265D"/>
                </a:solidFill>
                <a:latin typeface="Etna"/>
              </a:rPr>
              <a:t>dab in 2 mins</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LeftPanel"/>
          <p:cNvSpPr/>
          <p:nvPr/>
        </p:nvSpPr>
        <p:spPr>
          <a:xfrm>
            <a:off x="0" y="0"/>
            <a:ext cx="2921000" cy="5143500"/>
          </a:xfrm>
          <a:prstGeom prst="rect">
            <a:avLst/>
          </a:prstGeom>
          <a:solidFill>
            <a:srgbClr val="DEF5FF"/>
          </a:solidFill>
          <a:ln>
            <a:noFill/>
          </a:ln>
        </p:spPr>
        <p:txBody>
          <a:bodyPr lIns="274320" tIns="457200" rIns="182880" bIns="91440" anchor="t"/>
          <a:lstStyle/>
          <a:p>
            <a:pPr algn="l">
              <a:spcAft>
                <a:spcPts val="600"/>
              </a:spcAft>
            </a:pPr>
            <a:r>
              <a:rPr lang="en-GB" sz="3200" b="1" dirty="0">
                <a:solidFill>
                  <a:srgbClr val="10265D"/>
                </a:solidFill>
                <a:latin typeface="Etna"/>
              </a:rPr>
              <a:t>Deployment</a:t>
            </a:r>
          </a:p>
          <a:p>
            <a:pPr algn="l">
              <a:lnSpc>
                <a:spcPts val="1800"/>
              </a:lnSpc>
            </a:pPr>
            <a:r>
              <a:rPr lang="en-GB" sz="1400" dirty="0">
                <a:solidFill>
                  <a:srgbClr val="530080"/>
                </a:solidFill>
                <a:latin typeface="Garet"/>
              </a:rPr>
              <a:t>One container image. </a:t>
            </a:r>
          </a:p>
          <a:p>
            <a:pPr algn="l">
              <a:lnSpc>
                <a:spcPts val="1800"/>
              </a:lnSpc>
            </a:pPr>
            <a:r>
              <a:rPr lang="en-GB" sz="1400" dirty="0">
                <a:solidFill>
                  <a:srgbClr val="530080"/>
                </a:solidFill>
                <a:latin typeface="Garet"/>
              </a:rPr>
              <a:t>Multiple ways to run it.</a:t>
            </a:r>
          </a:p>
        </p:txBody>
      </p:sp>
      <p:sp>
        <p:nvSpPr>
          <p:cNvPr id="201" name="AccentStrip"/>
          <p:cNvSpPr/>
          <p:nvPr/>
        </p:nvSpPr>
        <p:spPr>
          <a:xfrm>
            <a:off x="0" y="4889500"/>
            <a:ext cx="2921000" cy="254000"/>
          </a:xfrm>
          <a:prstGeom prst="rect">
            <a:avLst/>
          </a:prstGeom>
          <a:solidFill>
            <a:srgbClr val="530080"/>
          </a:solidFill>
          <a:ln>
            <a:noFill/>
          </a:ln>
        </p:spPr>
        <p:txBody>
          <a:bodyPr/>
          <a:lstStyle/>
          <a:p>
            <a:endParaRPr lang="en-GB"/>
          </a:p>
        </p:txBody>
      </p:sp>
      <p:sp>
        <p:nvSpPr>
          <p:cNvPr id="211" name="Circle01"/>
          <p:cNvSpPr/>
          <p:nvPr/>
        </p:nvSpPr>
        <p:spPr>
          <a:xfrm>
            <a:off x="3175000" y="406400"/>
            <a:ext cx="533400" cy="533400"/>
          </a:xfrm>
          <a:prstGeom prst="ellipse">
            <a:avLst/>
          </a:prstGeom>
          <a:solidFill>
            <a:srgbClr val="530080"/>
          </a:solidFill>
          <a:ln>
            <a:noFill/>
          </a:ln>
        </p:spPr>
        <p:txBody>
          <a:bodyPr wrap="none" lIns="0" tIns="0" rIns="0" bIns="0" anchor="ctr"/>
          <a:lstStyle/>
          <a:p>
            <a:pPr algn="ctr"/>
            <a:r>
              <a:rPr lang="en-GB" sz="1600" b="1" dirty="0">
                <a:solidFill>
                  <a:srgbClr val="FFFFFF"/>
                </a:solidFill>
                <a:latin typeface="Etna"/>
              </a:rPr>
              <a:t>01</a:t>
            </a:r>
          </a:p>
        </p:txBody>
      </p:sp>
      <p:sp>
        <p:nvSpPr>
          <p:cNvPr id="212" name="Text01"/>
          <p:cNvSpPr/>
          <p:nvPr/>
        </p:nvSpPr>
        <p:spPr>
          <a:xfrm>
            <a:off x="3873500" y="342900"/>
            <a:ext cx="4953000" cy="863600"/>
          </a:xfrm>
          <a:prstGeom prst="rect">
            <a:avLst/>
          </a:prstGeom>
          <a:noFill/>
          <a:ln>
            <a:noFill/>
          </a:ln>
        </p:spPr>
        <p:txBody>
          <a:bodyPr lIns="0" tIns="0" rIns="91440" bIns="0" anchor="t"/>
          <a:lstStyle/>
          <a:p>
            <a:pPr algn="l">
              <a:spcAft>
                <a:spcPts val="200"/>
              </a:spcAft>
            </a:pPr>
            <a:r>
              <a:rPr lang="en-GB" sz="1800" b="1" dirty="0">
                <a:solidFill>
                  <a:srgbClr val="10265D"/>
                </a:solidFill>
                <a:latin typeface="Etna"/>
              </a:rPr>
              <a:t>Docker container</a:t>
            </a:r>
          </a:p>
          <a:p>
            <a:pPr algn="l">
              <a:lnSpc>
                <a:spcPts val="1600"/>
              </a:lnSpc>
            </a:pPr>
            <a:r>
              <a:rPr lang="en-GB" sz="1400" dirty="0">
                <a:solidFill>
                  <a:srgbClr val="595959"/>
                </a:solidFill>
                <a:latin typeface="Garet"/>
              </a:rPr>
              <a:t>Single image, runs anywhere — local dev, CI pipelines, or bare-metal servers. Just point it at your database.</a:t>
            </a:r>
          </a:p>
        </p:txBody>
      </p:sp>
      <p:sp>
        <p:nvSpPr>
          <p:cNvPr id="213" name="Line01"/>
          <p:cNvSpPr/>
          <p:nvPr/>
        </p:nvSpPr>
        <p:spPr>
          <a:xfrm>
            <a:off x="3175000" y="1295400"/>
            <a:ext cx="5651500" cy="0"/>
          </a:xfrm>
          <a:prstGeom prst="line">
            <a:avLst/>
          </a:prstGeom>
          <a:ln w="6350">
            <a:solidFill>
              <a:srgbClr val="EEEEEE"/>
            </a:solidFill>
          </a:ln>
        </p:spPr>
        <p:txBody>
          <a:bodyPr/>
          <a:lstStyle/>
          <a:p>
            <a:endParaRPr lang="en-GB"/>
          </a:p>
        </p:txBody>
      </p:sp>
      <p:sp>
        <p:nvSpPr>
          <p:cNvPr id="221" name="Circle02"/>
          <p:cNvSpPr/>
          <p:nvPr/>
        </p:nvSpPr>
        <p:spPr>
          <a:xfrm>
            <a:off x="3175000" y="1524000"/>
            <a:ext cx="533400" cy="533400"/>
          </a:xfrm>
          <a:prstGeom prst="ellipse">
            <a:avLst/>
          </a:prstGeom>
          <a:solidFill>
            <a:srgbClr val="530080"/>
          </a:solidFill>
          <a:ln>
            <a:noFill/>
          </a:ln>
        </p:spPr>
        <p:txBody>
          <a:bodyPr wrap="none" lIns="0" tIns="0" rIns="0" bIns="0" anchor="ctr"/>
          <a:lstStyle/>
          <a:p>
            <a:pPr algn="ctr"/>
            <a:r>
              <a:rPr lang="en-GB" sz="1600" b="1" dirty="0">
                <a:solidFill>
                  <a:srgbClr val="FFFFFF"/>
                </a:solidFill>
                <a:latin typeface="Etna"/>
              </a:rPr>
              <a:t>02</a:t>
            </a:r>
          </a:p>
        </p:txBody>
      </p:sp>
      <p:sp>
        <p:nvSpPr>
          <p:cNvPr id="222" name="Text02"/>
          <p:cNvSpPr/>
          <p:nvPr/>
        </p:nvSpPr>
        <p:spPr>
          <a:xfrm>
            <a:off x="3873500" y="1460500"/>
            <a:ext cx="4953000" cy="863600"/>
          </a:xfrm>
          <a:prstGeom prst="rect">
            <a:avLst/>
          </a:prstGeom>
          <a:noFill/>
          <a:ln>
            <a:noFill/>
          </a:ln>
        </p:spPr>
        <p:txBody>
          <a:bodyPr lIns="0" tIns="0" rIns="91440" bIns="0" anchor="t"/>
          <a:lstStyle/>
          <a:p>
            <a:pPr algn="l">
              <a:spcAft>
                <a:spcPts val="200"/>
              </a:spcAft>
            </a:pPr>
            <a:r>
              <a:rPr lang="en-GB" sz="1800" b="1" dirty="0">
                <a:solidFill>
                  <a:srgbClr val="10265D"/>
                </a:solidFill>
                <a:latin typeface="Etna"/>
              </a:rPr>
              <a:t>Azure Container Apps</a:t>
            </a:r>
          </a:p>
          <a:p>
            <a:pPr algn="l">
              <a:lnSpc>
                <a:spcPts val="1600"/>
              </a:lnSpc>
            </a:pPr>
            <a:r>
              <a:rPr lang="en-GB" sz="1400" dirty="0">
                <a:solidFill>
                  <a:srgbClr val="595959"/>
                </a:solidFill>
                <a:latin typeface="Garet"/>
              </a:rPr>
              <a:t>Serverless container hosting with auto-scale. No cluster to manage. Pay only for what you use.</a:t>
            </a:r>
          </a:p>
        </p:txBody>
      </p:sp>
      <p:sp>
        <p:nvSpPr>
          <p:cNvPr id="223" name="Line02"/>
          <p:cNvSpPr/>
          <p:nvPr/>
        </p:nvSpPr>
        <p:spPr>
          <a:xfrm>
            <a:off x="3175000" y="2413000"/>
            <a:ext cx="5651500" cy="0"/>
          </a:xfrm>
          <a:prstGeom prst="line">
            <a:avLst/>
          </a:prstGeom>
          <a:ln w="6350">
            <a:solidFill>
              <a:srgbClr val="EEEEEE"/>
            </a:solidFill>
          </a:ln>
        </p:spPr>
        <p:txBody>
          <a:bodyPr/>
          <a:lstStyle/>
          <a:p>
            <a:endParaRPr lang="en-GB"/>
          </a:p>
        </p:txBody>
      </p:sp>
      <p:sp>
        <p:nvSpPr>
          <p:cNvPr id="231" name="Circle03"/>
          <p:cNvSpPr/>
          <p:nvPr/>
        </p:nvSpPr>
        <p:spPr>
          <a:xfrm>
            <a:off x="3175000" y="2641600"/>
            <a:ext cx="533400" cy="533400"/>
          </a:xfrm>
          <a:prstGeom prst="ellipse">
            <a:avLst/>
          </a:prstGeom>
          <a:solidFill>
            <a:srgbClr val="530080"/>
          </a:solidFill>
          <a:ln>
            <a:noFill/>
          </a:ln>
        </p:spPr>
        <p:txBody>
          <a:bodyPr wrap="none" lIns="0" tIns="0" rIns="0" bIns="0" anchor="ctr"/>
          <a:lstStyle/>
          <a:p>
            <a:pPr algn="ctr"/>
            <a:r>
              <a:rPr lang="en-GB" sz="1600" b="1" dirty="0">
                <a:solidFill>
                  <a:srgbClr val="FFFFFF"/>
                </a:solidFill>
                <a:latin typeface="Etna"/>
              </a:rPr>
              <a:t>03</a:t>
            </a:r>
          </a:p>
        </p:txBody>
      </p:sp>
      <p:sp>
        <p:nvSpPr>
          <p:cNvPr id="232" name="Text03"/>
          <p:cNvSpPr/>
          <p:nvPr/>
        </p:nvSpPr>
        <p:spPr>
          <a:xfrm>
            <a:off x="3873500" y="2578100"/>
            <a:ext cx="4953000" cy="863600"/>
          </a:xfrm>
          <a:prstGeom prst="rect">
            <a:avLst/>
          </a:prstGeom>
          <a:noFill/>
          <a:ln>
            <a:noFill/>
          </a:ln>
        </p:spPr>
        <p:txBody>
          <a:bodyPr lIns="0" tIns="0" rIns="91440" bIns="0" anchor="t"/>
          <a:lstStyle/>
          <a:p>
            <a:pPr algn="l">
              <a:spcAft>
                <a:spcPts val="200"/>
              </a:spcAft>
            </a:pPr>
            <a:r>
              <a:rPr lang="en-GB" sz="1800" b="1" dirty="0">
                <a:solidFill>
                  <a:srgbClr val="10265D"/>
                </a:solidFill>
                <a:latin typeface="Etna"/>
              </a:rPr>
              <a:t>Azure App Service</a:t>
            </a:r>
          </a:p>
          <a:p>
            <a:pPr algn="l">
              <a:lnSpc>
                <a:spcPts val="1600"/>
              </a:lnSpc>
            </a:pPr>
            <a:r>
              <a:rPr lang="en-GB" sz="1400" dirty="0">
                <a:solidFill>
                  <a:srgbClr val="595959"/>
                </a:solidFill>
                <a:latin typeface="Garet"/>
              </a:rPr>
              <a:t>Managed PaaS with built-in auth, custom domains, and deployment slots. Familiar to any .NET team.</a:t>
            </a:r>
          </a:p>
        </p:txBody>
      </p:sp>
      <p:sp>
        <p:nvSpPr>
          <p:cNvPr id="233" name="Line03"/>
          <p:cNvSpPr/>
          <p:nvPr/>
        </p:nvSpPr>
        <p:spPr>
          <a:xfrm>
            <a:off x="3175000" y="3530600"/>
            <a:ext cx="5651500" cy="0"/>
          </a:xfrm>
          <a:prstGeom prst="line">
            <a:avLst/>
          </a:prstGeom>
          <a:ln w="6350">
            <a:solidFill>
              <a:srgbClr val="EEEEEE"/>
            </a:solidFill>
          </a:ln>
        </p:spPr>
        <p:txBody>
          <a:bodyPr/>
          <a:lstStyle/>
          <a:p>
            <a:endParaRPr lang="en-GB"/>
          </a:p>
        </p:txBody>
      </p:sp>
      <p:sp>
        <p:nvSpPr>
          <p:cNvPr id="241" name="Circle04"/>
          <p:cNvSpPr/>
          <p:nvPr/>
        </p:nvSpPr>
        <p:spPr>
          <a:xfrm>
            <a:off x="3175000" y="3759200"/>
            <a:ext cx="533400" cy="533400"/>
          </a:xfrm>
          <a:prstGeom prst="ellipse">
            <a:avLst/>
          </a:prstGeom>
          <a:solidFill>
            <a:srgbClr val="530080"/>
          </a:solidFill>
          <a:ln>
            <a:noFill/>
          </a:ln>
        </p:spPr>
        <p:txBody>
          <a:bodyPr wrap="none" lIns="0" tIns="0" rIns="0" bIns="0" anchor="ctr"/>
          <a:lstStyle/>
          <a:p>
            <a:pPr algn="ctr"/>
            <a:r>
              <a:rPr lang="en-GB" sz="1600" b="1" dirty="0">
                <a:solidFill>
                  <a:srgbClr val="FFFFFF"/>
                </a:solidFill>
                <a:latin typeface="Etna"/>
              </a:rPr>
              <a:t>04</a:t>
            </a:r>
          </a:p>
        </p:txBody>
      </p:sp>
      <p:sp>
        <p:nvSpPr>
          <p:cNvPr id="242" name="Text04"/>
          <p:cNvSpPr/>
          <p:nvPr/>
        </p:nvSpPr>
        <p:spPr>
          <a:xfrm>
            <a:off x="3873500" y="3695700"/>
            <a:ext cx="4953000" cy="863600"/>
          </a:xfrm>
          <a:prstGeom prst="rect">
            <a:avLst/>
          </a:prstGeom>
          <a:noFill/>
          <a:ln>
            <a:noFill/>
          </a:ln>
        </p:spPr>
        <p:txBody>
          <a:bodyPr lIns="0" tIns="0" rIns="91440" bIns="0" anchor="t"/>
          <a:lstStyle/>
          <a:p>
            <a:pPr algn="l">
              <a:spcAft>
                <a:spcPts val="200"/>
              </a:spcAft>
            </a:pPr>
            <a:r>
              <a:rPr lang="en-GB" sz="1800" b="1" dirty="0">
                <a:solidFill>
                  <a:srgbClr val="10265D"/>
                </a:solidFill>
                <a:latin typeface="Etna"/>
              </a:rPr>
              <a:t>Azure Kubernetes (AKS)</a:t>
            </a:r>
          </a:p>
          <a:p>
            <a:pPr algn="l">
              <a:lnSpc>
                <a:spcPts val="1600"/>
              </a:lnSpc>
            </a:pPr>
            <a:r>
              <a:rPr lang="en-GB" sz="1400" dirty="0">
                <a:solidFill>
                  <a:srgbClr val="595959"/>
                </a:solidFill>
                <a:latin typeface="Garet"/>
              </a:rPr>
              <a:t>Full orchestration if you already run K8s. Helm chart included. </a:t>
            </a:r>
          </a:p>
          <a:p>
            <a:pPr algn="l">
              <a:lnSpc>
                <a:spcPts val="1600"/>
              </a:lnSpc>
            </a:pPr>
            <a:r>
              <a:rPr lang="en-GB" sz="1400" dirty="0">
                <a:solidFill>
                  <a:srgbClr val="595959"/>
                </a:solidFill>
                <a:latin typeface="Garet"/>
              </a:rPr>
              <a:t>Fits into your existing cluster.</a:t>
            </a:r>
          </a:p>
        </p:txBody>
      </p:sp>
      <p:sp>
        <p:nvSpPr>
          <p:cNvPr id="250" name="ConfigNote"/>
          <p:cNvSpPr/>
          <p:nvPr/>
        </p:nvSpPr>
        <p:spPr>
          <a:xfrm>
            <a:off x="3175000" y="4635500"/>
            <a:ext cx="5651500" cy="381000"/>
          </a:xfrm>
          <a:prstGeom prst="roundRect">
            <a:avLst>
              <a:gd name="adj" fmla="val 50000"/>
            </a:avLst>
          </a:prstGeom>
          <a:solidFill>
            <a:srgbClr val="F3EAFA"/>
          </a:solidFill>
          <a:ln>
            <a:noFill/>
          </a:ln>
        </p:spPr>
        <p:txBody>
          <a:bodyPr lIns="137160" tIns="0" rIns="137160" bIns="0" anchor="ctr"/>
          <a:lstStyle/>
          <a:p>
            <a:pPr algn="ctr"/>
            <a:r>
              <a:rPr lang="en-GB" sz="1400" dirty="0">
                <a:solidFill>
                  <a:srgbClr val="10265D"/>
                </a:solidFill>
                <a:latin typeface="Garet"/>
              </a:rPr>
              <a:t>All options use env vars or JSON config</a:t>
            </a:r>
          </a:p>
          <a:p>
            <a:pPr algn="ctr"/>
            <a:r>
              <a:rPr lang="en-GB" dirty="0">
                <a:solidFill>
                  <a:srgbClr val="10265D"/>
                </a:solidFill>
                <a:latin typeface="Garet"/>
              </a:rPr>
              <a:t>Z</a:t>
            </a:r>
            <a:r>
              <a:rPr lang="en-GB" sz="1400" dirty="0">
                <a:solidFill>
                  <a:srgbClr val="10265D"/>
                </a:solidFill>
                <a:latin typeface="Garet"/>
              </a:rPr>
              <a:t>ero code changes between environments</a:t>
            </a:r>
          </a:p>
        </p:txBody>
      </p:sp>
      <p:pic>
        <p:nvPicPr>
          <p:cNvPr id="1026" name="Picture 2" descr="Build your APIs with DAB using containers. - Azure SQL Dev Corner">
            <a:extLst>
              <a:ext uri="{FF2B5EF4-FFF2-40B4-BE49-F238E27FC236}">
                <a16:creationId xmlns:a16="http://schemas.microsoft.com/office/drawing/2014/main" id="{0CF1D8F0-F162-4BA3-2D08-E938E8BD06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874" y="3205375"/>
            <a:ext cx="1682751" cy="1682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30377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5" name="Google Shape;85;p16" title="Wave.png"/>
          <p:cNvPicPr preferRelativeResize="0"/>
          <p:nvPr/>
        </p:nvPicPr>
        <p:blipFill rotWithShape="1">
          <a:blip r:embed="rId3">
            <a:alphaModFix amt="50000"/>
          </a:blip>
          <a:srcRect l="1876" r="1905" b="34193"/>
          <a:stretch/>
        </p:blipFill>
        <p:spPr>
          <a:xfrm>
            <a:off x="-3850" y="3580350"/>
            <a:ext cx="9151677" cy="1563150"/>
          </a:xfrm>
          <a:prstGeom prst="rect">
            <a:avLst/>
          </a:prstGeom>
          <a:noFill/>
          <a:ln>
            <a:noFill/>
          </a:ln>
        </p:spPr>
      </p:pic>
      <p:pic>
        <p:nvPicPr>
          <p:cNvPr id="86" name="Google Shape;86;p16" title="bubbles 2.png"/>
          <p:cNvPicPr preferRelativeResize="0"/>
          <p:nvPr/>
        </p:nvPicPr>
        <p:blipFill rotWithShape="1">
          <a:blip r:embed="rId4">
            <a:alphaModFix/>
          </a:blip>
          <a:srcRect l="15139" t="47353" r="57355" b="19349"/>
          <a:stretch/>
        </p:blipFill>
        <p:spPr>
          <a:xfrm rot="742634">
            <a:off x="183865" y="3325606"/>
            <a:ext cx="711448" cy="1017014"/>
          </a:xfrm>
          <a:prstGeom prst="rect">
            <a:avLst/>
          </a:prstGeom>
          <a:noFill/>
          <a:ln>
            <a:noFill/>
          </a:ln>
        </p:spPr>
      </p:pic>
      <p:pic>
        <p:nvPicPr>
          <p:cNvPr id="87" name="Google Shape;87;p16" title="bubbles.png"/>
          <p:cNvPicPr preferRelativeResize="0"/>
          <p:nvPr/>
        </p:nvPicPr>
        <p:blipFill rotWithShape="1">
          <a:blip r:embed="rId5">
            <a:alphaModFix/>
          </a:blip>
          <a:srcRect l="40505" r="29998"/>
          <a:stretch/>
        </p:blipFill>
        <p:spPr>
          <a:xfrm>
            <a:off x="8489514" y="1887525"/>
            <a:ext cx="620274" cy="2385650"/>
          </a:xfrm>
          <a:prstGeom prst="rect">
            <a:avLst/>
          </a:prstGeom>
          <a:noFill/>
          <a:ln>
            <a:noFill/>
          </a:ln>
        </p:spPr>
      </p:pic>
      <p:pic>
        <p:nvPicPr>
          <p:cNvPr id="88" name="Google Shape;88;p16" title="bubbles 2.png"/>
          <p:cNvPicPr preferRelativeResize="0"/>
          <p:nvPr/>
        </p:nvPicPr>
        <p:blipFill rotWithShape="1">
          <a:blip r:embed="rId4">
            <a:alphaModFix/>
          </a:blip>
          <a:srcRect r="57354" b="65392"/>
          <a:stretch/>
        </p:blipFill>
        <p:spPr>
          <a:xfrm rot="-308349">
            <a:off x="252920" y="2687159"/>
            <a:ext cx="573357" cy="549431"/>
          </a:xfrm>
          <a:prstGeom prst="rect">
            <a:avLst/>
          </a:prstGeom>
          <a:noFill/>
          <a:ln>
            <a:noFill/>
          </a:ln>
        </p:spPr>
      </p:pic>
      <p:pic>
        <p:nvPicPr>
          <p:cNvPr id="89" name="Google Shape;89;p16" title="Octopus.png"/>
          <p:cNvPicPr preferRelativeResize="0"/>
          <p:nvPr/>
        </p:nvPicPr>
        <p:blipFill>
          <a:blip r:embed="rId6">
            <a:alphaModFix/>
          </a:blip>
          <a:stretch>
            <a:fillRect/>
          </a:stretch>
        </p:blipFill>
        <p:spPr>
          <a:xfrm rot="1376300">
            <a:off x="7587669" y="3744539"/>
            <a:ext cx="1341412" cy="1341422"/>
          </a:xfrm>
          <a:prstGeom prst="rect">
            <a:avLst/>
          </a:prstGeom>
          <a:noFill/>
          <a:ln>
            <a:noFill/>
          </a:ln>
        </p:spPr>
      </p:pic>
      <p:sp>
        <p:nvSpPr>
          <p:cNvPr id="90" name="TextBox 89"/>
          <p:cNvSpPr txBox="1"/>
          <p:nvPr/>
        </p:nvSpPr>
        <p:spPr>
          <a:xfrm>
            <a:off x="311700" y="350000"/>
            <a:ext cx="8520600" cy="1050000"/>
          </a:xfrm>
          <a:prstGeom prst="rect">
            <a:avLst/>
          </a:prstGeom>
          <a:noFill/>
        </p:spPr>
        <p:txBody>
          <a:bodyPr wrap="square" lIns="0" tIns="0" rIns="0" bIns="0" anchor="t">
            <a:spAutoFit/>
          </a:bodyPr>
          <a:lstStyle/>
          <a:p>
            <a:pPr algn="l"/>
            <a:r>
              <a:rPr sz="3600" b="1">
                <a:solidFill>
                  <a:srgbClr val="10265D"/>
                </a:solidFill>
                <a:latin typeface="Etna"/>
              </a:rPr>
              <a:t>Run it anywhere</a:t>
            </a:r>
          </a:p>
        </p:txBody>
      </p:sp>
      <p:sp>
        <p:nvSpPr>
          <p:cNvPr id="91" name="TextBox 90"/>
          <p:cNvSpPr txBox="1"/>
          <p:nvPr/>
        </p:nvSpPr>
        <p:spPr>
          <a:xfrm>
            <a:off x="311700" y="1450000"/>
            <a:ext cx="8520600" cy="600000"/>
          </a:xfrm>
          <a:prstGeom prst="rect">
            <a:avLst/>
          </a:prstGeom>
          <a:noFill/>
        </p:spPr>
        <p:txBody>
          <a:bodyPr wrap="square" lIns="0" tIns="0" rIns="0" bIns="0" anchor="t">
            <a:spAutoFit/>
          </a:bodyPr>
          <a:lstStyle/>
          <a:p>
            <a:pPr algn="l">
              <a:spcAft>
                <a:spcPts val="600"/>
              </a:spcAft>
            </a:pPr>
            <a:r>
              <a:rPr lang="en-GB" sz="1800" b="0" dirty="0">
                <a:solidFill>
                  <a:srgbClr val="1A1A1A"/>
                </a:solidFill>
                <a:latin typeface="Garet"/>
              </a:rPr>
              <a:t>dab</a:t>
            </a:r>
            <a:r>
              <a:rPr sz="1800" b="0" dirty="0">
                <a:solidFill>
                  <a:srgbClr val="1A1A1A"/>
                </a:solidFill>
                <a:latin typeface="Garet"/>
              </a:rPr>
              <a:t> CLI locally. Docker image everywhere else. Same config, same </a:t>
            </a:r>
            <a:r>
              <a:rPr sz="1800" b="0" dirty="0" err="1">
                <a:solidFill>
                  <a:srgbClr val="1A1A1A"/>
                </a:solidFill>
                <a:latin typeface="Garet"/>
              </a:rPr>
              <a:t>behaviour</a:t>
            </a:r>
            <a:r>
              <a:rPr sz="1800" b="0" dirty="0">
                <a:solidFill>
                  <a:srgbClr val="1A1A1A"/>
                </a:solidFill>
                <a:latin typeface="Garet"/>
              </a:rPr>
              <a:t>.</a:t>
            </a:r>
          </a:p>
        </p:txBody>
      </p:sp>
      <p:sp>
        <p:nvSpPr>
          <p:cNvPr id="92" name="TextBox 91"/>
          <p:cNvSpPr txBox="1"/>
          <p:nvPr/>
        </p:nvSpPr>
        <p:spPr>
          <a:xfrm>
            <a:off x="311700" y="2150000"/>
            <a:ext cx="8520600" cy="1762001"/>
          </a:xfrm>
          <a:prstGeom prst="rect">
            <a:avLst/>
          </a:prstGeom>
          <a:solidFill>
            <a:srgbClr val="F4F7FB"/>
          </a:solidFill>
          <a:ln>
            <a:solidFill>
              <a:srgbClr val="BDECFE"/>
            </a:solidFill>
          </a:ln>
        </p:spPr>
        <p:txBody>
          <a:bodyPr wrap="square" lIns="120000" tIns="80000" rIns="120000" bIns="80000">
            <a:spAutoFit/>
          </a:bodyPr>
          <a:lstStyle/>
          <a:p>
            <a:pPr algn="l">
              <a:spcAft>
                <a:spcPts val="0"/>
              </a:spcAft>
            </a:pPr>
            <a:r>
              <a:rPr sz="1300" dirty="0">
                <a:solidFill>
                  <a:srgbClr val="10265D"/>
                </a:solidFill>
                <a:latin typeface="Cascadia Mono"/>
              </a:rPr>
              <a:t># local</a:t>
            </a:r>
          </a:p>
          <a:p>
            <a:pPr algn="l">
              <a:spcAft>
                <a:spcPts val="0"/>
              </a:spcAft>
            </a:pPr>
            <a:r>
              <a:rPr sz="1300" dirty="0">
                <a:solidFill>
                  <a:srgbClr val="10265D"/>
                </a:solidFill>
                <a:latin typeface="Cascadia Mono"/>
              </a:rPr>
              <a:t>dab start --config dab-</a:t>
            </a:r>
            <a:r>
              <a:rPr sz="1300" dirty="0" err="1">
                <a:solidFill>
                  <a:srgbClr val="10265D"/>
                </a:solidFill>
                <a:latin typeface="Cascadia Mono"/>
              </a:rPr>
              <a:t>config.json</a:t>
            </a:r>
            <a:endParaRPr sz="1300" dirty="0">
              <a:solidFill>
                <a:srgbClr val="10265D"/>
              </a:solidFill>
              <a:latin typeface="Cascadia Mono"/>
            </a:endParaRPr>
          </a:p>
          <a:p>
            <a:pPr algn="l">
              <a:spcAft>
                <a:spcPts val="0"/>
              </a:spcAft>
            </a:pPr>
            <a:r>
              <a:rPr sz="1300" dirty="0">
                <a:solidFill>
                  <a:srgbClr val="10265D"/>
                </a:solidFill>
                <a:latin typeface="Cascadia Mono"/>
              </a:rPr>
              <a:t> </a:t>
            </a:r>
          </a:p>
          <a:p>
            <a:pPr algn="l">
              <a:spcAft>
                <a:spcPts val="0"/>
              </a:spcAft>
            </a:pPr>
            <a:r>
              <a:rPr sz="1300" dirty="0">
                <a:solidFill>
                  <a:srgbClr val="10265D"/>
                </a:solidFill>
                <a:latin typeface="Cascadia Mono"/>
              </a:rPr>
              <a:t># container</a:t>
            </a:r>
          </a:p>
          <a:p>
            <a:pPr algn="l">
              <a:spcAft>
                <a:spcPts val="0"/>
              </a:spcAft>
            </a:pPr>
            <a:r>
              <a:rPr sz="1300" dirty="0">
                <a:solidFill>
                  <a:srgbClr val="10265D"/>
                </a:solidFill>
                <a:latin typeface="Cascadia Mono"/>
              </a:rPr>
              <a:t>docker run -p 5000:5000 </a:t>
            </a:r>
            <a:r>
              <a:rPr lang="en-GB" sz="1300" dirty="0">
                <a:solidFill>
                  <a:srgbClr val="10265D"/>
                </a:solidFill>
                <a:latin typeface="Cascadia Mono"/>
              </a:rPr>
              <a:t>`</a:t>
            </a:r>
            <a:endParaRPr sz="1300" dirty="0">
              <a:solidFill>
                <a:srgbClr val="10265D"/>
              </a:solidFill>
              <a:latin typeface="Cascadia Mono"/>
            </a:endParaRPr>
          </a:p>
          <a:p>
            <a:pPr algn="l">
              <a:spcAft>
                <a:spcPts val="0"/>
              </a:spcAft>
            </a:pPr>
            <a:r>
              <a:rPr sz="1300" dirty="0">
                <a:solidFill>
                  <a:srgbClr val="10265D"/>
                </a:solidFill>
                <a:latin typeface="Cascadia Mono"/>
              </a:rPr>
              <a:t>  -v ${PWD}:/App/configs</a:t>
            </a:r>
            <a:r>
              <a:rPr lang="en-GB" sz="1300" dirty="0">
                <a:solidFill>
                  <a:srgbClr val="10265D"/>
                </a:solidFill>
                <a:latin typeface="Cascadia Mono"/>
              </a:rPr>
              <a:t> `</a:t>
            </a:r>
            <a:endParaRPr sz="1300" dirty="0">
              <a:solidFill>
                <a:srgbClr val="10265D"/>
              </a:solidFill>
              <a:latin typeface="Cascadia Mono"/>
            </a:endParaRPr>
          </a:p>
          <a:p>
            <a:r>
              <a:rPr sz="1300" dirty="0">
                <a:solidFill>
                  <a:srgbClr val="10265D"/>
                </a:solidFill>
                <a:latin typeface="Cascadia Mono"/>
              </a:rPr>
              <a:t>  -e </a:t>
            </a:r>
            <a:r>
              <a:rPr lang="en-GB" sz="1200" dirty="0">
                <a:solidFill>
                  <a:srgbClr val="10265D"/>
                </a:solidFill>
                <a:latin typeface="Cascadia Mono"/>
              </a:rPr>
              <a:t>DATABASE_CONNECTION_STRING </a:t>
            </a:r>
            <a:r>
              <a:rPr lang="en-GB" sz="1300" dirty="0">
                <a:solidFill>
                  <a:srgbClr val="10265D"/>
                </a:solidFill>
                <a:latin typeface="Cascadia Mono"/>
              </a:rPr>
              <a:t>`</a:t>
            </a:r>
            <a:endParaRPr sz="1300" dirty="0">
              <a:solidFill>
                <a:srgbClr val="10265D"/>
              </a:solidFill>
              <a:latin typeface="Cascadia Mono"/>
            </a:endParaRPr>
          </a:p>
          <a:p>
            <a:pPr algn="l">
              <a:spcAft>
                <a:spcPts val="0"/>
              </a:spcAft>
            </a:pPr>
            <a:r>
              <a:rPr sz="1300" dirty="0">
                <a:solidFill>
                  <a:srgbClr val="10265D"/>
                </a:solidFill>
                <a:latin typeface="Cascadia Mono"/>
              </a:rPr>
              <a:t>  mcr.microsoft.com/azure-databases/data-</a:t>
            </a:r>
            <a:r>
              <a:rPr sz="1300" dirty="0" err="1">
                <a:solidFill>
                  <a:srgbClr val="10265D"/>
                </a:solidFill>
                <a:latin typeface="Cascadia Mono"/>
              </a:rPr>
              <a:t>api</a:t>
            </a:r>
            <a:r>
              <a:rPr sz="1300" dirty="0">
                <a:solidFill>
                  <a:srgbClr val="10265D"/>
                </a:solidFill>
                <a:latin typeface="Cascadia Mono"/>
              </a:rPr>
              <a:t>-builder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4" name="Google Shape;94;p17" title="Wave.png"/>
          <p:cNvPicPr preferRelativeResize="0"/>
          <p:nvPr/>
        </p:nvPicPr>
        <p:blipFill rotWithShape="1">
          <a:blip r:embed="rId3">
            <a:alphaModFix amt="50000"/>
          </a:blip>
          <a:srcRect l="1876" r="1905" b="34193"/>
          <a:stretch/>
        </p:blipFill>
        <p:spPr>
          <a:xfrm>
            <a:off x="-3850" y="3580350"/>
            <a:ext cx="9151677" cy="1563150"/>
          </a:xfrm>
          <a:prstGeom prst="rect">
            <a:avLst/>
          </a:prstGeom>
          <a:noFill/>
          <a:ln>
            <a:noFill/>
          </a:ln>
        </p:spPr>
      </p:pic>
      <p:pic>
        <p:nvPicPr>
          <p:cNvPr id="95" name="Google Shape;95;p17" title="bubbles 2.png"/>
          <p:cNvPicPr preferRelativeResize="0"/>
          <p:nvPr/>
        </p:nvPicPr>
        <p:blipFill rotWithShape="1">
          <a:blip r:embed="rId4">
            <a:alphaModFix/>
          </a:blip>
          <a:srcRect l="15139" t="47353" r="57355" b="19349"/>
          <a:stretch/>
        </p:blipFill>
        <p:spPr>
          <a:xfrm rot="742634">
            <a:off x="183878" y="3150931"/>
            <a:ext cx="711448" cy="1017014"/>
          </a:xfrm>
          <a:prstGeom prst="rect">
            <a:avLst/>
          </a:prstGeom>
          <a:noFill/>
          <a:ln>
            <a:noFill/>
          </a:ln>
        </p:spPr>
      </p:pic>
      <p:pic>
        <p:nvPicPr>
          <p:cNvPr id="96" name="Google Shape;96;p17" title="bubbles.png"/>
          <p:cNvPicPr preferRelativeResize="0"/>
          <p:nvPr/>
        </p:nvPicPr>
        <p:blipFill rotWithShape="1">
          <a:blip r:embed="rId5">
            <a:alphaModFix/>
          </a:blip>
          <a:srcRect l="40507" r="16342"/>
          <a:stretch/>
        </p:blipFill>
        <p:spPr>
          <a:xfrm>
            <a:off x="8236582" y="2757825"/>
            <a:ext cx="907418" cy="2385675"/>
          </a:xfrm>
          <a:prstGeom prst="rect">
            <a:avLst/>
          </a:prstGeom>
          <a:noFill/>
          <a:ln>
            <a:noFill/>
          </a:ln>
        </p:spPr>
      </p:pic>
      <p:pic>
        <p:nvPicPr>
          <p:cNvPr id="97" name="Google Shape;97;p17" title="bubbles 2.png"/>
          <p:cNvPicPr preferRelativeResize="0"/>
          <p:nvPr/>
        </p:nvPicPr>
        <p:blipFill rotWithShape="1">
          <a:blip r:embed="rId4">
            <a:alphaModFix/>
          </a:blip>
          <a:srcRect r="57354" b="65392"/>
          <a:stretch/>
        </p:blipFill>
        <p:spPr>
          <a:xfrm rot="-308349">
            <a:off x="19632" y="2782409"/>
            <a:ext cx="573357" cy="549431"/>
          </a:xfrm>
          <a:prstGeom prst="rect">
            <a:avLst/>
          </a:prstGeom>
          <a:noFill/>
          <a:ln>
            <a:noFill/>
          </a:ln>
        </p:spPr>
      </p:pic>
      <p:pic>
        <p:nvPicPr>
          <p:cNvPr id="98" name="Google Shape;98;p17" title="Tentacles-ind.png"/>
          <p:cNvPicPr preferRelativeResize="0"/>
          <p:nvPr/>
        </p:nvPicPr>
        <p:blipFill rotWithShape="1">
          <a:blip r:embed="rId6">
            <a:alphaModFix/>
          </a:blip>
          <a:srcRect t="33403" r="87438" b="15771"/>
          <a:stretch/>
        </p:blipFill>
        <p:spPr>
          <a:xfrm rot="439130">
            <a:off x="-47716" y="4206609"/>
            <a:ext cx="968293" cy="1246726"/>
          </a:xfrm>
          <a:prstGeom prst="rect">
            <a:avLst/>
          </a:prstGeom>
          <a:noFill/>
          <a:ln>
            <a:noFill/>
          </a:ln>
        </p:spPr>
      </p:pic>
      <p:pic>
        <p:nvPicPr>
          <p:cNvPr id="99" name="Google Shape;99;p17" title="Tentacles-ind.png"/>
          <p:cNvPicPr preferRelativeResize="0"/>
          <p:nvPr/>
        </p:nvPicPr>
        <p:blipFill rotWithShape="1">
          <a:blip r:embed="rId6">
            <a:alphaModFix/>
          </a:blip>
          <a:srcRect l="13130" t="-3230" r="72448" b="3230"/>
          <a:stretch/>
        </p:blipFill>
        <p:spPr>
          <a:xfrm rot="4506413">
            <a:off x="741578" y="4122181"/>
            <a:ext cx="742087" cy="1637465"/>
          </a:xfrm>
          <a:prstGeom prst="rect">
            <a:avLst/>
          </a:prstGeom>
          <a:noFill/>
          <a:ln>
            <a:noFill/>
          </a:ln>
        </p:spPr>
      </p:pic>
      <p:sp>
        <p:nvSpPr>
          <p:cNvPr id="100" name="TextBox 99"/>
          <p:cNvSpPr txBox="1"/>
          <p:nvPr/>
        </p:nvSpPr>
        <p:spPr>
          <a:xfrm>
            <a:off x="311700" y="350000"/>
            <a:ext cx="8520600" cy="1050000"/>
          </a:xfrm>
          <a:prstGeom prst="rect">
            <a:avLst/>
          </a:prstGeom>
          <a:noFill/>
        </p:spPr>
        <p:txBody>
          <a:bodyPr wrap="square" lIns="0" tIns="0" rIns="0" bIns="0" anchor="t">
            <a:spAutoFit/>
          </a:bodyPr>
          <a:lstStyle/>
          <a:p>
            <a:pPr algn="l"/>
            <a:r>
              <a:rPr sz="3200" b="1">
                <a:solidFill>
                  <a:srgbClr val="10265D"/>
                </a:solidFill>
                <a:latin typeface="Etna"/>
              </a:rPr>
              <a:t>Invoke-RestMethod is all you need</a:t>
            </a:r>
          </a:p>
        </p:txBody>
      </p:sp>
      <p:sp>
        <p:nvSpPr>
          <p:cNvPr id="101" name="TextBox 100"/>
          <p:cNvSpPr txBox="1"/>
          <p:nvPr/>
        </p:nvSpPr>
        <p:spPr>
          <a:xfrm>
            <a:off x="311700" y="1500000"/>
            <a:ext cx="8520600" cy="2376000"/>
          </a:xfrm>
          <a:prstGeom prst="rect">
            <a:avLst/>
          </a:prstGeom>
          <a:solidFill>
            <a:srgbClr val="F4F7FB"/>
          </a:solidFill>
          <a:ln>
            <a:solidFill>
              <a:srgbClr val="BDECFE"/>
            </a:solidFill>
          </a:ln>
        </p:spPr>
        <p:txBody>
          <a:bodyPr wrap="square" lIns="120000" tIns="80000" rIns="120000" bIns="80000">
            <a:spAutoFit/>
          </a:bodyPr>
          <a:lstStyle/>
          <a:p>
            <a:pPr algn="l">
              <a:spcAft>
                <a:spcPts val="0"/>
              </a:spcAft>
            </a:pPr>
            <a:r>
              <a:rPr sz="1400" dirty="0">
                <a:solidFill>
                  <a:srgbClr val="10265D"/>
                </a:solidFill>
                <a:latin typeface="Cascadia Mono"/>
              </a:rPr>
              <a:t>$base = 'http://localhost:5000/</a:t>
            </a:r>
            <a:r>
              <a:rPr sz="1400" dirty="0" err="1">
                <a:solidFill>
                  <a:srgbClr val="10265D"/>
                </a:solidFill>
                <a:latin typeface="Cascadia Mono"/>
              </a:rPr>
              <a:t>api</a:t>
            </a:r>
            <a:r>
              <a:rPr sz="1400" dirty="0">
                <a:solidFill>
                  <a:srgbClr val="10265D"/>
                </a:solidFill>
                <a:latin typeface="Cascadia Mono"/>
              </a:rPr>
              <a:t>'</a:t>
            </a:r>
          </a:p>
          <a:p>
            <a:pPr algn="l">
              <a:spcAft>
                <a:spcPts val="0"/>
              </a:spcAft>
            </a:pPr>
            <a:r>
              <a:rPr sz="1400" dirty="0">
                <a:solidFill>
                  <a:srgbClr val="10265D"/>
                </a:solidFill>
                <a:latin typeface="Cascadia Mono"/>
              </a:rPr>
              <a:t> </a:t>
            </a:r>
          </a:p>
          <a:p>
            <a:pPr algn="l">
              <a:spcAft>
                <a:spcPts val="0"/>
              </a:spcAft>
            </a:pPr>
            <a:r>
              <a:rPr sz="1400" dirty="0">
                <a:solidFill>
                  <a:srgbClr val="10265D"/>
                </a:solidFill>
                <a:latin typeface="Cascadia Mono"/>
              </a:rPr>
              <a:t># write a row</a:t>
            </a:r>
          </a:p>
          <a:p>
            <a:pPr algn="l">
              <a:spcAft>
                <a:spcPts val="0"/>
              </a:spcAft>
            </a:pPr>
            <a:r>
              <a:rPr sz="1400" dirty="0">
                <a:solidFill>
                  <a:srgbClr val="10265D"/>
                </a:solidFill>
                <a:latin typeface="Cascadia Mono"/>
              </a:rPr>
              <a:t>$body = @{ date = '2026-05-04'; type = 'Ride'; </a:t>
            </a:r>
            <a:r>
              <a:rPr sz="1400" dirty="0" err="1">
                <a:solidFill>
                  <a:srgbClr val="10265D"/>
                </a:solidFill>
                <a:latin typeface="Cascadia Mono"/>
              </a:rPr>
              <a:t>tss</a:t>
            </a:r>
            <a:r>
              <a:rPr sz="1400" dirty="0">
                <a:solidFill>
                  <a:srgbClr val="10265D"/>
                </a:solidFill>
                <a:latin typeface="Cascadia Mono"/>
              </a:rPr>
              <a:t> = 84 } | </a:t>
            </a:r>
            <a:r>
              <a:rPr sz="1400" dirty="0" err="1">
                <a:solidFill>
                  <a:srgbClr val="10265D"/>
                </a:solidFill>
                <a:latin typeface="Cascadia Mono"/>
              </a:rPr>
              <a:t>ConvertTo</a:t>
            </a:r>
            <a:r>
              <a:rPr sz="1400" dirty="0">
                <a:solidFill>
                  <a:srgbClr val="10265D"/>
                </a:solidFill>
                <a:latin typeface="Cascadia Mono"/>
              </a:rPr>
              <a:t>-Json</a:t>
            </a:r>
          </a:p>
          <a:p>
            <a:pPr algn="l">
              <a:spcAft>
                <a:spcPts val="0"/>
              </a:spcAft>
            </a:pPr>
            <a:r>
              <a:rPr sz="1400" dirty="0">
                <a:solidFill>
                  <a:srgbClr val="10265D"/>
                </a:solidFill>
                <a:latin typeface="Cascadia Mono"/>
              </a:rPr>
              <a:t>Invoke-</a:t>
            </a:r>
            <a:r>
              <a:rPr sz="1400" dirty="0" err="1">
                <a:solidFill>
                  <a:srgbClr val="10265D"/>
                </a:solidFill>
                <a:latin typeface="Cascadia Mono"/>
              </a:rPr>
              <a:t>RestMethod</a:t>
            </a:r>
            <a:r>
              <a:rPr sz="1400" dirty="0">
                <a:solidFill>
                  <a:srgbClr val="10265D"/>
                </a:solidFill>
                <a:latin typeface="Cascadia Mono"/>
              </a:rPr>
              <a:t> "$base/Activity" -Method POST -Body $body `</a:t>
            </a:r>
          </a:p>
          <a:p>
            <a:pPr algn="l">
              <a:spcAft>
                <a:spcPts val="0"/>
              </a:spcAft>
            </a:pPr>
            <a:r>
              <a:rPr sz="1400" dirty="0">
                <a:solidFill>
                  <a:srgbClr val="10265D"/>
                </a:solidFill>
                <a:latin typeface="Cascadia Mono"/>
              </a:rPr>
              <a:t>    -</a:t>
            </a:r>
            <a:r>
              <a:rPr sz="1400" dirty="0" err="1">
                <a:solidFill>
                  <a:srgbClr val="10265D"/>
                </a:solidFill>
                <a:latin typeface="Cascadia Mono"/>
              </a:rPr>
              <a:t>ContentType</a:t>
            </a:r>
            <a:r>
              <a:rPr sz="1400" dirty="0">
                <a:solidFill>
                  <a:srgbClr val="10265D"/>
                </a:solidFill>
                <a:latin typeface="Cascadia Mono"/>
              </a:rPr>
              <a:t> 'application/</a:t>
            </a:r>
            <a:r>
              <a:rPr sz="1400" dirty="0" err="1">
                <a:solidFill>
                  <a:srgbClr val="10265D"/>
                </a:solidFill>
                <a:latin typeface="Cascadia Mono"/>
              </a:rPr>
              <a:t>json</a:t>
            </a:r>
            <a:r>
              <a:rPr sz="1400" dirty="0">
                <a:solidFill>
                  <a:srgbClr val="10265D"/>
                </a:solidFill>
                <a:latin typeface="Cascadia Mono"/>
              </a:rPr>
              <a:t>'</a:t>
            </a:r>
          </a:p>
          <a:p>
            <a:pPr algn="l">
              <a:spcAft>
                <a:spcPts val="0"/>
              </a:spcAft>
            </a:pPr>
            <a:r>
              <a:rPr sz="1400" dirty="0">
                <a:solidFill>
                  <a:srgbClr val="10265D"/>
                </a:solidFill>
                <a:latin typeface="Cascadia Mono"/>
              </a:rPr>
              <a:t> </a:t>
            </a:r>
          </a:p>
          <a:p>
            <a:pPr algn="l">
              <a:spcAft>
                <a:spcPts val="0"/>
              </a:spcAft>
            </a:pPr>
            <a:r>
              <a:rPr sz="1400" dirty="0">
                <a:solidFill>
                  <a:srgbClr val="10265D"/>
                </a:solidFill>
                <a:latin typeface="Cascadia Mono"/>
              </a:rPr>
              <a:t># read it back</a:t>
            </a:r>
          </a:p>
          <a:p>
            <a:pPr algn="l">
              <a:spcAft>
                <a:spcPts val="0"/>
              </a:spcAft>
            </a:pPr>
            <a:r>
              <a:rPr sz="1400" dirty="0">
                <a:solidFill>
                  <a:srgbClr val="10265D"/>
                </a:solidFill>
                <a:latin typeface="Cascadia Mono"/>
              </a:rPr>
              <a:t>Invoke-</a:t>
            </a:r>
            <a:r>
              <a:rPr sz="1400" dirty="0" err="1">
                <a:solidFill>
                  <a:srgbClr val="10265D"/>
                </a:solidFill>
                <a:latin typeface="Cascadia Mono"/>
              </a:rPr>
              <a:t>RestMethod</a:t>
            </a:r>
            <a:r>
              <a:rPr sz="1400" dirty="0">
                <a:solidFill>
                  <a:srgbClr val="10265D"/>
                </a:solidFill>
                <a:latin typeface="Cascadia Mono"/>
              </a:rPr>
              <a:t> "$base/Activity?\$filter=type eq 'Ride'" |</a:t>
            </a:r>
          </a:p>
          <a:p>
            <a:pPr algn="l">
              <a:spcAft>
                <a:spcPts val="0"/>
              </a:spcAft>
            </a:pPr>
            <a:r>
              <a:rPr sz="1400" dirty="0">
                <a:solidFill>
                  <a:srgbClr val="10265D"/>
                </a:solidFill>
                <a:latin typeface="Cascadia Mono"/>
              </a:rPr>
              <a:t>    Select-Object -</a:t>
            </a:r>
            <a:r>
              <a:rPr sz="1400" dirty="0" err="1">
                <a:solidFill>
                  <a:srgbClr val="10265D"/>
                </a:solidFill>
                <a:latin typeface="Cascadia Mono"/>
              </a:rPr>
              <a:t>ExpandProperty</a:t>
            </a:r>
            <a:r>
              <a:rPr sz="1400" dirty="0">
                <a:solidFill>
                  <a:srgbClr val="10265D"/>
                </a:solidFill>
                <a:latin typeface="Cascadia Mono"/>
              </a:rPr>
              <a:t> value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Google Shape;76;p15" title="Wave.png"/>
          <p:cNvPicPr preferRelativeResize="0"/>
          <p:nvPr/>
        </p:nvPicPr>
        <p:blipFill rotWithShape="1">
          <a:blip r:embed="rId3">
            <a:alphaModFix amt="50000"/>
          </a:blip>
          <a:srcRect l="1876" r="1905" b="34193"/>
          <a:stretch/>
        </p:blipFill>
        <p:spPr>
          <a:xfrm>
            <a:off x="-3850" y="3580350"/>
            <a:ext cx="9151677" cy="1563150"/>
          </a:xfrm>
          <a:prstGeom prst="rect">
            <a:avLst/>
          </a:prstGeom>
          <a:noFill/>
          <a:ln>
            <a:noFill/>
          </a:ln>
        </p:spPr>
      </p:pic>
      <p:pic>
        <p:nvPicPr>
          <p:cNvPr id="77" name="Google Shape;77;p15" title="bubbles 2.png"/>
          <p:cNvPicPr preferRelativeResize="0"/>
          <p:nvPr/>
        </p:nvPicPr>
        <p:blipFill rotWithShape="1">
          <a:blip r:embed="rId4">
            <a:alphaModFix/>
          </a:blip>
          <a:srcRect l="15139" t="47353" r="57355" b="19349"/>
          <a:stretch/>
        </p:blipFill>
        <p:spPr>
          <a:xfrm rot="742634">
            <a:off x="183865" y="3325606"/>
            <a:ext cx="711448" cy="1017014"/>
          </a:xfrm>
          <a:prstGeom prst="rect">
            <a:avLst/>
          </a:prstGeom>
          <a:noFill/>
          <a:ln>
            <a:noFill/>
          </a:ln>
        </p:spPr>
      </p:pic>
      <p:pic>
        <p:nvPicPr>
          <p:cNvPr id="78" name="Google Shape;78;p15" title="bubbles.png"/>
          <p:cNvPicPr preferRelativeResize="0"/>
          <p:nvPr/>
        </p:nvPicPr>
        <p:blipFill rotWithShape="1">
          <a:blip r:embed="rId5">
            <a:alphaModFix/>
          </a:blip>
          <a:srcRect l="40507" r="16342"/>
          <a:stretch/>
        </p:blipFill>
        <p:spPr>
          <a:xfrm>
            <a:off x="8240407" y="2165913"/>
            <a:ext cx="907418" cy="2385675"/>
          </a:xfrm>
          <a:prstGeom prst="rect">
            <a:avLst/>
          </a:prstGeom>
          <a:noFill/>
          <a:ln>
            <a:noFill/>
          </a:ln>
        </p:spPr>
      </p:pic>
      <p:pic>
        <p:nvPicPr>
          <p:cNvPr id="79" name="Google Shape;79;p15" title="bubbles 2.png"/>
          <p:cNvPicPr preferRelativeResize="0"/>
          <p:nvPr/>
        </p:nvPicPr>
        <p:blipFill rotWithShape="1">
          <a:blip r:embed="rId4">
            <a:alphaModFix/>
          </a:blip>
          <a:srcRect r="57354" b="65392"/>
          <a:stretch/>
        </p:blipFill>
        <p:spPr>
          <a:xfrm rot="-308349">
            <a:off x="252920" y="2687159"/>
            <a:ext cx="573357" cy="549431"/>
          </a:xfrm>
          <a:prstGeom prst="rect">
            <a:avLst/>
          </a:prstGeom>
          <a:noFill/>
          <a:ln>
            <a:noFill/>
          </a:ln>
        </p:spPr>
      </p:pic>
      <p:pic>
        <p:nvPicPr>
          <p:cNvPr id="80" name="Google Shape;80;p15" title="Tentacles.png"/>
          <p:cNvPicPr preferRelativeResize="0"/>
          <p:nvPr/>
        </p:nvPicPr>
        <p:blipFill>
          <a:blip r:embed="rId6">
            <a:alphaModFix/>
          </a:blip>
          <a:stretch>
            <a:fillRect/>
          </a:stretch>
        </p:blipFill>
        <p:spPr>
          <a:xfrm>
            <a:off x="6310958" y="3580350"/>
            <a:ext cx="2979741" cy="1563150"/>
          </a:xfrm>
          <a:prstGeom prst="rect">
            <a:avLst/>
          </a:prstGeom>
          <a:noFill/>
          <a:ln>
            <a:noFill/>
          </a:ln>
        </p:spPr>
      </p:pic>
      <p:sp>
        <p:nvSpPr>
          <p:cNvPr id="81" name="TextBox 80"/>
          <p:cNvSpPr txBox="1"/>
          <p:nvPr/>
        </p:nvSpPr>
        <p:spPr>
          <a:xfrm>
            <a:off x="311700" y="350000"/>
            <a:ext cx="8520600" cy="1050000"/>
          </a:xfrm>
          <a:prstGeom prst="rect">
            <a:avLst/>
          </a:prstGeom>
          <a:noFill/>
        </p:spPr>
        <p:txBody>
          <a:bodyPr wrap="square" lIns="0" tIns="0" rIns="0" bIns="0" anchor="t">
            <a:spAutoFit/>
          </a:bodyPr>
          <a:lstStyle/>
          <a:p>
            <a:pPr algn="l"/>
            <a:r>
              <a:rPr sz="3600" b="1">
                <a:solidFill>
                  <a:srgbClr val="10265D"/>
                </a:solidFill>
                <a:latin typeface="Etna"/>
              </a:rPr>
              <a:t>Pagination</a:t>
            </a:r>
          </a:p>
        </p:txBody>
      </p:sp>
      <p:sp>
        <p:nvSpPr>
          <p:cNvPr id="82" name="TextBox 81"/>
          <p:cNvSpPr txBox="1"/>
          <p:nvPr/>
        </p:nvSpPr>
        <p:spPr>
          <a:xfrm>
            <a:off x="311700" y="1500000"/>
            <a:ext cx="8520600" cy="1778000"/>
          </a:xfrm>
          <a:prstGeom prst="rect">
            <a:avLst/>
          </a:prstGeom>
          <a:noFill/>
        </p:spPr>
        <p:txBody>
          <a:bodyPr wrap="square" lIns="0" tIns="0" rIns="0" bIns="0" anchor="t">
            <a:spAutoFit/>
          </a:bodyPr>
          <a:lstStyle/>
          <a:p>
            <a:pPr algn="l">
              <a:spcAft>
                <a:spcPts val="600"/>
              </a:spcAft>
            </a:pPr>
            <a:r>
              <a:rPr sz="2000" b="1" dirty="0">
                <a:solidFill>
                  <a:srgbClr val="530080"/>
                </a:solidFill>
                <a:latin typeface="Etna"/>
              </a:rPr>
              <a:t>$first</a:t>
            </a:r>
            <a:r>
              <a:rPr sz="2000" b="0" dirty="0">
                <a:solidFill>
                  <a:srgbClr val="1A1A1A"/>
                </a:solidFill>
                <a:latin typeface="Garet"/>
              </a:rPr>
              <a:t> — limit results to N items per page. Default is 100.</a:t>
            </a:r>
          </a:p>
          <a:p>
            <a:pPr algn="l">
              <a:spcAft>
                <a:spcPts val="600"/>
              </a:spcAft>
            </a:pPr>
            <a:r>
              <a:rPr sz="2000" b="1" dirty="0">
                <a:solidFill>
                  <a:srgbClr val="530080"/>
                </a:solidFill>
                <a:latin typeface="Etna"/>
              </a:rPr>
              <a:t>$after</a:t>
            </a:r>
            <a:r>
              <a:rPr sz="2000" b="0" dirty="0">
                <a:solidFill>
                  <a:srgbClr val="1A1A1A"/>
                </a:solidFill>
                <a:latin typeface="Garet"/>
              </a:rPr>
              <a:t> — cursor-based pagination. Pass the continuation token to get the next page.</a:t>
            </a:r>
          </a:p>
          <a:p>
            <a:pPr algn="l">
              <a:spcAft>
                <a:spcPts val="600"/>
              </a:spcAft>
            </a:pPr>
            <a:r>
              <a:rPr sz="2000" b="0" dirty="0">
                <a:solidFill>
                  <a:srgbClr val="1A1A1A"/>
                </a:solidFill>
                <a:latin typeface="Garet"/>
              </a:rPr>
              <a:t>No offset-based paging — cursors are efficient on large datasets.</a:t>
            </a:r>
            <a:endParaRPr lang="en-GB" sz="2000" b="0" dirty="0">
              <a:solidFill>
                <a:srgbClr val="1A1A1A"/>
              </a:solidFill>
              <a:latin typeface="Garet"/>
            </a:endParaRPr>
          </a:p>
          <a:p>
            <a:pPr algn="l">
              <a:spcAft>
                <a:spcPts val="600"/>
              </a:spcAft>
            </a:pPr>
            <a:r>
              <a:rPr lang="en-GB" sz="2000" b="0" dirty="0">
                <a:solidFill>
                  <a:srgbClr val="1A1A1A"/>
                </a:solidFill>
                <a:latin typeface="Garet"/>
              </a:rPr>
              <a:t>Response</a:t>
            </a:r>
            <a:r>
              <a:rPr sz="2000" b="0" dirty="0">
                <a:solidFill>
                  <a:srgbClr val="1A1A1A"/>
                </a:solidFill>
                <a:latin typeface="Garet"/>
              </a:rPr>
              <a:t> includes </a:t>
            </a:r>
            <a:r>
              <a:rPr sz="2000" b="1" dirty="0" err="1">
                <a:solidFill>
                  <a:srgbClr val="530080"/>
                </a:solidFill>
                <a:latin typeface="Etna"/>
              </a:rPr>
              <a:t>hasNextPage</a:t>
            </a:r>
            <a:r>
              <a:rPr sz="2000" b="0" dirty="0">
                <a:solidFill>
                  <a:srgbClr val="1A1A1A"/>
                </a:solidFill>
                <a:latin typeface="Garet"/>
              </a:rPr>
              <a:t> and </a:t>
            </a:r>
            <a:r>
              <a:rPr sz="2000" b="1" dirty="0" err="1">
                <a:solidFill>
                  <a:srgbClr val="530080"/>
                </a:solidFill>
                <a:latin typeface="Etna"/>
              </a:rPr>
              <a:t>endCursor</a:t>
            </a:r>
            <a:r>
              <a:rPr sz="2000" b="0" dirty="0">
                <a:solidFill>
                  <a:srgbClr val="1A1A1A"/>
                </a:solidFill>
                <a:latin typeface="Garet"/>
              </a:rPr>
              <a:t>.</a:t>
            </a:r>
          </a:p>
        </p:txBody>
      </p:sp>
      <p:sp>
        <p:nvSpPr>
          <p:cNvPr id="83" name="TextBox 82"/>
          <p:cNvSpPr txBox="1"/>
          <p:nvPr/>
        </p:nvSpPr>
        <p:spPr>
          <a:xfrm>
            <a:off x="311700" y="3365500"/>
            <a:ext cx="8520600" cy="600000"/>
          </a:xfrm>
          <a:prstGeom prst="rect">
            <a:avLst/>
          </a:prstGeom>
          <a:solidFill>
            <a:srgbClr val="F4F7FB"/>
          </a:solidFill>
          <a:ln>
            <a:solidFill>
              <a:srgbClr val="BDECFE"/>
            </a:solidFill>
          </a:ln>
        </p:spPr>
        <p:txBody>
          <a:bodyPr wrap="square" lIns="120000" tIns="80000" rIns="120000" bIns="80000">
            <a:spAutoFit/>
          </a:bodyPr>
          <a:lstStyle/>
          <a:p>
            <a:pPr algn="l">
              <a:spcAft>
                <a:spcPts val="0"/>
              </a:spcAft>
            </a:pPr>
            <a:r>
              <a:rPr sz="1300" dirty="0">
                <a:solidFill>
                  <a:srgbClr val="10265D"/>
                </a:solidFill>
                <a:latin typeface="Cascadia Mono"/>
              </a:rPr>
              <a:t>GET /</a:t>
            </a:r>
            <a:r>
              <a:rPr sz="1300" dirty="0" err="1">
                <a:solidFill>
                  <a:srgbClr val="10265D"/>
                </a:solidFill>
                <a:latin typeface="Cascadia Mono"/>
              </a:rPr>
              <a:t>api</a:t>
            </a:r>
            <a:r>
              <a:rPr sz="1300" dirty="0">
                <a:solidFill>
                  <a:srgbClr val="10265D"/>
                </a:solidFill>
                <a:latin typeface="Cascadia Mono"/>
              </a:rPr>
              <a:t>/Activity?$first=25&amp;$after=eyJpZCI6MTAwfQ==</a:t>
            </a:r>
          </a:p>
        </p:txBody>
      </p:sp>
    </p:spTree>
    <p:extLst>
      <p:ext uri="{BB962C8B-B14F-4D97-AF65-F5344CB8AC3E}">
        <p14:creationId xmlns:p14="http://schemas.microsoft.com/office/powerpoint/2010/main" val="2833798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Google Shape;76;p15" title="Wave.png"/>
          <p:cNvPicPr preferRelativeResize="0"/>
          <p:nvPr/>
        </p:nvPicPr>
        <p:blipFill rotWithShape="1">
          <a:blip r:embed="rId3">
            <a:alphaModFix amt="50000"/>
          </a:blip>
          <a:srcRect l="1876" r="1905" b="34193"/>
          <a:stretch/>
        </p:blipFill>
        <p:spPr>
          <a:xfrm>
            <a:off x="-3850" y="3580350"/>
            <a:ext cx="9151677" cy="1563150"/>
          </a:xfrm>
          <a:prstGeom prst="rect">
            <a:avLst/>
          </a:prstGeom>
          <a:noFill/>
          <a:ln>
            <a:noFill/>
          </a:ln>
        </p:spPr>
      </p:pic>
      <p:pic>
        <p:nvPicPr>
          <p:cNvPr id="77" name="Google Shape;77;p15" title="bubbles 2.png"/>
          <p:cNvPicPr preferRelativeResize="0"/>
          <p:nvPr/>
        </p:nvPicPr>
        <p:blipFill rotWithShape="1">
          <a:blip r:embed="rId4">
            <a:alphaModFix/>
          </a:blip>
          <a:srcRect l="15139" t="47353" r="57355" b="19349"/>
          <a:stretch/>
        </p:blipFill>
        <p:spPr>
          <a:xfrm rot="742634">
            <a:off x="183865" y="3325606"/>
            <a:ext cx="711448" cy="1017014"/>
          </a:xfrm>
          <a:prstGeom prst="rect">
            <a:avLst/>
          </a:prstGeom>
          <a:noFill/>
          <a:ln>
            <a:noFill/>
          </a:ln>
        </p:spPr>
      </p:pic>
      <p:pic>
        <p:nvPicPr>
          <p:cNvPr id="78" name="Google Shape;78;p15" title="bubbles.png"/>
          <p:cNvPicPr preferRelativeResize="0"/>
          <p:nvPr/>
        </p:nvPicPr>
        <p:blipFill rotWithShape="1">
          <a:blip r:embed="rId5">
            <a:alphaModFix/>
          </a:blip>
          <a:srcRect l="40507" r="16342"/>
          <a:stretch/>
        </p:blipFill>
        <p:spPr>
          <a:xfrm>
            <a:off x="8240407" y="2165913"/>
            <a:ext cx="907418" cy="2385675"/>
          </a:xfrm>
          <a:prstGeom prst="rect">
            <a:avLst/>
          </a:prstGeom>
          <a:noFill/>
          <a:ln>
            <a:noFill/>
          </a:ln>
        </p:spPr>
      </p:pic>
      <p:pic>
        <p:nvPicPr>
          <p:cNvPr id="79" name="Google Shape;79;p15" title="bubbles 2.png"/>
          <p:cNvPicPr preferRelativeResize="0"/>
          <p:nvPr/>
        </p:nvPicPr>
        <p:blipFill rotWithShape="1">
          <a:blip r:embed="rId4">
            <a:alphaModFix/>
          </a:blip>
          <a:srcRect r="57354" b="65392"/>
          <a:stretch/>
        </p:blipFill>
        <p:spPr>
          <a:xfrm rot="-308349">
            <a:off x="252920" y="2687159"/>
            <a:ext cx="573357" cy="549431"/>
          </a:xfrm>
          <a:prstGeom prst="rect">
            <a:avLst/>
          </a:prstGeom>
          <a:noFill/>
          <a:ln>
            <a:noFill/>
          </a:ln>
        </p:spPr>
      </p:pic>
      <p:pic>
        <p:nvPicPr>
          <p:cNvPr id="80" name="Google Shape;80;p15" title="Tentacles.png"/>
          <p:cNvPicPr preferRelativeResize="0"/>
          <p:nvPr/>
        </p:nvPicPr>
        <p:blipFill>
          <a:blip r:embed="rId6">
            <a:alphaModFix/>
          </a:blip>
          <a:stretch>
            <a:fillRect/>
          </a:stretch>
        </p:blipFill>
        <p:spPr>
          <a:xfrm>
            <a:off x="6310958" y="3580350"/>
            <a:ext cx="2979741" cy="1563150"/>
          </a:xfrm>
          <a:prstGeom prst="rect">
            <a:avLst/>
          </a:prstGeom>
          <a:noFill/>
          <a:ln>
            <a:noFill/>
          </a:ln>
        </p:spPr>
      </p:pic>
      <p:sp>
        <p:nvSpPr>
          <p:cNvPr id="81" name="TextBox 80"/>
          <p:cNvSpPr txBox="1"/>
          <p:nvPr/>
        </p:nvSpPr>
        <p:spPr>
          <a:xfrm>
            <a:off x="311700" y="350000"/>
            <a:ext cx="8520600" cy="1050000"/>
          </a:xfrm>
          <a:prstGeom prst="rect">
            <a:avLst/>
          </a:prstGeom>
          <a:noFill/>
        </p:spPr>
        <p:txBody>
          <a:bodyPr wrap="square" lIns="0" tIns="0" rIns="0" bIns="0" anchor="t">
            <a:spAutoFit/>
          </a:bodyPr>
          <a:lstStyle/>
          <a:p>
            <a:pPr algn="l"/>
            <a:r>
              <a:rPr sz="3600" b="1">
                <a:solidFill>
                  <a:srgbClr val="10265D"/>
                </a:solidFill>
                <a:latin typeface="Etna"/>
              </a:rPr>
              <a:t>Filtering &amp; querying</a:t>
            </a:r>
          </a:p>
        </p:txBody>
      </p:sp>
      <p:sp>
        <p:nvSpPr>
          <p:cNvPr id="82" name="TextBox 81"/>
          <p:cNvSpPr txBox="1"/>
          <p:nvPr/>
        </p:nvSpPr>
        <p:spPr>
          <a:xfrm>
            <a:off x="311700" y="1500000"/>
            <a:ext cx="8520600" cy="1077218"/>
          </a:xfrm>
          <a:prstGeom prst="rect">
            <a:avLst/>
          </a:prstGeom>
          <a:noFill/>
        </p:spPr>
        <p:txBody>
          <a:bodyPr wrap="square" lIns="0" tIns="0" rIns="0" bIns="0" anchor="t">
            <a:spAutoFit/>
          </a:bodyPr>
          <a:lstStyle/>
          <a:p>
            <a:pPr>
              <a:spcAft>
                <a:spcPts val="600"/>
              </a:spcAft>
            </a:pPr>
            <a:r>
              <a:rPr lang="en-GB" sz="2000" b="1" dirty="0">
                <a:solidFill>
                  <a:srgbClr val="530080"/>
                </a:solidFill>
                <a:latin typeface="Etna"/>
              </a:rPr>
              <a:t>$select</a:t>
            </a:r>
            <a:r>
              <a:rPr lang="en-GB" sz="2000" dirty="0">
                <a:solidFill>
                  <a:srgbClr val="1A1A1A"/>
                </a:solidFill>
                <a:latin typeface="Garet"/>
              </a:rPr>
              <a:t> — return only the fields you need. Less data over the wire.</a:t>
            </a:r>
          </a:p>
          <a:p>
            <a:pPr algn="l">
              <a:spcAft>
                <a:spcPts val="600"/>
              </a:spcAft>
            </a:pPr>
            <a:r>
              <a:rPr sz="2000" b="1" dirty="0">
                <a:solidFill>
                  <a:srgbClr val="530080"/>
                </a:solidFill>
                <a:latin typeface="Etna"/>
              </a:rPr>
              <a:t>$filter</a:t>
            </a:r>
            <a:r>
              <a:rPr sz="2000" b="0" dirty="0">
                <a:solidFill>
                  <a:srgbClr val="1A1A1A"/>
                </a:solidFill>
                <a:latin typeface="Garet"/>
              </a:rPr>
              <a:t> — OData-style expressions: eq, ne, </a:t>
            </a:r>
            <a:r>
              <a:rPr sz="2000" b="0" dirty="0" err="1">
                <a:solidFill>
                  <a:srgbClr val="1A1A1A"/>
                </a:solidFill>
                <a:latin typeface="Garet"/>
              </a:rPr>
              <a:t>gt</a:t>
            </a:r>
            <a:r>
              <a:rPr sz="2000" b="0" dirty="0">
                <a:solidFill>
                  <a:srgbClr val="1A1A1A"/>
                </a:solidFill>
                <a:latin typeface="Garet"/>
              </a:rPr>
              <a:t>, </a:t>
            </a:r>
            <a:r>
              <a:rPr sz="2000" b="0" dirty="0" err="1">
                <a:solidFill>
                  <a:srgbClr val="1A1A1A"/>
                </a:solidFill>
                <a:latin typeface="Garet"/>
              </a:rPr>
              <a:t>lt</a:t>
            </a:r>
            <a:r>
              <a:rPr sz="2000" b="0" dirty="0">
                <a:solidFill>
                  <a:srgbClr val="1A1A1A"/>
                </a:solidFill>
                <a:latin typeface="Garet"/>
              </a:rPr>
              <a:t>, contains, </a:t>
            </a:r>
            <a:r>
              <a:rPr sz="2000" b="0" dirty="0" err="1">
                <a:solidFill>
                  <a:srgbClr val="1A1A1A"/>
                </a:solidFill>
                <a:latin typeface="Garet"/>
              </a:rPr>
              <a:t>startswith</a:t>
            </a:r>
            <a:r>
              <a:rPr sz="2000" b="0" dirty="0">
                <a:solidFill>
                  <a:srgbClr val="1A1A1A"/>
                </a:solidFill>
                <a:latin typeface="Garet"/>
              </a:rPr>
              <a:t>.</a:t>
            </a:r>
          </a:p>
          <a:p>
            <a:pPr algn="l">
              <a:spcAft>
                <a:spcPts val="600"/>
              </a:spcAft>
            </a:pPr>
            <a:r>
              <a:rPr sz="2000" b="1" dirty="0">
                <a:solidFill>
                  <a:srgbClr val="530080"/>
                </a:solidFill>
                <a:latin typeface="Etna"/>
              </a:rPr>
              <a:t>$</a:t>
            </a:r>
            <a:r>
              <a:rPr sz="2000" b="1" dirty="0" err="1">
                <a:solidFill>
                  <a:srgbClr val="530080"/>
                </a:solidFill>
                <a:latin typeface="Etna"/>
              </a:rPr>
              <a:t>orderby</a:t>
            </a:r>
            <a:r>
              <a:rPr sz="2000" b="0" dirty="0">
                <a:solidFill>
                  <a:srgbClr val="1A1A1A"/>
                </a:solidFill>
                <a:latin typeface="Garet"/>
              </a:rPr>
              <a:t> — sort ascending or descending on any exposed column.</a:t>
            </a:r>
          </a:p>
        </p:txBody>
      </p:sp>
      <p:sp>
        <p:nvSpPr>
          <p:cNvPr id="83" name="TextBox 82"/>
          <p:cNvSpPr txBox="1"/>
          <p:nvPr/>
        </p:nvSpPr>
        <p:spPr>
          <a:xfrm>
            <a:off x="311700" y="2857655"/>
            <a:ext cx="8520600" cy="361617"/>
          </a:xfrm>
          <a:prstGeom prst="rect">
            <a:avLst/>
          </a:prstGeom>
          <a:solidFill>
            <a:srgbClr val="F4F7FB"/>
          </a:solidFill>
          <a:ln>
            <a:solidFill>
              <a:srgbClr val="BDECFE"/>
            </a:solidFill>
          </a:ln>
        </p:spPr>
        <p:txBody>
          <a:bodyPr wrap="square" lIns="120000" tIns="80000" rIns="120000" bIns="80000">
            <a:spAutoFit/>
          </a:bodyPr>
          <a:lstStyle/>
          <a:p>
            <a:pPr algn="l">
              <a:spcAft>
                <a:spcPts val="0"/>
              </a:spcAft>
            </a:pPr>
            <a:r>
              <a:rPr lang="en-GB" sz="1300" dirty="0">
                <a:solidFill>
                  <a:srgbClr val="10265D"/>
                </a:solidFill>
                <a:latin typeface="Cascadia Mono"/>
              </a:rPr>
              <a:t>GET /</a:t>
            </a:r>
            <a:r>
              <a:rPr lang="en-GB" sz="1300" dirty="0" err="1">
                <a:solidFill>
                  <a:srgbClr val="10265D"/>
                </a:solidFill>
                <a:latin typeface="Cascadia Mono"/>
              </a:rPr>
              <a:t>api</a:t>
            </a:r>
            <a:r>
              <a:rPr lang="en-GB" sz="1300" dirty="0">
                <a:solidFill>
                  <a:srgbClr val="10265D"/>
                </a:solidFill>
                <a:latin typeface="Cascadia Mono"/>
              </a:rPr>
              <a:t>/</a:t>
            </a:r>
            <a:r>
              <a:rPr lang="en-GB" sz="1300" dirty="0" err="1">
                <a:solidFill>
                  <a:srgbClr val="10265D"/>
                </a:solidFill>
                <a:latin typeface="Cascadia Mono"/>
              </a:rPr>
              <a:t>SyncLog</a:t>
            </a:r>
            <a:r>
              <a:rPr lang="en-GB" sz="1300" dirty="0">
                <a:solidFill>
                  <a:srgbClr val="10265D"/>
                </a:solidFill>
                <a:latin typeface="Cascadia Mono"/>
              </a:rPr>
              <a:t>?$filter=Source </a:t>
            </a:r>
            <a:r>
              <a:rPr lang="en-GB" sz="1300" dirty="0" err="1">
                <a:solidFill>
                  <a:srgbClr val="10265D"/>
                </a:solidFill>
                <a:latin typeface="Cascadia Mono"/>
              </a:rPr>
              <a:t>eq</a:t>
            </a:r>
            <a:r>
              <a:rPr lang="en-GB" sz="1300" dirty="0">
                <a:solidFill>
                  <a:srgbClr val="10265D"/>
                </a:solidFill>
                <a:latin typeface="Cascadia Mono"/>
              </a:rPr>
              <a:t> '</a:t>
            </a:r>
            <a:r>
              <a:rPr lang="en-GB" sz="1300" dirty="0" err="1">
                <a:solidFill>
                  <a:srgbClr val="10265D"/>
                </a:solidFill>
                <a:latin typeface="Cascadia Mono"/>
              </a:rPr>
              <a:t>IntervalsSync</a:t>
            </a:r>
            <a:r>
              <a:rPr lang="en-GB" sz="1300" dirty="0">
                <a:solidFill>
                  <a:srgbClr val="10265D"/>
                </a:solidFill>
                <a:latin typeface="Cascadia Mono"/>
              </a:rPr>
              <a:t>'&amp;$</a:t>
            </a:r>
            <a:r>
              <a:rPr lang="en-GB" sz="1300" dirty="0" err="1">
                <a:solidFill>
                  <a:srgbClr val="10265D"/>
                </a:solidFill>
                <a:latin typeface="Cascadia Mono"/>
              </a:rPr>
              <a:t>orderby</a:t>
            </a:r>
            <a:r>
              <a:rPr lang="en-GB" sz="1300" dirty="0">
                <a:solidFill>
                  <a:srgbClr val="10265D"/>
                </a:solidFill>
                <a:latin typeface="Cascadia Mono"/>
              </a:rPr>
              <a:t>=RunAt </a:t>
            </a:r>
            <a:r>
              <a:rPr lang="en-GB" sz="1300" dirty="0" err="1">
                <a:solidFill>
                  <a:srgbClr val="10265D"/>
                </a:solidFill>
                <a:latin typeface="Cascadia Mono"/>
              </a:rPr>
              <a:t>desc</a:t>
            </a:r>
            <a:r>
              <a:rPr lang="en-GB" sz="1300" dirty="0">
                <a:solidFill>
                  <a:srgbClr val="10265D"/>
                </a:solidFill>
                <a:latin typeface="Cascadia Mono"/>
              </a:rPr>
              <a:t>&amp;$first=10</a:t>
            </a:r>
            <a:endParaRPr sz="1300" dirty="0">
              <a:solidFill>
                <a:srgbClr val="10265D"/>
              </a:solidFill>
              <a:latin typeface="Cascadia Mono"/>
            </a:endParaRPr>
          </a:p>
        </p:txBody>
      </p:sp>
    </p:spTree>
    <p:extLst>
      <p:ext uri="{BB962C8B-B14F-4D97-AF65-F5344CB8AC3E}">
        <p14:creationId xmlns:p14="http://schemas.microsoft.com/office/powerpoint/2010/main" val="3110643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pied Picture 4" title="Wave.png"/>
          <p:cNvPicPr preferRelativeResize="0"/>
          <p:nvPr/>
        </p:nvPicPr>
        <p:blipFill rotWithShape="1">
          <a:blip r:embed="rId3">
            <a:alphaModFix amt="50000"/>
          </a:blip>
          <a:srcRect l="1876" r="1905" b="34193"/>
          <a:stretch/>
        </p:blipFill>
        <p:spPr>
          <a:xfrm>
            <a:off x="6552" y="3580350"/>
            <a:ext cx="9151677" cy="1563150"/>
          </a:xfrm>
          <a:prstGeom prst="rect">
            <a:avLst/>
          </a:prstGeom>
          <a:noFill/>
          <a:ln>
            <a:noFill/>
          </a:ln>
        </p:spPr>
      </p:pic>
      <p:sp>
        <p:nvSpPr>
          <p:cNvPr id="2" name="Title 1">
            <a:extLst>
              <a:ext uri="{FF2B5EF4-FFF2-40B4-BE49-F238E27FC236}">
                <a16:creationId xmlns:a16="http://schemas.microsoft.com/office/drawing/2014/main" id="{D24F9AFC-C6EC-0B06-FB80-31789DDF37EC}"/>
              </a:ext>
            </a:extLst>
          </p:cNvPr>
          <p:cNvSpPr>
            <a:spLocks noGrp="1"/>
          </p:cNvSpPr>
          <p:nvPr>
            <p:ph type="title"/>
          </p:nvPr>
        </p:nvSpPr>
        <p:spPr/>
        <p:txBody>
          <a:bodyPr>
            <a:normAutofit fontScale="90000"/>
          </a:bodyPr>
          <a:lstStyle/>
          <a:p>
            <a:pPr algn="l"/>
            <a:r>
              <a:rPr lang="en-GB" sz="3600" b="1" dirty="0">
                <a:solidFill>
                  <a:srgbClr val="10265D"/>
                </a:solidFill>
                <a:latin typeface="Etna"/>
              </a:rPr>
              <a:t>Authentication</a:t>
            </a:r>
          </a:p>
        </p:txBody>
      </p:sp>
      <p:sp>
        <p:nvSpPr>
          <p:cNvPr id="3" name="Text Placeholder 2">
            <a:extLst>
              <a:ext uri="{FF2B5EF4-FFF2-40B4-BE49-F238E27FC236}">
                <a16:creationId xmlns:a16="http://schemas.microsoft.com/office/drawing/2014/main" id="{E5A3EF4B-AF7C-178E-F388-53381BF10D3D}"/>
              </a:ext>
            </a:extLst>
          </p:cNvPr>
          <p:cNvSpPr>
            <a:spLocks noGrp="1"/>
          </p:cNvSpPr>
          <p:nvPr>
            <p:ph type="body" idx="1"/>
          </p:nvPr>
        </p:nvSpPr>
        <p:spPr/>
        <p:txBody>
          <a:bodyPr>
            <a:normAutofit/>
          </a:bodyPr>
          <a:lstStyle/>
          <a:p>
            <a:pPr algn="l">
              <a:spcAft>
                <a:spcPts val="400"/>
              </a:spcAft>
            </a:pPr>
            <a:r>
              <a:rPr lang="en-GB" sz="2000" b="1" dirty="0">
                <a:solidFill>
                  <a:srgbClr val="1A1A1A"/>
                </a:solidFill>
                <a:latin typeface="Garet"/>
              </a:rPr>
              <a:t>Plug in your identity provider</a:t>
            </a:r>
          </a:p>
          <a:p>
            <a:pPr lvl="1">
              <a:spcAft>
                <a:spcPts val="600"/>
              </a:spcAft>
            </a:pPr>
            <a:r>
              <a:rPr lang="en-GB" sz="1600" b="0" dirty="0">
                <a:solidFill>
                  <a:srgbClr val="1A1A1A"/>
                </a:solidFill>
                <a:latin typeface="Garet"/>
              </a:rPr>
              <a:t>Entra ID, EasyAuth, any JWT server, or Simulator for dev.</a:t>
            </a:r>
          </a:p>
          <a:p>
            <a:pPr algn="l">
              <a:spcAft>
                <a:spcPts val="400"/>
              </a:spcAft>
            </a:pPr>
            <a:r>
              <a:rPr lang="en-GB" sz="2000" b="1" dirty="0">
                <a:solidFill>
                  <a:srgbClr val="1A1A1A"/>
                </a:solidFill>
                <a:latin typeface="Garet"/>
              </a:rPr>
              <a:t>Role-based access control</a:t>
            </a:r>
          </a:p>
          <a:p>
            <a:pPr lvl="1">
              <a:spcAft>
                <a:spcPts val="600"/>
              </a:spcAft>
            </a:pPr>
            <a:r>
              <a:rPr lang="en-GB" sz="1600" b="0" dirty="0">
                <a:solidFill>
                  <a:srgbClr val="1A1A1A"/>
                </a:solidFill>
                <a:latin typeface="Garet"/>
              </a:rPr>
              <a:t>Anonymous + Authenticated system roles, custom user roles, one effective role per request.</a:t>
            </a:r>
          </a:p>
          <a:p>
            <a:pPr>
              <a:spcAft>
                <a:spcPts val="400"/>
              </a:spcAft>
            </a:pPr>
            <a:r>
              <a:rPr lang="en-GB" sz="2000" b="1" dirty="0">
                <a:solidFill>
                  <a:srgbClr val="1A1A1A"/>
                </a:solidFill>
                <a:latin typeface="Garet"/>
              </a:rPr>
              <a:t>Database policies</a:t>
            </a:r>
          </a:p>
          <a:p>
            <a:pPr lvl="1">
              <a:spcAft>
                <a:spcPts val="600"/>
              </a:spcAft>
            </a:pPr>
            <a:r>
              <a:rPr lang="en-GB" sz="1600" dirty="0">
                <a:solidFill>
                  <a:srgbClr val="1A1A1A"/>
                </a:solidFill>
                <a:latin typeface="Garet"/>
              </a:rPr>
              <a:t>Row-level security </a:t>
            </a:r>
            <a:r>
              <a:rPr lang="en-GB" sz="1600" b="0" dirty="0">
                <a:solidFill>
                  <a:srgbClr val="1A1A1A"/>
                </a:solidFill>
                <a:latin typeface="Garet"/>
              </a:rPr>
              <a:t>filter results. Claims flow to SQL session context.</a:t>
            </a:r>
          </a:p>
        </p:txBody>
      </p:sp>
      <p:pic>
        <p:nvPicPr>
          <p:cNvPr id="8" name="Copied Picture 8" title="Octopus.png"/>
          <p:cNvPicPr preferRelativeResize="0"/>
          <p:nvPr/>
        </p:nvPicPr>
        <p:blipFill>
          <a:blip r:embed="rId4">
            <a:alphaModFix/>
          </a:blip>
          <a:stretch>
            <a:fillRect/>
          </a:stretch>
        </p:blipFill>
        <p:spPr>
          <a:xfrm rot="1376300">
            <a:off x="7587669" y="3744539"/>
            <a:ext cx="1341412" cy="1341422"/>
          </a:xfrm>
          <a:prstGeom prst="rect">
            <a:avLst/>
          </a:prstGeom>
          <a:noFill/>
          <a:ln>
            <a:noFill/>
          </a:ln>
        </p:spPr>
      </p:pic>
    </p:spTree>
    <p:extLst>
      <p:ext uri="{BB962C8B-B14F-4D97-AF65-F5344CB8AC3E}">
        <p14:creationId xmlns:p14="http://schemas.microsoft.com/office/powerpoint/2010/main" val="24238456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16FC9-F3EF-639D-9DF6-0CCA10871C1C}"/>
            </a:ext>
          </a:extLst>
        </p:cNvPr>
        <p:cNvGrpSpPr/>
        <p:nvPr/>
      </p:nvGrpSpPr>
      <p:grpSpPr>
        <a:xfrm>
          <a:off x="0" y="0"/>
          <a:ext cx="0" cy="0"/>
          <a:chOff x="0" y="0"/>
          <a:chExt cx="0" cy="0"/>
        </a:xfrm>
      </p:grpSpPr>
      <p:sp>
        <p:nvSpPr>
          <p:cNvPr id="65" name="Google Shape;65;p14">
            <a:extLst>
              <a:ext uri="{FF2B5EF4-FFF2-40B4-BE49-F238E27FC236}">
                <a16:creationId xmlns:a16="http://schemas.microsoft.com/office/drawing/2014/main" id="{BDE4FF86-FA40-9928-0FC8-7F034202883E}"/>
              </a:ext>
            </a:extLst>
          </p:cNvPr>
          <p:cNvSpPr/>
          <p:nvPr/>
        </p:nvSpPr>
        <p:spPr>
          <a:xfrm rot="10800000" flipH="1">
            <a:off x="-9816" y="2428866"/>
            <a:ext cx="9163638" cy="2714634"/>
          </a:xfrm>
          <a:prstGeom prst="flowChartDocument">
            <a:avLst/>
          </a:prstGeom>
          <a:solidFill>
            <a:srgbClr val="DEF5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6" name="Google Shape;66;p14" title="Wave.png">
            <a:extLst>
              <a:ext uri="{FF2B5EF4-FFF2-40B4-BE49-F238E27FC236}">
                <a16:creationId xmlns:a16="http://schemas.microsoft.com/office/drawing/2014/main" id="{0C26CF18-26CB-49CE-5BF0-F8194481F34E}"/>
              </a:ext>
            </a:extLst>
          </p:cNvPr>
          <p:cNvPicPr preferRelativeResize="0"/>
          <p:nvPr/>
        </p:nvPicPr>
        <p:blipFill rotWithShape="1">
          <a:blip r:embed="rId3">
            <a:alphaModFix/>
          </a:blip>
          <a:srcRect l="1896" r="1886" b="28947"/>
          <a:stretch/>
        </p:blipFill>
        <p:spPr>
          <a:xfrm>
            <a:off x="-3850" y="3455650"/>
            <a:ext cx="9151677" cy="1687850"/>
          </a:xfrm>
          <a:prstGeom prst="rect">
            <a:avLst/>
          </a:prstGeom>
          <a:noFill/>
          <a:ln>
            <a:noFill/>
          </a:ln>
        </p:spPr>
      </p:pic>
      <p:pic>
        <p:nvPicPr>
          <p:cNvPr id="67" name="Google Shape;67;p14" title="bubbles.png">
            <a:extLst>
              <a:ext uri="{FF2B5EF4-FFF2-40B4-BE49-F238E27FC236}">
                <a16:creationId xmlns:a16="http://schemas.microsoft.com/office/drawing/2014/main" id="{642030E9-407A-F9B6-9365-11C5F9412088}"/>
              </a:ext>
            </a:extLst>
          </p:cNvPr>
          <p:cNvPicPr preferRelativeResize="0"/>
          <p:nvPr/>
        </p:nvPicPr>
        <p:blipFill rotWithShape="1">
          <a:blip r:embed="rId4">
            <a:alphaModFix/>
          </a:blip>
          <a:srcRect l="40507" r="16342"/>
          <a:stretch/>
        </p:blipFill>
        <p:spPr>
          <a:xfrm rot="10800000">
            <a:off x="8308600" y="1506410"/>
            <a:ext cx="765850" cy="2013450"/>
          </a:xfrm>
          <a:prstGeom prst="rect">
            <a:avLst/>
          </a:prstGeom>
          <a:noFill/>
          <a:ln>
            <a:noFill/>
          </a:ln>
        </p:spPr>
      </p:pic>
      <p:pic>
        <p:nvPicPr>
          <p:cNvPr id="68" name="Google Shape;68;p14" title="bubbles 2.png">
            <a:extLst>
              <a:ext uri="{FF2B5EF4-FFF2-40B4-BE49-F238E27FC236}">
                <a16:creationId xmlns:a16="http://schemas.microsoft.com/office/drawing/2014/main" id="{41BBE259-673D-65DD-3485-6478AABC218A}"/>
              </a:ext>
            </a:extLst>
          </p:cNvPr>
          <p:cNvPicPr preferRelativeResize="0"/>
          <p:nvPr/>
        </p:nvPicPr>
        <p:blipFill rotWithShape="1">
          <a:blip r:embed="rId5">
            <a:alphaModFix/>
          </a:blip>
          <a:srcRect l="15139" t="58400" r="62500" b="19350"/>
          <a:stretch/>
        </p:blipFill>
        <p:spPr>
          <a:xfrm rot="742639">
            <a:off x="149255" y="3644868"/>
            <a:ext cx="578386" cy="679568"/>
          </a:xfrm>
          <a:prstGeom prst="rect">
            <a:avLst/>
          </a:prstGeom>
          <a:noFill/>
          <a:ln>
            <a:noFill/>
          </a:ln>
        </p:spPr>
      </p:pic>
      <p:pic>
        <p:nvPicPr>
          <p:cNvPr id="69" name="Google Shape;69;p14" title="bubbles 2.png">
            <a:extLst>
              <a:ext uri="{FF2B5EF4-FFF2-40B4-BE49-F238E27FC236}">
                <a16:creationId xmlns:a16="http://schemas.microsoft.com/office/drawing/2014/main" id="{F3FF1BBB-E0EC-D12A-7693-E6CC1996FA42}"/>
              </a:ext>
            </a:extLst>
          </p:cNvPr>
          <p:cNvPicPr preferRelativeResize="0"/>
          <p:nvPr/>
        </p:nvPicPr>
        <p:blipFill rotWithShape="1">
          <a:blip r:embed="rId5">
            <a:alphaModFix/>
          </a:blip>
          <a:srcRect r="57354" b="65392"/>
          <a:stretch/>
        </p:blipFill>
        <p:spPr>
          <a:xfrm rot="-308349">
            <a:off x="19632" y="2782409"/>
            <a:ext cx="573357" cy="549431"/>
          </a:xfrm>
          <a:prstGeom prst="rect">
            <a:avLst/>
          </a:prstGeom>
          <a:noFill/>
          <a:ln>
            <a:noFill/>
          </a:ln>
        </p:spPr>
      </p:pic>
      <p:pic>
        <p:nvPicPr>
          <p:cNvPr id="70" name="Google Shape;70;p14" title="Tentacles.png">
            <a:extLst>
              <a:ext uri="{FF2B5EF4-FFF2-40B4-BE49-F238E27FC236}">
                <a16:creationId xmlns:a16="http://schemas.microsoft.com/office/drawing/2014/main" id="{DBFB0FC9-BF08-B58A-8EC5-E173DF94EF80}"/>
              </a:ext>
            </a:extLst>
          </p:cNvPr>
          <p:cNvPicPr preferRelativeResize="0"/>
          <p:nvPr/>
        </p:nvPicPr>
        <p:blipFill>
          <a:blip r:embed="rId6">
            <a:alphaModFix/>
          </a:blip>
          <a:stretch>
            <a:fillRect/>
          </a:stretch>
        </p:blipFill>
        <p:spPr>
          <a:xfrm>
            <a:off x="5864377" y="3364666"/>
            <a:ext cx="3406625" cy="1787075"/>
          </a:xfrm>
          <a:prstGeom prst="rect">
            <a:avLst/>
          </a:prstGeom>
          <a:noFill/>
          <a:ln>
            <a:noFill/>
          </a:ln>
        </p:spPr>
      </p:pic>
      <p:sp>
        <p:nvSpPr>
          <p:cNvPr id="71" name="Google Shape;71;p14">
            <a:extLst>
              <a:ext uri="{FF2B5EF4-FFF2-40B4-BE49-F238E27FC236}">
                <a16:creationId xmlns:a16="http://schemas.microsoft.com/office/drawing/2014/main" id="{5E8982B1-BFB1-F12A-5B6E-34B40AFFCDFA}"/>
              </a:ext>
            </a:extLst>
          </p:cNvPr>
          <p:cNvSpPr txBox="1">
            <a:spLocks noGrp="1"/>
          </p:cNvSpPr>
          <p:nvPr>
            <p:ph type="ctrTitle"/>
          </p:nvPr>
        </p:nvSpPr>
        <p:spPr>
          <a:xfrm>
            <a:off x="311700" y="744575"/>
            <a:ext cx="8520600" cy="1446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sz="4000" b="1">
                <a:solidFill>
                  <a:srgbClr val="10265D"/>
                </a:solidFill>
                <a:latin typeface="Etna"/>
              </a:rPr>
              <a:t>Demo: Chase the Sun tracker</a:t>
            </a:r>
            <a:endParaRPr/>
          </a:p>
        </p:txBody>
      </p:sp>
    </p:spTree>
    <p:extLst>
      <p:ext uri="{BB962C8B-B14F-4D97-AF65-F5344CB8AC3E}">
        <p14:creationId xmlns:p14="http://schemas.microsoft.com/office/powerpoint/2010/main" val="759284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31FA6-075B-BEAA-51DB-6612C14D6F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F1C614-F455-5525-C225-1A843874F9E3}"/>
              </a:ext>
            </a:extLst>
          </p:cNvPr>
          <p:cNvSpPr>
            <a:spLocks noGrp="1"/>
          </p:cNvSpPr>
          <p:nvPr>
            <p:ph type="title"/>
          </p:nvPr>
        </p:nvSpPr>
        <p:spPr/>
        <p:txBody>
          <a:bodyPr>
            <a:normAutofit fontScale="90000"/>
          </a:bodyPr>
          <a:lstStyle/>
          <a:p>
            <a:endParaRPr lang="en-GB"/>
          </a:p>
        </p:txBody>
      </p:sp>
      <p:sp>
        <p:nvSpPr>
          <p:cNvPr id="3" name="Text Placeholder 2">
            <a:extLst>
              <a:ext uri="{FF2B5EF4-FFF2-40B4-BE49-F238E27FC236}">
                <a16:creationId xmlns:a16="http://schemas.microsoft.com/office/drawing/2014/main" id="{A77784F2-BD75-6E76-8BC4-BDB69E7E56D9}"/>
              </a:ext>
            </a:extLst>
          </p:cNvPr>
          <p:cNvSpPr>
            <a:spLocks noGrp="1"/>
          </p:cNvSpPr>
          <p:nvPr>
            <p:ph type="body" idx="1"/>
          </p:nvPr>
        </p:nvSpPr>
        <p:spPr/>
        <p:txBody>
          <a:bodyPr/>
          <a:lstStyle/>
          <a:p>
            <a:endParaRPr lang="en-GB"/>
          </a:p>
        </p:txBody>
      </p:sp>
      <p:pic>
        <p:nvPicPr>
          <p:cNvPr id="11" name="Graphic 10">
            <a:extLst>
              <a:ext uri="{FF2B5EF4-FFF2-40B4-BE49-F238E27FC236}">
                <a16:creationId xmlns:a16="http://schemas.microsoft.com/office/drawing/2014/main" id="{B8D464B8-1712-6D4B-9718-C3E6EE8783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60675" y="-2489346"/>
            <a:ext cx="22436950" cy="11442845"/>
          </a:xfrm>
          <a:prstGeom prst="rect">
            <a:avLst/>
          </a:prstGeom>
        </p:spPr>
      </p:pic>
    </p:spTree>
    <p:extLst>
      <p:ext uri="{BB962C8B-B14F-4D97-AF65-F5344CB8AC3E}">
        <p14:creationId xmlns:p14="http://schemas.microsoft.com/office/powerpoint/2010/main" val="25781680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D1A0B-5E5F-8916-8D76-FB46E61BF4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5EDE2F-92A8-68EB-C193-7094C9ED42DD}"/>
              </a:ext>
            </a:extLst>
          </p:cNvPr>
          <p:cNvSpPr>
            <a:spLocks noGrp="1"/>
          </p:cNvSpPr>
          <p:nvPr>
            <p:ph type="title"/>
          </p:nvPr>
        </p:nvSpPr>
        <p:spPr/>
        <p:txBody>
          <a:bodyPr>
            <a:normAutofit fontScale="90000"/>
          </a:bodyPr>
          <a:lstStyle/>
          <a:p>
            <a:endParaRPr lang="en-GB"/>
          </a:p>
        </p:txBody>
      </p:sp>
      <p:sp>
        <p:nvSpPr>
          <p:cNvPr id="3" name="Text Placeholder 2">
            <a:extLst>
              <a:ext uri="{FF2B5EF4-FFF2-40B4-BE49-F238E27FC236}">
                <a16:creationId xmlns:a16="http://schemas.microsoft.com/office/drawing/2014/main" id="{58AEAF3D-EFF8-A9B9-BDB0-FB74178E72D1}"/>
              </a:ext>
            </a:extLst>
          </p:cNvPr>
          <p:cNvSpPr>
            <a:spLocks noGrp="1"/>
          </p:cNvSpPr>
          <p:nvPr>
            <p:ph type="body" idx="1"/>
          </p:nvPr>
        </p:nvSpPr>
        <p:spPr/>
        <p:txBody>
          <a:bodyPr/>
          <a:lstStyle/>
          <a:p>
            <a:endParaRPr lang="en-GB"/>
          </a:p>
        </p:txBody>
      </p:sp>
      <p:pic>
        <p:nvPicPr>
          <p:cNvPr id="11" name="Graphic 10">
            <a:extLst>
              <a:ext uri="{FF2B5EF4-FFF2-40B4-BE49-F238E27FC236}">
                <a16:creationId xmlns:a16="http://schemas.microsoft.com/office/drawing/2014/main" id="{DA113EF9-1A76-3DE6-86E6-70939621ACD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31675" y="-3224137"/>
            <a:ext cx="18925776" cy="9652146"/>
          </a:xfrm>
          <a:prstGeom prst="rect">
            <a:avLst/>
          </a:prstGeom>
        </p:spPr>
      </p:pic>
    </p:spTree>
    <p:extLst>
      <p:ext uri="{BB962C8B-B14F-4D97-AF65-F5344CB8AC3E}">
        <p14:creationId xmlns:p14="http://schemas.microsoft.com/office/powerpoint/2010/main" val="28662656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LeftPanel"/>
          <p:cNvSpPr/>
          <p:nvPr/>
        </p:nvSpPr>
        <p:spPr>
          <a:xfrm>
            <a:off x="0" y="0"/>
            <a:ext cx="2921000" cy="5143500"/>
          </a:xfrm>
          <a:prstGeom prst="rect">
            <a:avLst/>
          </a:prstGeom>
          <a:solidFill>
            <a:srgbClr val="DEF5FF"/>
          </a:solidFill>
          <a:ln>
            <a:noFill/>
          </a:ln>
        </p:spPr>
        <p:txBody>
          <a:bodyPr lIns="274320" tIns="457200" rIns="182880" bIns="91440" anchor="t"/>
          <a:lstStyle/>
          <a:p>
            <a:pPr algn="l">
              <a:spcAft>
                <a:spcPts val="600"/>
              </a:spcAft>
            </a:pPr>
            <a:r>
              <a:rPr lang="en-GB" sz="3200" b="1" dirty="0">
                <a:solidFill>
                  <a:srgbClr val="10265D"/>
                </a:solidFill>
                <a:latin typeface="Etna"/>
              </a:rPr>
              <a:t>DAB in a container</a:t>
            </a:r>
          </a:p>
          <a:p>
            <a:pPr algn="l">
              <a:lnSpc>
                <a:spcPts val="1800"/>
              </a:lnSpc>
            </a:pPr>
            <a:r>
              <a:rPr lang="en-GB" sz="1400" dirty="0">
                <a:solidFill>
                  <a:srgbClr val="530080"/>
                </a:solidFill>
                <a:latin typeface="Garet"/>
              </a:rPr>
              <a:t>Official image.</a:t>
            </a:r>
          </a:p>
          <a:p>
            <a:pPr algn="l">
              <a:lnSpc>
                <a:spcPts val="1800"/>
              </a:lnSpc>
            </a:pPr>
            <a:r>
              <a:rPr lang="en-GB" dirty="0">
                <a:solidFill>
                  <a:srgbClr val="530080"/>
                </a:solidFill>
                <a:latin typeface="Garet"/>
              </a:rPr>
              <a:t>Azure Container App.</a:t>
            </a:r>
            <a:endParaRPr lang="en-GB" sz="1400" dirty="0">
              <a:solidFill>
                <a:srgbClr val="530080"/>
              </a:solidFill>
              <a:latin typeface="Garet"/>
            </a:endParaRPr>
          </a:p>
          <a:p>
            <a:pPr algn="l">
              <a:lnSpc>
                <a:spcPts val="1800"/>
              </a:lnSpc>
            </a:pPr>
            <a:r>
              <a:rPr lang="en-GB" sz="1400" dirty="0">
                <a:solidFill>
                  <a:srgbClr val="530080"/>
                </a:solidFill>
                <a:latin typeface="Garet"/>
              </a:rPr>
              <a:t>MSI auth.</a:t>
            </a:r>
          </a:p>
          <a:p>
            <a:pPr algn="l">
              <a:lnSpc>
                <a:spcPts val="1800"/>
              </a:lnSpc>
            </a:pPr>
            <a:r>
              <a:rPr lang="en-GB" sz="1400" dirty="0">
                <a:solidFill>
                  <a:srgbClr val="530080"/>
                </a:solidFill>
                <a:latin typeface="Garet"/>
              </a:rPr>
              <a:t>Config from file share.</a:t>
            </a:r>
          </a:p>
          <a:p>
            <a:pPr algn="l">
              <a:lnSpc>
                <a:spcPts val="1800"/>
              </a:lnSpc>
            </a:pPr>
            <a:endParaRPr lang="en-GB" sz="1400" dirty="0">
              <a:solidFill>
                <a:srgbClr val="530080"/>
              </a:solidFill>
              <a:latin typeface="Garet"/>
            </a:endParaRPr>
          </a:p>
        </p:txBody>
      </p:sp>
      <p:sp>
        <p:nvSpPr>
          <p:cNvPr id="201" name="AccentStrip"/>
          <p:cNvSpPr/>
          <p:nvPr/>
        </p:nvSpPr>
        <p:spPr>
          <a:xfrm>
            <a:off x="0" y="4889500"/>
            <a:ext cx="2921000" cy="254000"/>
          </a:xfrm>
          <a:prstGeom prst="rect">
            <a:avLst/>
          </a:prstGeom>
          <a:solidFill>
            <a:srgbClr val="530080"/>
          </a:solidFill>
          <a:ln>
            <a:noFill/>
          </a:ln>
        </p:spPr>
        <p:txBody>
          <a:bodyPr/>
          <a:lstStyle/>
          <a:p>
            <a:endParaRPr lang="en-GB"/>
          </a:p>
        </p:txBody>
      </p:sp>
      <p:sp>
        <p:nvSpPr>
          <p:cNvPr id="211" name="Circle01"/>
          <p:cNvSpPr/>
          <p:nvPr/>
        </p:nvSpPr>
        <p:spPr>
          <a:xfrm>
            <a:off x="3175000" y="406400"/>
            <a:ext cx="533400" cy="533400"/>
          </a:xfrm>
          <a:prstGeom prst="ellipse">
            <a:avLst/>
          </a:prstGeom>
          <a:solidFill>
            <a:srgbClr val="530080"/>
          </a:solidFill>
          <a:ln>
            <a:noFill/>
          </a:ln>
        </p:spPr>
        <p:txBody>
          <a:bodyPr wrap="none" lIns="0" tIns="0" rIns="0" bIns="0" anchor="ctr"/>
          <a:lstStyle/>
          <a:p>
            <a:pPr algn="ctr"/>
            <a:r>
              <a:rPr lang="en-GB" sz="1600" b="1" dirty="0">
                <a:solidFill>
                  <a:srgbClr val="FFFFFF"/>
                </a:solidFill>
                <a:latin typeface="Etna"/>
              </a:rPr>
              <a:t>01</a:t>
            </a:r>
          </a:p>
        </p:txBody>
      </p:sp>
      <p:sp>
        <p:nvSpPr>
          <p:cNvPr id="212" name="Text01"/>
          <p:cNvSpPr/>
          <p:nvPr/>
        </p:nvSpPr>
        <p:spPr>
          <a:xfrm>
            <a:off x="3873500" y="342900"/>
            <a:ext cx="5053000" cy="863600"/>
          </a:xfrm>
          <a:prstGeom prst="rect">
            <a:avLst/>
          </a:prstGeom>
          <a:noFill/>
          <a:ln>
            <a:noFill/>
          </a:ln>
        </p:spPr>
        <p:txBody>
          <a:bodyPr lIns="0" tIns="0" rIns="91440" bIns="0" anchor="t"/>
          <a:lstStyle/>
          <a:p>
            <a:pPr algn="l">
              <a:spcAft>
                <a:spcPts val="200"/>
              </a:spcAft>
            </a:pPr>
            <a:r>
              <a:rPr lang="en-GB" sz="1800" b="1" dirty="0">
                <a:solidFill>
                  <a:srgbClr val="10265D"/>
                </a:solidFill>
                <a:latin typeface="Etna"/>
              </a:rPr>
              <a:t>Container image</a:t>
            </a:r>
          </a:p>
          <a:p>
            <a:pPr algn="l">
              <a:lnSpc>
                <a:spcPts val="1600"/>
              </a:lnSpc>
            </a:pPr>
            <a:r>
              <a:rPr lang="en-GB" sz="1300" dirty="0">
                <a:solidFill>
                  <a:srgbClr val="595959"/>
                </a:solidFill>
                <a:latin typeface="Garet"/>
              </a:rPr>
              <a:t>mcr.microsoft.com/azure-databases/data-api-builder:latest</a:t>
            </a:r>
          </a:p>
          <a:p>
            <a:pPr algn="l">
              <a:lnSpc>
                <a:spcPts val="1600"/>
              </a:lnSpc>
            </a:pPr>
            <a:r>
              <a:rPr lang="en-GB" sz="1300" dirty="0">
                <a:solidFill>
                  <a:srgbClr val="595959"/>
                </a:solidFill>
                <a:latin typeface="Garet"/>
              </a:rPr>
              <a:t>Microsoft’s official image. No Dockerfile, no build step.</a:t>
            </a:r>
          </a:p>
        </p:txBody>
      </p:sp>
      <p:sp>
        <p:nvSpPr>
          <p:cNvPr id="213" name="Line01"/>
          <p:cNvSpPr/>
          <p:nvPr/>
        </p:nvSpPr>
        <p:spPr>
          <a:xfrm>
            <a:off x="3175000" y="1370000"/>
            <a:ext cx="5751500" cy="0"/>
          </a:xfrm>
          <a:prstGeom prst="line">
            <a:avLst/>
          </a:prstGeom>
          <a:ln w="6350">
            <a:solidFill>
              <a:srgbClr val="EEEEEE"/>
            </a:solidFill>
          </a:ln>
        </p:spPr>
        <p:txBody>
          <a:bodyPr/>
          <a:lstStyle/>
          <a:p>
            <a:endParaRPr lang="en-GB"/>
          </a:p>
        </p:txBody>
      </p:sp>
      <p:sp>
        <p:nvSpPr>
          <p:cNvPr id="221" name="Circle02"/>
          <p:cNvSpPr/>
          <p:nvPr/>
        </p:nvSpPr>
        <p:spPr>
          <a:xfrm>
            <a:off x="3175000" y="1524000"/>
            <a:ext cx="533400" cy="533400"/>
          </a:xfrm>
          <a:prstGeom prst="ellipse">
            <a:avLst/>
          </a:prstGeom>
          <a:solidFill>
            <a:srgbClr val="530080"/>
          </a:solidFill>
          <a:ln>
            <a:noFill/>
          </a:ln>
        </p:spPr>
        <p:txBody>
          <a:bodyPr wrap="none" lIns="0" tIns="0" rIns="0" bIns="0" anchor="ctr"/>
          <a:lstStyle/>
          <a:p>
            <a:pPr algn="ctr"/>
            <a:r>
              <a:rPr lang="en-GB" sz="1600" b="1" dirty="0">
                <a:solidFill>
                  <a:srgbClr val="FFFFFF"/>
                </a:solidFill>
                <a:latin typeface="Etna"/>
              </a:rPr>
              <a:t>02</a:t>
            </a:r>
          </a:p>
        </p:txBody>
      </p:sp>
      <p:sp>
        <p:nvSpPr>
          <p:cNvPr id="222" name="Text02"/>
          <p:cNvSpPr/>
          <p:nvPr/>
        </p:nvSpPr>
        <p:spPr>
          <a:xfrm>
            <a:off x="3873500" y="1460500"/>
            <a:ext cx="5053000" cy="863600"/>
          </a:xfrm>
          <a:prstGeom prst="rect">
            <a:avLst/>
          </a:prstGeom>
          <a:noFill/>
          <a:ln>
            <a:noFill/>
          </a:ln>
        </p:spPr>
        <p:txBody>
          <a:bodyPr lIns="0" tIns="0" rIns="91440" bIns="0" anchor="t"/>
          <a:lstStyle/>
          <a:p>
            <a:pPr algn="l">
              <a:spcAft>
                <a:spcPts val="200"/>
              </a:spcAft>
            </a:pPr>
            <a:r>
              <a:rPr lang="en-GB" sz="1800" b="1" dirty="0">
                <a:solidFill>
                  <a:srgbClr val="10265D"/>
                </a:solidFill>
                <a:latin typeface="Etna"/>
              </a:rPr>
              <a:t>Managed identity</a:t>
            </a:r>
          </a:p>
          <a:p>
            <a:pPr algn="l">
              <a:lnSpc>
                <a:spcPts val="1600"/>
              </a:lnSpc>
            </a:pPr>
            <a:r>
              <a:rPr lang="en-GB" sz="1300" dirty="0">
                <a:solidFill>
                  <a:srgbClr val="595959"/>
                </a:solidFill>
                <a:latin typeface="Garet"/>
              </a:rPr>
              <a:t>System-assigned MSI authenticates to Azure SQL. </a:t>
            </a:r>
          </a:p>
          <a:p>
            <a:pPr algn="l">
              <a:lnSpc>
                <a:spcPts val="1600"/>
              </a:lnSpc>
            </a:pPr>
            <a:r>
              <a:rPr lang="en-GB" sz="1300" dirty="0">
                <a:solidFill>
                  <a:srgbClr val="595959"/>
                </a:solidFill>
                <a:latin typeface="Garet"/>
              </a:rPr>
              <a:t>No passwords in config, no secrets in code.</a:t>
            </a:r>
          </a:p>
        </p:txBody>
      </p:sp>
      <p:sp>
        <p:nvSpPr>
          <p:cNvPr id="223" name="Line02"/>
          <p:cNvSpPr/>
          <p:nvPr/>
        </p:nvSpPr>
        <p:spPr>
          <a:xfrm>
            <a:off x="3175000" y="2488000"/>
            <a:ext cx="5751500" cy="0"/>
          </a:xfrm>
          <a:prstGeom prst="line">
            <a:avLst/>
          </a:prstGeom>
          <a:ln w="6350">
            <a:solidFill>
              <a:srgbClr val="EEEEEE"/>
            </a:solidFill>
          </a:ln>
        </p:spPr>
        <p:txBody>
          <a:bodyPr/>
          <a:lstStyle/>
          <a:p>
            <a:endParaRPr lang="en-GB"/>
          </a:p>
        </p:txBody>
      </p:sp>
      <p:sp>
        <p:nvSpPr>
          <p:cNvPr id="231" name="Circle03"/>
          <p:cNvSpPr/>
          <p:nvPr/>
        </p:nvSpPr>
        <p:spPr>
          <a:xfrm>
            <a:off x="3175000" y="2641600"/>
            <a:ext cx="533400" cy="533400"/>
          </a:xfrm>
          <a:prstGeom prst="ellipse">
            <a:avLst/>
          </a:prstGeom>
          <a:solidFill>
            <a:srgbClr val="530080"/>
          </a:solidFill>
          <a:ln>
            <a:noFill/>
          </a:ln>
        </p:spPr>
        <p:txBody>
          <a:bodyPr wrap="none" lIns="0" tIns="0" rIns="0" bIns="0" anchor="ctr"/>
          <a:lstStyle/>
          <a:p>
            <a:pPr algn="ctr"/>
            <a:r>
              <a:rPr lang="en-GB" sz="1600" b="1" dirty="0">
                <a:solidFill>
                  <a:srgbClr val="FFFFFF"/>
                </a:solidFill>
                <a:latin typeface="Etna"/>
              </a:rPr>
              <a:t>03</a:t>
            </a:r>
          </a:p>
        </p:txBody>
      </p:sp>
      <p:sp>
        <p:nvSpPr>
          <p:cNvPr id="232" name="Text03"/>
          <p:cNvSpPr/>
          <p:nvPr/>
        </p:nvSpPr>
        <p:spPr>
          <a:xfrm>
            <a:off x="3873500" y="2578100"/>
            <a:ext cx="5053000" cy="863600"/>
          </a:xfrm>
          <a:prstGeom prst="rect">
            <a:avLst/>
          </a:prstGeom>
          <a:noFill/>
          <a:ln>
            <a:noFill/>
          </a:ln>
        </p:spPr>
        <p:txBody>
          <a:bodyPr lIns="0" tIns="0" rIns="91440" bIns="0" anchor="t"/>
          <a:lstStyle/>
          <a:p>
            <a:pPr algn="l">
              <a:spcAft>
                <a:spcPts val="200"/>
              </a:spcAft>
            </a:pPr>
            <a:r>
              <a:rPr lang="en-GB" sz="1800" b="1" dirty="0">
                <a:solidFill>
                  <a:srgbClr val="10265D"/>
                </a:solidFill>
                <a:latin typeface="Etna"/>
              </a:rPr>
              <a:t>Config from file share</a:t>
            </a:r>
          </a:p>
          <a:p>
            <a:pPr algn="l">
              <a:lnSpc>
                <a:spcPts val="1600"/>
              </a:lnSpc>
            </a:pPr>
            <a:r>
              <a:rPr lang="en-GB" sz="1300" dirty="0">
                <a:solidFill>
                  <a:srgbClr val="595959"/>
                </a:solidFill>
                <a:latin typeface="Garet"/>
              </a:rPr>
              <a:t>dab-config.json lives in an Azure File Share, mounted to /cfg. Update config without rebuilding the container.</a:t>
            </a:r>
          </a:p>
        </p:txBody>
      </p:sp>
      <p:pic>
        <p:nvPicPr>
          <p:cNvPr id="3" name="Picture 2">
            <a:extLst>
              <a:ext uri="{FF2B5EF4-FFF2-40B4-BE49-F238E27FC236}">
                <a16:creationId xmlns:a16="http://schemas.microsoft.com/office/drawing/2014/main" id="{962DD381-C639-F9E9-D231-2DB24BF181BA}"/>
              </a:ext>
            </a:extLst>
          </p:cNvPr>
          <p:cNvPicPr>
            <a:picLocks noChangeAspect="1"/>
          </p:cNvPicPr>
          <p:nvPr/>
        </p:nvPicPr>
        <p:blipFill>
          <a:blip r:embed="rId3"/>
          <a:stretch>
            <a:fillRect/>
          </a:stretch>
        </p:blipFill>
        <p:spPr>
          <a:xfrm>
            <a:off x="3759052" y="3857626"/>
            <a:ext cx="5384948" cy="1158874"/>
          </a:xfrm>
          <a:prstGeom prst="rect">
            <a:avLst/>
          </a:prstGeom>
        </p:spPr>
      </p:pic>
      <p:pic>
        <p:nvPicPr>
          <p:cNvPr id="5" name="Picture 4">
            <a:extLst>
              <a:ext uri="{FF2B5EF4-FFF2-40B4-BE49-F238E27FC236}">
                <a16:creationId xmlns:a16="http://schemas.microsoft.com/office/drawing/2014/main" id="{75F7A1E6-69C4-0B91-961F-89E1D8E7F175}"/>
              </a:ext>
            </a:extLst>
          </p:cNvPr>
          <p:cNvPicPr>
            <a:picLocks noChangeAspect="1"/>
          </p:cNvPicPr>
          <p:nvPr/>
        </p:nvPicPr>
        <p:blipFill>
          <a:blip r:embed="rId4"/>
          <a:stretch>
            <a:fillRect/>
          </a:stretch>
        </p:blipFill>
        <p:spPr>
          <a:xfrm>
            <a:off x="3759052" y="3426184"/>
            <a:ext cx="1701800" cy="431442"/>
          </a:xfrm>
          <a:prstGeom prst="rect">
            <a:avLst/>
          </a:prstGeom>
        </p:spPr>
      </p:pic>
    </p:spTree>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3EC9B-15F4-192F-66D2-8A245AE792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A24E2E-B078-939D-E42B-8825B7DB7C65}"/>
              </a:ext>
            </a:extLst>
          </p:cNvPr>
          <p:cNvSpPr>
            <a:spLocks noGrp="1"/>
          </p:cNvSpPr>
          <p:nvPr>
            <p:ph type="title"/>
          </p:nvPr>
        </p:nvSpPr>
        <p:spPr/>
        <p:txBody>
          <a:bodyPr>
            <a:normAutofit fontScale="90000"/>
          </a:bodyPr>
          <a:lstStyle/>
          <a:p>
            <a:endParaRPr lang="en-GB"/>
          </a:p>
        </p:txBody>
      </p:sp>
      <p:sp>
        <p:nvSpPr>
          <p:cNvPr id="3" name="Text Placeholder 2">
            <a:extLst>
              <a:ext uri="{FF2B5EF4-FFF2-40B4-BE49-F238E27FC236}">
                <a16:creationId xmlns:a16="http://schemas.microsoft.com/office/drawing/2014/main" id="{9C7AD429-5FC1-3AA2-DE87-9698ABA31E94}"/>
              </a:ext>
            </a:extLst>
          </p:cNvPr>
          <p:cNvSpPr>
            <a:spLocks noGrp="1"/>
          </p:cNvSpPr>
          <p:nvPr>
            <p:ph type="body" idx="1"/>
          </p:nvPr>
        </p:nvSpPr>
        <p:spPr/>
        <p:txBody>
          <a:bodyPr/>
          <a:lstStyle/>
          <a:p>
            <a:endParaRPr lang="en-GB"/>
          </a:p>
        </p:txBody>
      </p:sp>
      <p:pic>
        <p:nvPicPr>
          <p:cNvPr id="11" name="Graphic 10">
            <a:extLst>
              <a:ext uri="{FF2B5EF4-FFF2-40B4-BE49-F238E27FC236}">
                <a16:creationId xmlns:a16="http://schemas.microsoft.com/office/drawing/2014/main" id="{C3594F61-EC36-49A3-7107-3E5C1B443C2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31675" y="-3169703"/>
            <a:ext cx="18925776" cy="9652146"/>
          </a:xfrm>
          <a:prstGeom prst="rect">
            <a:avLst/>
          </a:prstGeom>
        </p:spPr>
      </p:pic>
    </p:spTree>
    <p:extLst>
      <p:ext uri="{BB962C8B-B14F-4D97-AF65-F5344CB8AC3E}">
        <p14:creationId xmlns:p14="http://schemas.microsoft.com/office/powerpoint/2010/main" val="1024373414"/>
      </p:ext>
    </p:extLst>
  </p:cSld>
  <p:clrMapOvr>
    <a:masterClrMapping/>
  </p:clrMapOvr>
  <p:transition spd="slow">
    <p:push dir="d"/>
  </p:transition>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8849806-4DCA-9719-3FD2-2D12FC7286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940710-55C9-E878-2064-3F26C8AB389F}"/>
              </a:ext>
            </a:extLst>
          </p:cNvPr>
          <p:cNvSpPr>
            <a:spLocks noGrp="1"/>
          </p:cNvSpPr>
          <p:nvPr>
            <p:ph type="title"/>
          </p:nvPr>
        </p:nvSpPr>
        <p:spPr/>
        <p:txBody>
          <a:bodyPr>
            <a:normAutofit fontScale="90000"/>
          </a:bodyPr>
          <a:lstStyle/>
          <a:p>
            <a:endParaRPr lang="en-GB"/>
          </a:p>
        </p:txBody>
      </p:sp>
      <p:sp>
        <p:nvSpPr>
          <p:cNvPr id="3" name="Text Placeholder 2">
            <a:extLst>
              <a:ext uri="{FF2B5EF4-FFF2-40B4-BE49-F238E27FC236}">
                <a16:creationId xmlns:a16="http://schemas.microsoft.com/office/drawing/2014/main" id="{EBF6FF17-EC55-D83A-8241-A9D79EB6C9BF}"/>
              </a:ext>
            </a:extLst>
          </p:cNvPr>
          <p:cNvSpPr>
            <a:spLocks noGrp="1"/>
          </p:cNvSpPr>
          <p:nvPr>
            <p:ph type="body" idx="1"/>
          </p:nvPr>
        </p:nvSpPr>
        <p:spPr/>
        <p:txBody>
          <a:bodyPr/>
          <a:lstStyle/>
          <a:p>
            <a:endParaRPr lang="en-GB"/>
          </a:p>
        </p:txBody>
      </p:sp>
      <p:pic>
        <p:nvPicPr>
          <p:cNvPr id="11" name="Graphic 10">
            <a:extLst>
              <a:ext uri="{FF2B5EF4-FFF2-40B4-BE49-F238E27FC236}">
                <a16:creationId xmlns:a16="http://schemas.microsoft.com/office/drawing/2014/main" id="{DDDD3220-87FA-E537-B1BF-78702001EC5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240030"/>
            <a:ext cx="9144000" cy="4663440"/>
          </a:xfrm>
          <a:prstGeom prst="rect">
            <a:avLst/>
          </a:prstGeom>
        </p:spPr>
      </p:pic>
    </p:spTree>
    <p:extLst>
      <p:ext uri="{BB962C8B-B14F-4D97-AF65-F5344CB8AC3E}">
        <p14:creationId xmlns:p14="http://schemas.microsoft.com/office/powerpoint/2010/main" val="24392467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29C36AFF-E9A8-9B3A-EF9E-E1B70D60ACE2}"/>
            </a:ext>
          </a:extLst>
        </p:cNvPr>
        <p:cNvGrpSpPr/>
        <p:nvPr/>
      </p:nvGrpSpPr>
      <p:grpSpPr>
        <a:xfrm>
          <a:off x="0" y="0"/>
          <a:ext cx="0" cy="0"/>
          <a:chOff x="0" y="0"/>
          <a:chExt cx="0" cy="0"/>
        </a:xfrm>
      </p:grpSpPr>
      <p:pic>
        <p:nvPicPr>
          <p:cNvPr id="11" name="Graphic 10">
            <a:extLst>
              <a:ext uri="{FF2B5EF4-FFF2-40B4-BE49-F238E27FC236}">
                <a16:creationId xmlns:a16="http://schemas.microsoft.com/office/drawing/2014/main" id="{267DCB19-A610-6382-6166-0AF67A769D0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25213" y="-792792"/>
            <a:ext cx="20146297" cy="10274611"/>
          </a:xfrm>
          <a:prstGeom prst="rect">
            <a:avLst/>
          </a:prstGeom>
        </p:spPr>
      </p:pic>
    </p:spTree>
    <p:extLst>
      <p:ext uri="{BB962C8B-B14F-4D97-AF65-F5344CB8AC3E}">
        <p14:creationId xmlns:p14="http://schemas.microsoft.com/office/powerpoint/2010/main" val="37445191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LeftPanel"/>
          <p:cNvSpPr/>
          <p:nvPr/>
        </p:nvSpPr>
        <p:spPr>
          <a:xfrm>
            <a:off x="0" y="0"/>
            <a:ext cx="2921000" cy="5143500"/>
          </a:xfrm>
          <a:prstGeom prst="rect">
            <a:avLst/>
          </a:prstGeom>
          <a:solidFill>
            <a:srgbClr val="DEF5FF"/>
          </a:solidFill>
          <a:ln>
            <a:noFill/>
          </a:ln>
        </p:spPr>
        <p:txBody>
          <a:bodyPr lIns="274320" tIns="457200" rIns="182880" bIns="91440" anchor="t"/>
          <a:lstStyle/>
          <a:p>
            <a:pPr algn="l">
              <a:spcAft>
                <a:spcPts val="600"/>
              </a:spcAft>
            </a:pPr>
            <a:r>
              <a:rPr lang="en-GB" sz="2400" b="1" dirty="0" err="1">
                <a:solidFill>
                  <a:srgbClr val="10265D"/>
                </a:solidFill>
                <a:latin typeface="Etna"/>
              </a:rPr>
              <a:t>IntervalSync</a:t>
            </a:r>
            <a:r>
              <a:rPr lang="en-GB" sz="2400" b="1" dirty="0">
                <a:solidFill>
                  <a:srgbClr val="10265D"/>
                </a:solidFill>
                <a:latin typeface="Etna"/>
              </a:rPr>
              <a:t> </a:t>
            </a:r>
          </a:p>
          <a:p>
            <a:pPr algn="l">
              <a:spcAft>
                <a:spcPts val="600"/>
              </a:spcAft>
            </a:pPr>
            <a:r>
              <a:rPr lang="en-GB" sz="2400" b="1" dirty="0">
                <a:solidFill>
                  <a:srgbClr val="10265D"/>
                </a:solidFill>
                <a:latin typeface="Etna"/>
              </a:rPr>
              <a:t>Azure Function</a:t>
            </a:r>
          </a:p>
          <a:p>
            <a:pPr algn="l">
              <a:lnSpc>
                <a:spcPts val="1800"/>
              </a:lnSpc>
            </a:pPr>
            <a:r>
              <a:rPr lang="en-GB" sz="1400" dirty="0">
                <a:solidFill>
                  <a:srgbClr val="530080"/>
                </a:solidFill>
                <a:latin typeface="Garet"/>
              </a:rPr>
              <a:t>PowerShell 7.4.</a:t>
            </a:r>
          </a:p>
          <a:p>
            <a:pPr algn="l">
              <a:lnSpc>
                <a:spcPts val="1800"/>
              </a:lnSpc>
            </a:pPr>
            <a:r>
              <a:rPr lang="en-GB" sz="1400" dirty="0">
                <a:solidFill>
                  <a:srgbClr val="530080"/>
                </a:solidFill>
                <a:latin typeface="Garet"/>
              </a:rPr>
              <a:t>DAB is the only way in.</a:t>
            </a:r>
          </a:p>
        </p:txBody>
      </p:sp>
      <p:sp>
        <p:nvSpPr>
          <p:cNvPr id="201" name="AccentStrip"/>
          <p:cNvSpPr/>
          <p:nvPr/>
        </p:nvSpPr>
        <p:spPr>
          <a:xfrm>
            <a:off x="0" y="4889500"/>
            <a:ext cx="2921000" cy="254000"/>
          </a:xfrm>
          <a:prstGeom prst="rect">
            <a:avLst/>
          </a:prstGeom>
          <a:solidFill>
            <a:srgbClr val="530080"/>
          </a:solidFill>
          <a:ln>
            <a:noFill/>
          </a:ln>
        </p:spPr>
        <p:txBody>
          <a:bodyPr/>
          <a:lstStyle/>
          <a:p>
            <a:endParaRPr lang="en-GB"/>
          </a:p>
        </p:txBody>
      </p:sp>
      <p:sp>
        <p:nvSpPr>
          <p:cNvPr id="211" name="Circle01"/>
          <p:cNvSpPr/>
          <p:nvPr/>
        </p:nvSpPr>
        <p:spPr>
          <a:xfrm>
            <a:off x="3175000" y="406400"/>
            <a:ext cx="533400" cy="533400"/>
          </a:xfrm>
          <a:prstGeom prst="ellipse">
            <a:avLst/>
          </a:prstGeom>
          <a:solidFill>
            <a:srgbClr val="530080"/>
          </a:solidFill>
          <a:ln>
            <a:noFill/>
          </a:ln>
        </p:spPr>
        <p:txBody>
          <a:bodyPr wrap="none" lIns="0" tIns="0" rIns="0" bIns="0" anchor="ctr"/>
          <a:lstStyle/>
          <a:p>
            <a:pPr algn="ctr"/>
            <a:r>
              <a:rPr lang="en-GB" sz="1600" b="1" dirty="0">
                <a:solidFill>
                  <a:srgbClr val="FFFFFF"/>
                </a:solidFill>
                <a:latin typeface="Etna"/>
              </a:rPr>
              <a:t>01</a:t>
            </a:r>
          </a:p>
        </p:txBody>
      </p:sp>
      <p:sp>
        <p:nvSpPr>
          <p:cNvPr id="212" name="Text01"/>
          <p:cNvSpPr/>
          <p:nvPr/>
        </p:nvSpPr>
        <p:spPr>
          <a:xfrm>
            <a:off x="3873500" y="342900"/>
            <a:ext cx="5053000" cy="863600"/>
          </a:xfrm>
          <a:prstGeom prst="rect">
            <a:avLst/>
          </a:prstGeom>
          <a:noFill/>
          <a:ln>
            <a:noFill/>
          </a:ln>
        </p:spPr>
        <p:txBody>
          <a:bodyPr lIns="0" tIns="0" rIns="91440" bIns="0" anchor="t"/>
          <a:lstStyle/>
          <a:p>
            <a:pPr algn="l">
              <a:spcAft>
                <a:spcPts val="200"/>
              </a:spcAft>
            </a:pPr>
            <a:r>
              <a:rPr lang="en-GB" sz="1800" b="1" dirty="0">
                <a:solidFill>
                  <a:srgbClr val="10265D"/>
                </a:solidFill>
                <a:latin typeface="Etna"/>
              </a:rPr>
              <a:t>Fetch from Intervals.icu</a:t>
            </a:r>
          </a:p>
          <a:p>
            <a:pPr algn="l">
              <a:lnSpc>
                <a:spcPts val="1600"/>
              </a:lnSpc>
            </a:pPr>
            <a:r>
              <a:rPr lang="en-GB" sz="1300" dirty="0">
                <a:solidFill>
                  <a:srgbClr val="595959"/>
                </a:solidFill>
                <a:latin typeface="Garet"/>
              </a:rPr>
              <a:t>Calls the Intervals.icu REST API to pull wellness and activity data — HRV, training load, calories burned.</a:t>
            </a:r>
          </a:p>
        </p:txBody>
      </p:sp>
      <p:sp>
        <p:nvSpPr>
          <p:cNvPr id="213" name="Line01"/>
          <p:cNvSpPr/>
          <p:nvPr/>
        </p:nvSpPr>
        <p:spPr>
          <a:xfrm>
            <a:off x="3175000" y="1370000"/>
            <a:ext cx="5751500" cy="0"/>
          </a:xfrm>
          <a:prstGeom prst="line">
            <a:avLst/>
          </a:prstGeom>
          <a:ln w="6350">
            <a:solidFill>
              <a:srgbClr val="EEEEEE"/>
            </a:solidFill>
          </a:ln>
        </p:spPr>
        <p:txBody>
          <a:bodyPr/>
          <a:lstStyle/>
          <a:p>
            <a:endParaRPr lang="en-GB"/>
          </a:p>
        </p:txBody>
      </p:sp>
      <p:sp>
        <p:nvSpPr>
          <p:cNvPr id="221" name="Circle02"/>
          <p:cNvSpPr/>
          <p:nvPr/>
        </p:nvSpPr>
        <p:spPr>
          <a:xfrm>
            <a:off x="3175000" y="1524000"/>
            <a:ext cx="533400" cy="533400"/>
          </a:xfrm>
          <a:prstGeom prst="ellipse">
            <a:avLst/>
          </a:prstGeom>
          <a:solidFill>
            <a:srgbClr val="530080"/>
          </a:solidFill>
          <a:ln>
            <a:noFill/>
          </a:ln>
        </p:spPr>
        <p:txBody>
          <a:bodyPr wrap="none" lIns="0" tIns="0" rIns="0" bIns="0" anchor="ctr"/>
          <a:lstStyle/>
          <a:p>
            <a:pPr algn="ctr"/>
            <a:r>
              <a:rPr lang="en-GB" sz="1600" b="1" dirty="0">
                <a:solidFill>
                  <a:srgbClr val="FFFFFF"/>
                </a:solidFill>
                <a:latin typeface="Etna"/>
              </a:rPr>
              <a:t>02</a:t>
            </a:r>
          </a:p>
        </p:txBody>
      </p:sp>
      <p:sp>
        <p:nvSpPr>
          <p:cNvPr id="222" name="Text02"/>
          <p:cNvSpPr/>
          <p:nvPr/>
        </p:nvSpPr>
        <p:spPr>
          <a:xfrm>
            <a:off x="3873500" y="1460500"/>
            <a:ext cx="5053000" cy="863600"/>
          </a:xfrm>
          <a:prstGeom prst="rect">
            <a:avLst/>
          </a:prstGeom>
          <a:noFill/>
          <a:ln>
            <a:noFill/>
          </a:ln>
        </p:spPr>
        <p:txBody>
          <a:bodyPr lIns="0" tIns="0" rIns="91440" bIns="0" anchor="t"/>
          <a:lstStyle/>
          <a:p>
            <a:pPr algn="l">
              <a:spcAft>
                <a:spcPts val="200"/>
              </a:spcAft>
            </a:pPr>
            <a:r>
              <a:rPr lang="en-GB" sz="1800" b="1" dirty="0">
                <a:solidFill>
                  <a:srgbClr val="10265D"/>
                </a:solidFill>
                <a:latin typeface="Etna"/>
              </a:rPr>
              <a:t>Token via managed identity</a:t>
            </a:r>
          </a:p>
          <a:p>
            <a:pPr algn="l">
              <a:lnSpc>
                <a:spcPts val="1600"/>
              </a:lnSpc>
            </a:pPr>
            <a:r>
              <a:rPr lang="en-GB" sz="1300" dirty="0">
                <a:solidFill>
                  <a:srgbClr val="595959"/>
                </a:solidFill>
                <a:latin typeface="Garet"/>
              </a:rPr>
              <a:t>Gets a bearer token via the function’s MSI. </a:t>
            </a:r>
          </a:p>
          <a:p>
            <a:pPr algn="l">
              <a:lnSpc>
                <a:spcPts val="1600"/>
              </a:lnSpc>
            </a:pPr>
            <a:r>
              <a:rPr lang="en-GB" sz="1300" dirty="0">
                <a:solidFill>
                  <a:srgbClr val="595959"/>
                </a:solidFill>
                <a:latin typeface="Garet"/>
              </a:rPr>
              <a:t>Role: DAB.Access. </a:t>
            </a:r>
          </a:p>
          <a:p>
            <a:pPr algn="l">
              <a:lnSpc>
                <a:spcPts val="1600"/>
              </a:lnSpc>
            </a:pPr>
            <a:r>
              <a:rPr lang="en-GB" sz="1300" dirty="0">
                <a:solidFill>
                  <a:srgbClr val="595959"/>
                </a:solidFill>
                <a:latin typeface="Garet"/>
              </a:rPr>
              <a:t>No client secrets stored anywhere.</a:t>
            </a:r>
          </a:p>
        </p:txBody>
      </p:sp>
      <p:sp>
        <p:nvSpPr>
          <p:cNvPr id="223" name="Line02"/>
          <p:cNvSpPr/>
          <p:nvPr/>
        </p:nvSpPr>
        <p:spPr>
          <a:xfrm>
            <a:off x="3175000" y="2488000"/>
            <a:ext cx="5751500" cy="0"/>
          </a:xfrm>
          <a:prstGeom prst="line">
            <a:avLst/>
          </a:prstGeom>
          <a:ln w="6350">
            <a:solidFill>
              <a:srgbClr val="EEEEEE"/>
            </a:solidFill>
          </a:ln>
        </p:spPr>
        <p:txBody>
          <a:bodyPr/>
          <a:lstStyle/>
          <a:p>
            <a:endParaRPr lang="en-GB"/>
          </a:p>
        </p:txBody>
      </p:sp>
      <p:sp>
        <p:nvSpPr>
          <p:cNvPr id="231" name="Circle03"/>
          <p:cNvSpPr/>
          <p:nvPr/>
        </p:nvSpPr>
        <p:spPr>
          <a:xfrm>
            <a:off x="3175000" y="2641600"/>
            <a:ext cx="533400" cy="533400"/>
          </a:xfrm>
          <a:prstGeom prst="ellipse">
            <a:avLst/>
          </a:prstGeom>
          <a:solidFill>
            <a:srgbClr val="530080"/>
          </a:solidFill>
          <a:ln>
            <a:noFill/>
          </a:ln>
        </p:spPr>
        <p:txBody>
          <a:bodyPr wrap="none" lIns="0" tIns="0" rIns="0" bIns="0" anchor="ctr"/>
          <a:lstStyle/>
          <a:p>
            <a:pPr algn="ctr"/>
            <a:r>
              <a:rPr lang="en-GB" sz="1600" b="1" dirty="0">
                <a:solidFill>
                  <a:srgbClr val="FFFFFF"/>
                </a:solidFill>
                <a:latin typeface="Etna"/>
              </a:rPr>
              <a:t>03</a:t>
            </a:r>
          </a:p>
        </p:txBody>
      </p:sp>
      <p:sp>
        <p:nvSpPr>
          <p:cNvPr id="232" name="Text03"/>
          <p:cNvSpPr/>
          <p:nvPr/>
        </p:nvSpPr>
        <p:spPr>
          <a:xfrm>
            <a:off x="3873500" y="2578100"/>
            <a:ext cx="5053000" cy="863600"/>
          </a:xfrm>
          <a:prstGeom prst="rect">
            <a:avLst/>
          </a:prstGeom>
          <a:noFill/>
          <a:ln>
            <a:noFill/>
          </a:ln>
        </p:spPr>
        <p:txBody>
          <a:bodyPr lIns="0" tIns="0" rIns="91440" bIns="0" anchor="t"/>
          <a:lstStyle/>
          <a:p>
            <a:pPr algn="l">
              <a:spcAft>
                <a:spcPts val="200"/>
              </a:spcAft>
            </a:pPr>
            <a:r>
              <a:rPr lang="en-GB" sz="1800" b="1" dirty="0">
                <a:solidFill>
                  <a:srgbClr val="10265D"/>
                </a:solidFill>
                <a:latin typeface="Etna"/>
              </a:rPr>
              <a:t>POST to DAB</a:t>
            </a:r>
          </a:p>
          <a:p>
            <a:pPr algn="l">
              <a:lnSpc>
                <a:spcPts val="1600"/>
              </a:lnSpc>
            </a:pPr>
            <a:r>
              <a:rPr lang="en-GB" sz="1300" dirty="0">
                <a:solidFill>
                  <a:srgbClr val="595959"/>
                </a:solidFill>
                <a:latin typeface="Garet"/>
              </a:rPr>
              <a:t>Sends data to the DAB endpoint. </a:t>
            </a:r>
          </a:p>
          <a:p>
            <a:pPr algn="l">
              <a:lnSpc>
                <a:spcPts val="1600"/>
              </a:lnSpc>
            </a:pPr>
            <a:r>
              <a:rPr lang="en-GB" sz="1300" dirty="0">
                <a:solidFill>
                  <a:srgbClr val="595959"/>
                </a:solidFill>
                <a:latin typeface="Garet"/>
              </a:rPr>
              <a:t>DAB validates and writes to Azure SQL. </a:t>
            </a:r>
          </a:p>
          <a:p>
            <a:pPr algn="l">
              <a:lnSpc>
                <a:spcPts val="1600"/>
              </a:lnSpc>
            </a:pPr>
            <a:r>
              <a:rPr lang="en-GB" sz="1300" dirty="0">
                <a:solidFill>
                  <a:srgbClr val="595959"/>
                </a:solidFill>
                <a:latin typeface="Garet"/>
              </a:rPr>
              <a:t>The function never touches the database directly.</a:t>
            </a:r>
          </a:p>
        </p:txBody>
      </p:sp>
      <p:pic>
        <p:nvPicPr>
          <p:cNvPr id="3" name="Picture 2">
            <a:extLst>
              <a:ext uri="{FF2B5EF4-FFF2-40B4-BE49-F238E27FC236}">
                <a16:creationId xmlns:a16="http://schemas.microsoft.com/office/drawing/2014/main" id="{68209F15-D5F9-FEA1-F776-338ECCBDADB4}"/>
              </a:ext>
            </a:extLst>
          </p:cNvPr>
          <p:cNvPicPr>
            <a:picLocks noChangeAspect="1"/>
          </p:cNvPicPr>
          <p:nvPr/>
        </p:nvPicPr>
        <p:blipFill>
          <a:blip r:embed="rId3"/>
          <a:srcRect r="43472"/>
          <a:stretch>
            <a:fillRect/>
          </a:stretch>
        </p:blipFill>
        <p:spPr>
          <a:xfrm>
            <a:off x="3805239" y="3628383"/>
            <a:ext cx="4835525" cy="1515117"/>
          </a:xfrm>
          <a:prstGeom prst="rect">
            <a:avLst/>
          </a:prstGeom>
        </p:spPr>
      </p:pic>
      <p:sp>
        <p:nvSpPr>
          <p:cNvPr id="4" name="Line02">
            <a:extLst>
              <a:ext uri="{FF2B5EF4-FFF2-40B4-BE49-F238E27FC236}">
                <a16:creationId xmlns:a16="http://schemas.microsoft.com/office/drawing/2014/main" id="{6493F9C2-9143-A56F-1EF8-9EF3C3E29A7F}"/>
              </a:ext>
            </a:extLst>
          </p:cNvPr>
          <p:cNvSpPr/>
          <p:nvPr/>
        </p:nvSpPr>
        <p:spPr>
          <a:xfrm>
            <a:off x="3175000" y="3523608"/>
            <a:ext cx="5751500" cy="0"/>
          </a:xfrm>
          <a:prstGeom prst="line">
            <a:avLst/>
          </a:prstGeom>
          <a:ln w="6350">
            <a:solidFill>
              <a:srgbClr val="EEEEEE"/>
            </a:solidFill>
          </a:ln>
        </p:spPr>
        <p:txBody>
          <a:bodyPr/>
          <a:lstStyle/>
          <a:p>
            <a:endParaRPr lang="en-GB"/>
          </a:p>
        </p:txBody>
      </p:sp>
    </p:spTree>
  </p:cSld>
  <p:clrMapOvr>
    <a:masterClrMapping/>
  </p:clrMapOvr>
  <p:transition spd="slow">
    <p:cover/>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14B9BEE1-F82D-1A60-08F6-6FBBB963FEB9}"/>
            </a:ext>
          </a:extLst>
        </p:cNvPr>
        <p:cNvGrpSpPr/>
        <p:nvPr/>
      </p:nvGrpSpPr>
      <p:grpSpPr>
        <a:xfrm>
          <a:off x="0" y="0"/>
          <a:ext cx="0" cy="0"/>
          <a:chOff x="0" y="0"/>
          <a:chExt cx="0" cy="0"/>
        </a:xfrm>
      </p:grpSpPr>
      <p:pic>
        <p:nvPicPr>
          <p:cNvPr id="11" name="Graphic 10">
            <a:extLst>
              <a:ext uri="{FF2B5EF4-FFF2-40B4-BE49-F238E27FC236}">
                <a16:creationId xmlns:a16="http://schemas.microsoft.com/office/drawing/2014/main" id="{F48F967B-E101-869E-A685-9E0A05867C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25213" y="-792792"/>
            <a:ext cx="20146297" cy="10274611"/>
          </a:xfrm>
          <a:prstGeom prst="rect">
            <a:avLst/>
          </a:prstGeom>
        </p:spPr>
      </p:pic>
    </p:spTree>
    <p:extLst>
      <p:ext uri="{BB962C8B-B14F-4D97-AF65-F5344CB8AC3E}">
        <p14:creationId xmlns:p14="http://schemas.microsoft.com/office/powerpoint/2010/main" val="1163369177"/>
      </p:ext>
    </p:extLst>
  </p:cSld>
  <p:clrMapOvr>
    <a:masterClrMapping/>
  </p:clrMapOvr>
  <p:transition spd="med">
    <p:pull/>
  </p:transition>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0F36D69-0020-5415-6BB5-F402E48907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3A7D28-A453-C571-0BD0-365B51DFCE65}"/>
              </a:ext>
            </a:extLst>
          </p:cNvPr>
          <p:cNvSpPr>
            <a:spLocks noGrp="1"/>
          </p:cNvSpPr>
          <p:nvPr>
            <p:ph type="title"/>
          </p:nvPr>
        </p:nvSpPr>
        <p:spPr/>
        <p:txBody>
          <a:bodyPr>
            <a:normAutofit fontScale="90000"/>
          </a:bodyPr>
          <a:lstStyle/>
          <a:p>
            <a:endParaRPr lang="en-GB"/>
          </a:p>
        </p:txBody>
      </p:sp>
      <p:sp>
        <p:nvSpPr>
          <p:cNvPr id="3" name="Text Placeholder 2">
            <a:extLst>
              <a:ext uri="{FF2B5EF4-FFF2-40B4-BE49-F238E27FC236}">
                <a16:creationId xmlns:a16="http://schemas.microsoft.com/office/drawing/2014/main" id="{AEAD25F7-E5D1-788E-4C7E-F53C58492426}"/>
              </a:ext>
            </a:extLst>
          </p:cNvPr>
          <p:cNvSpPr>
            <a:spLocks noGrp="1"/>
          </p:cNvSpPr>
          <p:nvPr>
            <p:ph type="body" idx="1"/>
          </p:nvPr>
        </p:nvSpPr>
        <p:spPr/>
        <p:txBody>
          <a:bodyPr/>
          <a:lstStyle/>
          <a:p>
            <a:endParaRPr lang="en-GB"/>
          </a:p>
        </p:txBody>
      </p:sp>
      <p:pic>
        <p:nvPicPr>
          <p:cNvPr id="11" name="Graphic 10">
            <a:extLst>
              <a:ext uri="{FF2B5EF4-FFF2-40B4-BE49-F238E27FC236}">
                <a16:creationId xmlns:a16="http://schemas.microsoft.com/office/drawing/2014/main" id="{829C2C33-12C9-2D45-953A-A8B0D78226D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240030"/>
            <a:ext cx="9144000" cy="4663440"/>
          </a:xfrm>
          <a:prstGeom prst="rect">
            <a:avLst/>
          </a:prstGeom>
        </p:spPr>
      </p:pic>
    </p:spTree>
    <p:extLst>
      <p:ext uri="{BB962C8B-B14F-4D97-AF65-F5344CB8AC3E}">
        <p14:creationId xmlns:p14="http://schemas.microsoft.com/office/powerpoint/2010/main" val="3253254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737ED510-4C8A-419C-7DC0-A791E19F92AD}"/>
            </a:ext>
          </a:extLst>
        </p:cNvPr>
        <p:cNvGrpSpPr/>
        <p:nvPr/>
      </p:nvGrpSpPr>
      <p:grpSpPr>
        <a:xfrm>
          <a:off x="0" y="0"/>
          <a:ext cx="0" cy="0"/>
          <a:chOff x="0" y="0"/>
          <a:chExt cx="0" cy="0"/>
        </a:xfrm>
      </p:grpSpPr>
      <p:pic>
        <p:nvPicPr>
          <p:cNvPr id="11" name="Graphic 10">
            <a:extLst>
              <a:ext uri="{FF2B5EF4-FFF2-40B4-BE49-F238E27FC236}">
                <a16:creationId xmlns:a16="http://schemas.microsoft.com/office/drawing/2014/main" id="{2FD1FB3E-D051-A491-5B93-C51AF67C5C6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68052" y="-733799"/>
            <a:ext cx="20146297" cy="10274611"/>
          </a:xfrm>
          <a:prstGeom prst="rect">
            <a:avLst/>
          </a:prstGeom>
        </p:spPr>
      </p:pic>
    </p:spTree>
    <p:extLst>
      <p:ext uri="{BB962C8B-B14F-4D97-AF65-F5344CB8AC3E}">
        <p14:creationId xmlns:p14="http://schemas.microsoft.com/office/powerpoint/2010/main" val="7519447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LeftPanel"/>
          <p:cNvSpPr/>
          <p:nvPr/>
        </p:nvSpPr>
        <p:spPr>
          <a:xfrm>
            <a:off x="0" y="0"/>
            <a:ext cx="2921000" cy="5143500"/>
          </a:xfrm>
          <a:prstGeom prst="rect">
            <a:avLst/>
          </a:prstGeom>
          <a:solidFill>
            <a:srgbClr val="DEF5FF"/>
          </a:solidFill>
          <a:ln>
            <a:noFill/>
          </a:ln>
        </p:spPr>
        <p:txBody>
          <a:bodyPr lIns="274320" tIns="457200" rIns="182880" bIns="91440" anchor="t"/>
          <a:lstStyle/>
          <a:p>
            <a:pPr algn="l">
              <a:buNone/>
            </a:pPr>
            <a:r>
              <a:rPr lang="en-GB" sz="3200" b="1" dirty="0">
                <a:solidFill>
                  <a:srgbClr val="10265D"/>
                </a:solidFill>
                <a:latin typeface="Etna"/>
              </a:rPr>
              <a:t>The schedule</a:t>
            </a:r>
          </a:p>
          <a:p>
            <a:pPr algn="l">
              <a:buNone/>
            </a:pPr>
            <a:endParaRPr lang="en-GB" sz="1400" dirty="0"/>
          </a:p>
          <a:p>
            <a:pPr algn="l">
              <a:buNone/>
            </a:pPr>
            <a:r>
              <a:rPr lang="en-GB" sz="1400" b="1" dirty="0">
                <a:solidFill>
                  <a:srgbClr val="530080"/>
                </a:solidFill>
                <a:latin typeface="Garet"/>
              </a:rPr>
              <a:t>Kubernetes CronJob.</a:t>
            </a:r>
          </a:p>
          <a:p>
            <a:pPr algn="l">
              <a:buNone/>
            </a:pPr>
            <a:r>
              <a:rPr lang="en-GB" sz="1400" b="1" dirty="0">
                <a:solidFill>
                  <a:srgbClr val="530080"/>
                </a:solidFill>
                <a:latin typeface="Garet"/>
              </a:rPr>
              <a:t>Python script.</a:t>
            </a:r>
          </a:p>
          <a:p>
            <a:pPr algn="l">
              <a:buNone/>
            </a:pPr>
            <a:r>
              <a:rPr lang="en-GB" sz="1400" b="1" dirty="0">
                <a:solidFill>
                  <a:srgbClr val="530080"/>
                </a:solidFill>
                <a:latin typeface="Garet"/>
              </a:rPr>
              <a:t>Pushes calories to Azure SQL via DAB.</a:t>
            </a:r>
          </a:p>
        </p:txBody>
      </p:sp>
      <p:sp>
        <p:nvSpPr>
          <p:cNvPr id="201" name="AccentStrip"/>
          <p:cNvSpPr/>
          <p:nvPr/>
        </p:nvSpPr>
        <p:spPr>
          <a:xfrm>
            <a:off x="0" y="4889500"/>
            <a:ext cx="2921000" cy="254000"/>
          </a:xfrm>
          <a:prstGeom prst="rect">
            <a:avLst/>
          </a:prstGeom>
          <a:solidFill>
            <a:srgbClr val="530080"/>
          </a:solidFill>
          <a:ln>
            <a:noFill/>
          </a:ln>
        </p:spPr>
        <p:txBody>
          <a:bodyPr/>
          <a:lstStyle/>
          <a:p>
            <a:endParaRPr lang="en-GB"/>
          </a:p>
        </p:txBody>
      </p:sp>
      <p:sp>
        <p:nvSpPr>
          <p:cNvPr id="211" name="Circle01"/>
          <p:cNvSpPr/>
          <p:nvPr/>
        </p:nvSpPr>
        <p:spPr>
          <a:xfrm>
            <a:off x="3175000" y="406400"/>
            <a:ext cx="533400" cy="533400"/>
          </a:xfrm>
          <a:prstGeom prst="ellipse">
            <a:avLst/>
          </a:prstGeom>
          <a:solidFill>
            <a:srgbClr val="530080"/>
          </a:solidFill>
          <a:ln>
            <a:noFill/>
          </a:ln>
        </p:spPr>
        <p:txBody>
          <a:bodyPr wrap="none" lIns="0" tIns="0" rIns="0" bIns="0" anchor="ctr"/>
          <a:lstStyle/>
          <a:p>
            <a:pPr algn="ctr"/>
            <a:r>
              <a:rPr lang="en-GB" sz="1600" b="1" dirty="0">
                <a:solidFill>
                  <a:srgbClr val="FFFFFF"/>
                </a:solidFill>
                <a:latin typeface="Etna"/>
              </a:rPr>
              <a:t>01</a:t>
            </a:r>
          </a:p>
        </p:txBody>
      </p:sp>
      <p:sp>
        <p:nvSpPr>
          <p:cNvPr id="212" name="Text01"/>
          <p:cNvSpPr/>
          <p:nvPr/>
        </p:nvSpPr>
        <p:spPr>
          <a:xfrm>
            <a:off x="3873500" y="342900"/>
            <a:ext cx="5053000" cy="863600"/>
          </a:xfrm>
          <a:prstGeom prst="rect">
            <a:avLst/>
          </a:prstGeom>
          <a:noFill/>
          <a:ln>
            <a:noFill/>
          </a:ln>
        </p:spPr>
        <p:txBody>
          <a:bodyPr lIns="0" tIns="0" rIns="91440" bIns="0" anchor="t"/>
          <a:lstStyle/>
          <a:p>
            <a:pPr algn="l">
              <a:buNone/>
            </a:pPr>
            <a:r>
              <a:rPr lang="en-GB" sz="1800" b="1" dirty="0">
                <a:solidFill>
                  <a:srgbClr val="10265D"/>
                </a:solidFill>
                <a:latin typeface="Etna"/>
              </a:rPr>
              <a:t>Kubernetes CronJob</a:t>
            </a:r>
          </a:p>
          <a:p>
            <a:pPr algn="l">
              <a:buNone/>
            </a:pPr>
            <a:endParaRPr lang="en-GB" sz="1300" dirty="0"/>
          </a:p>
          <a:p>
            <a:pPr algn="l">
              <a:buNone/>
            </a:pPr>
            <a:r>
              <a:rPr lang="en-GB" sz="1300" dirty="0">
                <a:solidFill>
                  <a:srgbClr val="595959"/>
                </a:solidFill>
                <a:latin typeface="Garet"/>
              </a:rPr>
              <a:t>A CronJob on the Kubernetes cluster fires on a fixed schedule and spins up a fresh pod for each run — no long-running service to babysit.</a:t>
            </a:r>
          </a:p>
        </p:txBody>
      </p:sp>
      <p:sp>
        <p:nvSpPr>
          <p:cNvPr id="213" name="Line01"/>
          <p:cNvSpPr/>
          <p:nvPr/>
        </p:nvSpPr>
        <p:spPr>
          <a:xfrm>
            <a:off x="3175000" y="1370000"/>
            <a:ext cx="5751500" cy="0"/>
          </a:xfrm>
          <a:prstGeom prst="line">
            <a:avLst/>
          </a:prstGeom>
          <a:ln w="6350">
            <a:solidFill>
              <a:srgbClr val="EEEEEE"/>
            </a:solidFill>
          </a:ln>
        </p:spPr>
        <p:txBody>
          <a:bodyPr/>
          <a:lstStyle/>
          <a:p>
            <a:endParaRPr lang="en-GB"/>
          </a:p>
        </p:txBody>
      </p:sp>
      <p:sp>
        <p:nvSpPr>
          <p:cNvPr id="221" name="Circle02"/>
          <p:cNvSpPr/>
          <p:nvPr/>
        </p:nvSpPr>
        <p:spPr>
          <a:xfrm>
            <a:off x="3175000" y="1524000"/>
            <a:ext cx="533400" cy="533400"/>
          </a:xfrm>
          <a:prstGeom prst="ellipse">
            <a:avLst/>
          </a:prstGeom>
          <a:solidFill>
            <a:srgbClr val="530080"/>
          </a:solidFill>
          <a:ln>
            <a:noFill/>
          </a:ln>
        </p:spPr>
        <p:txBody>
          <a:bodyPr wrap="none" lIns="0" tIns="0" rIns="0" bIns="0" anchor="ctr"/>
          <a:lstStyle/>
          <a:p>
            <a:pPr algn="ctr"/>
            <a:r>
              <a:rPr lang="en-GB" sz="1600" b="1" dirty="0">
                <a:solidFill>
                  <a:srgbClr val="FFFFFF"/>
                </a:solidFill>
                <a:latin typeface="Etna"/>
              </a:rPr>
              <a:t>02</a:t>
            </a:r>
          </a:p>
        </p:txBody>
      </p:sp>
      <p:sp>
        <p:nvSpPr>
          <p:cNvPr id="222" name="Text02"/>
          <p:cNvSpPr/>
          <p:nvPr/>
        </p:nvSpPr>
        <p:spPr>
          <a:xfrm>
            <a:off x="3873500" y="1460500"/>
            <a:ext cx="5053000" cy="863600"/>
          </a:xfrm>
          <a:prstGeom prst="rect">
            <a:avLst/>
          </a:prstGeom>
          <a:noFill/>
          <a:ln>
            <a:noFill/>
          </a:ln>
        </p:spPr>
        <p:txBody>
          <a:bodyPr lIns="0" tIns="0" rIns="91440" bIns="0" anchor="t"/>
          <a:lstStyle/>
          <a:p>
            <a:pPr algn="l">
              <a:buNone/>
            </a:pPr>
            <a:r>
              <a:rPr lang="en-GB" sz="1800" b="1" dirty="0">
                <a:solidFill>
                  <a:srgbClr val="10265D"/>
                </a:solidFill>
                <a:latin typeface="Etna"/>
              </a:rPr>
              <a:t>Python sync to DAB</a:t>
            </a:r>
          </a:p>
          <a:p>
            <a:pPr algn="l">
              <a:buNone/>
            </a:pPr>
            <a:endParaRPr lang="en-GB" sz="1300" dirty="0"/>
          </a:p>
          <a:p>
            <a:pPr algn="l">
              <a:buNone/>
            </a:pPr>
            <a:r>
              <a:rPr lang="en-GB" sz="1300" dirty="0">
                <a:solidFill>
                  <a:srgbClr val="595959"/>
                </a:solidFill>
                <a:latin typeface="Garet"/>
              </a:rPr>
              <a:t>The pod runs a Python script. That reads daily calorie totals and pushes them to Azure SQL via DAB.</a:t>
            </a:r>
          </a:p>
        </p:txBody>
      </p:sp>
      <p:sp>
        <p:nvSpPr>
          <p:cNvPr id="223" name="Line02"/>
          <p:cNvSpPr/>
          <p:nvPr/>
        </p:nvSpPr>
        <p:spPr>
          <a:xfrm>
            <a:off x="3175000" y="2488000"/>
            <a:ext cx="5751500" cy="0"/>
          </a:xfrm>
          <a:prstGeom prst="line">
            <a:avLst/>
          </a:prstGeom>
          <a:ln w="6350">
            <a:solidFill>
              <a:srgbClr val="EEEEEE"/>
            </a:solidFill>
          </a:ln>
        </p:spPr>
        <p:txBody>
          <a:bodyPr/>
          <a:lstStyle/>
          <a:p>
            <a:endParaRPr lang="en-GB"/>
          </a:p>
        </p:txBody>
      </p:sp>
      <p:pic>
        <p:nvPicPr>
          <p:cNvPr id="3" name="Picture 2">
            <a:extLst>
              <a:ext uri="{FF2B5EF4-FFF2-40B4-BE49-F238E27FC236}">
                <a16:creationId xmlns:a16="http://schemas.microsoft.com/office/drawing/2014/main" id="{A40AD68A-717E-A0F8-7211-DDFE5B08A6B7}"/>
              </a:ext>
            </a:extLst>
          </p:cNvPr>
          <p:cNvPicPr>
            <a:picLocks noChangeAspect="1"/>
          </p:cNvPicPr>
          <p:nvPr/>
        </p:nvPicPr>
        <p:blipFill>
          <a:blip r:embed="rId2"/>
          <a:stretch>
            <a:fillRect/>
          </a:stretch>
        </p:blipFill>
        <p:spPr>
          <a:xfrm>
            <a:off x="3175000" y="2636345"/>
            <a:ext cx="4711700" cy="2504182"/>
          </a:xfrm>
          <a:prstGeom prst="rect">
            <a:avLst/>
          </a:prstGeom>
        </p:spPr>
      </p:pic>
    </p:spTree>
    <p:extLst>
      <p:ext uri="{BB962C8B-B14F-4D97-AF65-F5344CB8AC3E}">
        <p14:creationId xmlns:p14="http://schemas.microsoft.com/office/powerpoint/2010/main" val="849695037"/>
      </p:ext>
    </p:extLst>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8CC88-1A27-4FEB-610C-7DE11C0D1654}"/>
            </a:ext>
          </a:extLst>
        </p:cNvPr>
        <p:cNvGrpSpPr/>
        <p:nvPr/>
      </p:nvGrpSpPr>
      <p:grpSpPr>
        <a:xfrm>
          <a:off x="0" y="0"/>
          <a:ext cx="0" cy="0"/>
          <a:chOff x="0" y="0"/>
          <a:chExt cx="0" cy="0"/>
        </a:xfrm>
      </p:grpSpPr>
      <p:pic>
        <p:nvPicPr>
          <p:cNvPr id="11" name="Graphic 10">
            <a:extLst>
              <a:ext uri="{FF2B5EF4-FFF2-40B4-BE49-F238E27FC236}">
                <a16:creationId xmlns:a16="http://schemas.microsoft.com/office/drawing/2014/main" id="{CCFA4517-5F20-979B-D2DE-D3D698185B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88542" y="-733799"/>
            <a:ext cx="20146297" cy="10274611"/>
          </a:xfrm>
          <a:prstGeom prst="rect">
            <a:avLst/>
          </a:prstGeom>
        </p:spPr>
      </p:pic>
    </p:spTree>
    <p:extLst>
      <p:ext uri="{BB962C8B-B14F-4D97-AF65-F5344CB8AC3E}">
        <p14:creationId xmlns:p14="http://schemas.microsoft.com/office/powerpoint/2010/main" val="2116284051"/>
      </p:ext>
    </p:extLst>
  </p:cSld>
  <p:clrMapOvr>
    <a:masterClrMapping/>
  </p:clrMapOvr>
  <p:transition spd="slow">
    <p:push dir="d"/>
  </p:transition>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D5E2DE8-8D92-EBFE-DFF9-A2C2D730D9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7E7661-09B6-73A3-9E49-50F01341EE10}"/>
              </a:ext>
            </a:extLst>
          </p:cNvPr>
          <p:cNvSpPr>
            <a:spLocks noGrp="1"/>
          </p:cNvSpPr>
          <p:nvPr>
            <p:ph type="title"/>
          </p:nvPr>
        </p:nvSpPr>
        <p:spPr/>
        <p:txBody>
          <a:bodyPr>
            <a:normAutofit fontScale="90000"/>
          </a:bodyPr>
          <a:lstStyle/>
          <a:p>
            <a:endParaRPr lang="en-GB"/>
          </a:p>
        </p:txBody>
      </p:sp>
      <p:sp>
        <p:nvSpPr>
          <p:cNvPr id="3" name="Text Placeholder 2">
            <a:extLst>
              <a:ext uri="{FF2B5EF4-FFF2-40B4-BE49-F238E27FC236}">
                <a16:creationId xmlns:a16="http://schemas.microsoft.com/office/drawing/2014/main" id="{AAB773A8-B7C8-58E8-F5A7-1041FAAEA636}"/>
              </a:ext>
            </a:extLst>
          </p:cNvPr>
          <p:cNvSpPr>
            <a:spLocks noGrp="1"/>
          </p:cNvSpPr>
          <p:nvPr>
            <p:ph type="body" idx="1"/>
          </p:nvPr>
        </p:nvSpPr>
        <p:spPr/>
        <p:txBody>
          <a:bodyPr/>
          <a:lstStyle/>
          <a:p>
            <a:endParaRPr lang="en-GB"/>
          </a:p>
        </p:txBody>
      </p:sp>
      <p:pic>
        <p:nvPicPr>
          <p:cNvPr id="11" name="Graphic 10">
            <a:extLst>
              <a:ext uri="{FF2B5EF4-FFF2-40B4-BE49-F238E27FC236}">
                <a16:creationId xmlns:a16="http://schemas.microsoft.com/office/drawing/2014/main" id="{D423CB22-BCB0-DE0B-4C39-F4D63E6BCC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240030"/>
            <a:ext cx="9144000" cy="4663440"/>
          </a:xfrm>
          <a:prstGeom prst="rect">
            <a:avLst/>
          </a:prstGeom>
        </p:spPr>
      </p:pic>
    </p:spTree>
    <p:extLst>
      <p:ext uri="{BB962C8B-B14F-4D97-AF65-F5344CB8AC3E}">
        <p14:creationId xmlns:p14="http://schemas.microsoft.com/office/powerpoint/2010/main" val="19565444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8CC88-1A27-4FEB-610C-7DE11C0D1654}"/>
            </a:ext>
          </a:extLst>
        </p:cNvPr>
        <p:cNvGrpSpPr/>
        <p:nvPr/>
      </p:nvGrpSpPr>
      <p:grpSpPr>
        <a:xfrm>
          <a:off x="0" y="0"/>
          <a:ext cx="0" cy="0"/>
          <a:chOff x="0" y="0"/>
          <a:chExt cx="0" cy="0"/>
        </a:xfrm>
      </p:grpSpPr>
      <p:pic>
        <p:nvPicPr>
          <p:cNvPr id="11" name="Graphic 10">
            <a:extLst>
              <a:ext uri="{FF2B5EF4-FFF2-40B4-BE49-F238E27FC236}">
                <a16:creationId xmlns:a16="http://schemas.microsoft.com/office/drawing/2014/main" id="{CCFA4517-5F20-979B-D2DE-D3D698185B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002297" y="-881283"/>
            <a:ext cx="20146297" cy="10274611"/>
          </a:xfrm>
          <a:prstGeom prst="rect">
            <a:avLst/>
          </a:prstGeom>
        </p:spPr>
      </p:pic>
    </p:spTree>
    <p:extLst>
      <p:ext uri="{BB962C8B-B14F-4D97-AF65-F5344CB8AC3E}">
        <p14:creationId xmlns:p14="http://schemas.microsoft.com/office/powerpoint/2010/main" val="6849021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LeftPanel"/>
          <p:cNvSpPr/>
          <p:nvPr/>
        </p:nvSpPr>
        <p:spPr>
          <a:xfrm>
            <a:off x="0" y="0"/>
            <a:ext cx="2921000" cy="5143500"/>
          </a:xfrm>
          <a:prstGeom prst="rect">
            <a:avLst/>
          </a:prstGeom>
          <a:solidFill>
            <a:srgbClr val="DEF5FF"/>
          </a:solidFill>
          <a:ln>
            <a:noFill/>
          </a:ln>
        </p:spPr>
        <p:txBody>
          <a:bodyPr lIns="274320" tIns="457200" rIns="182880" bIns="91440" anchor="t"/>
          <a:lstStyle/>
          <a:p>
            <a:pPr algn="l">
              <a:spcAft>
                <a:spcPts val="600"/>
              </a:spcAft>
            </a:pPr>
            <a:r>
              <a:rPr lang="en-GB" sz="3200" b="1" dirty="0">
                <a:solidFill>
                  <a:srgbClr val="10265D"/>
                </a:solidFill>
                <a:latin typeface="Etna"/>
              </a:rPr>
              <a:t>Wellness dashboard</a:t>
            </a:r>
          </a:p>
          <a:p>
            <a:pPr algn="l">
              <a:lnSpc>
                <a:spcPts val="1800"/>
              </a:lnSpc>
            </a:pPr>
            <a:r>
              <a:rPr lang="en-GB" sz="1400" dirty="0">
                <a:solidFill>
                  <a:srgbClr val="530080"/>
                </a:solidFill>
                <a:latin typeface="Garet"/>
              </a:rPr>
              <a:t>Static Web App.</a:t>
            </a:r>
          </a:p>
          <a:p>
            <a:pPr algn="l">
              <a:lnSpc>
                <a:spcPts val="1800"/>
              </a:lnSpc>
            </a:pPr>
            <a:r>
              <a:rPr lang="en-GB" sz="1400" dirty="0">
                <a:solidFill>
                  <a:srgbClr val="530080"/>
                </a:solidFill>
                <a:latin typeface="Garet"/>
              </a:rPr>
              <a:t>DAB is the only backend.</a:t>
            </a:r>
          </a:p>
        </p:txBody>
      </p:sp>
      <p:sp>
        <p:nvSpPr>
          <p:cNvPr id="201" name="AccentStrip"/>
          <p:cNvSpPr/>
          <p:nvPr/>
        </p:nvSpPr>
        <p:spPr>
          <a:xfrm>
            <a:off x="0" y="4889500"/>
            <a:ext cx="2921000" cy="254000"/>
          </a:xfrm>
          <a:prstGeom prst="rect">
            <a:avLst/>
          </a:prstGeom>
          <a:solidFill>
            <a:srgbClr val="530080"/>
          </a:solidFill>
          <a:ln>
            <a:noFill/>
          </a:ln>
        </p:spPr>
        <p:txBody>
          <a:bodyPr/>
          <a:lstStyle/>
          <a:p>
            <a:endParaRPr lang="en-GB"/>
          </a:p>
        </p:txBody>
      </p:sp>
      <p:sp>
        <p:nvSpPr>
          <p:cNvPr id="211" name="Circle01"/>
          <p:cNvSpPr/>
          <p:nvPr/>
        </p:nvSpPr>
        <p:spPr>
          <a:xfrm>
            <a:off x="3175000" y="406400"/>
            <a:ext cx="533400" cy="533400"/>
          </a:xfrm>
          <a:prstGeom prst="ellipse">
            <a:avLst/>
          </a:prstGeom>
          <a:solidFill>
            <a:srgbClr val="530080"/>
          </a:solidFill>
          <a:ln>
            <a:noFill/>
          </a:ln>
        </p:spPr>
        <p:txBody>
          <a:bodyPr wrap="none" lIns="0" tIns="0" rIns="0" bIns="0" anchor="ctr"/>
          <a:lstStyle/>
          <a:p>
            <a:pPr algn="ctr"/>
            <a:r>
              <a:rPr lang="en-GB" sz="1600" b="1" dirty="0">
                <a:solidFill>
                  <a:srgbClr val="FFFFFF"/>
                </a:solidFill>
                <a:latin typeface="Etna"/>
              </a:rPr>
              <a:t>01</a:t>
            </a:r>
          </a:p>
        </p:txBody>
      </p:sp>
      <p:sp>
        <p:nvSpPr>
          <p:cNvPr id="212" name="Text01"/>
          <p:cNvSpPr/>
          <p:nvPr/>
        </p:nvSpPr>
        <p:spPr>
          <a:xfrm>
            <a:off x="3873500" y="342900"/>
            <a:ext cx="5053000" cy="863600"/>
          </a:xfrm>
          <a:prstGeom prst="rect">
            <a:avLst/>
          </a:prstGeom>
          <a:noFill/>
          <a:ln>
            <a:noFill/>
          </a:ln>
        </p:spPr>
        <p:txBody>
          <a:bodyPr lIns="0" tIns="0" rIns="91440" bIns="0" anchor="t"/>
          <a:lstStyle/>
          <a:p>
            <a:pPr algn="l">
              <a:spcAft>
                <a:spcPts val="200"/>
              </a:spcAft>
            </a:pPr>
            <a:r>
              <a:rPr lang="en-GB" sz="1800" b="1" dirty="0">
                <a:solidFill>
                  <a:srgbClr val="10265D"/>
                </a:solidFill>
                <a:latin typeface="Etna"/>
              </a:rPr>
              <a:t>Azure Static Web App</a:t>
            </a:r>
          </a:p>
          <a:p>
            <a:pPr algn="l">
              <a:lnSpc>
                <a:spcPts val="1600"/>
              </a:lnSpc>
            </a:pPr>
            <a:r>
              <a:rPr lang="en-GB" sz="1300" dirty="0">
                <a:solidFill>
                  <a:srgbClr val="595959"/>
                </a:solidFill>
                <a:latin typeface="Garet"/>
              </a:rPr>
              <a:t>Deployed from GitHub. Served from global CDN. No server to manage, no infrastructure to patch.</a:t>
            </a:r>
          </a:p>
        </p:txBody>
      </p:sp>
      <p:sp>
        <p:nvSpPr>
          <p:cNvPr id="213" name="Line01"/>
          <p:cNvSpPr/>
          <p:nvPr/>
        </p:nvSpPr>
        <p:spPr>
          <a:xfrm>
            <a:off x="3175000" y="1370000"/>
            <a:ext cx="5751500" cy="0"/>
          </a:xfrm>
          <a:prstGeom prst="line">
            <a:avLst/>
          </a:prstGeom>
          <a:ln w="6350">
            <a:solidFill>
              <a:srgbClr val="EEEEEE"/>
            </a:solidFill>
          </a:ln>
        </p:spPr>
        <p:txBody>
          <a:bodyPr/>
          <a:lstStyle/>
          <a:p>
            <a:endParaRPr lang="en-GB"/>
          </a:p>
        </p:txBody>
      </p:sp>
      <p:sp>
        <p:nvSpPr>
          <p:cNvPr id="221" name="Circle02"/>
          <p:cNvSpPr/>
          <p:nvPr/>
        </p:nvSpPr>
        <p:spPr>
          <a:xfrm>
            <a:off x="3175000" y="1524000"/>
            <a:ext cx="533400" cy="533400"/>
          </a:xfrm>
          <a:prstGeom prst="ellipse">
            <a:avLst/>
          </a:prstGeom>
          <a:solidFill>
            <a:srgbClr val="530080"/>
          </a:solidFill>
          <a:ln>
            <a:noFill/>
          </a:ln>
        </p:spPr>
        <p:txBody>
          <a:bodyPr wrap="none" lIns="0" tIns="0" rIns="0" bIns="0" anchor="ctr"/>
          <a:lstStyle/>
          <a:p>
            <a:pPr algn="ctr"/>
            <a:r>
              <a:rPr lang="en-GB" sz="1600" b="1" dirty="0">
                <a:solidFill>
                  <a:srgbClr val="FFFFFF"/>
                </a:solidFill>
                <a:latin typeface="Etna"/>
              </a:rPr>
              <a:t>02</a:t>
            </a:r>
          </a:p>
        </p:txBody>
      </p:sp>
      <p:sp>
        <p:nvSpPr>
          <p:cNvPr id="222" name="Text02"/>
          <p:cNvSpPr/>
          <p:nvPr/>
        </p:nvSpPr>
        <p:spPr>
          <a:xfrm>
            <a:off x="3873500" y="1460500"/>
            <a:ext cx="5053000" cy="863600"/>
          </a:xfrm>
          <a:prstGeom prst="rect">
            <a:avLst/>
          </a:prstGeom>
          <a:noFill/>
          <a:ln>
            <a:noFill/>
          </a:ln>
        </p:spPr>
        <p:txBody>
          <a:bodyPr lIns="0" tIns="0" rIns="91440" bIns="0" anchor="t"/>
          <a:lstStyle/>
          <a:p>
            <a:pPr algn="l">
              <a:spcAft>
                <a:spcPts val="200"/>
              </a:spcAft>
            </a:pPr>
            <a:r>
              <a:rPr lang="en-GB" sz="1800" b="1" dirty="0">
                <a:solidFill>
                  <a:srgbClr val="10265D"/>
                </a:solidFill>
                <a:latin typeface="Etna"/>
              </a:rPr>
              <a:t>Reads from DAB directly</a:t>
            </a:r>
          </a:p>
          <a:p>
            <a:pPr algn="l">
              <a:lnSpc>
                <a:spcPts val="1600"/>
              </a:lnSpc>
            </a:pPr>
            <a:r>
              <a:rPr lang="en-GB" sz="1300" dirty="0">
                <a:solidFill>
                  <a:srgbClr val="595959"/>
                </a:solidFill>
                <a:latin typeface="Garet"/>
              </a:rPr>
              <a:t>JavaScript calls the DAB REST endpoint with a bearer token. OData filtering, pagination — that’s it.</a:t>
            </a:r>
          </a:p>
        </p:txBody>
      </p:sp>
      <p:sp>
        <p:nvSpPr>
          <p:cNvPr id="223" name="Line02"/>
          <p:cNvSpPr/>
          <p:nvPr/>
        </p:nvSpPr>
        <p:spPr>
          <a:xfrm>
            <a:off x="3175000" y="2488000"/>
            <a:ext cx="5751500" cy="0"/>
          </a:xfrm>
          <a:prstGeom prst="line">
            <a:avLst/>
          </a:prstGeom>
          <a:ln w="6350">
            <a:solidFill>
              <a:srgbClr val="EEEEEE"/>
            </a:solidFill>
          </a:ln>
        </p:spPr>
        <p:txBody>
          <a:bodyPr/>
          <a:lstStyle/>
          <a:p>
            <a:endParaRPr lang="en-GB"/>
          </a:p>
        </p:txBody>
      </p:sp>
      <p:sp>
        <p:nvSpPr>
          <p:cNvPr id="231" name="Circle03"/>
          <p:cNvSpPr/>
          <p:nvPr/>
        </p:nvSpPr>
        <p:spPr>
          <a:xfrm>
            <a:off x="3175000" y="2641600"/>
            <a:ext cx="533400" cy="533400"/>
          </a:xfrm>
          <a:prstGeom prst="ellipse">
            <a:avLst/>
          </a:prstGeom>
          <a:solidFill>
            <a:srgbClr val="530080"/>
          </a:solidFill>
          <a:ln>
            <a:noFill/>
          </a:ln>
        </p:spPr>
        <p:txBody>
          <a:bodyPr wrap="none" lIns="0" tIns="0" rIns="0" bIns="0" anchor="ctr"/>
          <a:lstStyle/>
          <a:p>
            <a:pPr algn="ctr"/>
            <a:r>
              <a:rPr lang="en-GB" sz="1600" b="1" dirty="0">
                <a:solidFill>
                  <a:srgbClr val="FFFFFF"/>
                </a:solidFill>
                <a:latin typeface="Etna"/>
              </a:rPr>
              <a:t>03</a:t>
            </a:r>
          </a:p>
        </p:txBody>
      </p:sp>
      <p:sp>
        <p:nvSpPr>
          <p:cNvPr id="232" name="Text03"/>
          <p:cNvSpPr/>
          <p:nvPr/>
        </p:nvSpPr>
        <p:spPr>
          <a:xfrm>
            <a:off x="3873500" y="2578100"/>
            <a:ext cx="5053000" cy="863600"/>
          </a:xfrm>
          <a:prstGeom prst="rect">
            <a:avLst/>
          </a:prstGeom>
          <a:noFill/>
          <a:ln>
            <a:noFill/>
          </a:ln>
        </p:spPr>
        <p:txBody>
          <a:bodyPr lIns="0" tIns="0" rIns="91440" bIns="0" anchor="t"/>
          <a:lstStyle/>
          <a:p>
            <a:pPr algn="l">
              <a:spcAft>
                <a:spcPts val="200"/>
              </a:spcAft>
            </a:pPr>
            <a:r>
              <a:rPr lang="en-GB" sz="1800" b="1" dirty="0">
                <a:solidFill>
                  <a:srgbClr val="10265D"/>
                </a:solidFill>
                <a:latin typeface="Etna"/>
              </a:rPr>
              <a:t>No separate API layer</a:t>
            </a:r>
          </a:p>
          <a:p>
            <a:pPr algn="l">
              <a:lnSpc>
                <a:spcPts val="1600"/>
              </a:lnSpc>
            </a:pPr>
            <a:r>
              <a:rPr lang="en-GB" sz="1300" dirty="0">
                <a:solidFill>
                  <a:srgbClr val="595959"/>
                </a:solidFill>
                <a:latin typeface="Garet"/>
              </a:rPr>
              <a:t>DAB handles auth, filtering, and data access. The dashboard is pure HTML, CSS, and JS.</a:t>
            </a:r>
          </a:p>
        </p:txBody>
      </p:sp>
      <p:pic>
        <p:nvPicPr>
          <p:cNvPr id="3" name="Picture 2">
            <a:extLst>
              <a:ext uri="{FF2B5EF4-FFF2-40B4-BE49-F238E27FC236}">
                <a16:creationId xmlns:a16="http://schemas.microsoft.com/office/drawing/2014/main" id="{980DC687-E9ED-ED13-4D50-D6CD44E69506}"/>
              </a:ext>
            </a:extLst>
          </p:cNvPr>
          <p:cNvPicPr>
            <a:picLocks noChangeAspect="1"/>
          </p:cNvPicPr>
          <p:nvPr/>
        </p:nvPicPr>
        <p:blipFill>
          <a:blip r:embed="rId2"/>
          <a:stretch>
            <a:fillRect/>
          </a:stretch>
        </p:blipFill>
        <p:spPr>
          <a:xfrm>
            <a:off x="3708400" y="3625793"/>
            <a:ext cx="4962780" cy="1111307"/>
          </a:xfrm>
          <a:prstGeom prst="rect">
            <a:avLst/>
          </a:prstGeom>
        </p:spPr>
      </p:pic>
    </p:spTree>
  </p:cSld>
  <p:clrMapOvr>
    <a:masterClrMapping/>
  </p:clrMapOvr>
  <p:transition spd="med">
    <p:pull/>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105AC-E108-6F4F-5298-B781F3ED0973}"/>
            </a:ext>
          </a:extLst>
        </p:cNvPr>
        <p:cNvGrpSpPr/>
        <p:nvPr/>
      </p:nvGrpSpPr>
      <p:grpSpPr>
        <a:xfrm>
          <a:off x="0" y="0"/>
          <a:ext cx="0" cy="0"/>
          <a:chOff x="0" y="0"/>
          <a:chExt cx="0" cy="0"/>
        </a:xfrm>
      </p:grpSpPr>
      <p:sp>
        <p:nvSpPr>
          <p:cNvPr id="65" name="Google Shape;65;p14">
            <a:extLst>
              <a:ext uri="{FF2B5EF4-FFF2-40B4-BE49-F238E27FC236}">
                <a16:creationId xmlns:a16="http://schemas.microsoft.com/office/drawing/2014/main" id="{B3EE1B97-F418-9A93-3591-23882A08F633}"/>
              </a:ext>
            </a:extLst>
          </p:cNvPr>
          <p:cNvSpPr/>
          <p:nvPr/>
        </p:nvSpPr>
        <p:spPr>
          <a:xfrm rot="10800000" flipH="1">
            <a:off x="-9816" y="2428866"/>
            <a:ext cx="9163638" cy="2714634"/>
          </a:xfrm>
          <a:prstGeom prst="flowChartDocument">
            <a:avLst/>
          </a:prstGeom>
          <a:solidFill>
            <a:srgbClr val="DEF5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6" name="Google Shape;66;p14" title="Wave.png">
            <a:extLst>
              <a:ext uri="{FF2B5EF4-FFF2-40B4-BE49-F238E27FC236}">
                <a16:creationId xmlns:a16="http://schemas.microsoft.com/office/drawing/2014/main" id="{FEF9E968-A41E-1B90-D0E2-F51B3EC0EBA6}"/>
              </a:ext>
            </a:extLst>
          </p:cNvPr>
          <p:cNvPicPr preferRelativeResize="0"/>
          <p:nvPr/>
        </p:nvPicPr>
        <p:blipFill rotWithShape="1">
          <a:blip r:embed="rId3">
            <a:alphaModFix/>
          </a:blip>
          <a:srcRect l="1896" r="1886" b="28947"/>
          <a:stretch/>
        </p:blipFill>
        <p:spPr>
          <a:xfrm>
            <a:off x="-3850" y="3455650"/>
            <a:ext cx="9151677" cy="1687850"/>
          </a:xfrm>
          <a:prstGeom prst="rect">
            <a:avLst/>
          </a:prstGeom>
          <a:noFill/>
          <a:ln>
            <a:noFill/>
          </a:ln>
        </p:spPr>
      </p:pic>
      <p:pic>
        <p:nvPicPr>
          <p:cNvPr id="70" name="Google Shape;70;p14" title="Tentacles.png">
            <a:extLst>
              <a:ext uri="{FF2B5EF4-FFF2-40B4-BE49-F238E27FC236}">
                <a16:creationId xmlns:a16="http://schemas.microsoft.com/office/drawing/2014/main" id="{BF440449-1B05-C6BB-E23B-287C79DBA195}"/>
              </a:ext>
            </a:extLst>
          </p:cNvPr>
          <p:cNvPicPr preferRelativeResize="0"/>
          <p:nvPr/>
        </p:nvPicPr>
        <p:blipFill>
          <a:blip r:embed="rId4">
            <a:alphaModFix/>
          </a:blip>
          <a:stretch>
            <a:fillRect/>
          </a:stretch>
        </p:blipFill>
        <p:spPr>
          <a:xfrm>
            <a:off x="5864377" y="3364666"/>
            <a:ext cx="3406625" cy="1787075"/>
          </a:xfrm>
          <a:prstGeom prst="rect">
            <a:avLst/>
          </a:prstGeom>
          <a:noFill/>
          <a:ln>
            <a:noFill/>
          </a:ln>
        </p:spPr>
      </p:pic>
      <p:sp>
        <p:nvSpPr>
          <p:cNvPr id="71" name="Google Shape;71;p14">
            <a:extLst>
              <a:ext uri="{FF2B5EF4-FFF2-40B4-BE49-F238E27FC236}">
                <a16:creationId xmlns:a16="http://schemas.microsoft.com/office/drawing/2014/main" id="{9913CB60-D2D6-A215-9F0A-DF4119FFE127}"/>
              </a:ext>
            </a:extLst>
          </p:cNvPr>
          <p:cNvSpPr txBox="1">
            <a:spLocks noGrp="1"/>
          </p:cNvSpPr>
          <p:nvPr>
            <p:ph type="ctrTitle"/>
          </p:nvPr>
        </p:nvSpPr>
        <p:spPr>
          <a:xfrm>
            <a:off x="216007" y="335748"/>
            <a:ext cx="8520600" cy="722718"/>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US" sz="4000" b="1" dirty="0">
                <a:solidFill>
                  <a:srgbClr val="10265D"/>
                </a:solidFill>
                <a:latin typeface="Etna"/>
              </a:rPr>
              <a:t>Hold on – Back to the Story…</a:t>
            </a:r>
            <a:endParaRPr lang="en-US" dirty="0"/>
          </a:p>
        </p:txBody>
      </p:sp>
      <p:pic>
        <p:nvPicPr>
          <p:cNvPr id="3" name="Picture 2">
            <a:extLst>
              <a:ext uri="{FF2B5EF4-FFF2-40B4-BE49-F238E27FC236}">
                <a16:creationId xmlns:a16="http://schemas.microsoft.com/office/drawing/2014/main" id="{8CD74BED-ADA0-00E8-3F57-3D73826D95EB}"/>
              </a:ext>
            </a:extLst>
          </p:cNvPr>
          <p:cNvPicPr>
            <a:picLocks noChangeAspect="1"/>
          </p:cNvPicPr>
          <p:nvPr/>
        </p:nvPicPr>
        <p:blipFill>
          <a:blip r:embed="rId5"/>
          <a:stretch>
            <a:fillRect/>
          </a:stretch>
        </p:blipFill>
        <p:spPr>
          <a:xfrm>
            <a:off x="308347" y="1104171"/>
            <a:ext cx="7658490" cy="4052617"/>
          </a:xfrm>
          <a:prstGeom prst="rect">
            <a:avLst/>
          </a:prstGeom>
        </p:spPr>
      </p:pic>
    </p:spTree>
    <p:extLst>
      <p:ext uri="{BB962C8B-B14F-4D97-AF65-F5344CB8AC3E}">
        <p14:creationId xmlns:p14="http://schemas.microsoft.com/office/powerpoint/2010/main" val="228706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61885-DC3B-3931-A814-D8C1069ACE4B}"/>
            </a:ext>
          </a:extLst>
        </p:cNvPr>
        <p:cNvGrpSpPr/>
        <p:nvPr/>
      </p:nvGrpSpPr>
      <p:grpSpPr>
        <a:xfrm>
          <a:off x="0" y="0"/>
          <a:ext cx="0" cy="0"/>
          <a:chOff x="0" y="0"/>
          <a:chExt cx="0" cy="0"/>
        </a:xfrm>
      </p:grpSpPr>
      <p:sp>
        <p:nvSpPr>
          <p:cNvPr id="65" name="Google Shape;65;p14">
            <a:extLst>
              <a:ext uri="{FF2B5EF4-FFF2-40B4-BE49-F238E27FC236}">
                <a16:creationId xmlns:a16="http://schemas.microsoft.com/office/drawing/2014/main" id="{CC34074F-7BB8-ED29-0719-0ECA6DA9FCF1}"/>
              </a:ext>
            </a:extLst>
          </p:cNvPr>
          <p:cNvSpPr/>
          <p:nvPr/>
        </p:nvSpPr>
        <p:spPr>
          <a:xfrm rot="10800000" flipH="1">
            <a:off x="-9816" y="2428866"/>
            <a:ext cx="9163638" cy="2714634"/>
          </a:xfrm>
          <a:prstGeom prst="flowChartDocument">
            <a:avLst/>
          </a:prstGeom>
          <a:solidFill>
            <a:srgbClr val="DEF5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6" name="Google Shape;66;p14" title="Wave.png">
            <a:extLst>
              <a:ext uri="{FF2B5EF4-FFF2-40B4-BE49-F238E27FC236}">
                <a16:creationId xmlns:a16="http://schemas.microsoft.com/office/drawing/2014/main" id="{E358A572-62E4-CC87-F6AF-A6075527763E}"/>
              </a:ext>
            </a:extLst>
          </p:cNvPr>
          <p:cNvPicPr preferRelativeResize="0"/>
          <p:nvPr/>
        </p:nvPicPr>
        <p:blipFill rotWithShape="1">
          <a:blip r:embed="rId3">
            <a:alphaModFix/>
          </a:blip>
          <a:srcRect l="1896" r="1886" b="28947"/>
          <a:stretch/>
        </p:blipFill>
        <p:spPr>
          <a:xfrm>
            <a:off x="-3850" y="3455650"/>
            <a:ext cx="9151677" cy="1687850"/>
          </a:xfrm>
          <a:prstGeom prst="rect">
            <a:avLst/>
          </a:prstGeom>
          <a:noFill/>
          <a:ln>
            <a:noFill/>
          </a:ln>
        </p:spPr>
      </p:pic>
      <p:pic>
        <p:nvPicPr>
          <p:cNvPr id="70" name="Google Shape;70;p14" title="Tentacles.png">
            <a:extLst>
              <a:ext uri="{FF2B5EF4-FFF2-40B4-BE49-F238E27FC236}">
                <a16:creationId xmlns:a16="http://schemas.microsoft.com/office/drawing/2014/main" id="{84318C83-ACAD-6D32-87C3-551560D43C7A}"/>
              </a:ext>
            </a:extLst>
          </p:cNvPr>
          <p:cNvPicPr preferRelativeResize="0"/>
          <p:nvPr/>
        </p:nvPicPr>
        <p:blipFill>
          <a:blip r:embed="rId4">
            <a:alphaModFix/>
          </a:blip>
          <a:stretch>
            <a:fillRect/>
          </a:stretch>
        </p:blipFill>
        <p:spPr>
          <a:xfrm>
            <a:off x="5864377" y="3364666"/>
            <a:ext cx="3406625" cy="1787075"/>
          </a:xfrm>
          <a:prstGeom prst="rect">
            <a:avLst/>
          </a:prstGeom>
          <a:noFill/>
          <a:ln>
            <a:noFill/>
          </a:ln>
        </p:spPr>
      </p:pic>
      <p:sp>
        <p:nvSpPr>
          <p:cNvPr id="71" name="Google Shape;71;p14">
            <a:extLst>
              <a:ext uri="{FF2B5EF4-FFF2-40B4-BE49-F238E27FC236}">
                <a16:creationId xmlns:a16="http://schemas.microsoft.com/office/drawing/2014/main" id="{CB394C3F-F1A1-CD95-B6C8-742A3D358AD2}"/>
              </a:ext>
            </a:extLst>
          </p:cNvPr>
          <p:cNvSpPr txBox="1">
            <a:spLocks noGrp="1"/>
          </p:cNvSpPr>
          <p:nvPr>
            <p:ph type="ctrTitle"/>
          </p:nvPr>
        </p:nvSpPr>
        <p:spPr>
          <a:xfrm>
            <a:off x="216007" y="335748"/>
            <a:ext cx="8520600" cy="722718"/>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US" sz="4000" b="1" dirty="0">
                <a:solidFill>
                  <a:srgbClr val="10265D"/>
                </a:solidFill>
                <a:latin typeface="Etna"/>
              </a:rPr>
              <a:t>Hold on – Back to the Story…</a:t>
            </a:r>
            <a:endParaRPr lang="en-US" dirty="0"/>
          </a:p>
        </p:txBody>
      </p:sp>
      <p:pic>
        <p:nvPicPr>
          <p:cNvPr id="5" name="Picture 4" descr="A group of people riding bicycles on a bridge&#10;&#10;AI-generated content may be incorrect.">
            <a:extLst>
              <a:ext uri="{FF2B5EF4-FFF2-40B4-BE49-F238E27FC236}">
                <a16:creationId xmlns:a16="http://schemas.microsoft.com/office/drawing/2014/main" id="{7961F563-B256-3941-C9CE-EF71387696BF}"/>
              </a:ext>
            </a:extLst>
          </p:cNvPr>
          <p:cNvPicPr>
            <a:picLocks noChangeAspect="1"/>
          </p:cNvPicPr>
          <p:nvPr/>
        </p:nvPicPr>
        <p:blipFill>
          <a:blip r:embed="rId5"/>
          <a:stretch>
            <a:fillRect/>
          </a:stretch>
        </p:blipFill>
        <p:spPr>
          <a:xfrm>
            <a:off x="-9816" y="-1233323"/>
            <a:ext cx="9579935" cy="6385064"/>
          </a:xfrm>
          <a:prstGeom prst="rect">
            <a:avLst/>
          </a:prstGeom>
        </p:spPr>
      </p:pic>
    </p:spTree>
    <p:extLst>
      <p:ext uri="{BB962C8B-B14F-4D97-AF65-F5344CB8AC3E}">
        <p14:creationId xmlns:p14="http://schemas.microsoft.com/office/powerpoint/2010/main" val="15530652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 name="Google Shape;113;p19" title="Wave.png"/>
          <p:cNvPicPr preferRelativeResize="0"/>
          <p:nvPr/>
        </p:nvPicPr>
        <p:blipFill rotWithShape="1">
          <a:blip r:embed="rId3">
            <a:alphaModFix amt="50000"/>
          </a:blip>
          <a:srcRect l="1876" r="1905" b="34193"/>
          <a:stretch/>
        </p:blipFill>
        <p:spPr>
          <a:xfrm>
            <a:off x="-3850" y="3580350"/>
            <a:ext cx="9151677" cy="1563150"/>
          </a:xfrm>
          <a:prstGeom prst="rect">
            <a:avLst/>
          </a:prstGeom>
          <a:noFill/>
          <a:ln>
            <a:noFill/>
          </a:ln>
        </p:spPr>
      </p:pic>
      <p:sp>
        <p:nvSpPr>
          <p:cNvPr id="119" name="TextBox 118"/>
          <p:cNvSpPr txBox="1"/>
          <p:nvPr/>
        </p:nvSpPr>
        <p:spPr>
          <a:xfrm>
            <a:off x="311700" y="350000"/>
            <a:ext cx="8520600" cy="1050000"/>
          </a:xfrm>
          <a:prstGeom prst="rect">
            <a:avLst/>
          </a:prstGeom>
          <a:noFill/>
        </p:spPr>
        <p:txBody>
          <a:bodyPr wrap="square" lIns="0" tIns="0" rIns="0" bIns="0" anchor="t">
            <a:spAutoFit/>
          </a:bodyPr>
          <a:lstStyle/>
          <a:p>
            <a:pPr algn="l"/>
            <a:r>
              <a:rPr sz="3600" b="1">
                <a:solidFill>
                  <a:srgbClr val="10265D"/>
                </a:solidFill>
                <a:latin typeface="Etna"/>
              </a:rPr>
              <a:t>Demo: Wellness dashboard</a:t>
            </a:r>
          </a:p>
        </p:txBody>
      </p:sp>
      <p:pic>
        <p:nvPicPr>
          <p:cNvPr id="4" name="Picture 3">
            <a:extLst>
              <a:ext uri="{FF2B5EF4-FFF2-40B4-BE49-F238E27FC236}">
                <a16:creationId xmlns:a16="http://schemas.microsoft.com/office/drawing/2014/main" id="{0845836B-1EB2-A6FB-69AF-2B281B7C64B0}"/>
              </a:ext>
            </a:extLst>
          </p:cNvPr>
          <p:cNvPicPr>
            <a:picLocks noChangeAspect="1"/>
          </p:cNvPicPr>
          <p:nvPr/>
        </p:nvPicPr>
        <p:blipFill>
          <a:blip r:embed="rId4"/>
          <a:stretch>
            <a:fillRect/>
          </a:stretch>
        </p:blipFill>
        <p:spPr>
          <a:xfrm>
            <a:off x="1693336" y="980785"/>
            <a:ext cx="6241974" cy="4815238"/>
          </a:xfrm>
          <a:prstGeom prst="rect">
            <a:avLst/>
          </a:prstGeom>
        </p:spPr>
      </p:pic>
    </p:spTree>
  </p:cSld>
  <p:clrMapOvr>
    <a:masterClrMapping/>
  </p:clrMapOvr>
  <p:transition spd="slow">
    <p:push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pied Picture 4" title="Wave.png"/>
          <p:cNvPicPr preferRelativeResize="0"/>
          <p:nvPr/>
        </p:nvPicPr>
        <p:blipFill rotWithShape="1">
          <a:blip r:embed="rId3">
            <a:alphaModFix amt="50000"/>
          </a:blip>
          <a:srcRect l="1876" r="1905" b="34193"/>
          <a:stretch/>
        </p:blipFill>
        <p:spPr>
          <a:xfrm>
            <a:off x="-3850" y="3580350"/>
            <a:ext cx="9151677" cy="1563150"/>
          </a:xfrm>
          <a:prstGeom prst="rect">
            <a:avLst/>
          </a:prstGeom>
          <a:noFill/>
          <a:ln>
            <a:noFill/>
          </a:ln>
        </p:spPr>
      </p:pic>
      <p:pic>
        <p:nvPicPr>
          <p:cNvPr id="8" name="Copied Picture 8" title="Octopus.png"/>
          <p:cNvPicPr preferRelativeResize="0"/>
          <p:nvPr/>
        </p:nvPicPr>
        <p:blipFill>
          <a:blip r:embed="rId4">
            <a:alphaModFix/>
          </a:blip>
          <a:stretch>
            <a:fillRect/>
          </a:stretch>
        </p:blipFill>
        <p:spPr>
          <a:xfrm rot="1376300">
            <a:off x="7587669" y="3744539"/>
            <a:ext cx="1341412" cy="1341422"/>
          </a:xfrm>
          <a:prstGeom prst="rect">
            <a:avLst/>
          </a:prstGeom>
          <a:noFill/>
          <a:ln>
            <a:noFill/>
          </a:ln>
        </p:spPr>
      </p:pic>
      <p:sp>
        <p:nvSpPr>
          <p:cNvPr id="2" name="Title 1">
            <a:extLst>
              <a:ext uri="{FF2B5EF4-FFF2-40B4-BE49-F238E27FC236}">
                <a16:creationId xmlns:a16="http://schemas.microsoft.com/office/drawing/2014/main" id="{D24F9AFC-C6EC-0B06-FB80-31789DDF37EC}"/>
              </a:ext>
            </a:extLst>
          </p:cNvPr>
          <p:cNvSpPr>
            <a:spLocks noGrp="1"/>
          </p:cNvSpPr>
          <p:nvPr>
            <p:ph type="title"/>
          </p:nvPr>
        </p:nvSpPr>
        <p:spPr/>
        <p:txBody>
          <a:bodyPr>
            <a:normAutofit fontScale="90000"/>
          </a:bodyPr>
          <a:lstStyle/>
          <a:p>
            <a:pPr algn="l"/>
            <a:r>
              <a:rPr lang="en-GB" sz="3600" b="1" dirty="0">
                <a:solidFill>
                  <a:srgbClr val="10265D"/>
                </a:solidFill>
                <a:latin typeface="Etna"/>
              </a:rPr>
              <a:t>Auto Entities</a:t>
            </a:r>
          </a:p>
        </p:txBody>
      </p:sp>
      <p:sp>
        <p:nvSpPr>
          <p:cNvPr id="3" name="Text Placeholder 2">
            <a:extLst>
              <a:ext uri="{FF2B5EF4-FFF2-40B4-BE49-F238E27FC236}">
                <a16:creationId xmlns:a16="http://schemas.microsoft.com/office/drawing/2014/main" id="{E5A3EF4B-AF7C-178E-F388-53381BF10D3D}"/>
              </a:ext>
            </a:extLst>
          </p:cNvPr>
          <p:cNvSpPr>
            <a:spLocks noGrp="1"/>
          </p:cNvSpPr>
          <p:nvPr>
            <p:ph type="body" idx="1"/>
          </p:nvPr>
        </p:nvSpPr>
        <p:spPr/>
        <p:txBody>
          <a:bodyPr>
            <a:normAutofit lnSpcReduction="10000"/>
          </a:bodyPr>
          <a:lstStyle/>
          <a:p>
            <a:pPr algn="l">
              <a:spcAft>
                <a:spcPts val="600"/>
              </a:spcAft>
            </a:pPr>
            <a:r>
              <a:rPr lang="en-GB" sz="2000" b="1" dirty="0">
                <a:solidFill>
                  <a:srgbClr val="1A1A1A"/>
                </a:solidFill>
                <a:latin typeface="Garet"/>
              </a:rPr>
              <a:t>Pattern-based auto-discovery</a:t>
            </a:r>
          </a:p>
          <a:p>
            <a:pPr lvl="1">
              <a:spcAft>
                <a:spcPts val="600"/>
              </a:spcAft>
            </a:pPr>
            <a:r>
              <a:rPr lang="en-GB" sz="1600" b="0" dirty="0">
                <a:solidFill>
                  <a:srgbClr val="1A1A1A"/>
                </a:solidFill>
                <a:latin typeface="Garet"/>
              </a:rPr>
              <a:t>Include/exclude with T-SQL LIKE syntax. New tables matching the pattern are exposed on each start.</a:t>
            </a:r>
          </a:p>
          <a:p>
            <a:pPr algn="l">
              <a:spcAft>
                <a:spcPts val="600"/>
              </a:spcAft>
            </a:pPr>
            <a:r>
              <a:rPr lang="en-GB" sz="2000" b="1" dirty="0">
                <a:solidFill>
                  <a:srgbClr val="1A1A1A"/>
                </a:solidFill>
                <a:latin typeface="Garet"/>
              </a:rPr>
              <a:t>Dramatically shrinks your config</a:t>
            </a:r>
          </a:p>
          <a:p>
            <a:pPr lvl="1">
              <a:spcAft>
                <a:spcPts val="600"/>
              </a:spcAft>
            </a:pPr>
            <a:r>
              <a:rPr lang="en-GB" sz="1600" b="0" dirty="0">
                <a:solidFill>
                  <a:srgbClr val="1A1A1A"/>
                </a:solidFill>
                <a:latin typeface="Garet"/>
              </a:rPr>
              <a:t>No more listing every entity by hand. Multiple definitions can target different schemas with their own permissions.</a:t>
            </a:r>
          </a:p>
          <a:p>
            <a:pPr algn="l">
              <a:spcAft>
                <a:spcPts val="600"/>
              </a:spcAft>
            </a:pPr>
            <a:r>
              <a:rPr lang="en-GB" sz="2000" b="1" dirty="0">
                <a:solidFill>
                  <a:srgbClr val="1A1A1A"/>
                </a:solidFill>
                <a:latin typeface="Garet"/>
              </a:rPr>
              <a:t>CLI tooling</a:t>
            </a:r>
          </a:p>
          <a:p>
            <a:pPr lvl="1">
              <a:spcAft>
                <a:spcPts val="600"/>
              </a:spcAft>
            </a:pPr>
            <a:r>
              <a:rPr lang="en-GB" sz="1600" b="0" dirty="0">
                <a:solidFill>
                  <a:srgbClr val="530080"/>
                </a:solidFill>
                <a:latin typeface="Cascadia Mono"/>
              </a:rPr>
              <a:t>dab auto-config</a:t>
            </a:r>
            <a:r>
              <a:rPr lang="en-GB" sz="1600" b="0" dirty="0">
                <a:solidFill>
                  <a:srgbClr val="1A1A1A"/>
                </a:solidFill>
                <a:latin typeface="Garet"/>
              </a:rPr>
              <a:t> </a:t>
            </a:r>
          </a:p>
          <a:p>
            <a:pPr lvl="1">
              <a:spcAft>
                <a:spcPts val="600"/>
              </a:spcAft>
            </a:pPr>
            <a:r>
              <a:rPr lang="en-GB" sz="1600" b="0" dirty="0">
                <a:solidFill>
                  <a:srgbClr val="530080"/>
                </a:solidFill>
                <a:latin typeface="Cascadia Mono"/>
              </a:rPr>
              <a:t>dab auto-config-simulate</a:t>
            </a:r>
          </a:p>
        </p:txBody>
      </p:sp>
    </p:spTree>
    <p:extLst>
      <p:ext uri="{BB962C8B-B14F-4D97-AF65-F5344CB8AC3E}">
        <p14:creationId xmlns:p14="http://schemas.microsoft.com/office/powerpoint/2010/main" val="32834375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pied Picture 4" title="Wave.png"/>
          <p:cNvPicPr preferRelativeResize="0"/>
          <p:nvPr/>
        </p:nvPicPr>
        <p:blipFill rotWithShape="1">
          <a:blip r:embed="rId3">
            <a:alphaModFix amt="50000"/>
          </a:blip>
          <a:srcRect l="1876" r="1905" b="34193"/>
          <a:stretch/>
        </p:blipFill>
        <p:spPr>
          <a:xfrm>
            <a:off x="-3850" y="3580350"/>
            <a:ext cx="9151677" cy="1563150"/>
          </a:xfrm>
          <a:prstGeom prst="rect">
            <a:avLst/>
          </a:prstGeom>
          <a:noFill/>
          <a:ln>
            <a:noFill/>
          </a:ln>
        </p:spPr>
      </p:pic>
      <p:pic>
        <p:nvPicPr>
          <p:cNvPr id="8" name="Copied Picture 8" title="Octopus.png"/>
          <p:cNvPicPr preferRelativeResize="0"/>
          <p:nvPr/>
        </p:nvPicPr>
        <p:blipFill>
          <a:blip r:embed="rId4">
            <a:alphaModFix/>
          </a:blip>
          <a:stretch>
            <a:fillRect/>
          </a:stretch>
        </p:blipFill>
        <p:spPr>
          <a:xfrm rot="1376300">
            <a:off x="7587669" y="3744539"/>
            <a:ext cx="1341412" cy="1341422"/>
          </a:xfrm>
          <a:prstGeom prst="rect">
            <a:avLst/>
          </a:prstGeom>
          <a:noFill/>
          <a:ln>
            <a:noFill/>
          </a:ln>
        </p:spPr>
      </p:pic>
      <p:sp>
        <p:nvSpPr>
          <p:cNvPr id="2" name="Title 1">
            <a:extLst>
              <a:ext uri="{FF2B5EF4-FFF2-40B4-BE49-F238E27FC236}">
                <a16:creationId xmlns:a16="http://schemas.microsoft.com/office/drawing/2014/main" id="{D24F9AFC-C6EC-0B06-FB80-31789DDF37EC}"/>
              </a:ext>
            </a:extLst>
          </p:cNvPr>
          <p:cNvSpPr>
            <a:spLocks noGrp="1"/>
          </p:cNvSpPr>
          <p:nvPr>
            <p:ph type="title"/>
          </p:nvPr>
        </p:nvSpPr>
        <p:spPr/>
        <p:txBody>
          <a:bodyPr>
            <a:normAutofit fontScale="90000"/>
          </a:bodyPr>
          <a:lstStyle/>
          <a:p>
            <a:pPr algn="l"/>
            <a:r>
              <a:rPr lang="en-GB" sz="3600" b="1" dirty="0">
                <a:solidFill>
                  <a:srgbClr val="10265D"/>
                </a:solidFill>
                <a:latin typeface="Etna"/>
              </a:rPr>
              <a:t>SQL MCP Server</a:t>
            </a:r>
          </a:p>
        </p:txBody>
      </p:sp>
      <p:sp>
        <p:nvSpPr>
          <p:cNvPr id="3" name="Text Placeholder 2">
            <a:extLst>
              <a:ext uri="{FF2B5EF4-FFF2-40B4-BE49-F238E27FC236}">
                <a16:creationId xmlns:a16="http://schemas.microsoft.com/office/drawing/2014/main" id="{E5A3EF4B-AF7C-178E-F388-53381BF10D3D}"/>
              </a:ext>
            </a:extLst>
          </p:cNvPr>
          <p:cNvSpPr>
            <a:spLocks noGrp="1"/>
          </p:cNvSpPr>
          <p:nvPr>
            <p:ph type="body" idx="1"/>
          </p:nvPr>
        </p:nvSpPr>
        <p:spPr/>
        <p:txBody>
          <a:bodyPr>
            <a:normAutofit/>
          </a:bodyPr>
          <a:lstStyle/>
          <a:p>
            <a:pPr algn="l">
              <a:spcAft>
                <a:spcPts val="600"/>
              </a:spcAft>
            </a:pPr>
            <a:r>
              <a:rPr lang="en-GB" sz="2000" b="1" dirty="0">
                <a:solidFill>
                  <a:srgbClr val="1A1A1A"/>
                </a:solidFill>
                <a:latin typeface="Garet"/>
              </a:rPr>
              <a:t>AI agents meet your SQL database—safely</a:t>
            </a:r>
          </a:p>
          <a:p>
            <a:pPr lvl="1">
              <a:spcAft>
                <a:spcPts val="600"/>
              </a:spcAft>
            </a:pPr>
            <a:r>
              <a:rPr lang="en-GB" sz="1600" b="0" dirty="0">
                <a:solidFill>
                  <a:srgbClr val="1A1A1A"/>
                </a:solidFill>
                <a:latin typeface="Garet"/>
              </a:rPr>
              <a:t>Agents interact through MCP tools and a controlled contract—not raw SQL.</a:t>
            </a:r>
          </a:p>
          <a:p>
            <a:pPr algn="l">
              <a:spcAft>
                <a:spcPts val="600"/>
              </a:spcAft>
            </a:pPr>
            <a:r>
              <a:rPr lang="en-GB" sz="2000" b="1" dirty="0">
                <a:solidFill>
                  <a:srgbClr val="1A1A1A"/>
                </a:solidFill>
                <a:latin typeface="Garet"/>
              </a:rPr>
              <a:t>NL2DAB, not NL2SQL</a:t>
            </a:r>
          </a:p>
          <a:p>
            <a:pPr lvl="1">
              <a:spcAft>
                <a:spcPts val="600"/>
              </a:spcAft>
            </a:pPr>
            <a:r>
              <a:rPr lang="en-GB" sz="1600" b="0" dirty="0">
                <a:solidFill>
                  <a:srgbClr val="1A1A1A"/>
                </a:solidFill>
                <a:latin typeface="Garet"/>
              </a:rPr>
              <a:t>Deterministic T-SQL via the DAB query builder. No schema leaks.</a:t>
            </a:r>
          </a:p>
          <a:p>
            <a:pPr algn="l">
              <a:spcAft>
                <a:spcPts val="600"/>
              </a:spcAft>
            </a:pPr>
            <a:r>
              <a:rPr lang="en-GB" sz="2000" b="1" dirty="0">
                <a:solidFill>
                  <a:srgbClr val="1A1A1A"/>
                </a:solidFill>
                <a:latin typeface="Garet"/>
              </a:rPr>
              <a:t>Same RBAC, caching &amp; OpenTelemetry</a:t>
            </a:r>
          </a:p>
          <a:p>
            <a:pPr lvl="1">
              <a:spcAft>
                <a:spcPts val="600"/>
              </a:spcAft>
            </a:pPr>
            <a:r>
              <a:rPr lang="en-GB" sz="1600" b="0" dirty="0">
                <a:solidFill>
                  <a:srgbClr val="1A1A1A"/>
                </a:solidFill>
                <a:latin typeface="Garet"/>
              </a:rPr>
              <a:t>One config drives MCP, REST, and GraphQL simultaneously.</a:t>
            </a:r>
          </a:p>
        </p:txBody>
      </p:sp>
    </p:spTree>
    <p:extLst>
      <p:ext uri="{BB962C8B-B14F-4D97-AF65-F5344CB8AC3E}">
        <p14:creationId xmlns:p14="http://schemas.microsoft.com/office/powerpoint/2010/main" val="1616207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 name="Google Shape;143;p22"/>
          <p:cNvGrpSpPr/>
          <p:nvPr/>
        </p:nvGrpSpPr>
        <p:grpSpPr>
          <a:xfrm>
            <a:off x="-3850" y="-100"/>
            <a:ext cx="4734609" cy="5143600"/>
            <a:chOff x="-3850" y="-100"/>
            <a:chExt cx="4734609" cy="5143600"/>
          </a:xfrm>
        </p:grpSpPr>
        <p:sp>
          <p:nvSpPr>
            <p:cNvPr id="144" name="Google Shape;144;p22"/>
            <p:cNvSpPr/>
            <p:nvPr/>
          </p:nvSpPr>
          <p:spPr>
            <a:xfrm>
              <a:off x="-3850" y="-100"/>
              <a:ext cx="2099400" cy="5143500"/>
            </a:xfrm>
            <a:prstGeom prst="rect">
              <a:avLst/>
            </a:prstGeom>
            <a:solidFill>
              <a:srgbClr val="DEF5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 name="Google Shape;145;p22"/>
            <p:cNvSpPr/>
            <p:nvPr/>
          </p:nvSpPr>
          <p:spPr>
            <a:xfrm rot="-5400000">
              <a:off x="801692" y="1214433"/>
              <a:ext cx="5143500" cy="2714634"/>
            </a:xfrm>
            <a:prstGeom prst="flowChartDocument">
              <a:avLst/>
            </a:prstGeom>
            <a:solidFill>
              <a:srgbClr val="DEF5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pic>
        <p:nvPicPr>
          <p:cNvPr id="146" name="Google Shape;146;p22" title="Wave.png"/>
          <p:cNvPicPr preferRelativeResize="0"/>
          <p:nvPr/>
        </p:nvPicPr>
        <p:blipFill rotWithShape="1">
          <a:blip r:embed="rId3">
            <a:alphaModFix/>
          </a:blip>
          <a:srcRect l="1896" r="1886" b="41643"/>
          <a:stretch/>
        </p:blipFill>
        <p:spPr>
          <a:xfrm>
            <a:off x="-3837" y="3757275"/>
            <a:ext cx="9151677" cy="1386224"/>
          </a:xfrm>
          <a:prstGeom prst="rect">
            <a:avLst/>
          </a:prstGeom>
          <a:noFill/>
          <a:ln>
            <a:noFill/>
          </a:ln>
        </p:spPr>
      </p:pic>
      <p:pic>
        <p:nvPicPr>
          <p:cNvPr id="149" name="Google Shape;149;p22" title="Tentacles-ind.png"/>
          <p:cNvPicPr preferRelativeResize="0"/>
          <p:nvPr/>
        </p:nvPicPr>
        <p:blipFill rotWithShape="1">
          <a:blip r:embed="rId4">
            <a:alphaModFix/>
          </a:blip>
          <a:srcRect l="13069" t="-385" r="70220" b="1552"/>
          <a:stretch/>
        </p:blipFill>
        <p:spPr>
          <a:xfrm rot="3262027" flipH="1">
            <a:off x="402933" y="4222191"/>
            <a:ext cx="859206" cy="1617184"/>
          </a:xfrm>
          <a:prstGeom prst="rect">
            <a:avLst/>
          </a:prstGeom>
          <a:noFill/>
          <a:ln>
            <a:noFill/>
          </a:ln>
        </p:spPr>
      </p:pic>
      <p:pic>
        <p:nvPicPr>
          <p:cNvPr id="150" name="Google Shape;150;p22" title="Tentacles-ind.png"/>
          <p:cNvPicPr preferRelativeResize="0"/>
          <p:nvPr/>
        </p:nvPicPr>
        <p:blipFill rotWithShape="1">
          <a:blip r:embed="rId4">
            <a:alphaModFix/>
          </a:blip>
          <a:srcRect l="86642" t="-3013" r="-800" b="2237"/>
          <a:stretch/>
        </p:blipFill>
        <p:spPr>
          <a:xfrm rot="547276">
            <a:off x="-44339" y="3663256"/>
            <a:ext cx="727970" cy="1649038"/>
          </a:xfrm>
          <a:prstGeom prst="rect">
            <a:avLst/>
          </a:prstGeom>
          <a:noFill/>
          <a:ln>
            <a:noFill/>
          </a:ln>
        </p:spPr>
      </p:pic>
      <p:pic>
        <p:nvPicPr>
          <p:cNvPr id="151" name="Google Shape;151;p22" title="Tentacles-ind.png"/>
          <p:cNvPicPr preferRelativeResize="0"/>
          <p:nvPr/>
        </p:nvPicPr>
        <p:blipFill rotWithShape="1">
          <a:blip r:embed="rId4">
            <a:alphaModFix/>
          </a:blip>
          <a:srcRect l="29514" t="257" r="50007" b="909"/>
          <a:stretch/>
        </p:blipFill>
        <p:spPr>
          <a:xfrm rot="814732" flipH="1">
            <a:off x="-133561" y="4019821"/>
            <a:ext cx="1052965" cy="1617186"/>
          </a:xfrm>
          <a:prstGeom prst="rect">
            <a:avLst/>
          </a:prstGeom>
          <a:noFill/>
          <a:ln>
            <a:noFill/>
          </a:ln>
        </p:spPr>
      </p:pic>
      <p:sp>
        <p:nvSpPr>
          <p:cNvPr id="152" name="TextBox 151"/>
          <p:cNvSpPr txBox="1"/>
          <p:nvPr/>
        </p:nvSpPr>
        <p:spPr>
          <a:xfrm>
            <a:off x="311700" y="350000"/>
            <a:ext cx="8520600" cy="1050000"/>
          </a:xfrm>
          <a:prstGeom prst="rect">
            <a:avLst/>
          </a:prstGeom>
          <a:noFill/>
        </p:spPr>
        <p:txBody>
          <a:bodyPr wrap="square" lIns="0" tIns="0" rIns="0" bIns="0" anchor="t">
            <a:spAutoFit/>
          </a:bodyPr>
          <a:lstStyle/>
          <a:p>
            <a:pPr algn="l"/>
            <a:r>
              <a:rPr sz="3600" b="1">
                <a:solidFill>
                  <a:srgbClr val="10265D"/>
                </a:solidFill>
                <a:latin typeface="Etna"/>
              </a:rPr>
              <a:t>Resources</a:t>
            </a:r>
          </a:p>
        </p:txBody>
      </p:sp>
      <p:sp>
        <p:nvSpPr>
          <p:cNvPr id="153" name="TextBox 152"/>
          <p:cNvSpPr txBox="1"/>
          <p:nvPr/>
        </p:nvSpPr>
        <p:spPr>
          <a:xfrm>
            <a:off x="311700" y="1300000"/>
            <a:ext cx="8520600" cy="2400657"/>
          </a:xfrm>
          <a:prstGeom prst="rect">
            <a:avLst/>
          </a:prstGeom>
          <a:noFill/>
        </p:spPr>
        <p:txBody>
          <a:bodyPr wrap="square" lIns="0" tIns="0" rIns="0" bIns="0" anchor="t">
            <a:spAutoFit/>
          </a:bodyPr>
          <a:lstStyle/>
          <a:p>
            <a:pPr algn="l">
              <a:spcAft>
                <a:spcPts val="600"/>
              </a:spcAft>
            </a:pPr>
            <a:r>
              <a:rPr sz="1800" b="0" dirty="0">
                <a:solidFill>
                  <a:srgbClr val="1A1A1A"/>
                </a:solidFill>
                <a:latin typeface="Garet"/>
              </a:rPr>
              <a:t>Docs</a:t>
            </a:r>
            <a:r>
              <a:rPr lang="en-GB" sz="1800" b="0" dirty="0">
                <a:solidFill>
                  <a:srgbClr val="1A1A1A"/>
                </a:solidFill>
                <a:latin typeface="Garet"/>
              </a:rPr>
              <a:t>: </a:t>
            </a:r>
            <a:r>
              <a:rPr sz="1800" b="0" dirty="0">
                <a:solidFill>
                  <a:srgbClr val="1A1A1A"/>
                </a:solidFill>
                <a:latin typeface="Garet"/>
              </a:rPr>
              <a:t>aka.ms/dab</a:t>
            </a:r>
          </a:p>
          <a:p>
            <a:pPr algn="l">
              <a:spcAft>
                <a:spcPts val="600"/>
              </a:spcAft>
            </a:pPr>
            <a:r>
              <a:rPr lang="en-GB" sz="1800" b="0" dirty="0">
                <a:solidFill>
                  <a:srgbClr val="1A1A1A"/>
                </a:solidFill>
                <a:latin typeface="Garet"/>
              </a:rPr>
              <a:t>DAB </a:t>
            </a:r>
            <a:r>
              <a:rPr sz="1800" b="0" dirty="0">
                <a:solidFill>
                  <a:srgbClr val="1A1A1A"/>
                </a:solidFill>
                <a:latin typeface="Garet"/>
              </a:rPr>
              <a:t>Repo</a:t>
            </a:r>
            <a:r>
              <a:rPr lang="en-GB" sz="1800" b="0" dirty="0">
                <a:solidFill>
                  <a:srgbClr val="1A1A1A"/>
                </a:solidFill>
                <a:latin typeface="Garet"/>
              </a:rPr>
              <a:t>: </a:t>
            </a:r>
            <a:r>
              <a:rPr sz="1800" b="0" dirty="0">
                <a:solidFill>
                  <a:srgbClr val="1A1A1A"/>
                </a:solidFill>
                <a:latin typeface="Garet"/>
              </a:rPr>
              <a:t>github.com/Azure/data-</a:t>
            </a:r>
            <a:r>
              <a:rPr sz="1800" b="0" dirty="0" err="1">
                <a:solidFill>
                  <a:srgbClr val="1A1A1A"/>
                </a:solidFill>
                <a:latin typeface="Garet"/>
              </a:rPr>
              <a:t>api</a:t>
            </a:r>
            <a:r>
              <a:rPr sz="1800" b="0" dirty="0">
                <a:solidFill>
                  <a:srgbClr val="1A1A1A"/>
                </a:solidFill>
                <a:latin typeface="Garet"/>
              </a:rPr>
              <a:t>-builder</a:t>
            </a:r>
          </a:p>
          <a:p>
            <a:pPr algn="l">
              <a:spcAft>
                <a:spcPts val="600"/>
              </a:spcAft>
            </a:pPr>
            <a:r>
              <a:rPr lang="en-GB" sz="1800" b="0" dirty="0">
                <a:solidFill>
                  <a:srgbClr val="1A1A1A"/>
                </a:solidFill>
                <a:latin typeface="Garet"/>
              </a:rPr>
              <a:t>Demos: </a:t>
            </a:r>
            <a:r>
              <a:rPr sz="1800" b="0" dirty="0">
                <a:solidFill>
                  <a:srgbClr val="1A1A1A"/>
                </a:solidFill>
                <a:latin typeface="Garet"/>
              </a:rPr>
              <a:t>github.com/</a:t>
            </a:r>
            <a:r>
              <a:rPr sz="1800" b="0" dirty="0" err="1">
                <a:solidFill>
                  <a:srgbClr val="1A1A1A"/>
                </a:solidFill>
                <a:latin typeface="Garet"/>
              </a:rPr>
              <a:t>jpomfret</a:t>
            </a:r>
            <a:r>
              <a:rPr sz="1800" b="0" dirty="0">
                <a:solidFill>
                  <a:srgbClr val="1A1A1A"/>
                </a:solidFill>
                <a:latin typeface="Garet"/>
              </a:rPr>
              <a:t>/dab-presentation</a:t>
            </a:r>
          </a:p>
          <a:p>
            <a:pPr algn="l">
              <a:spcAft>
                <a:spcPts val="600"/>
              </a:spcAft>
            </a:pPr>
            <a:endParaRPr lang="en-GB" sz="1800" b="1" dirty="0">
              <a:solidFill>
                <a:srgbClr val="1A1A1A"/>
              </a:solidFill>
              <a:latin typeface="Garet"/>
            </a:endParaRPr>
          </a:p>
          <a:p>
            <a:pPr algn="l">
              <a:spcAft>
                <a:spcPts val="600"/>
              </a:spcAft>
            </a:pPr>
            <a:r>
              <a:rPr sz="1800" b="1" dirty="0">
                <a:solidFill>
                  <a:srgbClr val="1A1A1A"/>
                </a:solidFill>
                <a:latin typeface="Garet"/>
              </a:rPr>
              <a:t>jesspomfret.com </a:t>
            </a:r>
            <a:endParaRPr lang="en-GB" sz="1800" b="1" dirty="0">
              <a:solidFill>
                <a:srgbClr val="1A1A1A"/>
              </a:solidFill>
              <a:latin typeface="Garet"/>
            </a:endParaRPr>
          </a:p>
          <a:p>
            <a:pPr algn="l">
              <a:spcAft>
                <a:spcPts val="600"/>
              </a:spcAft>
            </a:pPr>
            <a:r>
              <a:rPr sz="1800" b="1" dirty="0">
                <a:solidFill>
                  <a:srgbClr val="1A1A1A"/>
                </a:solidFill>
                <a:latin typeface="Garet"/>
              </a:rPr>
              <a:t>LinkedIn</a:t>
            </a:r>
            <a:r>
              <a:rPr lang="en-GB" sz="1800" b="1" dirty="0">
                <a:solidFill>
                  <a:srgbClr val="1A1A1A"/>
                </a:solidFill>
                <a:latin typeface="Garet"/>
              </a:rPr>
              <a:t>: </a:t>
            </a:r>
            <a:r>
              <a:rPr lang="en-GB" sz="1800" b="1" dirty="0" err="1">
                <a:solidFill>
                  <a:srgbClr val="1A1A1A"/>
                </a:solidFill>
                <a:latin typeface="Garet"/>
              </a:rPr>
              <a:t>jpomfret</a:t>
            </a:r>
            <a:endParaRPr lang="en-GB" sz="1800" b="1" dirty="0">
              <a:solidFill>
                <a:srgbClr val="1A1A1A"/>
              </a:solidFill>
              <a:latin typeface="Garet"/>
            </a:endParaRPr>
          </a:p>
          <a:p>
            <a:pPr algn="l">
              <a:spcAft>
                <a:spcPts val="600"/>
              </a:spcAft>
            </a:pPr>
            <a:endParaRPr sz="1800" b="1" dirty="0">
              <a:solidFill>
                <a:srgbClr val="1A1A1A"/>
              </a:solidFill>
              <a:latin typeface="Garet"/>
            </a:endParaRPr>
          </a:p>
        </p:txBody>
      </p:sp>
      <p:pic>
        <p:nvPicPr>
          <p:cNvPr id="2" name="Picture 1" descr="Two men on bicycles posing for a picture&#10;&#10;AI-generated content may be incorrect.">
            <a:extLst>
              <a:ext uri="{FF2B5EF4-FFF2-40B4-BE49-F238E27FC236}">
                <a16:creationId xmlns:a16="http://schemas.microsoft.com/office/drawing/2014/main" id="{C5740F53-D85B-52D1-F03A-DEBCE830C67F}"/>
              </a:ext>
            </a:extLst>
          </p:cNvPr>
          <p:cNvPicPr>
            <a:picLocks noChangeAspect="1"/>
          </p:cNvPicPr>
          <p:nvPr/>
        </p:nvPicPr>
        <p:blipFill>
          <a:blip r:embed="rId5"/>
          <a:stretch>
            <a:fillRect/>
          </a:stretch>
        </p:blipFill>
        <p:spPr>
          <a:xfrm>
            <a:off x="5740826" y="0"/>
            <a:ext cx="3428163" cy="51435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D74AE4-87D8-41A3-B107-AE9CBCA14B9B}"/>
              </a:ext>
            </a:extLst>
          </p:cNvPr>
          <p:cNvSpPr txBox="1"/>
          <p:nvPr/>
        </p:nvSpPr>
        <p:spPr>
          <a:xfrm>
            <a:off x="317500" y="444500"/>
            <a:ext cx="4445000" cy="646331"/>
          </a:xfrm>
          <a:prstGeom prst="rect">
            <a:avLst/>
          </a:prstGeom>
          <a:noFill/>
        </p:spPr>
        <p:txBody>
          <a:bodyPr vertOverflow="overflow" vert="horz" wrap="square" rtlCol="0" anchor="t">
            <a:spAutoFit/>
          </a:bodyPr>
          <a:lstStyle/>
          <a:p>
            <a:pPr algn="l"/>
            <a:r>
              <a:rPr lang="en-GB" sz="3600" b="1" dirty="0">
                <a:solidFill>
                  <a:srgbClr val="10265D"/>
                </a:solidFill>
                <a:latin typeface="Etna"/>
              </a:rPr>
              <a:t>Feedback &amp; Questions</a:t>
            </a:r>
          </a:p>
        </p:txBody>
      </p:sp>
      <p:sp>
        <p:nvSpPr>
          <p:cNvPr id="3" name="TextBox 2">
            <a:extLst>
              <a:ext uri="{FF2B5EF4-FFF2-40B4-BE49-F238E27FC236}">
                <a16:creationId xmlns:a16="http://schemas.microsoft.com/office/drawing/2014/main" id="{C587C156-168C-48DF-A44A-C278A473AFDA}"/>
              </a:ext>
            </a:extLst>
          </p:cNvPr>
          <p:cNvSpPr txBox="1"/>
          <p:nvPr/>
        </p:nvSpPr>
        <p:spPr>
          <a:xfrm>
            <a:off x="317500" y="1270000"/>
            <a:ext cx="4445000" cy="400110"/>
          </a:xfrm>
          <a:prstGeom prst="rect">
            <a:avLst/>
          </a:prstGeom>
          <a:noFill/>
        </p:spPr>
        <p:txBody>
          <a:bodyPr vertOverflow="overflow" vert="horz" wrap="square" rtlCol="0" anchor="t">
            <a:spAutoFit/>
          </a:bodyPr>
          <a:lstStyle/>
          <a:p>
            <a:pPr algn="l"/>
            <a:r>
              <a:rPr lang="en-GB" sz="2000" b="1">
                <a:solidFill>
                  <a:srgbClr val="1A1A1A"/>
                </a:solidFill>
                <a:latin typeface="Garet"/>
              </a:rPr>
              <a:t>Thank you.</a:t>
            </a:r>
          </a:p>
        </p:txBody>
      </p:sp>
      <p:pic>
        <p:nvPicPr>
          <p:cNvPr id="7" name="Copied Picture 4" title="Wave.png">
            <a:extLst>
              <a:ext uri="{FF2B5EF4-FFF2-40B4-BE49-F238E27FC236}">
                <a16:creationId xmlns:a16="http://schemas.microsoft.com/office/drawing/2014/main" id="{D8393122-95AD-18C8-0190-BB9E7C4CEC69}"/>
              </a:ext>
            </a:extLst>
          </p:cNvPr>
          <p:cNvPicPr preferRelativeResize="0"/>
          <p:nvPr/>
        </p:nvPicPr>
        <p:blipFill rotWithShape="1">
          <a:blip r:embed="rId2">
            <a:alphaModFix amt="50000"/>
          </a:blip>
          <a:srcRect l="1876" r="1905" b="34193"/>
          <a:stretch/>
        </p:blipFill>
        <p:spPr>
          <a:xfrm>
            <a:off x="-3850" y="3580350"/>
            <a:ext cx="9151677" cy="1563150"/>
          </a:xfrm>
          <a:prstGeom prst="rect">
            <a:avLst/>
          </a:prstGeom>
          <a:noFill/>
          <a:ln>
            <a:noFill/>
          </a:ln>
        </p:spPr>
      </p:pic>
      <p:pic>
        <p:nvPicPr>
          <p:cNvPr id="8" name="Copied Picture 8" title="Octopus.png"/>
          <p:cNvPicPr preferRelativeResize="0"/>
          <p:nvPr/>
        </p:nvPicPr>
        <p:blipFill>
          <a:blip r:embed="rId3">
            <a:alphaModFix/>
          </a:blip>
          <a:stretch>
            <a:fillRect/>
          </a:stretch>
        </p:blipFill>
        <p:spPr>
          <a:xfrm rot="1376300">
            <a:off x="7587669" y="3744539"/>
            <a:ext cx="1341412" cy="1341422"/>
          </a:xfrm>
          <a:prstGeom prst="rect">
            <a:avLst/>
          </a:prstGeom>
          <a:noFill/>
          <a:ln>
            <a:noFill/>
          </a:ln>
        </p:spPr>
      </p:pic>
      <p:pic>
        <p:nvPicPr>
          <p:cNvPr id="4" name="Picture 3">
            <a:extLst>
              <a:ext uri="{FF2B5EF4-FFF2-40B4-BE49-F238E27FC236}">
                <a16:creationId xmlns:a16="http://schemas.microsoft.com/office/drawing/2014/main" id="{27F7D0A7-349A-E896-9D14-C7A002C31770}"/>
              </a:ext>
            </a:extLst>
          </p:cNvPr>
          <p:cNvPicPr>
            <a:picLocks noChangeAspect="1"/>
          </p:cNvPicPr>
          <p:nvPr/>
        </p:nvPicPr>
        <p:blipFill>
          <a:blip r:embed="rId4"/>
          <a:stretch>
            <a:fillRect/>
          </a:stretch>
        </p:blipFill>
        <p:spPr>
          <a:xfrm>
            <a:off x="6552" y="1842009"/>
            <a:ext cx="7014357" cy="3476682"/>
          </a:xfrm>
          <a:prstGeom prst="rect">
            <a:avLst/>
          </a:prstGeom>
        </p:spPr>
      </p:pic>
    </p:spTree>
    <p:extLst>
      <p:ext uri="{BB962C8B-B14F-4D97-AF65-F5344CB8AC3E}">
        <p14:creationId xmlns:p14="http://schemas.microsoft.com/office/powerpoint/2010/main" val="25469626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FCC31-601F-7DBA-C186-D6A579AEF4C0}"/>
              </a:ext>
            </a:extLst>
          </p:cNvPr>
          <p:cNvSpPr>
            <a:spLocks noGrp="1"/>
          </p:cNvSpPr>
          <p:nvPr>
            <p:ph type="title"/>
          </p:nvPr>
        </p:nvSpPr>
        <p:spPr/>
        <p:txBody>
          <a:bodyPr>
            <a:normAutofit fontScale="90000"/>
          </a:bodyPr>
          <a:lstStyle/>
          <a:p>
            <a:endParaRPr lang="en-GB"/>
          </a:p>
        </p:txBody>
      </p:sp>
      <p:sp>
        <p:nvSpPr>
          <p:cNvPr id="3" name="Text Placeholder 2">
            <a:extLst>
              <a:ext uri="{FF2B5EF4-FFF2-40B4-BE49-F238E27FC236}">
                <a16:creationId xmlns:a16="http://schemas.microsoft.com/office/drawing/2014/main" id="{3F7AAE72-191E-66C7-E776-6671B05DED01}"/>
              </a:ext>
            </a:extLst>
          </p:cNvPr>
          <p:cNvSpPr>
            <a:spLocks noGrp="1"/>
          </p:cNvSpPr>
          <p:nvPr>
            <p:ph type="body" idx="1"/>
          </p:nvPr>
        </p:nvSpPr>
        <p:spPr/>
        <p:txBody>
          <a:bodyPr/>
          <a:lstStyle/>
          <a:p>
            <a:endParaRPr lang="en-GB"/>
          </a:p>
        </p:txBody>
      </p:sp>
      <p:pic>
        <p:nvPicPr>
          <p:cNvPr id="5" name="Picture 4">
            <a:extLst>
              <a:ext uri="{FF2B5EF4-FFF2-40B4-BE49-F238E27FC236}">
                <a16:creationId xmlns:a16="http://schemas.microsoft.com/office/drawing/2014/main" id="{22CF030A-CC6B-F96A-384A-B09BF595C83B}"/>
              </a:ext>
            </a:extLst>
          </p:cNvPr>
          <p:cNvPicPr>
            <a:picLocks noChangeAspect="1"/>
          </p:cNvPicPr>
          <p:nvPr/>
        </p:nvPicPr>
        <p:blipFill>
          <a:blip r:embed="rId3"/>
          <a:stretch>
            <a:fillRect/>
          </a:stretch>
        </p:blipFill>
        <p:spPr>
          <a:xfrm>
            <a:off x="0" y="448069"/>
            <a:ext cx="9144000" cy="4247361"/>
          </a:xfrm>
          <a:prstGeom prst="rect">
            <a:avLst/>
          </a:prstGeom>
        </p:spPr>
      </p:pic>
    </p:spTree>
    <p:extLst>
      <p:ext uri="{BB962C8B-B14F-4D97-AF65-F5344CB8AC3E}">
        <p14:creationId xmlns:p14="http://schemas.microsoft.com/office/powerpoint/2010/main" val="14665100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EAC5B-B2F0-8AA1-19D7-E375B810D93C}"/>
              </a:ext>
            </a:extLst>
          </p:cNvPr>
          <p:cNvSpPr>
            <a:spLocks noGrp="1"/>
          </p:cNvSpPr>
          <p:nvPr>
            <p:ph type="title"/>
          </p:nvPr>
        </p:nvSpPr>
        <p:spPr/>
        <p:txBody>
          <a:bodyPr>
            <a:normAutofit fontScale="90000"/>
          </a:bodyPr>
          <a:lstStyle/>
          <a:p>
            <a:endParaRPr lang="en-GB"/>
          </a:p>
        </p:txBody>
      </p:sp>
      <p:sp>
        <p:nvSpPr>
          <p:cNvPr id="3" name="Text Placeholder 2">
            <a:extLst>
              <a:ext uri="{FF2B5EF4-FFF2-40B4-BE49-F238E27FC236}">
                <a16:creationId xmlns:a16="http://schemas.microsoft.com/office/drawing/2014/main" id="{0854D779-02A5-8942-94E3-0273B8D4ACC5}"/>
              </a:ext>
            </a:extLst>
          </p:cNvPr>
          <p:cNvSpPr>
            <a:spLocks noGrp="1"/>
          </p:cNvSpPr>
          <p:nvPr>
            <p:ph type="body" idx="1"/>
          </p:nvPr>
        </p:nvSpPr>
        <p:spPr/>
        <p:txBody>
          <a:bodyPr/>
          <a:lstStyle/>
          <a:p>
            <a:endParaRPr lang="en-GB"/>
          </a:p>
        </p:txBody>
      </p:sp>
      <p:pic>
        <p:nvPicPr>
          <p:cNvPr id="5" name="Picture 4">
            <a:extLst>
              <a:ext uri="{FF2B5EF4-FFF2-40B4-BE49-F238E27FC236}">
                <a16:creationId xmlns:a16="http://schemas.microsoft.com/office/drawing/2014/main" id="{D64A1FEA-08CB-F39D-0134-6409A7B8FD8A}"/>
              </a:ext>
            </a:extLst>
          </p:cNvPr>
          <p:cNvPicPr>
            <a:picLocks noChangeAspect="1"/>
          </p:cNvPicPr>
          <p:nvPr/>
        </p:nvPicPr>
        <p:blipFill>
          <a:blip r:embed="rId2"/>
          <a:stretch>
            <a:fillRect/>
          </a:stretch>
        </p:blipFill>
        <p:spPr>
          <a:xfrm>
            <a:off x="0" y="4456912"/>
            <a:ext cx="9144000" cy="657181"/>
          </a:xfrm>
          <a:prstGeom prst="rect">
            <a:avLst/>
          </a:prstGeom>
        </p:spPr>
      </p:pic>
    </p:spTree>
    <p:extLst>
      <p:ext uri="{BB962C8B-B14F-4D97-AF65-F5344CB8AC3E}">
        <p14:creationId xmlns:p14="http://schemas.microsoft.com/office/powerpoint/2010/main" val="14562253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3" name="Google Shape;133;p21" title="Wave.png"/>
          <p:cNvPicPr preferRelativeResize="0"/>
          <p:nvPr/>
        </p:nvPicPr>
        <p:blipFill rotWithShape="1">
          <a:blip r:embed="rId3">
            <a:alphaModFix amt="50000"/>
          </a:blip>
          <a:srcRect l="1876" r="1905" b="34193"/>
          <a:stretch/>
        </p:blipFill>
        <p:spPr>
          <a:xfrm>
            <a:off x="-3850" y="3580350"/>
            <a:ext cx="9151677" cy="1563150"/>
          </a:xfrm>
          <a:prstGeom prst="rect">
            <a:avLst/>
          </a:prstGeom>
          <a:noFill/>
          <a:ln>
            <a:noFill/>
          </a:ln>
        </p:spPr>
      </p:pic>
      <p:pic>
        <p:nvPicPr>
          <p:cNvPr id="134" name="Google Shape;134;p21" title="bubbles.png"/>
          <p:cNvPicPr preferRelativeResize="0"/>
          <p:nvPr/>
        </p:nvPicPr>
        <p:blipFill rotWithShape="1">
          <a:blip r:embed="rId4">
            <a:alphaModFix/>
          </a:blip>
          <a:srcRect l="40507" r="16342"/>
          <a:stretch/>
        </p:blipFill>
        <p:spPr>
          <a:xfrm rot="-300128" flipH="1">
            <a:off x="8134308" y="2606775"/>
            <a:ext cx="907418" cy="2385674"/>
          </a:xfrm>
          <a:prstGeom prst="rect">
            <a:avLst/>
          </a:prstGeom>
          <a:noFill/>
          <a:ln>
            <a:noFill/>
          </a:ln>
        </p:spPr>
      </p:pic>
      <p:pic>
        <p:nvPicPr>
          <p:cNvPr id="135" name="Google Shape;135;p21" title="bubbles 2.png"/>
          <p:cNvPicPr preferRelativeResize="0"/>
          <p:nvPr/>
        </p:nvPicPr>
        <p:blipFill rotWithShape="1">
          <a:blip r:embed="rId5">
            <a:alphaModFix/>
          </a:blip>
          <a:srcRect t="47355" r="57354"/>
          <a:stretch/>
        </p:blipFill>
        <p:spPr>
          <a:xfrm rot="-9252627">
            <a:off x="216531" y="2553922"/>
            <a:ext cx="992638" cy="1446981"/>
          </a:xfrm>
          <a:prstGeom prst="rect">
            <a:avLst/>
          </a:prstGeom>
          <a:noFill/>
          <a:ln>
            <a:noFill/>
          </a:ln>
        </p:spPr>
      </p:pic>
      <p:pic>
        <p:nvPicPr>
          <p:cNvPr id="136" name="Google Shape;136;p21" title="Tentacles-ind.png"/>
          <p:cNvPicPr preferRelativeResize="0"/>
          <p:nvPr/>
        </p:nvPicPr>
        <p:blipFill rotWithShape="1">
          <a:blip r:embed="rId6">
            <a:alphaModFix/>
          </a:blip>
          <a:srcRect l="14411" t="-385" r="70221" b="1552"/>
          <a:stretch/>
        </p:blipFill>
        <p:spPr>
          <a:xfrm rot="754882">
            <a:off x="80254" y="3713151"/>
            <a:ext cx="790202" cy="1617174"/>
          </a:xfrm>
          <a:prstGeom prst="rect">
            <a:avLst/>
          </a:prstGeom>
          <a:noFill/>
          <a:ln>
            <a:noFill/>
          </a:ln>
        </p:spPr>
      </p:pic>
      <p:pic>
        <p:nvPicPr>
          <p:cNvPr id="137" name="Google Shape;137;p21" title="Tentacles-ind.png"/>
          <p:cNvPicPr preferRelativeResize="0"/>
          <p:nvPr/>
        </p:nvPicPr>
        <p:blipFill rotWithShape="1">
          <a:blip r:embed="rId6">
            <a:alphaModFix/>
          </a:blip>
          <a:srcRect l="86642" t="-3013" r="-800" b="2237"/>
          <a:stretch/>
        </p:blipFill>
        <p:spPr>
          <a:xfrm rot="3469674" flipH="1">
            <a:off x="670980" y="4067354"/>
            <a:ext cx="727975" cy="1649039"/>
          </a:xfrm>
          <a:prstGeom prst="rect">
            <a:avLst/>
          </a:prstGeom>
          <a:noFill/>
          <a:ln>
            <a:noFill/>
          </a:ln>
        </p:spPr>
      </p:pic>
      <p:pic>
        <p:nvPicPr>
          <p:cNvPr id="138" name="Google Shape;138;p21" title="Tentacles-ind.png"/>
          <p:cNvPicPr preferRelativeResize="0"/>
          <p:nvPr/>
        </p:nvPicPr>
        <p:blipFill rotWithShape="1">
          <a:blip r:embed="rId6">
            <a:alphaModFix/>
          </a:blip>
          <a:srcRect l="28611" t="257" r="50006" b="909"/>
          <a:stretch/>
        </p:blipFill>
        <p:spPr>
          <a:xfrm rot="3202202">
            <a:off x="267247" y="3999171"/>
            <a:ext cx="1099418" cy="1617204"/>
          </a:xfrm>
          <a:prstGeom prst="rect">
            <a:avLst/>
          </a:prstGeom>
          <a:noFill/>
          <a:ln>
            <a:noFill/>
          </a:ln>
        </p:spPr>
      </p:pic>
      <p:sp>
        <p:nvSpPr>
          <p:cNvPr id="139" name="TextBox 138"/>
          <p:cNvSpPr txBox="1"/>
          <p:nvPr/>
        </p:nvSpPr>
        <p:spPr>
          <a:xfrm>
            <a:off x="311700" y="350000"/>
            <a:ext cx="8520600" cy="1050000"/>
          </a:xfrm>
          <a:prstGeom prst="rect">
            <a:avLst/>
          </a:prstGeom>
          <a:noFill/>
        </p:spPr>
        <p:txBody>
          <a:bodyPr wrap="square" lIns="0" tIns="0" rIns="0" bIns="0" anchor="t">
            <a:spAutoFit/>
          </a:bodyPr>
          <a:lstStyle/>
          <a:p>
            <a:pPr algn="l"/>
            <a:r>
              <a:rPr sz="3200" b="1">
                <a:solidFill>
                  <a:srgbClr val="10265D"/>
                </a:solidFill>
                <a:latin typeface="Etna"/>
              </a:rPr>
              <a:t>When not to reach for DAB</a:t>
            </a:r>
          </a:p>
        </p:txBody>
      </p:sp>
      <p:sp>
        <p:nvSpPr>
          <p:cNvPr id="140" name="TextBox 139"/>
          <p:cNvSpPr txBox="1"/>
          <p:nvPr/>
        </p:nvSpPr>
        <p:spPr>
          <a:xfrm>
            <a:off x="311700" y="1400000"/>
            <a:ext cx="8520600" cy="2000000"/>
          </a:xfrm>
          <a:prstGeom prst="rect">
            <a:avLst/>
          </a:prstGeom>
          <a:noFill/>
        </p:spPr>
        <p:txBody>
          <a:bodyPr wrap="square" lIns="0" tIns="0" rIns="0" bIns="0" anchor="t">
            <a:spAutoFit/>
          </a:bodyPr>
          <a:lstStyle/>
          <a:p>
            <a:pPr algn="l">
              <a:spcAft>
                <a:spcPts val="600"/>
              </a:spcAft>
            </a:pPr>
            <a:r>
              <a:rPr sz="1800" b="0">
                <a:solidFill>
                  <a:srgbClr val="1A1A1A"/>
                </a:solidFill>
                <a:latin typeface="Garet"/>
              </a:rPr>
              <a:t>Heavy business logic — keep it in the database or a real backend.</a:t>
            </a:r>
          </a:p>
          <a:p>
            <a:pPr algn="l">
              <a:spcAft>
                <a:spcPts val="600"/>
              </a:spcAft>
            </a:pPr>
            <a:r>
              <a:rPr sz="1800" b="0">
                <a:solidFill>
                  <a:srgbClr val="1A1A1A"/>
                </a:solidFill>
                <a:latin typeface="Garet"/>
              </a:rPr>
              <a:t>Public-facing at scale — auth and rate limits need real thought.</a:t>
            </a:r>
          </a:p>
          <a:p>
            <a:pPr algn="l">
              <a:spcAft>
                <a:spcPts val="600"/>
              </a:spcAft>
            </a:pPr>
            <a:r>
              <a:rPr sz="1800" b="0">
                <a:solidFill>
                  <a:srgbClr val="1A1A1A"/>
                </a:solidFill>
                <a:latin typeface="Garet"/>
              </a:rPr>
              <a:t>Shaped responses — reach for a view or a sproc.</a:t>
            </a:r>
          </a:p>
          <a:p>
            <a:pPr algn="l">
              <a:spcAft>
                <a:spcPts val="600"/>
              </a:spcAft>
            </a:pPr>
            <a:r>
              <a:rPr sz="1800" b="0">
                <a:solidFill>
                  <a:srgbClr val="1A1A1A"/>
                </a:solidFill>
                <a:latin typeface="Garet"/>
              </a:rPr>
              <a:t>Multi-tenant separation — design it into the schema.</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23" name="Google Shape;123;p20" title="Wave.png"/>
          <p:cNvPicPr preferRelativeResize="0"/>
          <p:nvPr/>
        </p:nvPicPr>
        <p:blipFill rotWithShape="1">
          <a:blip r:embed="rId3">
            <a:alphaModFix amt="50000"/>
          </a:blip>
          <a:srcRect l="1876" r="1905" b="34193"/>
          <a:stretch/>
        </p:blipFill>
        <p:spPr>
          <a:xfrm>
            <a:off x="-3850" y="3580350"/>
            <a:ext cx="9151677" cy="1563150"/>
          </a:xfrm>
          <a:prstGeom prst="rect">
            <a:avLst/>
          </a:prstGeom>
          <a:noFill/>
          <a:ln>
            <a:noFill/>
          </a:ln>
        </p:spPr>
      </p:pic>
      <p:pic>
        <p:nvPicPr>
          <p:cNvPr id="125" name="Google Shape;125;p20" title="Tentacles-ind.png"/>
          <p:cNvPicPr preferRelativeResize="0"/>
          <p:nvPr/>
        </p:nvPicPr>
        <p:blipFill rotWithShape="1">
          <a:blip r:embed="rId4">
            <a:alphaModFix/>
          </a:blip>
          <a:srcRect l="13069" t="-385" r="70220" b="1552"/>
          <a:stretch/>
        </p:blipFill>
        <p:spPr>
          <a:xfrm rot="-4992229">
            <a:off x="8144571" y="4012444"/>
            <a:ext cx="859208" cy="1617184"/>
          </a:xfrm>
          <a:prstGeom prst="rect">
            <a:avLst/>
          </a:prstGeom>
          <a:noFill/>
          <a:ln>
            <a:noFill/>
          </a:ln>
        </p:spPr>
      </p:pic>
      <p:pic>
        <p:nvPicPr>
          <p:cNvPr id="127" name="Google Shape;127;p20" title="Tentacles-ind.png"/>
          <p:cNvPicPr preferRelativeResize="0"/>
          <p:nvPr/>
        </p:nvPicPr>
        <p:blipFill rotWithShape="1">
          <a:blip r:embed="rId4">
            <a:alphaModFix/>
          </a:blip>
          <a:srcRect l="86642" t="-3013" r="-800" b="2237"/>
          <a:stretch/>
        </p:blipFill>
        <p:spPr>
          <a:xfrm rot="-2277445" flipH="1">
            <a:off x="8526105" y="3368186"/>
            <a:ext cx="727972" cy="1649039"/>
          </a:xfrm>
          <a:prstGeom prst="rect">
            <a:avLst/>
          </a:prstGeom>
          <a:noFill/>
          <a:ln>
            <a:noFill/>
          </a:ln>
        </p:spPr>
      </p:pic>
      <p:pic>
        <p:nvPicPr>
          <p:cNvPr id="128" name="Google Shape;128;p20" title="Tentacles-ind.png"/>
          <p:cNvPicPr preferRelativeResize="0"/>
          <p:nvPr/>
        </p:nvPicPr>
        <p:blipFill rotWithShape="1">
          <a:blip r:embed="rId4">
            <a:alphaModFix/>
          </a:blip>
          <a:srcRect l="29514" t="257" r="50007" b="909"/>
          <a:stretch/>
        </p:blipFill>
        <p:spPr>
          <a:xfrm rot="-2544924">
            <a:off x="8319055" y="3593832"/>
            <a:ext cx="1052965" cy="1617187"/>
          </a:xfrm>
          <a:prstGeom prst="rect">
            <a:avLst/>
          </a:prstGeom>
          <a:noFill/>
          <a:ln>
            <a:noFill/>
          </a:ln>
        </p:spPr>
      </p:pic>
      <p:sp>
        <p:nvSpPr>
          <p:cNvPr id="129" name="TextBox 128"/>
          <p:cNvSpPr txBox="1"/>
          <p:nvPr/>
        </p:nvSpPr>
        <p:spPr>
          <a:xfrm>
            <a:off x="311700" y="350000"/>
            <a:ext cx="8520600" cy="1050000"/>
          </a:xfrm>
          <a:prstGeom prst="rect">
            <a:avLst/>
          </a:prstGeom>
          <a:noFill/>
        </p:spPr>
        <p:txBody>
          <a:bodyPr wrap="square" lIns="0" tIns="0" rIns="0" bIns="0" anchor="t">
            <a:spAutoFit/>
          </a:bodyPr>
          <a:lstStyle/>
          <a:p>
            <a:pPr algn="l"/>
            <a:r>
              <a:rPr sz="3600" b="1">
                <a:solidFill>
                  <a:srgbClr val="10265D"/>
                </a:solidFill>
                <a:latin typeface="Etna"/>
              </a:rPr>
              <a:t>What it isn't</a:t>
            </a:r>
          </a:p>
        </p:txBody>
      </p:sp>
      <p:sp>
        <p:nvSpPr>
          <p:cNvPr id="130" name="TextBox 129"/>
          <p:cNvSpPr txBox="1"/>
          <p:nvPr/>
        </p:nvSpPr>
        <p:spPr>
          <a:xfrm>
            <a:off x="311700" y="1500000"/>
            <a:ext cx="8520600" cy="2000000"/>
          </a:xfrm>
          <a:prstGeom prst="rect">
            <a:avLst/>
          </a:prstGeom>
          <a:noFill/>
        </p:spPr>
        <p:txBody>
          <a:bodyPr wrap="square" lIns="0" tIns="0" rIns="0" bIns="0" anchor="t">
            <a:spAutoFit/>
          </a:bodyPr>
          <a:lstStyle/>
          <a:p>
            <a:pPr algn="l">
              <a:spcAft>
                <a:spcPts val="600"/>
              </a:spcAft>
            </a:pPr>
            <a:r>
              <a:rPr sz="2200" b="0">
                <a:solidFill>
                  <a:srgbClr val="1A1A1A"/>
                </a:solidFill>
                <a:latin typeface="Garet"/>
              </a:rPr>
              <a:t>Not an ORM.</a:t>
            </a:r>
          </a:p>
          <a:p>
            <a:pPr algn="l">
              <a:spcAft>
                <a:spcPts val="600"/>
              </a:spcAft>
            </a:pPr>
            <a:r>
              <a:rPr sz="2200" b="0">
                <a:solidFill>
                  <a:srgbClr val="1A1A1A"/>
                </a:solidFill>
                <a:latin typeface="Garet"/>
              </a:rPr>
              <a:t>Not a full backend framework.</a:t>
            </a:r>
          </a:p>
          <a:p>
            <a:pPr algn="l">
              <a:spcAft>
                <a:spcPts val="600"/>
              </a:spcAft>
            </a:pPr>
            <a:r>
              <a:rPr sz="2200" b="0">
                <a:solidFill>
                  <a:srgbClr val="1A1A1A"/>
                </a:solidFill>
                <a:latin typeface="Garet"/>
              </a:rPr>
              <a:t>Not a replacement for your stored procs.</a:t>
            </a:r>
          </a:p>
          <a:p>
            <a:pPr algn="l">
              <a:spcAft>
                <a:spcPts val="600"/>
              </a:spcAft>
            </a:pPr>
            <a:r>
              <a:rPr sz="2200" b="0">
                <a:solidFill>
                  <a:srgbClr val="1A1A1A"/>
                </a:solidFill>
                <a:latin typeface="Garet"/>
              </a:rPr>
              <a:t>Not magic — auth, rate limits, business logic still need thinking about.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6" name="Google Shape;76;p15" title="Wave.png"/>
          <p:cNvPicPr preferRelativeResize="0"/>
          <p:nvPr/>
        </p:nvPicPr>
        <p:blipFill rotWithShape="1">
          <a:blip r:embed="rId3">
            <a:alphaModFix amt="50000"/>
          </a:blip>
          <a:srcRect l="1876" r="1905" b="34193"/>
          <a:stretch/>
        </p:blipFill>
        <p:spPr>
          <a:xfrm>
            <a:off x="-3850" y="3580350"/>
            <a:ext cx="9151677" cy="1563150"/>
          </a:xfrm>
          <a:prstGeom prst="rect">
            <a:avLst/>
          </a:prstGeom>
          <a:noFill/>
          <a:ln>
            <a:noFill/>
          </a:ln>
        </p:spPr>
      </p:pic>
      <p:pic>
        <p:nvPicPr>
          <p:cNvPr id="77" name="Google Shape;77;p15" title="bubbles 2.png"/>
          <p:cNvPicPr preferRelativeResize="0"/>
          <p:nvPr/>
        </p:nvPicPr>
        <p:blipFill rotWithShape="1">
          <a:blip r:embed="rId4">
            <a:alphaModFix/>
          </a:blip>
          <a:srcRect l="15139" t="47353" r="57355" b="19349"/>
          <a:stretch/>
        </p:blipFill>
        <p:spPr>
          <a:xfrm rot="742634">
            <a:off x="183865" y="3325606"/>
            <a:ext cx="711448" cy="1017014"/>
          </a:xfrm>
          <a:prstGeom prst="rect">
            <a:avLst/>
          </a:prstGeom>
          <a:noFill/>
          <a:ln>
            <a:noFill/>
          </a:ln>
        </p:spPr>
      </p:pic>
      <p:pic>
        <p:nvPicPr>
          <p:cNvPr id="78" name="Google Shape;78;p15" title="bubbles.png"/>
          <p:cNvPicPr preferRelativeResize="0"/>
          <p:nvPr/>
        </p:nvPicPr>
        <p:blipFill rotWithShape="1">
          <a:blip r:embed="rId5">
            <a:alphaModFix/>
          </a:blip>
          <a:srcRect l="40507" r="16342"/>
          <a:stretch/>
        </p:blipFill>
        <p:spPr>
          <a:xfrm>
            <a:off x="8240407" y="2165913"/>
            <a:ext cx="907418" cy="2385675"/>
          </a:xfrm>
          <a:prstGeom prst="rect">
            <a:avLst/>
          </a:prstGeom>
          <a:noFill/>
          <a:ln>
            <a:noFill/>
          </a:ln>
        </p:spPr>
      </p:pic>
      <p:pic>
        <p:nvPicPr>
          <p:cNvPr id="79" name="Google Shape;79;p15" title="bubbles 2.png"/>
          <p:cNvPicPr preferRelativeResize="0"/>
          <p:nvPr/>
        </p:nvPicPr>
        <p:blipFill rotWithShape="1">
          <a:blip r:embed="rId4">
            <a:alphaModFix/>
          </a:blip>
          <a:srcRect r="57354" b="65392"/>
          <a:stretch/>
        </p:blipFill>
        <p:spPr>
          <a:xfrm rot="-308349">
            <a:off x="252920" y="2687159"/>
            <a:ext cx="573357" cy="549431"/>
          </a:xfrm>
          <a:prstGeom prst="rect">
            <a:avLst/>
          </a:prstGeom>
          <a:noFill/>
          <a:ln>
            <a:noFill/>
          </a:ln>
        </p:spPr>
      </p:pic>
      <p:pic>
        <p:nvPicPr>
          <p:cNvPr id="80" name="Google Shape;80;p15" title="Tentacles.png"/>
          <p:cNvPicPr preferRelativeResize="0"/>
          <p:nvPr/>
        </p:nvPicPr>
        <p:blipFill>
          <a:blip r:embed="rId6">
            <a:alphaModFix/>
          </a:blip>
          <a:stretch>
            <a:fillRect/>
          </a:stretch>
        </p:blipFill>
        <p:spPr>
          <a:xfrm>
            <a:off x="6310958" y="3580350"/>
            <a:ext cx="2979741" cy="1563150"/>
          </a:xfrm>
          <a:prstGeom prst="rect">
            <a:avLst/>
          </a:prstGeom>
          <a:noFill/>
          <a:ln>
            <a:noFill/>
          </a:ln>
        </p:spPr>
      </p:pic>
      <p:sp>
        <p:nvSpPr>
          <p:cNvPr id="81" name="TextBox 80"/>
          <p:cNvSpPr txBox="1"/>
          <p:nvPr/>
        </p:nvSpPr>
        <p:spPr>
          <a:xfrm>
            <a:off x="311700" y="350000"/>
            <a:ext cx="8520600" cy="1050000"/>
          </a:xfrm>
          <a:prstGeom prst="rect">
            <a:avLst/>
          </a:prstGeom>
          <a:noFill/>
        </p:spPr>
        <p:txBody>
          <a:bodyPr wrap="square" lIns="0" tIns="0" rIns="0" bIns="0" anchor="t">
            <a:spAutoFit/>
          </a:bodyPr>
          <a:lstStyle/>
          <a:p>
            <a:pPr algn="l"/>
            <a:r>
              <a:rPr sz="3600" b="1" dirty="0">
                <a:solidFill>
                  <a:srgbClr val="10265D"/>
                </a:solidFill>
                <a:latin typeface="Etna"/>
              </a:rPr>
              <a:t>Relationships &amp; </a:t>
            </a:r>
            <a:r>
              <a:rPr sz="3600" b="1" dirty="0" err="1">
                <a:solidFill>
                  <a:srgbClr val="10265D"/>
                </a:solidFill>
                <a:latin typeface="Etna"/>
              </a:rPr>
              <a:t>GraphQL</a:t>
            </a:r>
            <a:endParaRPr sz="3600" b="1" dirty="0">
              <a:solidFill>
                <a:srgbClr val="10265D"/>
              </a:solidFill>
              <a:latin typeface="Etna"/>
            </a:endParaRPr>
          </a:p>
        </p:txBody>
      </p:sp>
      <p:sp>
        <p:nvSpPr>
          <p:cNvPr id="82" name="TextBox 81"/>
          <p:cNvSpPr txBox="1"/>
          <p:nvPr/>
        </p:nvSpPr>
        <p:spPr>
          <a:xfrm>
            <a:off x="311700" y="1500000"/>
            <a:ext cx="8520600" cy="1778000"/>
          </a:xfrm>
          <a:prstGeom prst="rect">
            <a:avLst/>
          </a:prstGeom>
          <a:noFill/>
        </p:spPr>
        <p:txBody>
          <a:bodyPr wrap="square" lIns="0" tIns="0" rIns="0" bIns="0" anchor="t">
            <a:spAutoFit/>
          </a:bodyPr>
          <a:lstStyle/>
          <a:p>
            <a:pPr algn="l">
              <a:spcAft>
                <a:spcPts val="600"/>
              </a:spcAft>
            </a:pPr>
            <a:r>
              <a:rPr sz="2000" b="0">
                <a:solidFill>
                  <a:srgbClr val="1A1A1A"/>
                </a:solidFill>
                <a:latin typeface="Garet"/>
              </a:rPr>
              <a:t>Define relationships in the config file — DAB maps foreign keys and exposes nested data automatically.</a:t>
            </a:r>
          </a:p>
          <a:p>
            <a:pPr algn="l">
              <a:spcAft>
                <a:spcPts val="600"/>
              </a:spcAft>
            </a:pPr>
            <a:r>
              <a:rPr sz="2000" b="0">
                <a:solidFill>
                  <a:srgbClr val="1A1A1A"/>
                </a:solidFill>
                <a:latin typeface="Garet"/>
              </a:rPr>
              <a:t>One request returns parent + children — no client-side joins, no N+1 queries.</a:t>
            </a:r>
          </a:p>
          <a:p>
            <a:pPr algn="l">
              <a:spcAft>
                <a:spcPts val="600"/>
              </a:spcAft>
            </a:pPr>
            <a:r>
              <a:rPr sz="2000" b="0">
                <a:solidFill>
                  <a:srgbClr val="1A1A1A"/>
                </a:solidFill>
                <a:latin typeface="Garet"/>
              </a:rPr>
              <a:t>The </a:t>
            </a:r>
            <a:r>
              <a:rPr sz="2000" b="1">
                <a:solidFill>
                  <a:srgbClr val="530080"/>
                </a:solidFill>
                <a:latin typeface="Etna"/>
              </a:rPr>
              <a:t>GraphQL endpoint</a:t>
            </a:r>
            <a:r>
              <a:rPr sz="2000" b="0">
                <a:solidFill>
                  <a:srgbClr val="1A1A1A"/>
                </a:solidFill>
                <a:latin typeface="Garet"/>
              </a:rPr>
              <a:t> lets callers ask for exactly what they need — nested fields, aliases, fragments.</a:t>
            </a:r>
          </a:p>
        </p:txBody>
      </p:sp>
      <p:sp>
        <p:nvSpPr>
          <p:cNvPr id="83" name="TextBox 82"/>
          <p:cNvSpPr txBox="1"/>
          <p:nvPr/>
        </p:nvSpPr>
        <p:spPr>
          <a:xfrm>
            <a:off x="311700" y="3365500"/>
            <a:ext cx="8520600" cy="600000"/>
          </a:xfrm>
          <a:prstGeom prst="rect">
            <a:avLst/>
          </a:prstGeom>
          <a:solidFill>
            <a:srgbClr val="F4F7FB"/>
          </a:solidFill>
          <a:ln>
            <a:solidFill>
              <a:srgbClr val="BDECFE"/>
            </a:solidFill>
          </a:ln>
        </p:spPr>
        <p:txBody>
          <a:bodyPr wrap="square" lIns="120000" tIns="80000" rIns="120000" bIns="80000">
            <a:spAutoFit/>
          </a:bodyPr>
          <a:lstStyle/>
          <a:p>
            <a:pPr algn="l">
              <a:spcAft>
                <a:spcPts val="0"/>
              </a:spcAft>
            </a:pPr>
            <a:r>
              <a:rPr sz="1300">
                <a:solidFill>
                  <a:srgbClr val="10265D"/>
                </a:solidFill>
                <a:latin typeface="Cascadia Mono"/>
              </a:rPr>
              <a:t>{ athletes(filter: {team: {eq: "A"}}) { name, activities { date, type, distance } } }</a:t>
            </a:r>
          </a:p>
        </p:txBody>
      </p:sp>
    </p:spTree>
    <p:extLst>
      <p:ext uri="{BB962C8B-B14F-4D97-AF65-F5344CB8AC3E}">
        <p14:creationId xmlns:p14="http://schemas.microsoft.com/office/powerpoint/2010/main" val="4019953229"/>
      </p:ext>
    </p:extLst>
  </p:cSld>
  <p:clrMapOvr>
    <a:masterClrMapping/>
  </p:clrMapOvr>
</p:sld>
</file>

<file path=ppt/theme/theme1.xml><?xml version="1.0" encoding="utf-8"?>
<a:theme xmlns:a="http://schemas.openxmlformats.org/drawingml/2006/main" name="Simple Light">
  <a:themeElements>
    <a:clrScheme name="Custom 1">
      <a:dk1>
        <a:srgbClr val="000000"/>
      </a:dk1>
      <a:lt1>
        <a:srgbClr val="FFFFFF"/>
      </a:lt1>
      <a:dk2>
        <a:srgbClr val="595959"/>
      </a:dk2>
      <a:lt2>
        <a:srgbClr val="EEEEEE"/>
      </a:lt2>
      <a:accent1>
        <a:srgbClr val="530080"/>
      </a:accent1>
      <a:accent2>
        <a:srgbClr val="10265D"/>
      </a:accent2>
      <a:accent3>
        <a:srgbClr val="BDECFE"/>
      </a:accent3>
      <a:accent4>
        <a:srgbClr val="4FAAB3"/>
      </a:accent4>
      <a:accent5>
        <a:srgbClr val="FFFFFF"/>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E169094-0DF9-4623-971C-04B5BF1B2B65}">
  <we:reference id="wa200010001" version="1.0.0.1" store="en-US" storeType="OMEX"/>
  <we:alternateReferences>
    <we:reference id="wa200010001" version="1.0.0.1" store="wa200010001" storeType="OMEX"/>
  </we:alternateReferences>
  <we:properties>
    <we:property name="claude.fileId" value="&quot;c89d7880-8596-43bd-a86d-eaeea3bd708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1734</TotalTime>
  <Words>4655</Words>
  <Application>Microsoft Office PowerPoint</Application>
  <PresentationFormat>On-screen Show (16:9)</PresentationFormat>
  <Paragraphs>491</Paragraphs>
  <Slides>54</Slides>
  <Notes>43</Notes>
  <HiddenSlides>12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Arial</vt:lpstr>
      <vt:lpstr>Calibri</vt:lpstr>
      <vt:lpstr>Cascadia Mono</vt:lpstr>
      <vt:lpstr>Etna</vt:lpstr>
      <vt:lpstr>Garet</vt:lpstr>
      <vt:lpstr>Simple Light</vt:lpstr>
      <vt:lpstr>Data API Builder</vt:lpstr>
      <vt:lpstr>Jess Pomfret (She/Her)</vt:lpstr>
      <vt:lpstr> if I wanted to cycle 205 miles in one day…</vt:lpstr>
      <vt:lpstr>On 20th June 2026, I set out to cycle 205 miles… in one day!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Data API Builder?</vt:lpstr>
      <vt:lpstr>PowerPoint Presentation</vt:lpstr>
      <vt:lpstr>PowerPoint Presentation</vt:lpstr>
      <vt:lpstr>PowerPoint Presentation</vt:lpstr>
      <vt:lpstr>Demo: dab in 2 mins</vt:lpstr>
      <vt:lpstr>PowerPoint Presentation</vt:lpstr>
      <vt:lpstr>PowerPoint Presentation</vt:lpstr>
      <vt:lpstr>PowerPoint Presentation</vt:lpstr>
      <vt:lpstr>PowerPoint Presentation</vt:lpstr>
      <vt:lpstr>PowerPoint Presentation</vt:lpstr>
      <vt:lpstr>Authentication</vt:lpstr>
      <vt:lpstr>Demo: Chase the Sun tracker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Hold on – Back to the Story…</vt:lpstr>
      <vt:lpstr>Hold on – Back to the Story…</vt:lpstr>
      <vt:lpstr>PowerPoint Presentation</vt:lpstr>
      <vt:lpstr>Auto Entities</vt:lpstr>
      <vt:lpstr>SQL MCP Server</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Jess Pomfret</dc:creator>
  <cp:lastModifiedBy>Jess Pomfret</cp:lastModifiedBy>
  <cp:revision>31</cp:revision>
  <dcterms:modified xsi:type="dcterms:W3CDTF">2026-09-07T17:13:52Z</dcterms:modified>
</cp:coreProperties>
</file>