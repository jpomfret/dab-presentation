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5"/>
  </p:notesMasterIdLst>
  <p:sldIdLst>
    <p:sldId id="268" r:id="rId2"/>
    <p:sldId id="311" r:id="rId3"/>
    <p:sldId id="269" r:id="rId4"/>
    <p:sldId id="309" r:id="rId5"/>
    <p:sldId id="270" r:id="rId6"/>
    <p:sldId id="316" r:id="rId7"/>
    <p:sldId id="271" r:id="rId8"/>
    <p:sldId id="296" r:id="rId9"/>
    <p:sldId id="293" r:id="rId10"/>
    <p:sldId id="297" r:id="rId11"/>
    <p:sldId id="273" r:id="rId12"/>
    <p:sldId id="322" r:id="rId13"/>
    <p:sldId id="321" r:id="rId14"/>
    <p:sldId id="324" r:id="rId15"/>
    <p:sldId id="274" r:id="rId16"/>
    <p:sldId id="275" r:id="rId17"/>
    <p:sldId id="276" r:id="rId18"/>
    <p:sldId id="277" r:id="rId19"/>
    <p:sldId id="279" r:id="rId20"/>
    <p:sldId id="331" r:id="rId21"/>
    <p:sldId id="284" r:id="rId22"/>
    <p:sldId id="282" r:id="rId23"/>
    <p:sldId id="283" r:id="rId24"/>
    <p:sldId id="329" r:id="rId25"/>
    <p:sldId id="332" r:id="rId26"/>
    <p:sldId id="333" r:id="rId27"/>
    <p:sldId id="312" r:id="rId28"/>
    <p:sldId id="285" r:id="rId29"/>
    <p:sldId id="310" r:id="rId30"/>
    <p:sldId id="320" r:id="rId31"/>
    <p:sldId id="286" r:id="rId32"/>
    <p:sldId id="288" r:id="rId33"/>
    <p:sldId id="289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AAB3"/>
    <a:srgbClr val="DEF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58877" autoAdjust="0"/>
  </p:normalViewPr>
  <p:slideViewPr>
    <p:cSldViewPr snapToGrid="0">
      <p:cViewPr>
        <p:scale>
          <a:sx n="75" d="100"/>
          <a:sy n="75" d="100"/>
        </p:scale>
        <p:origin x="1686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8AC2F16-8798-47F5-18F4-E5CE8718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FD642B1-38E3-814A-7F40-6AFF6F3B8F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C4165065-845C-D332-A862-3DFBC758F2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Welcome. I'm Jess. Today we're going to talk about Data API Builder — but I'm going to start with a story.</a:t>
            </a:r>
          </a:p>
        </p:txBody>
      </p:sp>
    </p:spTree>
    <p:extLst>
      <p:ext uri="{BB962C8B-B14F-4D97-AF65-F5344CB8AC3E}">
        <p14:creationId xmlns:p14="http://schemas.microsoft.com/office/powerpoint/2010/main" val="790504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88DEC1-F2AB-4DD2-8E1F-AE80EFAA403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470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73be8fb28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73be8fb28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Last November I got a text message in a gym cycling group</a:t>
            </a:r>
          </a:p>
          <a:p>
            <a:r>
              <a:rPr lang="en-GB" dirty="0"/>
              <a:t>Pete said ‘hey does anyone want to do this’ … and I thought – what a terrible idea, absolutely not…</a:t>
            </a:r>
          </a:p>
          <a:p>
            <a:r>
              <a:rPr lang="en-GB" dirty="0"/>
              <a:t>And then… </a:t>
            </a:r>
          </a:p>
          <a:p>
            <a:r>
              <a:rPr lang="en-GB" dirty="0"/>
              <a:t>Wait a min…. 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A88CBC78-3F0F-D5EB-1A54-EC149880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73be8fb28_0_92:notes">
            <a:extLst>
              <a:ext uri="{FF2B5EF4-FFF2-40B4-BE49-F238E27FC236}">
                <a16:creationId xmlns:a16="http://schemas.microsoft.com/office/drawing/2014/main" id="{CE43B33A-8928-AB8A-BC6E-715E86FCB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73be8fb28_0_92:notes">
            <a:extLst>
              <a:ext uri="{FF2B5EF4-FFF2-40B4-BE49-F238E27FC236}">
                <a16:creationId xmlns:a16="http://schemas.microsoft.com/office/drawing/2014/main" id="{F84FB2E1-83CA-4EA2-8324-EEAA8EFEFA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Big number, sets up the bet. Pause. Let it land.</a:t>
            </a:r>
            <a:endParaRPr lang="en-GB" dirty="0"/>
          </a:p>
          <a:p>
            <a:r>
              <a:rPr lang="en-GB" dirty="0"/>
              <a:t>what a great plan 🤣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9298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73be8fb2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73be8fb2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3 days after my 40</a:t>
            </a:r>
            <a:r>
              <a:rPr lang="en-GB" baseline="30000" dirty="0"/>
              <a:t>th</a:t>
            </a:r>
            <a:r>
              <a:rPr lang="en-GB" dirty="0"/>
              <a:t> birthday – midlife crisis anyone?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4306C70A-AFE7-86AB-CCEA-8CFD5FDB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73be8fb28_0_117:notes">
            <a:extLst>
              <a:ext uri="{FF2B5EF4-FFF2-40B4-BE49-F238E27FC236}">
                <a16:creationId xmlns:a16="http://schemas.microsoft.com/office/drawing/2014/main" id="{90625164-41D1-630E-EF3F-EFA87CF559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73be8fb28_0_117:notes">
            <a:extLst>
              <a:ext uri="{FF2B5EF4-FFF2-40B4-BE49-F238E27FC236}">
                <a16:creationId xmlns:a16="http://schemas.microsoft.com/office/drawing/2014/main" id="{CDB307E5-7E29-CAB6-2F0B-84B88488E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It’s also worth saying that I have a somewhat addictive personality – which tends to mean when I’m in… I’m all in….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2423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73be8fb2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73be8fb28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dirty="0"/>
              <a:t>This has generated a lot of data – and I thought what better way to procrastinate writing this presentation… than building something to solve this problem, while showing how cool DAB really is – so here we are!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n-GB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n-GB" dirty="0"/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Heart Rate Variability (HRV) </a:t>
            </a:r>
            <a:r>
              <a:rPr lang="en-GB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lang="en-GB" dirty="0"/>
              <a:t>the measure of the variation in milliseconds between consecutive heartbeats</a:t>
            </a:r>
            <a:endParaRPr lang="en-GB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Rate of Perceived Exertion (RPE)</a:t>
            </a:r>
            <a:r>
              <a:rPr lang="en-GB" dirty="0"/>
              <a:t> is a subjective 1–10 scale</a:t>
            </a:r>
          </a:p>
          <a:p>
            <a:endParaRPr lang="en-GB" dirty="0"/>
          </a:p>
          <a:p>
            <a:r>
              <a:rPr lang="en-GB" dirty="0"/>
              <a:t>And when I say there has been a lot of data…</a:t>
            </a: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DDF1CDDD-AF23-0EB6-3181-56F9151DE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73be8fb28_0_117:notes">
            <a:extLst>
              <a:ext uri="{FF2B5EF4-FFF2-40B4-BE49-F238E27FC236}">
                <a16:creationId xmlns:a16="http://schemas.microsoft.com/office/drawing/2014/main" id="{F51F95CE-224D-0CA7-8A43-BCA6EBAA2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73be8fb28_0_117:notes">
            <a:extLst>
              <a:ext uri="{FF2B5EF4-FFF2-40B4-BE49-F238E27FC236}">
                <a16:creationId xmlns:a16="http://schemas.microsoft.com/office/drawing/2014/main" id="{FF1C531B-5F16-39CF-6AAB-0BE1E1FFAB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We’ve got sleep stats, heart rate, heart rate variability, body battery, recovery, training readiness all coming from my Garmin watch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And We’ve got bike ride data coming from a Garmin edge head unit – distance, speed, maps of where I’ve been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+ HR strap for more accurate HR reading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+ power pedals – how much force I’m putting through the pedals</a:t>
            </a:r>
          </a:p>
          <a:p>
            <a:pPr marL="158750" lvl="0" indent="0">
              <a:buNone/>
            </a:pPr>
            <a:endParaRPr lang="en-GB" dirty="0"/>
          </a:p>
          <a:p>
            <a:pPr lvl="0"/>
            <a:r>
              <a:rPr lang="en-GB" dirty="0"/>
              <a:t>And we’ve got weights and calories of all the food that my wife is cooking, and I’m busy eating… 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The last few months have been a lot of cycling, eating, recovering… and obviously working (literally my whole team is here shh)</a:t>
            </a:r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sz="1100" b="1" dirty="0">
                <a:solidFill>
                  <a:srgbClr val="1A1A1A"/>
                </a:solidFill>
                <a:latin typeface="Garet"/>
              </a:rPr>
              <a:t>Heart rate, sleep, HRV, RPE, distance, speed, power, </a:t>
            </a:r>
            <a:r>
              <a:rPr lang="en-GB" sz="1100" b="1" dirty="0" err="1">
                <a:solidFill>
                  <a:srgbClr val="1A1A1A"/>
                </a:solidFill>
                <a:latin typeface="Garet"/>
              </a:rPr>
              <a:t>fueling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9336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most of this data goes via Garmin into </a:t>
            </a:r>
            <a:r>
              <a:rPr lang="en-GB" dirty="0" err="1"/>
              <a:t>intervals.icu</a:t>
            </a:r>
            <a:r>
              <a:rPr lang="en-GB" dirty="0"/>
              <a:t> a great open source tool for training data</a:t>
            </a:r>
          </a:p>
          <a:p>
            <a:r>
              <a:rPr lang="en-GB" dirty="0"/>
              <a:t>They have all kinds of metrics, and explanations on metrics</a:t>
            </a:r>
          </a:p>
          <a:p>
            <a:r>
              <a:rPr lang="en-GB" dirty="0"/>
              <a:t>And all kinds of graphs – this top one is fitness  vs  fatigue, basically if you keep the purple fatigue line above the blue fitness line your fitness will increase</a:t>
            </a:r>
          </a:p>
          <a:p>
            <a:r>
              <a:rPr lang="en-GB" dirty="0"/>
              <a:t>You can see the opposite happened while I was in Australia</a:t>
            </a:r>
          </a:p>
          <a:p>
            <a:r>
              <a:rPr lang="en-GB" dirty="0"/>
              <a:t>But too much training is bad, so also aim to keep this form line close to green…</a:t>
            </a:r>
          </a:p>
          <a:p>
            <a:endParaRPr lang="en-GB" dirty="0"/>
          </a:p>
          <a:p>
            <a:r>
              <a:rPr lang="en-GB" dirty="0"/>
              <a:t>You can also plan your training here, chat to other cycling nerds, but nothing for weight\nutrition</a:t>
            </a:r>
          </a:p>
          <a:p>
            <a:endParaRPr lang="en-GB" dirty="0"/>
          </a:p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8335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BAF87-BE6E-B3BF-CC72-B3B15E65C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64D99-EA0B-D2E1-B09A-7276DF1CE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3F61E5-EBA1-437C-F588-8789D7A67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I built my own simple app</a:t>
            </a:r>
          </a:p>
          <a:p>
            <a:r>
              <a:rPr lang="en-GB" dirty="0"/>
              <a:t>And then I built my own app to track my calories consumed, it pulls in data from Garmin for my daily calories burned to make sure I’m eating enough \ not eating too much</a:t>
            </a:r>
          </a:p>
          <a:p>
            <a:endParaRPr lang="en-GB" dirty="0"/>
          </a:p>
          <a:p>
            <a:endParaRPr lang="en-GB" dirty="0"/>
          </a:p>
          <a:p>
            <a:pPr marL="15875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2034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73be8fb28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73be8fb28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GB" dirty="0"/>
          </a:p>
          <a:p>
            <a:r>
              <a:rPr lang="en-GB" dirty="0"/>
              <a:t>I want to collect my data – load it into my Azure SQL Database – we’ll use Data API Builder as the API layer</a:t>
            </a:r>
          </a:p>
          <a:p>
            <a:endParaRPr lang="en-GB" dirty="0"/>
          </a:p>
          <a:p>
            <a:r>
              <a:rPr lang="en-GB" dirty="0"/>
              <a:t>We can use DAB to create GET and POST endpoints – meaning we can get and set data using this – and it’s so simple to get it set up</a:t>
            </a: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842A1C5-0B3B-D36F-1BDC-F6639B180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Ok so remember why we’re here… DAB not Jess’ cycling adventure</a:t>
            </a:r>
          </a:p>
          <a:p>
            <a:r>
              <a:rPr lang="en-GB" dirty="0"/>
              <a:t>What is it?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73be8fb28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73be8fb28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Basically create a simple config file in JSON </a:t>
            </a:r>
          </a:p>
          <a:p>
            <a:r>
              <a:rPr lang="en-GB" dirty="0"/>
              <a:t>Tell DAB about the config file</a:t>
            </a:r>
          </a:p>
          <a:p>
            <a:r>
              <a:rPr lang="en-GB" dirty="0"/>
              <a:t>API magic</a:t>
            </a:r>
          </a:p>
          <a:p>
            <a:endParaRPr lang="en-GB" dirty="0"/>
          </a:p>
          <a:p>
            <a:r>
              <a:rPr lang="en-GB" dirty="0"/>
              <a:t>It’s that easy</a:t>
            </a: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73be8fb28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73be8fb28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Live demo part two. Show the schedule view, walk through how planned TSS compares to actual TSS, and the projection out to 13 June.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73be8fb28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73be8fb28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Simplest setup – we have a database, we have DAB running in a container say, and then we can access the endpoints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73be8fb28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73be8fb28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Simplest form of config</a:t>
            </a:r>
          </a:p>
          <a:p>
            <a:pPr lvl="1"/>
            <a:r>
              <a:rPr lang="en-GB" dirty="0"/>
              <a:t>Using an environment variable for the connection string</a:t>
            </a:r>
          </a:p>
          <a:p>
            <a:pPr lvl="1"/>
            <a:r>
              <a:rPr lang="en-GB" dirty="0"/>
              <a:t>Exposing one table for read (GET) access with no authentication</a:t>
            </a:r>
          </a:p>
          <a:p>
            <a:pPr lvl="1"/>
            <a:r>
              <a:rPr lang="en-GB" dirty="0"/>
              <a:t>The name of the entity ‘</a:t>
            </a:r>
            <a:r>
              <a:rPr lang="en-GB" dirty="0" err="1"/>
              <a:t>IntervalsWellness</a:t>
            </a:r>
            <a:r>
              <a:rPr lang="en-GB" dirty="0"/>
              <a:t>’ in this example will become the API endpoint</a:t>
            </a:r>
          </a:p>
          <a:p>
            <a:pPr lvl="1"/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73be8fb28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73be8fb28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dirty="0"/>
              <a:t>Deployment — four options, one container image</a:t>
            </a:r>
          </a:p>
          <a:p>
            <a:endParaRPr lang="en-GB" dirty="0"/>
          </a:p>
          <a:p>
            <a:r>
              <a:rPr lang="en-GB" b="1" dirty="0"/>
              <a:t>Docker container:</a:t>
            </a:r>
          </a:p>
          <a:p>
            <a:r>
              <a:rPr lang="en-GB" dirty="0"/>
              <a:t>- The DAB runtime ships as a single Docker image from Microsoft Container Registry.</a:t>
            </a:r>
          </a:p>
          <a:p>
            <a:r>
              <a:rPr lang="en-GB" dirty="0"/>
              <a:t>- docker run is all you need for local development — pass your connection string as an environment variable.</a:t>
            </a:r>
          </a:p>
          <a:p>
            <a:r>
              <a:rPr lang="en-GB" dirty="0"/>
              <a:t>- Same image works in CI pipelines for integration testing — spin it up, run tests, tear it down.</a:t>
            </a:r>
          </a:p>
          <a:p>
            <a:r>
              <a:rPr lang="en-GB" dirty="0"/>
              <a:t>- For bare-metal or VM deployments, just run the container directly. No framework dependency on the host.</a:t>
            </a:r>
          </a:p>
          <a:p>
            <a:endParaRPr lang="en-GB" dirty="0"/>
          </a:p>
          <a:p>
            <a:r>
              <a:rPr lang="en-GB" b="1" dirty="0"/>
              <a:t>Azure Container Apps:</a:t>
            </a:r>
          </a:p>
          <a:p>
            <a:r>
              <a:rPr lang="en-GB" dirty="0"/>
              <a:t>- Recommended starting point for most teams. Serverless — you don't manage infrastructure.</a:t>
            </a:r>
          </a:p>
          <a:p>
            <a:r>
              <a:rPr lang="en-GB" dirty="0"/>
              <a:t>- Built-in auto-scale from zero to N replicas based on HTTP traffic. You pay per request, not per VM.</a:t>
            </a:r>
          </a:p>
          <a:p>
            <a:r>
              <a:rPr lang="en-GB" dirty="0"/>
              <a:t>- Supports revision-based traffic splitting for canary deployments.</a:t>
            </a:r>
          </a:p>
          <a:p>
            <a:endParaRPr lang="en-GB" dirty="0"/>
          </a:p>
          <a:p>
            <a:r>
              <a:rPr lang="en-GB" b="1" dirty="0"/>
              <a:t>Azure App Service:</a:t>
            </a:r>
          </a:p>
          <a:p>
            <a:r>
              <a:rPr lang="en-GB" dirty="0"/>
              <a:t>- If your team already runs .NET apps on App Service, DAB slots right in.</a:t>
            </a:r>
          </a:p>
          <a:p>
            <a:r>
              <a:rPr lang="en-GB" dirty="0"/>
              <a:t>- Deployment slots give you blue-green deployments out of the box.</a:t>
            </a:r>
          </a:p>
          <a:p>
            <a:r>
              <a:rPr lang="en-GB" dirty="0"/>
              <a:t>- Built-in auth integration with Entra ID (formerly AAD) — no code changes needed.</a:t>
            </a:r>
          </a:p>
          <a:p>
            <a:endParaRPr lang="en-GB" dirty="0"/>
          </a:p>
          <a:p>
            <a:r>
              <a:rPr lang="en-GB" b="1" dirty="0"/>
              <a:t>Azure Kubernetes Service (AKS):</a:t>
            </a:r>
          </a:p>
          <a:p>
            <a:r>
              <a:rPr lang="en-GB" dirty="0"/>
              <a:t>- For teams that already operate a K8s cluster. Helm chart is provided.</a:t>
            </a:r>
          </a:p>
          <a:p>
            <a:r>
              <a:rPr lang="en-GB" dirty="0"/>
              <a:t>- Fits into existing service mesh, observability, and scaling policies.</a:t>
            </a:r>
          </a:p>
          <a:p>
            <a:r>
              <a:rPr lang="en-GB" dirty="0"/>
              <a:t>- Most operational overhead — only choose this if you already have the K8s muscle.</a:t>
            </a:r>
          </a:p>
          <a:p>
            <a:endParaRPr lang="en-GB" dirty="0"/>
          </a:p>
          <a:p>
            <a:r>
              <a:rPr lang="en-GB" b="1" dirty="0"/>
              <a:t>Key message: identical image everywhere. The only thing that changes between environments is the config — connection strings, auth settings, CORS rules. All of that lives in environment variables or a JSON config file, never in source code. Connection strings should be stored in Azure Key Vault and referenced via env vars.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6D4A4BBE-4B58-9730-380C-D3F27A7A5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GB" dirty="0"/>
              <a:t>After demo</a:t>
            </a:r>
          </a:p>
          <a:p>
            <a:pPr marL="457200" indent="-298450">
              <a:buFontTx/>
              <a:buChar char="-"/>
            </a:pPr>
            <a:r>
              <a:rPr lang="en-GB" dirty="0"/>
              <a:t>So you can see how easy it is to get started with DAB locally</a:t>
            </a:r>
          </a:p>
          <a:p>
            <a:pPr marL="457200" indent="-298450">
              <a:buFontTx/>
              <a:buChar char="-"/>
            </a:pPr>
            <a:r>
              <a:rPr lang="en-GB" dirty="0"/>
              <a:t>But it’s also got some cool baked in features out of the box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38B3BDB-4A97-BD71-2A94-42FDE21E2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Or you can run it locally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B290C450-44F9-2ECC-C2B2-23D970E01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demos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B92018FC-EF95-3EBC-8EE4-04AC9899E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Like paging results – we don’t want to overwhelm clients receiving this data – so chunk it into pages</a:t>
            </a:r>
          </a:p>
          <a:p>
            <a:endParaRPr lang="en-GB" dirty="0"/>
          </a:p>
          <a:p>
            <a:r>
              <a:rPr lang="en-GB" dirty="0"/>
              <a:t>First 25 records</a:t>
            </a:r>
          </a:p>
          <a:p>
            <a:r>
              <a:rPr lang="en-GB" dirty="0"/>
              <a:t>After the record with id 100 – that’s base encoded</a:t>
            </a:r>
          </a:p>
          <a:p>
            <a:endParaRPr lang="en-GB" dirty="0"/>
          </a:p>
          <a:p>
            <a:r>
              <a:rPr lang="en-GB" dirty="0"/>
              <a:t>Offset-based paging means the database has to skip more rows each time and so gets slower and slower</a:t>
            </a:r>
          </a:p>
          <a:p>
            <a:r>
              <a:rPr lang="en-GB" dirty="0"/>
              <a:t>Cursor-based paging jumps straight to the point in the index, id &gt; 100 and then grabs the next 25 rows</a:t>
            </a:r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B92018FC-EF95-3EBC-8EE4-04AC9899E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Filtering &amp; querying — the built-in query surface</a:t>
            </a:r>
          </a:p>
          <a:p>
            <a:endParaRPr lang="en-GB" dirty="0"/>
          </a:p>
          <a:p>
            <a:r>
              <a:rPr lang="en-GB" b="1" dirty="0"/>
              <a:t>$filter:</a:t>
            </a:r>
          </a:p>
          <a:p>
            <a:r>
              <a:rPr lang="en-GB" dirty="0"/>
              <a:t>- OData-style filter expressions on any exposed column.</a:t>
            </a:r>
          </a:p>
          <a:p>
            <a:r>
              <a:rPr lang="en-GB" dirty="0"/>
              <a:t>- Supports: eq, ne, gt, ge, lt, le, contains, startswith, endswith.</a:t>
            </a:r>
          </a:p>
          <a:p>
            <a:r>
              <a:rPr lang="en-GB" dirty="0"/>
              <a:t>- Combine with AND/OR logic: $filter=type eq 'Ride' and distance gt 50.</a:t>
            </a:r>
          </a:p>
          <a:p>
            <a:r>
              <a:rPr lang="en-GB" dirty="0"/>
              <a:t>- DAB translates these to parameterised SQL — no injection risk.</a:t>
            </a:r>
          </a:p>
          <a:p>
            <a:endParaRPr lang="en-GB" dirty="0"/>
          </a:p>
          <a:p>
            <a:r>
              <a:rPr lang="en-GB" b="1" dirty="0"/>
              <a:t>$select:</a:t>
            </a:r>
          </a:p>
          <a:p>
            <a:r>
              <a:rPr lang="en-GB" dirty="0"/>
              <a:t>- Project only the columns you need. Reduces payload size over the wire.</a:t>
            </a:r>
          </a:p>
          <a:p>
            <a:r>
              <a:rPr lang="en-GB" dirty="0"/>
              <a:t>- Particularly useful for wide tables — instead of returning 40 columns, pick the 5 you need.</a:t>
            </a:r>
          </a:p>
          <a:p>
            <a:r>
              <a:rPr lang="en-GB" dirty="0"/>
              <a:t>- Example: $select=date,distance,tss returns only those three fields.</a:t>
            </a:r>
          </a:p>
          <a:p>
            <a:endParaRPr lang="en-GB" dirty="0"/>
          </a:p>
          <a:p>
            <a:r>
              <a:rPr lang="en-GB" b="1" dirty="0"/>
              <a:t>$orderby:</a:t>
            </a:r>
          </a:p>
          <a:p>
            <a:r>
              <a:rPr lang="en-GB" dirty="0"/>
              <a:t>- Sort on one or more columns: $orderby=date desc, distance asc.</a:t>
            </a:r>
          </a:p>
          <a:p>
            <a:r>
              <a:rPr lang="en-GB" dirty="0"/>
              <a:t>- Sorting happens server-side in the database — not in memory in the API layer.</a:t>
            </a:r>
          </a:p>
          <a:p>
            <a:r>
              <a:rPr lang="en-GB" dirty="0"/>
              <a:t>- Default sort order is by primary key if $orderby is not specified.</a:t>
            </a:r>
          </a:p>
          <a:p>
            <a:endParaRPr lang="en-GB" dirty="0"/>
          </a:p>
          <a:p>
            <a:r>
              <a:rPr lang="en-GB" b="1" dirty="0"/>
              <a:t>Key point for the audience: these are standard OData query parameters. If anyone has used Power BI, Dynamics, or any Microsoft data API, the syntax is identical. No learning curve.</a:t>
            </a:r>
          </a:p>
          <a:p>
            <a:endParaRPr lang="en-GB" dirty="0"/>
          </a:p>
          <a:p>
            <a:r>
              <a:rPr lang="en-GB" dirty="0"/>
              <a:t>The REST endpoint and the GraphQL endpoint both support filtering. REST uses query-string parameters; GraphQL uses typed filter arguments in the schema.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B92018FC-EF95-3EBC-8EE4-04AC9899E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Relationships &amp; GraphQL — nested data without custom code</a:t>
            </a:r>
          </a:p>
          <a:p>
            <a:endParaRPr lang="en-GB" dirty="0"/>
          </a:p>
          <a:p>
            <a:r>
              <a:rPr lang="en-GB" b="1" dirty="0"/>
              <a:t>Relationships:</a:t>
            </a:r>
          </a:p>
          <a:p>
            <a:r>
              <a:rPr lang="en-GB" dirty="0"/>
              <a:t>- Defined in the config file under each entity's "relationships" section.</a:t>
            </a:r>
          </a:p>
          <a:p>
            <a:r>
              <a:rPr lang="en-GB" dirty="0"/>
              <a:t>- You specify the source and target entities, the linking columns, and the cardinality (one-to-many, many-to-one).</a:t>
            </a:r>
          </a:p>
          <a:p>
            <a:r>
              <a:rPr lang="en-GB" dirty="0"/>
              <a:t>- DAB generates the join logic — no stored procedures, no views required.</a:t>
            </a:r>
          </a:p>
          <a:p>
            <a:r>
              <a:rPr lang="en-GB" dirty="0"/>
              <a:t>- One API call returns parent + child records together — eliminates N+1 query patterns on the client.</a:t>
            </a:r>
          </a:p>
          <a:p>
            <a:endParaRPr lang="en-GB" dirty="0"/>
          </a:p>
          <a:p>
            <a:r>
              <a:rPr lang="en-GB" b="1" dirty="0"/>
              <a:t>GraphQL endpoint:</a:t>
            </a:r>
          </a:p>
          <a:p>
            <a:r>
              <a:rPr lang="en-GB" dirty="0"/>
              <a:t>- DAB auto-generates a full GraphQL schema from your entity definitions.</a:t>
            </a:r>
          </a:p>
          <a:p>
            <a:r>
              <a:rPr lang="en-GB" dirty="0"/>
              <a:t>- Callers request exactly the fields they need — no over-fetching, no under-fetching.</a:t>
            </a:r>
          </a:p>
          <a:p>
            <a:r>
              <a:rPr lang="en-GB" dirty="0"/>
              <a:t>- Supports nested queries that follow the relationships you defined — e.g., query an athlete and get their activities in one request.</a:t>
            </a:r>
          </a:p>
          <a:p>
            <a:r>
              <a:rPr lang="en-GB" dirty="0"/>
              <a:t>- Supports aliases, fragments, and introspection out of the box.</a:t>
            </a:r>
          </a:p>
          <a:p>
            <a:r>
              <a:rPr lang="en-GB" dirty="0"/>
              <a:t>- The GraphQL endpoint lives at /graphql on the same host as the REST endpoint.</a:t>
            </a:r>
          </a:p>
          <a:p>
            <a:endParaRPr lang="en-GB" dirty="0"/>
          </a:p>
          <a:p>
            <a:r>
              <a:rPr lang="en-GB" b="1" dirty="0"/>
              <a:t>When to use REST vs GraphQL:</a:t>
            </a:r>
          </a:p>
          <a:p>
            <a:r>
              <a:rPr lang="en-GB" dirty="0"/>
              <a:t>- REST is simpler and works with any HTTP client — good for CRUD and straightforward queries.</a:t>
            </a:r>
          </a:p>
          <a:p>
            <a:r>
              <a:rPr lang="en-GB" dirty="0"/>
              <a:t>- GraphQL shines when the client needs flexible field selection or traverses relationships — fewer round-trips, exactly the data shape you want.</a:t>
            </a:r>
          </a:p>
          <a:p>
            <a:r>
              <a:rPr lang="en-GB" dirty="0"/>
              <a:t>- Both endpoints are always available simultaneously — no need to choose one at deploy time.</a:t>
            </a:r>
          </a:p>
          <a:p>
            <a:endParaRPr lang="en-GB" dirty="0"/>
          </a:p>
          <a:p>
            <a:r>
              <a:rPr lang="en-GB" b="1" dirty="0"/>
              <a:t>Demo tip: show the GraphQL playground at /graphql — it has auto-complete and schema docs built in. Let the audience explore the schema interactively.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DD0E9-B14F-2E21-1BC9-C1E6B2A06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53EA684-E066-E2B5-91DD-F7370C7A2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0320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67DF11D5-9CBA-286D-5988-7CE73FAAA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48473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oogle Shape;66;p14" title="Wave.png">
            <a:extLst>
              <a:ext uri="{FF2B5EF4-FFF2-40B4-BE49-F238E27FC236}">
                <a16:creationId xmlns:a16="http://schemas.microsoft.com/office/drawing/2014/main" id="{F4F64EAE-7921-4F7A-F198-C32F3F0287C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1896" r="1886" b="28947"/>
          <a:stretch/>
        </p:blipFill>
        <p:spPr>
          <a:xfrm>
            <a:off x="2145" y="3455650"/>
            <a:ext cx="9151677" cy="168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6151D4-DB60-411B-A528-50BAE53F57B2}"/>
              </a:ext>
            </a:extLst>
          </p:cNvPr>
          <p:cNvSpPr/>
          <p:nvPr userDrawn="1"/>
        </p:nvSpPr>
        <p:spPr>
          <a:xfrm>
            <a:off x="1" y="0"/>
            <a:ext cx="3790536" cy="50950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60309D-55BA-4D22-AAD6-E5A0B50ECF2B}"/>
              </a:ext>
            </a:extLst>
          </p:cNvPr>
          <p:cNvCxnSpPr>
            <a:cxnSpLocks/>
          </p:cNvCxnSpPr>
          <p:nvPr userDrawn="1"/>
        </p:nvCxnSpPr>
        <p:spPr>
          <a:xfrm>
            <a:off x="-3591" y="1247614"/>
            <a:ext cx="3794128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49088"/>
            <a:ext cx="5028008" cy="424670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6F7AEB39-490D-4470-BB4F-F7E09AA2B520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7685D492-989E-4C18-9C16-618523FA8F8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7EFE7-5B1E-4F40-811D-08FCD8D618DD}"/>
              </a:ext>
            </a:extLst>
          </p:cNvPr>
          <p:cNvSpPr/>
          <p:nvPr userDrawn="1"/>
        </p:nvSpPr>
        <p:spPr>
          <a:xfrm>
            <a:off x="0" y="4676767"/>
            <a:ext cx="9147590" cy="46857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B38A53-4A23-41D0-8BA1-0FA329586176}"/>
              </a:ext>
            </a:extLst>
          </p:cNvPr>
          <p:cNvSpPr txBox="1"/>
          <p:nvPr userDrawn="1"/>
        </p:nvSpPr>
        <p:spPr>
          <a:xfrm>
            <a:off x="3872435" y="4780327"/>
            <a:ext cx="13955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JessPomfret.com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9766BB-530B-4DC7-AD7C-CC8099056C53}"/>
              </a:ext>
            </a:extLst>
          </p:cNvPr>
          <p:cNvSpPr txBox="1"/>
          <p:nvPr userDrawn="1"/>
        </p:nvSpPr>
        <p:spPr>
          <a:xfrm>
            <a:off x="6595888" y="4789565"/>
            <a:ext cx="23195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solidFill>
                  <a:schemeClr val="bg1"/>
                </a:solidFill>
              </a:rPr>
              <a:t>jpomfret7@gmail.com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5E0488E-0427-43E8-BBA5-D99047E5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49088"/>
            <a:ext cx="3340480" cy="105479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E8AD4E-3E68-45C9-8E82-47CD85003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8539" y="1343400"/>
            <a:ext cx="3340480" cy="3058341"/>
          </a:xfrm>
        </p:spPr>
        <p:txBody>
          <a:bodyPr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DBCFCE-7AC5-DF08-B76C-5409937C4E5A}"/>
              </a:ext>
            </a:extLst>
          </p:cNvPr>
          <p:cNvSpPr txBox="1"/>
          <p:nvPr userDrawn="1"/>
        </p:nvSpPr>
        <p:spPr>
          <a:xfrm>
            <a:off x="387922" y="4784094"/>
            <a:ext cx="15983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err="1">
                <a:solidFill>
                  <a:schemeClr val="bg1"/>
                </a:solidFill>
              </a:rPr>
              <a:t>jpomfret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6B5D76B-9DC3-A1CB-6DE1-8FEDC14AC2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7664" y="4838648"/>
            <a:ext cx="167961" cy="15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1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7.png"/><Relationship Id="rId5" Type="http://schemas.openxmlformats.org/officeDocument/2006/relationships/image" Target="../media/image10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29768075-4408-C9DE-7541-FF79A785C69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44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algn="l"/>
            <a:r>
              <a:rPr sz="4800" b="1">
                <a:solidFill>
                  <a:srgbClr val="10265D"/>
                </a:solidFill>
                <a:latin typeface="Etna"/>
              </a:rPr>
              <a:t>Data API Builder</a:t>
            </a:r>
            <a:endParaRPr lang="en-GB" dirty="0"/>
          </a:p>
        </p:txBody>
      </p:sp>
      <p:pic>
        <p:nvPicPr>
          <p:cNvPr id="55" name="Google Shape;55;p13" title="Wave.png">
            <a:extLst>
              <a:ext uri="{FF2B5EF4-FFF2-40B4-BE49-F238E27FC236}">
                <a16:creationId xmlns:a16="http://schemas.microsoft.com/office/drawing/2014/main" id="{7851F0E5-F47D-8BDA-4596-7D01B4A099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76" r="1905" b="6209"/>
          <a:stretch/>
        </p:blipFill>
        <p:spPr>
          <a:xfrm>
            <a:off x="-7675" y="2571750"/>
            <a:ext cx="9151677" cy="25770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249B031B-D21C-F914-51F5-761F281ED9D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1908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algn="l"/>
            <a:r>
              <a:rPr sz="2200">
                <a:solidFill>
                  <a:srgbClr val="530080"/>
                </a:solidFill>
                <a:latin typeface="Garet"/>
              </a:rPr>
              <a:t>Create an API for your database in seconds</a:t>
            </a:r>
            <a:endParaRPr lang="en-GB" dirty="0"/>
          </a:p>
          <a:p>
            <a:pPr algn="l">
              <a:spcBef>
                <a:spcPts val="800"/>
              </a:spcBef>
            </a:pPr>
            <a:r>
              <a:rPr sz="1600">
                <a:solidFill>
                  <a:srgbClr val="4FAAB3"/>
                </a:solidFill>
                <a:latin typeface="Garet"/>
              </a:rPr>
              <a:t>Jess Pomfret  ·  datagrillen 2026</a:t>
            </a:r>
          </a:p>
        </p:txBody>
      </p:sp>
      <p:pic>
        <p:nvPicPr>
          <p:cNvPr id="2" name="Google Shape;70;p14" title="Tentacles.png">
            <a:extLst>
              <a:ext uri="{FF2B5EF4-FFF2-40B4-BE49-F238E27FC236}">
                <a16:creationId xmlns:a16="http://schemas.microsoft.com/office/drawing/2014/main" id="{1080E83B-07FF-BC83-703F-084068A6CC2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7765" y="3824371"/>
            <a:ext cx="2514600" cy="131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E9CB3-7382-4630-9D25-124626170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49088"/>
            <a:ext cx="3340480" cy="954884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>
                <a:solidFill>
                  <a:srgbClr val="10265D"/>
                </a:solidFill>
                <a:latin typeface="Etna"/>
              </a:rPr>
              <a:t>Jess Pomfret</a:t>
            </a:r>
          </a:p>
          <a:p>
            <a:pPr algn="l"/>
            <a:r>
              <a:rPr lang="en-US" sz="1800" dirty="0">
                <a:solidFill>
                  <a:schemeClr val="accent2"/>
                </a:solidFill>
                <a:latin typeface="Garet"/>
              </a:rPr>
              <a:t>(She/Her)</a:t>
            </a: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DC714AD4-83A8-4057-BC8E-2D231207D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991" y="3048104"/>
            <a:ext cx="972519" cy="1539821"/>
          </a:xfrm>
          <a:prstGeom prst="rect">
            <a:avLst/>
          </a:prstGeom>
        </p:spPr>
      </p:pic>
      <p:pic>
        <p:nvPicPr>
          <p:cNvPr id="6" name="Picture 5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1FDAF9AD-CE55-000A-47C3-57C965972D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9" y="1455486"/>
            <a:ext cx="3218688" cy="321868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A60581-8059-605C-38CC-3A7FBE9F32A9}"/>
              </a:ext>
            </a:extLst>
          </p:cNvPr>
          <p:cNvSpPr txBox="1">
            <a:spLocks/>
          </p:cNvSpPr>
          <p:nvPr/>
        </p:nvSpPr>
        <p:spPr>
          <a:xfrm>
            <a:off x="3887391" y="1197429"/>
            <a:ext cx="4213667" cy="3390496"/>
          </a:xfrm>
          <a:prstGeom prst="rect">
            <a:avLst/>
          </a:prstGeom>
        </p:spPr>
        <p:txBody>
          <a:bodyPr vert="horz" lIns="68580" tIns="34290" rIns="68580" bIns="3429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10265D"/>
                </a:solidFill>
                <a:latin typeface="Garet"/>
              </a:rPr>
              <a:t>Data Platform Engineer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10265D"/>
                </a:solidFill>
                <a:latin typeface="Garet"/>
              </a:rPr>
              <a:t>LinkedIn Learning Instructor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10265D"/>
                </a:solidFill>
                <a:latin typeface="Garet"/>
              </a:rPr>
              <a:t>Open Source Contributor</a:t>
            </a:r>
          </a:p>
          <a:p>
            <a:pPr marL="685800" lvl="1" indent="-342900">
              <a:buFont typeface="Arial"/>
              <a:buChar char="•"/>
            </a:pPr>
            <a:r>
              <a:rPr lang="en-US" sz="1700" dirty="0">
                <a:solidFill>
                  <a:schemeClr val="accent2"/>
                </a:solidFill>
                <a:latin typeface="Garet"/>
              </a:rPr>
              <a:t>dbatools, MicrosoftFabricMgmt</a:t>
            </a:r>
          </a:p>
          <a:p>
            <a:pPr marL="342900" indent="-342900">
              <a:buFont typeface="Arial"/>
              <a:buChar char="•"/>
            </a:pPr>
            <a:r>
              <a:rPr lang="en-US" sz="2000" dirty="0">
                <a:solidFill>
                  <a:srgbClr val="10265D"/>
                </a:solidFill>
                <a:latin typeface="Garet"/>
              </a:rPr>
              <a:t>Passionate about Automation, Proper Football &amp; Fitness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600" dirty="0">
                <a:solidFill>
                  <a:schemeClr val="accent2"/>
                </a:solidFill>
                <a:latin typeface="Garet"/>
              </a:rPr>
              <a:t>jpomfret7@gmail.com</a:t>
            </a:r>
          </a:p>
          <a:p>
            <a:pPr>
              <a:buNone/>
            </a:pPr>
            <a:r>
              <a:rPr lang="en-US" sz="1600" dirty="0">
                <a:solidFill>
                  <a:schemeClr val="accent2"/>
                </a:solidFill>
                <a:latin typeface="Garet"/>
              </a:rPr>
              <a:t>jesspomfret.com</a:t>
            </a:r>
          </a:p>
          <a:p>
            <a:pPr>
              <a:buNone/>
            </a:pPr>
            <a:r>
              <a:rPr lang="en-US" sz="1600" dirty="0">
                <a:solidFill>
                  <a:schemeClr val="accent2"/>
                </a:solidFill>
                <a:latin typeface="Garet"/>
              </a:rPr>
              <a:t>linkedin.com/in/jpomfret/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A7A62-ABC3-F587-3BC6-43423ED040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427" y="134084"/>
            <a:ext cx="2618870" cy="57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3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ctrTitle"/>
          </p:nvPr>
        </p:nvSpPr>
        <p:spPr>
          <a:xfrm>
            <a:off x="311700" y="1551251"/>
            <a:ext cx="8520600" cy="6354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4000" b="1" dirty="0">
                <a:solidFill>
                  <a:srgbClr val="10265D"/>
                </a:solidFill>
                <a:latin typeface="Etna"/>
              </a:rPr>
            </a:br>
            <a:r>
              <a:rPr lang="en-GB" sz="4000" b="1" dirty="0">
                <a:solidFill>
                  <a:srgbClr val="10265D"/>
                </a:solidFill>
                <a:latin typeface="Etna"/>
              </a:rPr>
              <a:t>if I wanted to cycle 205 miles in one day…</a:t>
            </a:r>
            <a:endParaRPr dirty="0"/>
          </a:p>
        </p:txBody>
      </p:sp>
      <p:sp>
        <p:nvSpPr>
          <p:cNvPr id="4" name="Google Shape;71;p14">
            <a:extLst>
              <a:ext uri="{FF2B5EF4-FFF2-40B4-BE49-F238E27FC236}">
                <a16:creationId xmlns:a16="http://schemas.microsoft.com/office/drawing/2014/main" id="{0C7D8898-B412-3E4D-F257-88646A90A92F}"/>
              </a:ext>
            </a:extLst>
          </p:cNvPr>
          <p:cNvSpPr txBox="1">
            <a:spLocks/>
          </p:cNvSpPr>
          <p:nvPr/>
        </p:nvSpPr>
        <p:spPr>
          <a:xfrm>
            <a:off x="311700" y="727316"/>
            <a:ext cx="8520600" cy="970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GB" sz="4000" b="1" dirty="0">
                <a:solidFill>
                  <a:srgbClr val="10265D"/>
                </a:solidFill>
                <a:latin typeface="Etna"/>
              </a:rPr>
              <a:t>One day someone asked</a:t>
            </a:r>
            <a:endParaRPr lang="en-GB" dirty="0"/>
          </a:p>
        </p:txBody>
      </p:sp>
      <p:sp>
        <p:nvSpPr>
          <p:cNvPr id="65" name="Google Shape;65;p14"/>
          <p:cNvSpPr/>
          <p:nvPr/>
        </p:nvSpPr>
        <p:spPr>
          <a:xfrm rot="10800000" flipH="1">
            <a:off x="-9816" y="2428866"/>
            <a:ext cx="9163638" cy="2714634"/>
          </a:xfrm>
          <a:prstGeom prst="flowChartDocument">
            <a:avLst/>
          </a:prstGeom>
          <a:solidFill>
            <a:srgbClr val="DEF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Wave.png"/>
          <p:cNvPicPr preferRelativeResize="0"/>
          <p:nvPr/>
        </p:nvPicPr>
        <p:blipFill rotWithShape="1">
          <a:blip r:embed="rId3">
            <a:alphaModFix/>
          </a:blip>
          <a:srcRect l="1896" r="1886" b="28947"/>
          <a:stretch/>
        </p:blipFill>
        <p:spPr>
          <a:xfrm>
            <a:off x="2145" y="3455650"/>
            <a:ext cx="9151677" cy="16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Tentacl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4377" y="3364666"/>
            <a:ext cx="3406625" cy="178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C94C9C-A6E5-7A26-A885-233F9EF19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579991"/>
            <a:ext cx="3206338" cy="2571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67802-AB0B-F549-635E-9BF55181D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830D509F-5B67-D4D1-B023-3DF4609895FA}"/>
              </a:ext>
            </a:extLst>
          </p:cNvPr>
          <p:cNvSpPr/>
          <p:nvPr/>
        </p:nvSpPr>
        <p:spPr>
          <a:xfrm rot="10800000" flipH="1">
            <a:off x="-9816" y="2428866"/>
            <a:ext cx="9163638" cy="2714634"/>
          </a:xfrm>
          <a:prstGeom prst="flowChartDocument">
            <a:avLst/>
          </a:prstGeom>
          <a:solidFill>
            <a:srgbClr val="DEF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Wave.png">
            <a:extLst>
              <a:ext uri="{FF2B5EF4-FFF2-40B4-BE49-F238E27FC236}">
                <a16:creationId xmlns:a16="http://schemas.microsoft.com/office/drawing/2014/main" id="{D0423DF8-6803-62F5-0378-AE40B03A37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96" r="1886" b="28947"/>
          <a:stretch/>
        </p:blipFill>
        <p:spPr>
          <a:xfrm>
            <a:off x="-3850" y="3455650"/>
            <a:ext cx="9151677" cy="16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Tentacles.png">
            <a:extLst>
              <a:ext uri="{FF2B5EF4-FFF2-40B4-BE49-F238E27FC236}">
                <a16:creationId xmlns:a16="http://schemas.microsoft.com/office/drawing/2014/main" id="{BC37F823-ECD9-BD19-E586-D7E3FAEE4F7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4377" y="3364666"/>
            <a:ext cx="3406625" cy="17870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A103968F-0BA7-6A49-DA4F-49EC41980BB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44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4000" b="1" dirty="0">
                <a:solidFill>
                  <a:srgbClr val="10265D"/>
                </a:solidFill>
                <a:latin typeface="Etna"/>
              </a:rPr>
              <a:t>On </a:t>
            </a:r>
            <a:r>
              <a:rPr lang="en-GB" sz="4000" b="1" dirty="0">
                <a:solidFill>
                  <a:srgbClr val="10265D"/>
                </a:solidFill>
                <a:latin typeface="Etna"/>
              </a:rPr>
              <a:t>20</a:t>
            </a:r>
            <a:r>
              <a:rPr lang="en-GB" sz="4000" b="1" baseline="30000" dirty="0">
                <a:solidFill>
                  <a:srgbClr val="10265D"/>
                </a:solidFill>
                <a:latin typeface="Etna"/>
              </a:rPr>
              <a:t>th</a:t>
            </a:r>
            <a:r>
              <a:rPr lang="en-GB" sz="4000" b="1" dirty="0">
                <a:solidFill>
                  <a:srgbClr val="10265D"/>
                </a:solidFill>
                <a:latin typeface="Etna"/>
              </a:rPr>
              <a:t> </a:t>
            </a:r>
            <a:r>
              <a:rPr sz="4000" b="1" dirty="0">
                <a:solidFill>
                  <a:srgbClr val="10265D"/>
                </a:solidFill>
                <a:latin typeface="Etna"/>
              </a:rPr>
              <a:t>June</a:t>
            </a:r>
            <a:r>
              <a:rPr lang="en-GB" sz="4000" b="1" dirty="0">
                <a:solidFill>
                  <a:srgbClr val="10265D"/>
                </a:solidFill>
                <a:latin typeface="Etna"/>
              </a:rPr>
              <a:t> 2026</a:t>
            </a:r>
            <a:r>
              <a:rPr sz="4000" b="1" dirty="0">
                <a:solidFill>
                  <a:srgbClr val="10265D"/>
                </a:solidFill>
                <a:latin typeface="Etna"/>
              </a:rPr>
              <a:t>,</a:t>
            </a:r>
            <a:br>
              <a:rPr lang="en-GB" sz="4000" b="1" dirty="0">
                <a:solidFill>
                  <a:srgbClr val="10265D"/>
                </a:solidFill>
                <a:latin typeface="Etna"/>
              </a:rPr>
            </a:br>
            <a:r>
              <a:rPr sz="4000" b="1" dirty="0">
                <a:solidFill>
                  <a:srgbClr val="10265D"/>
                </a:solidFill>
                <a:latin typeface="Etna"/>
              </a:rPr>
              <a:t>I'm cycling 205 miles</a:t>
            </a:r>
            <a:r>
              <a:rPr lang="en-GB" sz="4000" b="1" dirty="0">
                <a:solidFill>
                  <a:srgbClr val="10265D"/>
                </a:solidFill>
                <a:latin typeface="Etna"/>
              </a:rPr>
              <a:t>… in one day!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605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TextBox 80"/>
          <p:cNvSpPr txBox="1"/>
          <p:nvPr/>
        </p:nvSpPr>
        <p:spPr>
          <a:xfrm>
            <a:off x="311700" y="350000"/>
            <a:ext cx="8520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dirty="0">
                <a:solidFill>
                  <a:srgbClr val="10265D"/>
                </a:solidFill>
                <a:latin typeface="Etna"/>
              </a:rPr>
              <a:t>Chase the Sun</a:t>
            </a:r>
            <a:r>
              <a:rPr lang="en-GB" sz="4000" b="1" dirty="0">
                <a:solidFill>
                  <a:srgbClr val="10265D"/>
                </a:solidFill>
                <a:latin typeface="Etna"/>
              </a:rPr>
              <a:t> 2026</a:t>
            </a:r>
            <a:endParaRPr sz="4000" b="1" dirty="0">
              <a:solidFill>
                <a:srgbClr val="10265D"/>
              </a:solidFill>
              <a:latin typeface="Etna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11700" y="1500000"/>
            <a:ext cx="852060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>
                <a:solidFill>
                  <a:srgbClr val="1A1A1A"/>
                </a:solidFill>
                <a:latin typeface="Garet"/>
              </a:rPr>
              <a:t>205 miles. Minster-on-Sea </a:t>
            </a:r>
            <a:r>
              <a:rPr lang="en-GB" sz="2000" b="1" dirty="0">
                <a:solidFill>
                  <a:srgbClr val="1A1A1A"/>
                </a:solidFill>
                <a:latin typeface="Garet"/>
              </a:rPr>
              <a:t>to Weston-Super-Mare</a:t>
            </a:r>
            <a:endParaRPr sz="2000" b="1" dirty="0">
              <a:solidFill>
                <a:srgbClr val="1A1A1A"/>
              </a:solidFill>
              <a:latin typeface="Garet"/>
            </a:endParaRPr>
          </a:p>
          <a:p>
            <a:pPr algn="l">
              <a:spcAft>
                <a:spcPts val="600"/>
              </a:spcAft>
            </a:pPr>
            <a:r>
              <a:rPr sz="2000" b="0" dirty="0">
                <a:solidFill>
                  <a:srgbClr val="1A1A1A"/>
                </a:solidFill>
                <a:latin typeface="Garet"/>
              </a:rPr>
              <a:t>Sunrise to sunset. One day. Coast to coast.</a:t>
            </a:r>
          </a:p>
        </p:txBody>
      </p:sp>
      <p:pic>
        <p:nvPicPr>
          <p:cNvPr id="2" name="Picture 2" descr="Chase The Sun South detailed route map from Minster-on-sea to Weston-Super-Mare cycling challenge.">
            <a:extLst>
              <a:ext uri="{FF2B5EF4-FFF2-40B4-BE49-F238E27FC236}">
                <a16:creationId xmlns:a16="http://schemas.microsoft.com/office/drawing/2014/main" id="{01EC6B6D-8291-7C14-481A-2652621C9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67" y="2689782"/>
            <a:ext cx="5669242" cy="245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1D3527-A8AF-4722-10CA-B2CADB6FD967}"/>
              </a:ext>
            </a:extLst>
          </p:cNvPr>
          <p:cNvSpPr txBox="1"/>
          <p:nvPr/>
        </p:nvSpPr>
        <p:spPr>
          <a:xfrm>
            <a:off x="311700" y="2263973"/>
            <a:ext cx="8520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GB" sz="2000" b="0" dirty="0">
                <a:solidFill>
                  <a:srgbClr val="1A1A1A"/>
                </a:solidFill>
                <a:latin typeface="Garet"/>
              </a:rPr>
              <a:t>3 days after m</a:t>
            </a:r>
            <a:r>
              <a:rPr sz="2000" b="0" dirty="0">
                <a:solidFill>
                  <a:srgbClr val="1A1A1A"/>
                </a:solidFill>
                <a:latin typeface="Garet"/>
              </a:rPr>
              <a:t>y 40th birthday.</a:t>
            </a:r>
            <a:endParaRPr lang="en-GB" sz="2000" b="0" dirty="0">
              <a:solidFill>
                <a:srgbClr val="1A1A1A"/>
              </a:solidFill>
              <a:latin typeface="Gare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8580C-068A-B688-AFEF-542AFA986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 title="Wave.png">
            <a:extLst>
              <a:ext uri="{FF2B5EF4-FFF2-40B4-BE49-F238E27FC236}">
                <a16:creationId xmlns:a16="http://schemas.microsoft.com/office/drawing/2014/main" id="{F6854720-F99F-E802-23F5-6FD92E682CC6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bubbles 2.png">
            <a:extLst>
              <a:ext uri="{FF2B5EF4-FFF2-40B4-BE49-F238E27FC236}">
                <a16:creationId xmlns:a16="http://schemas.microsoft.com/office/drawing/2014/main" id="{67D88593-F105-DCDD-FFC3-6BF0FBE24C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139" t="47353" r="57355" b="19349"/>
          <a:stretch/>
        </p:blipFill>
        <p:spPr>
          <a:xfrm rot="742634">
            <a:off x="183865" y="3325606"/>
            <a:ext cx="711448" cy="101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bubbles.png">
            <a:extLst>
              <a:ext uri="{FF2B5EF4-FFF2-40B4-BE49-F238E27FC236}">
                <a16:creationId xmlns:a16="http://schemas.microsoft.com/office/drawing/2014/main" id="{61CBA296-626F-DA04-E0FA-C3C8C38952F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40505" r="29998"/>
          <a:stretch/>
        </p:blipFill>
        <p:spPr>
          <a:xfrm>
            <a:off x="8489514" y="1887525"/>
            <a:ext cx="620274" cy="238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bubbles 2.png">
            <a:extLst>
              <a:ext uri="{FF2B5EF4-FFF2-40B4-BE49-F238E27FC236}">
                <a16:creationId xmlns:a16="http://schemas.microsoft.com/office/drawing/2014/main" id="{2B515443-42A2-94E9-C789-08B30F23D9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57354" b="65392"/>
          <a:stretch/>
        </p:blipFill>
        <p:spPr>
          <a:xfrm rot="-308349">
            <a:off x="252920" y="2687159"/>
            <a:ext cx="573357" cy="54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 title="Octopus.png">
            <a:extLst>
              <a:ext uri="{FF2B5EF4-FFF2-40B4-BE49-F238E27FC236}">
                <a16:creationId xmlns:a16="http://schemas.microsoft.com/office/drawing/2014/main" id="{AEA89477-58EA-D5E8-5042-4C16C46CD1C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376300">
            <a:off x="7587669" y="3744539"/>
            <a:ext cx="1341412" cy="134142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3A1919FD-485D-F265-9429-021D37504FDB}"/>
              </a:ext>
            </a:extLst>
          </p:cNvPr>
          <p:cNvSpPr txBox="1"/>
          <p:nvPr/>
        </p:nvSpPr>
        <p:spPr>
          <a:xfrm>
            <a:off x="311700" y="350000"/>
            <a:ext cx="852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3600" b="1" dirty="0">
                <a:solidFill>
                  <a:srgbClr val="10265D"/>
                </a:solidFill>
                <a:latin typeface="Etna"/>
              </a:rPr>
              <a:t>The Problem?</a:t>
            </a:r>
            <a:endParaRPr sz="3600" b="1" dirty="0">
              <a:solidFill>
                <a:srgbClr val="10265D"/>
              </a:solidFill>
              <a:latin typeface="Etn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32120D1-5950-D90B-0CF7-DDA7F85A18BF}"/>
              </a:ext>
            </a:extLst>
          </p:cNvPr>
          <p:cNvSpPr txBox="1"/>
          <p:nvPr/>
        </p:nvSpPr>
        <p:spPr>
          <a:xfrm>
            <a:off x="311700" y="1500000"/>
            <a:ext cx="8520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GB" sz="2000" b="1" dirty="0">
                <a:solidFill>
                  <a:srgbClr val="1A1A1A"/>
                </a:solidFill>
                <a:latin typeface="Garet"/>
              </a:rPr>
              <a:t>Getting to the start line. Trained. Fuelled. Ready</a:t>
            </a:r>
            <a:endParaRPr sz="2000" b="0" dirty="0">
              <a:solidFill>
                <a:srgbClr val="1A1A1A"/>
              </a:solidFill>
              <a:latin typeface="Gare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7A4775-7904-011F-D760-46DBAB9064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5395" b="24490"/>
          <a:stretch>
            <a:fillRect/>
          </a:stretch>
        </p:blipFill>
        <p:spPr>
          <a:xfrm>
            <a:off x="3384161" y="2051509"/>
            <a:ext cx="2375654" cy="309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005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bubbles 2.png"/>
          <p:cNvPicPr preferRelativeResize="0"/>
          <p:nvPr/>
        </p:nvPicPr>
        <p:blipFill rotWithShape="1">
          <a:blip r:embed="rId4">
            <a:alphaModFix/>
          </a:blip>
          <a:srcRect l="15139" t="47353" r="57355" b="19349"/>
          <a:stretch/>
        </p:blipFill>
        <p:spPr>
          <a:xfrm rot="742634">
            <a:off x="183865" y="3325606"/>
            <a:ext cx="711448" cy="101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bubbles.png"/>
          <p:cNvPicPr preferRelativeResize="0"/>
          <p:nvPr/>
        </p:nvPicPr>
        <p:blipFill rotWithShape="1">
          <a:blip r:embed="rId5">
            <a:alphaModFix/>
          </a:blip>
          <a:srcRect l="40505" r="29998"/>
          <a:stretch/>
        </p:blipFill>
        <p:spPr>
          <a:xfrm>
            <a:off x="8489514" y="1887525"/>
            <a:ext cx="620274" cy="238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bubbles 2.png"/>
          <p:cNvPicPr preferRelativeResize="0"/>
          <p:nvPr/>
        </p:nvPicPr>
        <p:blipFill rotWithShape="1">
          <a:blip r:embed="rId4">
            <a:alphaModFix/>
          </a:blip>
          <a:srcRect r="57354" b="65392"/>
          <a:stretch/>
        </p:blipFill>
        <p:spPr>
          <a:xfrm rot="-308349">
            <a:off x="252920" y="2687159"/>
            <a:ext cx="573357" cy="54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 title="Octopu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376300">
            <a:off x="7587669" y="3744539"/>
            <a:ext cx="1341412" cy="134142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311700" y="350000"/>
            <a:ext cx="852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3600" b="1" dirty="0">
                <a:solidFill>
                  <a:srgbClr val="10265D"/>
                </a:solidFill>
                <a:latin typeface="Etna"/>
              </a:rPr>
              <a:t>This has generated a lot of data</a:t>
            </a:r>
            <a:endParaRPr sz="3600" b="1" dirty="0">
              <a:solidFill>
                <a:srgbClr val="10265D"/>
              </a:solidFill>
              <a:latin typeface="Etn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11700" y="1500000"/>
            <a:ext cx="8520600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b="1" dirty="0">
                <a:solidFill>
                  <a:srgbClr val="1A1A1A"/>
                </a:solidFill>
                <a:latin typeface="Garet"/>
              </a:rPr>
              <a:t>Wellness, fitness,</a:t>
            </a:r>
            <a:r>
              <a:rPr sz="2000" b="1" dirty="0">
                <a:solidFill>
                  <a:srgbClr val="1A1A1A"/>
                </a:solidFill>
                <a:latin typeface="Garet"/>
              </a:rPr>
              <a:t> fueling.</a:t>
            </a:r>
          </a:p>
          <a:p>
            <a:pPr algn="l">
              <a:spcAft>
                <a:spcPts val="600"/>
              </a:spcAft>
            </a:pPr>
            <a:r>
              <a:rPr lang="en-GB" sz="2000" b="0" dirty="0">
                <a:solidFill>
                  <a:srgbClr val="1A1A1A"/>
                </a:solidFill>
                <a:latin typeface="Garet"/>
              </a:rPr>
              <a:t>Many devices. Many Apps</a:t>
            </a:r>
            <a:r>
              <a:rPr sz="2000" b="0" dirty="0">
                <a:solidFill>
                  <a:srgbClr val="1A1A1A"/>
                </a:solidFill>
                <a:latin typeface="Garet"/>
              </a:rPr>
              <a:t>. No shared view. No way to query it together.</a:t>
            </a:r>
          </a:p>
          <a:p>
            <a:pPr algn="l">
              <a:spcAft>
                <a:spcPts val="600"/>
              </a:spcAft>
            </a:pPr>
            <a:r>
              <a:rPr sz="2000" b="0" dirty="0">
                <a:solidFill>
                  <a:srgbClr val="1A1A1A"/>
                </a:solidFill>
                <a:latin typeface="Garet"/>
              </a:rPr>
              <a:t>I'm a </a:t>
            </a:r>
            <a:r>
              <a:rPr lang="en-GB" sz="2000" b="0" dirty="0">
                <a:solidFill>
                  <a:srgbClr val="1A1A1A"/>
                </a:solidFill>
                <a:latin typeface="Garet"/>
              </a:rPr>
              <a:t>data nerd</a:t>
            </a:r>
            <a:r>
              <a:rPr sz="2000" b="0" dirty="0">
                <a:solidFill>
                  <a:srgbClr val="1A1A1A"/>
                </a:solidFill>
                <a:latin typeface="Garet"/>
              </a:rPr>
              <a:t>. I want it in my database.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AB019-52A5-1E63-3C7E-0B252B348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 title="Wave.png">
            <a:extLst>
              <a:ext uri="{FF2B5EF4-FFF2-40B4-BE49-F238E27FC236}">
                <a16:creationId xmlns:a16="http://schemas.microsoft.com/office/drawing/2014/main" id="{6DD976CD-26E8-FEFB-3ADD-9216433ED1B2}"/>
              </a:ext>
            </a:extLst>
          </p:cNvPr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bubbles 2.png">
            <a:extLst>
              <a:ext uri="{FF2B5EF4-FFF2-40B4-BE49-F238E27FC236}">
                <a16:creationId xmlns:a16="http://schemas.microsoft.com/office/drawing/2014/main" id="{593AA662-160E-7C89-B90B-D40EFCF5778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139" t="47353" r="57355" b="19349"/>
          <a:stretch/>
        </p:blipFill>
        <p:spPr>
          <a:xfrm rot="742634">
            <a:off x="183865" y="3325606"/>
            <a:ext cx="711448" cy="101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bubbles.png">
            <a:extLst>
              <a:ext uri="{FF2B5EF4-FFF2-40B4-BE49-F238E27FC236}">
                <a16:creationId xmlns:a16="http://schemas.microsoft.com/office/drawing/2014/main" id="{ACA7499B-15BC-2D04-9FC0-0AE1861D253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40505" r="29998"/>
          <a:stretch/>
        </p:blipFill>
        <p:spPr>
          <a:xfrm>
            <a:off x="8489514" y="1887525"/>
            <a:ext cx="620274" cy="238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bubbles 2.png">
            <a:extLst>
              <a:ext uri="{FF2B5EF4-FFF2-40B4-BE49-F238E27FC236}">
                <a16:creationId xmlns:a16="http://schemas.microsoft.com/office/drawing/2014/main" id="{19F2B084-3CC9-B27A-8026-052E2FECDB4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57354" b="65392"/>
          <a:stretch/>
        </p:blipFill>
        <p:spPr>
          <a:xfrm rot="-308349">
            <a:off x="252920" y="2687159"/>
            <a:ext cx="573357" cy="54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 title="Octopus.png">
            <a:extLst>
              <a:ext uri="{FF2B5EF4-FFF2-40B4-BE49-F238E27FC236}">
                <a16:creationId xmlns:a16="http://schemas.microsoft.com/office/drawing/2014/main" id="{AF969701-C066-F06F-52F1-14A402F186F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376300">
            <a:off x="7587669" y="3744539"/>
            <a:ext cx="1341412" cy="134142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74B841DA-BFDA-074C-65FC-A45E2F333025}"/>
              </a:ext>
            </a:extLst>
          </p:cNvPr>
          <p:cNvSpPr txBox="1"/>
          <p:nvPr/>
        </p:nvSpPr>
        <p:spPr>
          <a:xfrm>
            <a:off x="311700" y="350000"/>
            <a:ext cx="8520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3600" b="1" dirty="0">
                <a:solidFill>
                  <a:srgbClr val="10265D"/>
                </a:solidFill>
                <a:latin typeface="Etna"/>
              </a:rPr>
              <a:t>No… like A LOT of data</a:t>
            </a:r>
            <a:endParaRPr sz="3600" b="1" dirty="0">
              <a:solidFill>
                <a:srgbClr val="10265D"/>
              </a:solidFill>
              <a:latin typeface="Etn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9C5FC6-B8C8-A158-2EDC-49614EF82A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700" y="1214785"/>
            <a:ext cx="1750845" cy="15401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9878DC-1B8E-90A0-861B-92C571C6A4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234" y="2799143"/>
            <a:ext cx="1151555" cy="11498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FA22D1-253F-3D51-05D0-02995B1E99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8996" y="1159851"/>
            <a:ext cx="963889" cy="15401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D72D87-783E-EDAF-877A-A78C380389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17882" y="1136705"/>
            <a:ext cx="1758147" cy="15016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C30222-1EEE-E733-14CA-3B718E7283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49147" y="758357"/>
            <a:ext cx="1800027" cy="31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6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A0FC571-2881-2BE1-A064-3517F7C5C22E}"/>
              </a:ext>
            </a:extLst>
          </p:cNvPr>
          <p:cNvSpPr txBox="1"/>
          <p:nvPr/>
        </p:nvSpPr>
        <p:spPr>
          <a:xfrm>
            <a:off x="311700" y="402172"/>
            <a:ext cx="8520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4000" b="1" dirty="0" err="1">
                <a:solidFill>
                  <a:srgbClr val="10265D"/>
                </a:solidFill>
                <a:latin typeface="Etna"/>
              </a:rPr>
              <a:t>Intervals.icu</a:t>
            </a:r>
            <a:endParaRPr sz="4000" b="1" dirty="0">
              <a:solidFill>
                <a:srgbClr val="10265D"/>
              </a:solidFill>
              <a:latin typeface="Etna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9894B5-3F07-E5F6-5ADE-70D67F1F4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3218"/>
            <a:ext cx="9144000" cy="45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00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2EA8E-AB57-A334-D89A-0A1056B71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908824-C035-D708-618B-32016397A9D1}"/>
              </a:ext>
            </a:extLst>
          </p:cNvPr>
          <p:cNvSpPr txBox="1"/>
          <p:nvPr/>
        </p:nvSpPr>
        <p:spPr>
          <a:xfrm>
            <a:off x="311700" y="402172"/>
            <a:ext cx="85206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4000" b="1" dirty="0" err="1">
                <a:solidFill>
                  <a:srgbClr val="10265D"/>
                </a:solidFill>
                <a:latin typeface="Etna"/>
              </a:rPr>
              <a:t>FuelGauge</a:t>
            </a:r>
            <a:endParaRPr sz="4000" b="1" dirty="0">
              <a:solidFill>
                <a:srgbClr val="10265D"/>
              </a:solidFill>
              <a:latin typeface="Etn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84D70-49FD-CB6C-7AA4-285C269E3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682" y="0"/>
            <a:ext cx="3021318" cy="5143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B493FE-E56D-E7B7-CCBD-3746DEA063EC}"/>
              </a:ext>
            </a:extLst>
          </p:cNvPr>
          <p:cNvSpPr txBox="1"/>
          <p:nvPr/>
        </p:nvSpPr>
        <p:spPr>
          <a:xfrm>
            <a:off x="311700" y="1500000"/>
            <a:ext cx="2649614" cy="1692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GB" sz="2000" b="1" dirty="0">
                <a:solidFill>
                  <a:srgbClr val="1A1A1A"/>
                </a:solidFill>
                <a:latin typeface="Garet"/>
              </a:rPr>
              <a:t>Home grown app</a:t>
            </a:r>
          </a:p>
          <a:p>
            <a:pPr algn="l">
              <a:spcAft>
                <a:spcPts val="600"/>
              </a:spcAft>
            </a:pPr>
            <a:r>
              <a:rPr lang="en-GB" sz="2000" dirty="0">
                <a:solidFill>
                  <a:srgbClr val="1A1A1A"/>
                </a:solidFill>
                <a:latin typeface="Garet"/>
              </a:rPr>
              <a:t>Tracks Calories Consumed</a:t>
            </a:r>
          </a:p>
          <a:p>
            <a:pPr algn="l">
              <a:spcAft>
                <a:spcPts val="600"/>
              </a:spcAft>
            </a:pPr>
            <a:r>
              <a:rPr lang="en-GB" sz="2000" dirty="0">
                <a:solidFill>
                  <a:srgbClr val="1A1A1A"/>
                </a:solidFill>
                <a:latin typeface="Garet"/>
              </a:rPr>
              <a:t>Compares to Calories Burnt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FECBA4-776D-E396-8DBC-AA1C358FF6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39" r="2894"/>
          <a:stretch>
            <a:fillRect/>
          </a:stretch>
        </p:blipFill>
        <p:spPr>
          <a:xfrm>
            <a:off x="3061341" y="0"/>
            <a:ext cx="3021318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4728DE-A1DD-1AD0-BAEF-453DBB4B74D5}"/>
              </a:ext>
            </a:extLst>
          </p:cNvPr>
          <p:cNvSpPr txBox="1"/>
          <p:nvPr/>
        </p:nvSpPr>
        <p:spPr>
          <a:xfrm>
            <a:off x="311700" y="4510495"/>
            <a:ext cx="23656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GB" sz="1200" dirty="0">
                <a:solidFill>
                  <a:srgbClr val="1A1A1A"/>
                </a:solidFill>
                <a:latin typeface="Garet"/>
              </a:rPr>
              <a:t>Stored in </a:t>
            </a:r>
            <a:r>
              <a:rPr lang="en-GB" sz="1200" dirty="0" err="1">
                <a:solidFill>
                  <a:srgbClr val="1A1A1A"/>
                </a:solidFill>
                <a:latin typeface="Garet"/>
              </a:rPr>
              <a:t>postgres</a:t>
            </a:r>
            <a:r>
              <a:rPr lang="en-GB" sz="1200" dirty="0">
                <a:solidFill>
                  <a:srgbClr val="1A1A1A"/>
                </a:solidFill>
                <a:latin typeface="Garet"/>
              </a:rPr>
              <a:t> &amp; influx databases running on Kubernetes (don’t ask)</a:t>
            </a:r>
          </a:p>
        </p:txBody>
      </p:sp>
    </p:spTree>
    <p:extLst>
      <p:ext uri="{BB962C8B-B14F-4D97-AF65-F5344CB8AC3E}">
        <p14:creationId xmlns:p14="http://schemas.microsoft.com/office/powerpoint/2010/main" val="2041468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8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 title="bubbles.png"/>
          <p:cNvPicPr preferRelativeResize="0"/>
          <p:nvPr/>
        </p:nvPicPr>
        <p:blipFill rotWithShape="1">
          <a:blip r:embed="rId4">
            <a:alphaModFix/>
          </a:blip>
          <a:srcRect l="40507" r="16342"/>
          <a:stretch/>
        </p:blipFill>
        <p:spPr>
          <a:xfrm rot="10800000">
            <a:off x="8146807" y="970750"/>
            <a:ext cx="907418" cy="23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 title="Tentacles-ind.png"/>
          <p:cNvPicPr preferRelativeResize="0"/>
          <p:nvPr/>
        </p:nvPicPr>
        <p:blipFill rotWithShape="1">
          <a:blip r:embed="rId5">
            <a:alphaModFix/>
          </a:blip>
          <a:srcRect l="49571" t="721" r="31537" b="445"/>
          <a:stretch/>
        </p:blipFill>
        <p:spPr>
          <a:xfrm rot="-2501693">
            <a:off x="7445555" y="3987141"/>
            <a:ext cx="971391" cy="1617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 title="bubbles 2.png"/>
          <p:cNvPicPr preferRelativeResize="0"/>
          <p:nvPr/>
        </p:nvPicPr>
        <p:blipFill rotWithShape="1">
          <a:blip r:embed="rId6">
            <a:alphaModFix/>
          </a:blip>
          <a:srcRect t="47355" r="57354"/>
          <a:stretch/>
        </p:blipFill>
        <p:spPr>
          <a:xfrm rot="-9252631">
            <a:off x="-55300" y="3280125"/>
            <a:ext cx="1103049" cy="160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 title="Tentacles-ind.png"/>
          <p:cNvPicPr preferRelativeResize="0"/>
          <p:nvPr/>
        </p:nvPicPr>
        <p:blipFill rotWithShape="1">
          <a:blip r:embed="rId5">
            <a:alphaModFix/>
          </a:blip>
          <a:srcRect l="86032" t="15454" r="-185" b="646"/>
          <a:stretch/>
        </p:blipFill>
        <p:spPr>
          <a:xfrm rot="2272541">
            <a:off x="8016359" y="3980950"/>
            <a:ext cx="934982" cy="17637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TextBox 108"/>
          <p:cNvSpPr txBox="1"/>
          <p:nvPr/>
        </p:nvSpPr>
        <p:spPr>
          <a:xfrm>
            <a:off x="311700" y="350000"/>
            <a:ext cx="8520600" cy="1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265D"/>
                </a:solidFill>
                <a:latin typeface="Etna"/>
              </a:rPr>
              <a:t>One place. One way in. One way out.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1A1A1A"/>
                </a:solidFill>
                <a:latin typeface="Garet"/>
              </a:rPr>
              <a:t>Everything in SQL Server.</a:t>
            </a:r>
          </a:p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1A1A1A"/>
                </a:solidFill>
                <a:latin typeface="Garet"/>
              </a:rPr>
              <a:t>PowerShell writes to it.</a:t>
            </a:r>
          </a:p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1A1A1A"/>
                </a:solidFill>
                <a:latin typeface="Garet"/>
              </a:rPr>
              <a:t>A dashboard reads from it.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1A1A1A"/>
                </a:solidFill>
                <a:latin typeface="Garet"/>
              </a:rPr>
              <a:t>I do not want to write a backend.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A966E-DF25-DD7C-1A78-F3FF6A90D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7135B-9DA0-B292-8694-C38E3C9A3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D994A98-13BF-13C1-F65D-3603FFDDA5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240030"/>
            <a:ext cx="914400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33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407B-F641-025F-7091-80BEC89B5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76AEE-A0A7-E75E-DC48-EAABAFCC5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9DFC8DC-CBF0-5DC0-EF1C-C23F25114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240030"/>
            <a:ext cx="914400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079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4E208-95E6-68CE-A5EC-A72FCC936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E767-B07D-3847-92D5-E18F15E1D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8DB6-EDBD-858A-3E9D-5CF2C4836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037291C-653B-7DC5-E21F-44D542FF1A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5960675" y="-2489346"/>
            <a:ext cx="22436950" cy="1144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032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 rot="10800000" flipH="1">
            <a:off x="-9816" y="2428866"/>
            <a:ext cx="9163638" cy="2714634"/>
          </a:xfrm>
          <a:prstGeom prst="flowChartDocument">
            <a:avLst/>
          </a:prstGeom>
          <a:solidFill>
            <a:srgbClr val="DEF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Wave.png"/>
          <p:cNvPicPr preferRelativeResize="0"/>
          <p:nvPr/>
        </p:nvPicPr>
        <p:blipFill rotWithShape="1">
          <a:blip r:embed="rId3">
            <a:alphaModFix/>
          </a:blip>
          <a:srcRect l="1896" r="1886" b="28947"/>
          <a:stretch/>
        </p:blipFill>
        <p:spPr>
          <a:xfrm>
            <a:off x="-3850" y="3455650"/>
            <a:ext cx="9151677" cy="16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bubbles.png"/>
          <p:cNvPicPr preferRelativeResize="0"/>
          <p:nvPr/>
        </p:nvPicPr>
        <p:blipFill rotWithShape="1">
          <a:blip r:embed="rId4">
            <a:alphaModFix/>
          </a:blip>
          <a:srcRect l="40507" r="16342"/>
          <a:stretch/>
        </p:blipFill>
        <p:spPr>
          <a:xfrm rot="10800000">
            <a:off x="8308600" y="1506410"/>
            <a:ext cx="765850" cy="20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bubbles 2.png"/>
          <p:cNvPicPr preferRelativeResize="0"/>
          <p:nvPr/>
        </p:nvPicPr>
        <p:blipFill rotWithShape="1">
          <a:blip r:embed="rId5">
            <a:alphaModFix/>
          </a:blip>
          <a:srcRect l="15139" t="58400" r="62500" b="19350"/>
          <a:stretch/>
        </p:blipFill>
        <p:spPr>
          <a:xfrm rot="742639">
            <a:off x="149255" y="3644868"/>
            <a:ext cx="578386" cy="679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bubbles 2.png"/>
          <p:cNvPicPr preferRelativeResize="0"/>
          <p:nvPr/>
        </p:nvPicPr>
        <p:blipFill rotWithShape="1">
          <a:blip r:embed="rId5">
            <a:alphaModFix/>
          </a:blip>
          <a:srcRect r="57354" b="65392"/>
          <a:stretch/>
        </p:blipFill>
        <p:spPr>
          <a:xfrm rot="-308349">
            <a:off x="19632" y="2782409"/>
            <a:ext cx="573357" cy="54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Tentacl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64377" y="3364666"/>
            <a:ext cx="3406625" cy="17870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44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10265D"/>
                </a:solidFill>
                <a:latin typeface="Etna"/>
              </a:rPr>
              <a:t>What is Data API Builder?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9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 title="Tentacles-ind.png"/>
          <p:cNvPicPr preferRelativeResize="0"/>
          <p:nvPr/>
        </p:nvPicPr>
        <p:blipFill rotWithShape="1">
          <a:blip r:embed="rId4">
            <a:alphaModFix/>
          </a:blip>
          <a:srcRect l="68941" t="1670" r="12167" b="-504"/>
          <a:stretch/>
        </p:blipFill>
        <p:spPr>
          <a:xfrm rot="477805">
            <a:off x="5342718" y="4076284"/>
            <a:ext cx="971396" cy="1617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 title="Tentacles-ind.png"/>
          <p:cNvPicPr preferRelativeResize="0"/>
          <p:nvPr/>
        </p:nvPicPr>
        <p:blipFill rotWithShape="1">
          <a:blip r:embed="rId4">
            <a:alphaModFix/>
          </a:blip>
          <a:srcRect l="11379" t="4220" r="72849" b="-3054"/>
          <a:stretch/>
        </p:blipFill>
        <p:spPr>
          <a:xfrm rot="4189594">
            <a:off x="5772703" y="4106841"/>
            <a:ext cx="810940" cy="161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 title="Tentacles-ind.png"/>
          <p:cNvPicPr preferRelativeResize="0"/>
          <p:nvPr/>
        </p:nvPicPr>
        <p:blipFill rotWithShape="1">
          <a:blip r:embed="rId4">
            <a:alphaModFix/>
          </a:blip>
          <a:srcRect l="-179" t="27751" r="87145" b="744"/>
          <a:stretch/>
        </p:blipFill>
        <p:spPr>
          <a:xfrm rot="-3698090">
            <a:off x="5007930" y="4475714"/>
            <a:ext cx="670174" cy="117005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TextBox 118"/>
          <p:cNvSpPr txBox="1"/>
          <p:nvPr/>
        </p:nvSpPr>
        <p:spPr>
          <a:xfrm>
            <a:off x="311700" y="350000"/>
            <a:ext cx="8520600" cy="1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265D"/>
                </a:solidFill>
                <a:latin typeface="Etna"/>
              </a:rPr>
              <a:t>What is DAB?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11700" y="1500000"/>
            <a:ext cx="8520600" cy="1461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>
                <a:solidFill>
                  <a:srgbClr val="1A1A1A"/>
                </a:solidFill>
                <a:latin typeface="Garet"/>
              </a:rPr>
              <a:t>A config-driven REST</a:t>
            </a:r>
            <a:r>
              <a:rPr lang="en-GB" sz="2000" b="1" dirty="0">
                <a:solidFill>
                  <a:srgbClr val="1A1A1A"/>
                </a:solidFill>
                <a:latin typeface="Garet"/>
              </a:rPr>
              <a:t>, </a:t>
            </a:r>
            <a:r>
              <a:rPr sz="2000" b="1" dirty="0" err="1">
                <a:solidFill>
                  <a:srgbClr val="1A1A1A"/>
                </a:solidFill>
                <a:latin typeface="Garet"/>
              </a:rPr>
              <a:t>GraphQL</a:t>
            </a:r>
            <a:r>
              <a:rPr lang="en-GB" sz="2000" b="1" dirty="0">
                <a:solidFill>
                  <a:srgbClr val="1A1A1A"/>
                </a:solidFill>
                <a:latin typeface="Garet"/>
              </a:rPr>
              <a:t> &amp; MCP (preview)</a:t>
            </a:r>
            <a:r>
              <a:rPr sz="2000" b="1" dirty="0">
                <a:solidFill>
                  <a:srgbClr val="1A1A1A"/>
                </a:solidFill>
                <a:latin typeface="Garet"/>
              </a:rPr>
              <a:t> layer over your database.</a:t>
            </a:r>
          </a:p>
          <a:p>
            <a:pPr algn="l">
              <a:spcAft>
                <a:spcPts val="600"/>
              </a:spcAft>
            </a:pPr>
            <a:r>
              <a:rPr sz="2000" b="0" dirty="0">
                <a:solidFill>
                  <a:srgbClr val="1A1A1A"/>
                </a:solidFill>
                <a:latin typeface="Garet"/>
              </a:rPr>
              <a:t>Point it at SQL Server, Postgres, MySQL, or Cosmos DB.</a:t>
            </a:r>
          </a:p>
          <a:p>
            <a:pPr algn="l">
              <a:spcAft>
                <a:spcPts val="600"/>
              </a:spcAft>
            </a:pPr>
            <a:r>
              <a:rPr sz="2000" b="0" dirty="0">
                <a:solidFill>
                  <a:srgbClr val="1A1A1A"/>
                </a:solidFill>
                <a:latin typeface="Garet"/>
              </a:rPr>
              <a:t>It serves your tables, views, and stored procs over HTTP.</a:t>
            </a:r>
          </a:p>
          <a:p>
            <a:pPr algn="l">
              <a:spcAft>
                <a:spcPts val="600"/>
              </a:spcAft>
            </a:pPr>
            <a:r>
              <a:rPr sz="2000" b="0" dirty="0">
                <a:solidFill>
                  <a:srgbClr val="1A1A1A"/>
                </a:solidFill>
                <a:latin typeface="Garet"/>
              </a:rPr>
              <a:t>No backend code. Just configuration.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0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 title="Tentacles-ind.png"/>
          <p:cNvPicPr preferRelativeResize="0"/>
          <p:nvPr/>
        </p:nvPicPr>
        <p:blipFill rotWithShape="1">
          <a:blip r:embed="rId4">
            <a:alphaModFix/>
          </a:blip>
          <a:srcRect l="13069" t="-385" r="70220" b="1552"/>
          <a:stretch/>
        </p:blipFill>
        <p:spPr>
          <a:xfrm rot="-4992229">
            <a:off x="8144571" y="4012444"/>
            <a:ext cx="859208" cy="1617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 title="Tentacles-ind.png"/>
          <p:cNvPicPr preferRelativeResize="0"/>
          <p:nvPr/>
        </p:nvPicPr>
        <p:blipFill rotWithShape="1">
          <a:blip r:embed="rId4">
            <a:alphaModFix/>
          </a:blip>
          <a:srcRect l="86642" t="-3013" r="-800" b="2237"/>
          <a:stretch/>
        </p:blipFill>
        <p:spPr>
          <a:xfrm rot="-2277445" flipH="1">
            <a:off x="8526105" y="3368186"/>
            <a:ext cx="727972" cy="164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 title="Tentacles-ind.png"/>
          <p:cNvPicPr preferRelativeResize="0"/>
          <p:nvPr/>
        </p:nvPicPr>
        <p:blipFill rotWithShape="1">
          <a:blip r:embed="rId4">
            <a:alphaModFix/>
          </a:blip>
          <a:srcRect l="29514" t="257" r="50007" b="909"/>
          <a:stretch/>
        </p:blipFill>
        <p:spPr>
          <a:xfrm rot="-2544924">
            <a:off x="8319055" y="3593832"/>
            <a:ext cx="1052965" cy="161718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TextBox 128"/>
          <p:cNvSpPr txBox="1"/>
          <p:nvPr/>
        </p:nvSpPr>
        <p:spPr>
          <a:xfrm>
            <a:off x="311700" y="350000"/>
            <a:ext cx="8520600" cy="1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265D"/>
                </a:solidFill>
                <a:latin typeface="Etna"/>
              </a:rPr>
              <a:t>What it isn't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Garet"/>
              </a:rPr>
              <a:t>Not an ORM.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Garet"/>
              </a:rPr>
              <a:t>Not a full backend framework.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Garet"/>
              </a:rPr>
              <a:t>Not a replacement for your stored procs.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1A1A1A"/>
                </a:solidFill>
                <a:latin typeface="Garet"/>
              </a:rPr>
              <a:t>Not magic — auth, rate limits, business logic still need thinking about.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1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 title="Tentacles-ind.png"/>
          <p:cNvPicPr preferRelativeResize="0"/>
          <p:nvPr/>
        </p:nvPicPr>
        <p:blipFill rotWithShape="1">
          <a:blip r:embed="rId4">
            <a:alphaModFix/>
          </a:blip>
          <a:srcRect l="14411" t="-385" r="70221" b="1552"/>
          <a:stretch/>
        </p:blipFill>
        <p:spPr>
          <a:xfrm rot="754882">
            <a:off x="80254" y="3713151"/>
            <a:ext cx="790202" cy="161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 title="Tentacles-ind.png"/>
          <p:cNvPicPr preferRelativeResize="0"/>
          <p:nvPr/>
        </p:nvPicPr>
        <p:blipFill rotWithShape="1">
          <a:blip r:embed="rId4">
            <a:alphaModFix/>
          </a:blip>
          <a:srcRect l="86642" t="-3013" r="-800" b="2237"/>
          <a:stretch/>
        </p:blipFill>
        <p:spPr>
          <a:xfrm rot="3469674" flipH="1">
            <a:off x="670980" y="4067354"/>
            <a:ext cx="727975" cy="164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 title="Tentacles-ind.png"/>
          <p:cNvPicPr preferRelativeResize="0"/>
          <p:nvPr/>
        </p:nvPicPr>
        <p:blipFill rotWithShape="1">
          <a:blip r:embed="rId4">
            <a:alphaModFix/>
          </a:blip>
          <a:srcRect l="28611" t="257" r="50006" b="909"/>
          <a:stretch/>
        </p:blipFill>
        <p:spPr>
          <a:xfrm rot="3202202">
            <a:off x="267247" y="3999171"/>
            <a:ext cx="1099418" cy="161720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TextBox 138"/>
          <p:cNvSpPr txBox="1"/>
          <p:nvPr/>
        </p:nvSpPr>
        <p:spPr>
          <a:xfrm>
            <a:off x="311700" y="350000"/>
            <a:ext cx="8520600" cy="1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265D"/>
                </a:solidFill>
                <a:latin typeface="Etna"/>
              </a:rPr>
              <a:t>Architecture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00000" y="1700000"/>
            <a:ext cx="2200000" cy="1100000"/>
          </a:xfrm>
          <a:prstGeom prst="rect">
            <a:avLst/>
          </a:prstGeom>
          <a:solidFill>
            <a:srgbClr val="10265D"/>
          </a:solidFill>
          <a:ln>
            <a:solidFill>
              <a:srgbClr val="102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80000" rIns="80000" bIns="80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Etna"/>
              </a:rPr>
              <a:t>SQL Server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Etna"/>
              </a:rPr>
              <a:t>(or Postgres)</a:t>
            </a:r>
          </a:p>
        </p:txBody>
      </p:sp>
      <p:sp>
        <p:nvSpPr>
          <p:cNvPr id="141" name="Can 140"/>
          <p:cNvSpPr/>
          <p:nvPr/>
        </p:nvSpPr>
        <p:spPr>
          <a:xfrm>
            <a:off x="2960000" y="2130000"/>
            <a:ext cx="280000" cy="240000"/>
          </a:xfrm>
          <a:prstGeom prst="can">
            <a:avLst/>
          </a:prstGeom>
          <a:solidFill>
            <a:srgbClr val="BDECFE"/>
          </a:solidFill>
          <a:ln>
            <a:solidFill>
              <a:srgbClr val="BDE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3300000" y="1700000"/>
            <a:ext cx="2200000" cy="1100000"/>
          </a:xfrm>
          <a:prstGeom prst="rect">
            <a:avLst/>
          </a:prstGeom>
          <a:solidFill>
            <a:srgbClr val="530080"/>
          </a:solidFill>
          <a:ln>
            <a:solidFill>
              <a:srgbClr val="53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80000" rIns="80000" bIns="80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Etna"/>
              </a:rPr>
              <a:t>DAB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Etna"/>
              </a:rPr>
              <a:t>(config-driven)</a:t>
            </a:r>
          </a:p>
        </p:txBody>
      </p:sp>
      <p:sp>
        <p:nvSpPr>
          <p:cNvPr id="143" name="Can 142"/>
          <p:cNvSpPr/>
          <p:nvPr/>
        </p:nvSpPr>
        <p:spPr>
          <a:xfrm>
            <a:off x="5560000" y="2130000"/>
            <a:ext cx="280000" cy="240000"/>
          </a:xfrm>
          <a:prstGeom prst="can">
            <a:avLst/>
          </a:prstGeom>
          <a:solidFill>
            <a:srgbClr val="BDECFE"/>
          </a:solidFill>
          <a:ln>
            <a:solidFill>
              <a:srgbClr val="BDE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900000" y="1700000"/>
            <a:ext cx="2200000" cy="1100000"/>
          </a:xfrm>
          <a:prstGeom prst="rect">
            <a:avLst/>
          </a:prstGeom>
          <a:solidFill>
            <a:srgbClr val="4FAAB3"/>
          </a:solidFill>
          <a:ln>
            <a:solidFill>
              <a:srgbClr val="4FA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80000" rIns="80000" bIns="80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Etna"/>
              </a:rPr>
              <a:t>REST + GraphQL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Etna"/>
              </a:rPr>
              <a:t>endpoints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1700" y="3000000"/>
            <a:ext cx="8520600" cy="2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Garet"/>
              </a:rPr>
              <a:t>One config file describes which entities are exposed and how.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2"/>
          <p:cNvGrpSpPr/>
          <p:nvPr/>
        </p:nvGrpSpPr>
        <p:grpSpPr>
          <a:xfrm>
            <a:off x="-3850" y="-100"/>
            <a:ext cx="4734609" cy="5143600"/>
            <a:chOff x="-3850" y="-100"/>
            <a:chExt cx="4734609" cy="5143600"/>
          </a:xfrm>
        </p:grpSpPr>
        <p:sp>
          <p:nvSpPr>
            <p:cNvPr id="144" name="Google Shape;144;p22"/>
            <p:cNvSpPr/>
            <p:nvPr/>
          </p:nvSpPr>
          <p:spPr>
            <a:xfrm>
              <a:off x="-3850" y="-100"/>
              <a:ext cx="2099400" cy="5143500"/>
            </a:xfrm>
            <a:prstGeom prst="rect">
              <a:avLst/>
            </a:prstGeom>
            <a:solidFill>
              <a:srgbClr val="DEF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2"/>
            <p:cNvSpPr/>
            <p:nvPr/>
          </p:nvSpPr>
          <p:spPr>
            <a:xfrm rot="-5400000">
              <a:off x="801692" y="1214433"/>
              <a:ext cx="5143500" cy="2714634"/>
            </a:xfrm>
            <a:prstGeom prst="flowChartDocument">
              <a:avLst/>
            </a:prstGeom>
            <a:solidFill>
              <a:srgbClr val="DEF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6" name="Google Shape;146;p22" title="Wave.png"/>
          <p:cNvPicPr preferRelativeResize="0"/>
          <p:nvPr/>
        </p:nvPicPr>
        <p:blipFill rotWithShape="1">
          <a:blip r:embed="rId3">
            <a:alphaModFix/>
          </a:blip>
          <a:srcRect l="1896" r="1886" b="41643"/>
          <a:stretch/>
        </p:blipFill>
        <p:spPr>
          <a:xfrm>
            <a:off x="-3837" y="4224415"/>
            <a:ext cx="9151677" cy="919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 title="bubbles.png"/>
          <p:cNvPicPr preferRelativeResize="0"/>
          <p:nvPr/>
        </p:nvPicPr>
        <p:blipFill rotWithShape="1">
          <a:blip r:embed="rId4">
            <a:alphaModFix/>
          </a:blip>
          <a:srcRect l="40507" r="16342"/>
          <a:stretch/>
        </p:blipFill>
        <p:spPr>
          <a:xfrm>
            <a:off x="229150" y="1000625"/>
            <a:ext cx="765850" cy="201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TextBox 151"/>
          <p:cNvSpPr txBox="1"/>
          <p:nvPr/>
        </p:nvSpPr>
        <p:spPr>
          <a:xfrm>
            <a:off x="311700" y="350000"/>
            <a:ext cx="8520600" cy="1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265D"/>
                </a:solidFill>
                <a:latin typeface="Etna"/>
              </a:rPr>
              <a:t>The config file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11700" y="1100000"/>
            <a:ext cx="8520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1A"/>
                </a:solidFill>
                <a:latin typeface="Garet"/>
              </a:rPr>
              <a:t>One JSON file. Two </a:t>
            </a:r>
            <a:r>
              <a:rPr lang="en-GB" sz="1800" b="0" dirty="0">
                <a:solidFill>
                  <a:srgbClr val="1A1A1A"/>
                </a:solidFill>
                <a:latin typeface="Garet"/>
              </a:rPr>
              <a:t>important parts</a:t>
            </a:r>
            <a:r>
              <a:rPr sz="1800" b="0" dirty="0">
                <a:solidFill>
                  <a:srgbClr val="1A1A1A"/>
                </a:solidFill>
                <a:latin typeface="Garet"/>
              </a:rPr>
              <a:t>: data source and entities.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00300" y="1473830"/>
            <a:ext cx="8532000" cy="3608660"/>
          </a:xfrm>
          <a:prstGeom prst="rect">
            <a:avLst/>
          </a:prstGeom>
          <a:solidFill>
            <a:srgbClr val="F4F7FB"/>
          </a:solidFill>
          <a:ln>
            <a:solidFill>
              <a:srgbClr val="BDECFE"/>
            </a:solidFill>
          </a:ln>
        </p:spPr>
        <p:txBody>
          <a:bodyPr wrap="square" lIns="120000" tIns="80000" rIns="120000" bIns="800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  "data-source": {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    "database-type": "</a:t>
            </a:r>
            <a:r>
              <a:rPr sz="1400" dirty="0" err="1">
                <a:solidFill>
                  <a:srgbClr val="10265D"/>
                </a:solidFill>
                <a:latin typeface="Cascadia Mono"/>
              </a:rPr>
              <a:t>mssql</a:t>
            </a:r>
            <a:r>
              <a:rPr sz="1400" dirty="0">
                <a:solidFill>
                  <a:srgbClr val="10265D"/>
                </a:solidFill>
                <a:latin typeface="Cascadia Mono"/>
              </a:rPr>
              <a:t>",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    "connection-string": "@env('</a:t>
            </a:r>
            <a:r>
              <a:rPr lang="en-GB" sz="1400" dirty="0">
                <a:solidFill>
                  <a:srgbClr val="10265D"/>
                </a:solidFill>
                <a:latin typeface="Cascadia Mono"/>
              </a:rPr>
              <a:t>DATABASE_CONNECTION_STRING</a:t>
            </a:r>
            <a:r>
              <a:rPr sz="1400" dirty="0">
                <a:solidFill>
                  <a:srgbClr val="10265D"/>
                </a:solidFill>
                <a:latin typeface="Cascadia Mono"/>
              </a:rPr>
              <a:t>')"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  },</a:t>
            </a:r>
            <a:endParaRPr lang="en-GB" sz="1400" dirty="0">
              <a:solidFill>
                <a:srgbClr val="10265D"/>
              </a:solidFill>
              <a:latin typeface="Cascadia Mono"/>
            </a:endParaRPr>
          </a:p>
          <a:p>
            <a:pPr algn="l">
              <a:spcAft>
                <a:spcPts val="0"/>
              </a:spcAft>
            </a:pPr>
            <a:r>
              <a:rPr lang="en-GB" dirty="0">
                <a:solidFill>
                  <a:srgbClr val="10265D"/>
                </a:solidFill>
                <a:latin typeface="Cascadia Mono"/>
              </a:rPr>
              <a:t>...</a:t>
            </a:r>
            <a:endParaRPr sz="1400" dirty="0">
              <a:solidFill>
                <a:srgbClr val="10265D"/>
              </a:solidFill>
              <a:latin typeface="Cascadia Mono"/>
            </a:endParaRP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  "entities": {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    "</a:t>
            </a:r>
            <a:r>
              <a:rPr lang="en-GB" sz="1400" dirty="0" err="1">
                <a:solidFill>
                  <a:srgbClr val="10265D"/>
                </a:solidFill>
                <a:latin typeface="Cascadia Mono"/>
              </a:rPr>
              <a:t>IntervalsWellness</a:t>
            </a:r>
            <a:r>
              <a:rPr sz="1400" dirty="0">
                <a:solidFill>
                  <a:srgbClr val="10265D"/>
                </a:solidFill>
                <a:latin typeface="Cascadia Mono"/>
              </a:rPr>
              <a:t>": {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      </a:t>
            </a:r>
            <a:r>
              <a:rPr lang="en-GB" sz="1400" dirty="0">
                <a:solidFill>
                  <a:srgbClr val="10265D"/>
                </a:solidFill>
                <a:latin typeface="Cascadia Mono"/>
              </a:rPr>
              <a:t>"source": {</a:t>
            </a:r>
          </a:p>
          <a:p>
            <a:pPr algn="l">
              <a:spcAft>
                <a:spcPts val="0"/>
              </a:spcAft>
            </a:pPr>
            <a:r>
              <a:rPr lang="en-GB" sz="1400" dirty="0">
                <a:solidFill>
                  <a:srgbClr val="10265D"/>
                </a:solidFill>
                <a:latin typeface="Cascadia Mono"/>
              </a:rPr>
              <a:t>        "object": "</a:t>
            </a:r>
            <a:r>
              <a:rPr lang="en-GB" sz="1400" dirty="0" err="1">
                <a:solidFill>
                  <a:srgbClr val="10265D"/>
                </a:solidFill>
                <a:latin typeface="Cascadia Mono"/>
              </a:rPr>
              <a:t>dbo.IntervalsWellness</a:t>
            </a:r>
            <a:r>
              <a:rPr lang="en-GB" sz="1400" dirty="0">
                <a:solidFill>
                  <a:srgbClr val="10265D"/>
                </a:solidFill>
                <a:latin typeface="Cascadia Mono"/>
              </a:rPr>
              <a:t>",</a:t>
            </a:r>
          </a:p>
          <a:p>
            <a:pPr algn="l">
              <a:spcAft>
                <a:spcPts val="0"/>
              </a:spcAft>
            </a:pPr>
            <a:r>
              <a:rPr lang="en-GB" sz="1400" dirty="0">
                <a:solidFill>
                  <a:srgbClr val="10265D"/>
                </a:solidFill>
                <a:latin typeface="Cascadia Mono"/>
              </a:rPr>
              <a:t>        "type": "table"</a:t>
            </a:r>
          </a:p>
          <a:p>
            <a:pPr algn="l">
              <a:spcAft>
                <a:spcPts val="0"/>
              </a:spcAft>
            </a:pPr>
            <a:r>
              <a:rPr lang="en-GB" sz="1400" dirty="0">
                <a:solidFill>
                  <a:srgbClr val="10265D"/>
                </a:solidFill>
                <a:latin typeface="Cascadia Mono"/>
              </a:rPr>
              <a:t>      },</a:t>
            </a:r>
            <a:endParaRPr sz="1400" dirty="0">
              <a:solidFill>
                <a:srgbClr val="10265D"/>
              </a:solidFill>
              <a:latin typeface="Cascadia Mono"/>
            </a:endParaRP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      "permissions": [{ "role": "anonymous", "actions": ["read"] }]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    }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  }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LeftPanel"/>
          <p:cNvSpPr/>
          <p:nvPr/>
        </p:nvSpPr>
        <p:spPr>
          <a:xfrm>
            <a:off x="0" y="0"/>
            <a:ext cx="2921000" cy="5143500"/>
          </a:xfrm>
          <a:prstGeom prst="rect">
            <a:avLst/>
          </a:prstGeom>
          <a:solidFill>
            <a:srgbClr val="DEF5FF"/>
          </a:solidFill>
          <a:ln>
            <a:noFill/>
          </a:ln>
        </p:spPr>
        <p:txBody>
          <a:bodyPr lIns="274320" tIns="457200" rIns="182880" bIns="91440" anchor="t"/>
          <a:lstStyle/>
          <a:p>
            <a:pPr algn="l">
              <a:spcAft>
                <a:spcPts val="600"/>
              </a:spcAft>
            </a:pPr>
            <a:r>
              <a:rPr lang="en-GB" sz="3200" b="1" dirty="0">
                <a:solidFill>
                  <a:srgbClr val="10265D"/>
                </a:solidFill>
                <a:latin typeface="Etna"/>
              </a:rPr>
              <a:t>Deployment</a:t>
            </a:r>
          </a:p>
          <a:p>
            <a:pPr algn="l">
              <a:lnSpc>
                <a:spcPts val="1800"/>
              </a:lnSpc>
            </a:pPr>
            <a:r>
              <a:rPr lang="en-GB" sz="1400" dirty="0">
                <a:solidFill>
                  <a:srgbClr val="530080"/>
                </a:solidFill>
                <a:latin typeface="Garet"/>
              </a:rPr>
              <a:t>One container image. </a:t>
            </a:r>
          </a:p>
          <a:p>
            <a:pPr algn="l">
              <a:lnSpc>
                <a:spcPts val="1800"/>
              </a:lnSpc>
            </a:pPr>
            <a:r>
              <a:rPr lang="en-GB" sz="1400" dirty="0">
                <a:solidFill>
                  <a:srgbClr val="530080"/>
                </a:solidFill>
                <a:latin typeface="Garet"/>
              </a:rPr>
              <a:t>Multiple ways to run it.</a:t>
            </a:r>
          </a:p>
        </p:txBody>
      </p:sp>
      <p:sp>
        <p:nvSpPr>
          <p:cNvPr id="201" name="AccentStrip"/>
          <p:cNvSpPr/>
          <p:nvPr/>
        </p:nvSpPr>
        <p:spPr>
          <a:xfrm>
            <a:off x="0" y="4889500"/>
            <a:ext cx="2921000" cy="254000"/>
          </a:xfrm>
          <a:prstGeom prst="rect">
            <a:avLst/>
          </a:prstGeom>
          <a:solidFill>
            <a:srgbClr val="53008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1" name="Circle01"/>
          <p:cNvSpPr/>
          <p:nvPr/>
        </p:nvSpPr>
        <p:spPr>
          <a:xfrm>
            <a:off x="3175000" y="406400"/>
            <a:ext cx="533400" cy="533400"/>
          </a:xfrm>
          <a:prstGeom prst="ellipse">
            <a:avLst/>
          </a:prstGeom>
          <a:solidFill>
            <a:srgbClr val="53008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1600" b="1" dirty="0">
                <a:solidFill>
                  <a:srgbClr val="FFFFFF"/>
                </a:solidFill>
                <a:latin typeface="Etna"/>
              </a:rPr>
              <a:t>01</a:t>
            </a:r>
          </a:p>
        </p:txBody>
      </p:sp>
      <p:sp>
        <p:nvSpPr>
          <p:cNvPr id="212" name="Text01"/>
          <p:cNvSpPr/>
          <p:nvPr/>
        </p:nvSpPr>
        <p:spPr>
          <a:xfrm>
            <a:off x="3873500" y="342900"/>
            <a:ext cx="4953000" cy="8636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t"/>
          <a:lstStyle/>
          <a:p>
            <a:pPr algn="l">
              <a:spcAft>
                <a:spcPts val="200"/>
              </a:spcAft>
            </a:pPr>
            <a:r>
              <a:rPr lang="en-GB" sz="1800" b="1" dirty="0">
                <a:solidFill>
                  <a:srgbClr val="10265D"/>
                </a:solidFill>
                <a:latin typeface="Etna"/>
              </a:rPr>
              <a:t>Docker container</a:t>
            </a:r>
          </a:p>
          <a:p>
            <a:pPr algn="l">
              <a:lnSpc>
                <a:spcPts val="1600"/>
              </a:lnSpc>
            </a:pPr>
            <a:r>
              <a:rPr lang="en-GB" sz="1400" dirty="0">
                <a:solidFill>
                  <a:srgbClr val="595959"/>
                </a:solidFill>
                <a:latin typeface="Garet"/>
              </a:rPr>
              <a:t>Single image, runs anywhere — local dev, CI pipelines, or bare-metal servers. Just point it at your database.</a:t>
            </a:r>
          </a:p>
        </p:txBody>
      </p:sp>
      <p:sp>
        <p:nvSpPr>
          <p:cNvPr id="213" name="Line01"/>
          <p:cNvSpPr/>
          <p:nvPr/>
        </p:nvSpPr>
        <p:spPr>
          <a:xfrm>
            <a:off x="3175000" y="1295400"/>
            <a:ext cx="5651500" cy="0"/>
          </a:xfrm>
          <a:prstGeom prst="line">
            <a:avLst/>
          </a:prstGeom>
          <a:ln w="6350">
            <a:solidFill>
              <a:srgbClr val="EEEEEE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21" name="Circle02"/>
          <p:cNvSpPr/>
          <p:nvPr/>
        </p:nvSpPr>
        <p:spPr>
          <a:xfrm>
            <a:off x="3175000" y="1524000"/>
            <a:ext cx="533400" cy="533400"/>
          </a:xfrm>
          <a:prstGeom prst="ellipse">
            <a:avLst/>
          </a:prstGeom>
          <a:solidFill>
            <a:srgbClr val="53008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1600" b="1" dirty="0">
                <a:solidFill>
                  <a:srgbClr val="FFFFFF"/>
                </a:solidFill>
                <a:latin typeface="Etna"/>
              </a:rPr>
              <a:t>02</a:t>
            </a:r>
          </a:p>
        </p:txBody>
      </p:sp>
      <p:sp>
        <p:nvSpPr>
          <p:cNvPr id="222" name="Text02"/>
          <p:cNvSpPr/>
          <p:nvPr/>
        </p:nvSpPr>
        <p:spPr>
          <a:xfrm>
            <a:off x="3873500" y="1460500"/>
            <a:ext cx="4953000" cy="8636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t"/>
          <a:lstStyle/>
          <a:p>
            <a:pPr algn="l">
              <a:spcAft>
                <a:spcPts val="200"/>
              </a:spcAft>
            </a:pPr>
            <a:r>
              <a:rPr lang="en-GB" sz="1800" b="1" dirty="0">
                <a:solidFill>
                  <a:srgbClr val="10265D"/>
                </a:solidFill>
                <a:latin typeface="Etna"/>
              </a:rPr>
              <a:t>Azure Container Apps</a:t>
            </a:r>
          </a:p>
          <a:p>
            <a:pPr algn="l">
              <a:lnSpc>
                <a:spcPts val="1600"/>
              </a:lnSpc>
            </a:pPr>
            <a:r>
              <a:rPr lang="en-GB" sz="1400" dirty="0">
                <a:solidFill>
                  <a:srgbClr val="595959"/>
                </a:solidFill>
                <a:latin typeface="Garet"/>
              </a:rPr>
              <a:t>Serverless container hosting with auto-scale. No cluster to manage. Pay only for what you use.</a:t>
            </a:r>
          </a:p>
        </p:txBody>
      </p:sp>
      <p:sp>
        <p:nvSpPr>
          <p:cNvPr id="223" name="Line02"/>
          <p:cNvSpPr/>
          <p:nvPr/>
        </p:nvSpPr>
        <p:spPr>
          <a:xfrm>
            <a:off x="3175000" y="2413000"/>
            <a:ext cx="5651500" cy="0"/>
          </a:xfrm>
          <a:prstGeom prst="line">
            <a:avLst/>
          </a:prstGeom>
          <a:ln w="6350">
            <a:solidFill>
              <a:srgbClr val="EEEEEE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31" name="Circle03"/>
          <p:cNvSpPr/>
          <p:nvPr/>
        </p:nvSpPr>
        <p:spPr>
          <a:xfrm>
            <a:off x="3175000" y="2641600"/>
            <a:ext cx="533400" cy="533400"/>
          </a:xfrm>
          <a:prstGeom prst="ellipse">
            <a:avLst/>
          </a:prstGeom>
          <a:solidFill>
            <a:srgbClr val="53008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1600" b="1" dirty="0">
                <a:solidFill>
                  <a:srgbClr val="FFFFFF"/>
                </a:solidFill>
                <a:latin typeface="Etna"/>
              </a:rPr>
              <a:t>03</a:t>
            </a:r>
          </a:p>
        </p:txBody>
      </p:sp>
      <p:sp>
        <p:nvSpPr>
          <p:cNvPr id="232" name="Text03"/>
          <p:cNvSpPr/>
          <p:nvPr/>
        </p:nvSpPr>
        <p:spPr>
          <a:xfrm>
            <a:off x="3873500" y="2578100"/>
            <a:ext cx="4953000" cy="8636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t"/>
          <a:lstStyle/>
          <a:p>
            <a:pPr algn="l">
              <a:spcAft>
                <a:spcPts val="200"/>
              </a:spcAft>
            </a:pPr>
            <a:r>
              <a:rPr lang="en-GB" sz="1800" b="1" dirty="0">
                <a:solidFill>
                  <a:srgbClr val="10265D"/>
                </a:solidFill>
                <a:latin typeface="Etna"/>
              </a:rPr>
              <a:t>Azure App Service</a:t>
            </a:r>
          </a:p>
          <a:p>
            <a:pPr algn="l">
              <a:lnSpc>
                <a:spcPts val="1600"/>
              </a:lnSpc>
            </a:pPr>
            <a:r>
              <a:rPr lang="en-GB" sz="1400" dirty="0">
                <a:solidFill>
                  <a:srgbClr val="595959"/>
                </a:solidFill>
                <a:latin typeface="Garet"/>
              </a:rPr>
              <a:t>Managed PaaS with built-in auth, custom domains, and deployment slots. Familiar to any .NET team.</a:t>
            </a:r>
          </a:p>
        </p:txBody>
      </p:sp>
      <p:sp>
        <p:nvSpPr>
          <p:cNvPr id="233" name="Line03"/>
          <p:cNvSpPr/>
          <p:nvPr/>
        </p:nvSpPr>
        <p:spPr>
          <a:xfrm>
            <a:off x="3175000" y="3530600"/>
            <a:ext cx="5651500" cy="0"/>
          </a:xfrm>
          <a:prstGeom prst="line">
            <a:avLst/>
          </a:prstGeom>
          <a:ln w="6350">
            <a:solidFill>
              <a:srgbClr val="EEEEEE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41" name="Circle04"/>
          <p:cNvSpPr/>
          <p:nvPr/>
        </p:nvSpPr>
        <p:spPr>
          <a:xfrm>
            <a:off x="3175000" y="3759200"/>
            <a:ext cx="533400" cy="533400"/>
          </a:xfrm>
          <a:prstGeom prst="ellipse">
            <a:avLst/>
          </a:prstGeom>
          <a:solidFill>
            <a:srgbClr val="530080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GB" sz="1600" b="1" dirty="0">
                <a:solidFill>
                  <a:srgbClr val="FFFFFF"/>
                </a:solidFill>
                <a:latin typeface="Etna"/>
              </a:rPr>
              <a:t>04</a:t>
            </a:r>
          </a:p>
        </p:txBody>
      </p:sp>
      <p:sp>
        <p:nvSpPr>
          <p:cNvPr id="242" name="Text04"/>
          <p:cNvSpPr/>
          <p:nvPr/>
        </p:nvSpPr>
        <p:spPr>
          <a:xfrm>
            <a:off x="3873500" y="3695700"/>
            <a:ext cx="4953000" cy="8636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t"/>
          <a:lstStyle/>
          <a:p>
            <a:pPr algn="l">
              <a:spcAft>
                <a:spcPts val="200"/>
              </a:spcAft>
            </a:pPr>
            <a:r>
              <a:rPr lang="en-GB" sz="1800" b="1" dirty="0">
                <a:solidFill>
                  <a:srgbClr val="10265D"/>
                </a:solidFill>
                <a:latin typeface="Etna"/>
              </a:rPr>
              <a:t>Azure Kubernetes (AKS)</a:t>
            </a:r>
          </a:p>
          <a:p>
            <a:pPr algn="l">
              <a:lnSpc>
                <a:spcPts val="1600"/>
              </a:lnSpc>
            </a:pPr>
            <a:r>
              <a:rPr lang="en-GB" sz="1400" dirty="0">
                <a:solidFill>
                  <a:srgbClr val="595959"/>
                </a:solidFill>
                <a:latin typeface="Garet"/>
              </a:rPr>
              <a:t>Full orchestration if you already run K8s. Helm chart included. </a:t>
            </a:r>
          </a:p>
          <a:p>
            <a:pPr algn="l">
              <a:lnSpc>
                <a:spcPts val="1600"/>
              </a:lnSpc>
            </a:pPr>
            <a:r>
              <a:rPr lang="en-GB" sz="1400" dirty="0">
                <a:solidFill>
                  <a:srgbClr val="595959"/>
                </a:solidFill>
                <a:latin typeface="Garet"/>
              </a:rPr>
              <a:t>Fits into your existing cluster.</a:t>
            </a:r>
          </a:p>
        </p:txBody>
      </p:sp>
      <p:sp>
        <p:nvSpPr>
          <p:cNvPr id="250" name="ConfigNote"/>
          <p:cNvSpPr/>
          <p:nvPr/>
        </p:nvSpPr>
        <p:spPr>
          <a:xfrm>
            <a:off x="3175000" y="4635500"/>
            <a:ext cx="5651500" cy="381000"/>
          </a:xfrm>
          <a:prstGeom prst="roundRect">
            <a:avLst>
              <a:gd name="adj" fmla="val 50000"/>
            </a:avLst>
          </a:prstGeom>
          <a:solidFill>
            <a:srgbClr val="F3EAFA"/>
          </a:solidFill>
          <a:ln>
            <a:noFill/>
          </a:ln>
        </p:spPr>
        <p:txBody>
          <a:bodyPr lIns="137160" tIns="0" rIns="137160" bIns="0" anchor="ctr"/>
          <a:lstStyle/>
          <a:p>
            <a:pPr algn="l"/>
            <a:r>
              <a:rPr lang="en-GB" sz="1400" dirty="0">
                <a:solidFill>
                  <a:srgbClr val="10265D"/>
                </a:solidFill>
                <a:latin typeface="Garet"/>
              </a:rPr>
              <a:t>All options use env vars or JSON config — zero code changes between environments</a:t>
            </a:r>
          </a:p>
        </p:txBody>
      </p:sp>
      <p:pic>
        <p:nvPicPr>
          <p:cNvPr id="1026" name="Picture 2" descr="Build your APIs with DAB using containers. - Azure SQL Dev Corner">
            <a:extLst>
              <a:ext uri="{FF2B5EF4-FFF2-40B4-BE49-F238E27FC236}">
                <a16:creationId xmlns:a16="http://schemas.microsoft.com/office/drawing/2014/main" id="{0CF1D8F0-F162-4BA3-2D08-E938E8BD0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4" y="3205375"/>
            <a:ext cx="1682751" cy="168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037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 rot="10800000" flipH="1">
            <a:off x="-9816" y="2428866"/>
            <a:ext cx="9163638" cy="2714634"/>
          </a:xfrm>
          <a:prstGeom prst="flowChartDocument">
            <a:avLst/>
          </a:prstGeom>
          <a:solidFill>
            <a:srgbClr val="DEF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Wave.png"/>
          <p:cNvPicPr preferRelativeResize="0"/>
          <p:nvPr/>
        </p:nvPicPr>
        <p:blipFill rotWithShape="1">
          <a:blip r:embed="rId3">
            <a:alphaModFix/>
          </a:blip>
          <a:srcRect l="1896" r="1886" b="28947"/>
          <a:stretch/>
        </p:blipFill>
        <p:spPr>
          <a:xfrm>
            <a:off x="-3850" y="3455650"/>
            <a:ext cx="9151677" cy="16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bubbles.png"/>
          <p:cNvPicPr preferRelativeResize="0"/>
          <p:nvPr/>
        </p:nvPicPr>
        <p:blipFill rotWithShape="1">
          <a:blip r:embed="rId4">
            <a:alphaModFix/>
          </a:blip>
          <a:srcRect l="40507" r="16342"/>
          <a:stretch/>
        </p:blipFill>
        <p:spPr>
          <a:xfrm rot="10800000">
            <a:off x="8308600" y="1506410"/>
            <a:ext cx="765850" cy="20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bubbles 2.png"/>
          <p:cNvPicPr preferRelativeResize="0"/>
          <p:nvPr/>
        </p:nvPicPr>
        <p:blipFill rotWithShape="1">
          <a:blip r:embed="rId5">
            <a:alphaModFix/>
          </a:blip>
          <a:srcRect l="15139" t="58400" r="62500" b="19350"/>
          <a:stretch/>
        </p:blipFill>
        <p:spPr>
          <a:xfrm rot="742639">
            <a:off x="149255" y="3644868"/>
            <a:ext cx="578386" cy="679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bubbles 2.png"/>
          <p:cNvPicPr preferRelativeResize="0"/>
          <p:nvPr/>
        </p:nvPicPr>
        <p:blipFill rotWithShape="1">
          <a:blip r:embed="rId5">
            <a:alphaModFix/>
          </a:blip>
          <a:srcRect r="57354" b="65392"/>
          <a:stretch/>
        </p:blipFill>
        <p:spPr>
          <a:xfrm rot="-308349">
            <a:off x="19632" y="2782409"/>
            <a:ext cx="573357" cy="54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Tentacl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64377" y="3364666"/>
            <a:ext cx="3406625" cy="17870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44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4000" b="1" dirty="0">
                <a:solidFill>
                  <a:srgbClr val="10265D"/>
                </a:solidFill>
                <a:latin typeface="Etna"/>
              </a:rPr>
              <a:t>Demo: </a:t>
            </a:r>
            <a:r>
              <a:rPr lang="en-GB" sz="4000" b="1" dirty="0">
                <a:solidFill>
                  <a:srgbClr val="10265D"/>
                </a:solidFill>
                <a:latin typeface="Etna"/>
              </a:rPr>
              <a:t>dab in 2 mins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bubbles 2.png"/>
          <p:cNvPicPr preferRelativeResize="0"/>
          <p:nvPr/>
        </p:nvPicPr>
        <p:blipFill rotWithShape="1">
          <a:blip r:embed="rId4">
            <a:alphaModFix/>
          </a:blip>
          <a:srcRect l="15139" t="47353" r="57355" b="19349"/>
          <a:stretch/>
        </p:blipFill>
        <p:spPr>
          <a:xfrm rot="742634">
            <a:off x="183865" y="3325606"/>
            <a:ext cx="711448" cy="101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 title="bubbles.png"/>
          <p:cNvPicPr preferRelativeResize="0"/>
          <p:nvPr/>
        </p:nvPicPr>
        <p:blipFill rotWithShape="1">
          <a:blip r:embed="rId5">
            <a:alphaModFix/>
          </a:blip>
          <a:srcRect l="40505" r="29998"/>
          <a:stretch/>
        </p:blipFill>
        <p:spPr>
          <a:xfrm>
            <a:off x="8489514" y="1887525"/>
            <a:ext cx="620274" cy="238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bubbles 2.png"/>
          <p:cNvPicPr preferRelativeResize="0"/>
          <p:nvPr/>
        </p:nvPicPr>
        <p:blipFill rotWithShape="1">
          <a:blip r:embed="rId4">
            <a:alphaModFix/>
          </a:blip>
          <a:srcRect r="57354" b="65392"/>
          <a:stretch/>
        </p:blipFill>
        <p:spPr>
          <a:xfrm rot="-308349">
            <a:off x="252920" y="2687159"/>
            <a:ext cx="573357" cy="54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 title="Octopu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376300">
            <a:off x="7587669" y="3744539"/>
            <a:ext cx="1341412" cy="134142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311700" y="350000"/>
            <a:ext cx="8520600" cy="1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265D"/>
                </a:solidFill>
                <a:latin typeface="Etna"/>
              </a:rPr>
              <a:t>Run it anywhere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1700" y="1450000"/>
            <a:ext cx="85206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GB" sz="1800" b="0" dirty="0">
                <a:solidFill>
                  <a:srgbClr val="1A1A1A"/>
                </a:solidFill>
                <a:latin typeface="Garet"/>
              </a:rPr>
              <a:t>dab</a:t>
            </a:r>
            <a:r>
              <a:rPr sz="1800" b="0" dirty="0">
                <a:solidFill>
                  <a:srgbClr val="1A1A1A"/>
                </a:solidFill>
                <a:latin typeface="Garet"/>
              </a:rPr>
              <a:t> CLI locally. Docker image everywhere else. Same config, same </a:t>
            </a:r>
            <a:r>
              <a:rPr sz="1800" b="0" dirty="0" err="1">
                <a:solidFill>
                  <a:srgbClr val="1A1A1A"/>
                </a:solidFill>
                <a:latin typeface="Garet"/>
              </a:rPr>
              <a:t>behaviour</a:t>
            </a:r>
            <a:r>
              <a:rPr sz="1800" b="0" dirty="0">
                <a:solidFill>
                  <a:srgbClr val="1A1A1A"/>
                </a:solidFill>
                <a:latin typeface="Garet"/>
              </a:rPr>
              <a:t>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1700" y="2150000"/>
            <a:ext cx="8520600" cy="1762001"/>
          </a:xfrm>
          <a:prstGeom prst="rect">
            <a:avLst/>
          </a:prstGeom>
          <a:solidFill>
            <a:srgbClr val="F4F7FB"/>
          </a:solidFill>
          <a:ln>
            <a:solidFill>
              <a:srgbClr val="BDECFE"/>
            </a:solidFill>
          </a:ln>
        </p:spPr>
        <p:txBody>
          <a:bodyPr wrap="square" lIns="120000" tIns="80000" rIns="120000" bIns="800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dirty="0">
                <a:solidFill>
                  <a:srgbClr val="10265D"/>
                </a:solidFill>
                <a:latin typeface="Cascadia Mono"/>
              </a:rPr>
              <a:t># local</a:t>
            </a:r>
          </a:p>
          <a:p>
            <a:pPr algn="l">
              <a:spcAft>
                <a:spcPts val="0"/>
              </a:spcAft>
            </a:pPr>
            <a:r>
              <a:rPr sz="1300" dirty="0">
                <a:solidFill>
                  <a:srgbClr val="10265D"/>
                </a:solidFill>
                <a:latin typeface="Cascadia Mono"/>
              </a:rPr>
              <a:t>dab start --config dab-</a:t>
            </a:r>
            <a:r>
              <a:rPr sz="1300" dirty="0" err="1">
                <a:solidFill>
                  <a:srgbClr val="10265D"/>
                </a:solidFill>
                <a:latin typeface="Cascadia Mono"/>
              </a:rPr>
              <a:t>config.json</a:t>
            </a:r>
            <a:endParaRPr sz="1300" dirty="0">
              <a:solidFill>
                <a:srgbClr val="10265D"/>
              </a:solidFill>
              <a:latin typeface="Cascadia Mono"/>
            </a:endParaRPr>
          </a:p>
          <a:p>
            <a:pPr algn="l">
              <a:spcAft>
                <a:spcPts val="0"/>
              </a:spcAft>
            </a:pPr>
            <a:r>
              <a:rPr sz="1300" dirty="0">
                <a:solidFill>
                  <a:srgbClr val="10265D"/>
                </a:solidFill>
                <a:latin typeface="Cascadia Mono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 dirty="0">
                <a:solidFill>
                  <a:srgbClr val="10265D"/>
                </a:solidFill>
                <a:latin typeface="Cascadia Mono"/>
              </a:rPr>
              <a:t># container</a:t>
            </a:r>
          </a:p>
          <a:p>
            <a:pPr algn="l">
              <a:spcAft>
                <a:spcPts val="0"/>
              </a:spcAft>
            </a:pPr>
            <a:r>
              <a:rPr sz="1300" dirty="0">
                <a:solidFill>
                  <a:srgbClr val="10265D"/>
                </a:solidFill>
                <a:latin typeface="Cascadia Mono"/>
              </a:rPr>
              <a:t>docker run -p 5000:5000 </a:t>
            </a:r>
            <a:r>
              <a:rPr lang="en-GB" sz="1300" dirty="0">
                <a:solidFill>
                  <a:srgbClr val="10265D"/>
                </a:solidFill>
                <a:latin typeface="Cascadia Mono"/>
              </a:rPr>
              <a:t>`</a:t>
            </a:r>
            <a:endParaRPr sz="1300" dirty="0">
              <a:solidFill>
                <a:srgbClr val="10265D"/>
              </a:solidFill>
              <a:latin typeface="Cascadia Mono"/>
            </a:endParaRPr>
          </a:p>
          <a:p>
            <a:pPr algn="l">
              <a:spcAft>
                <a:spcPts val="0"/>
              </a:spcAft>
            </a:pPr>
            <a:r>
              <a:rPr sz="1300" dirty="0">
                <a:solidFill>
                  <a:srgbClr val="10265D"/>
                </a:solidFill>
                <a:latin typeface="Cascadia Mono"/>
              </a:rPr>
              <a:t>  -v ${PWD}:/App/configs</a:t>
            </a:r>
            <a:r>
              <a:rPr lang="en-GB" sz="1300" dirty="0">
                <a:solidFill>
                  <a:srgbClr val="10265D"/>
                </a:solidFill>
                <a:latin typeface="Cascadia Mono"/>
              </a:rPr>
              <a:t> `</a:t>
            </a:r>
            <a:endParaRPr sz="1300" dirty="0">
              <a:solidFill>
                <a:srgbClr val="10265D"/>
              </a:solidFill>
              <a:latin typeface="Cascadia Mono"/>
            </a:endParaRPr>
          </a:p>
          <a:p>
            <a:r>
              <a:rPr sz="1300" dirty="0">
                <a:solidFill>
                  <a:srgbClr val="10265D"/>
                </a:solidFill>
                <a:latin typeface="Cascadia Mono"/>
              </a:rPr>
              <a:t>  -e </a:t>
            </a:r>
            <a:r>
              <a:rPr lang="en-GB" sz="1200" dirty="0">
                <a:solidFill>
                  <a:srgbClr val="10265D"/>
                </a:solidFill>
                <a:latin typeface="Cascadia Mono"/>
              </a:rPr>
              <a:t>DATABASE_CONNECTION_STRING </a:t>
            </a:r>
            <a:r>
              <a:rPr lang="en-GB" sz="1300" dirty="0">
                <a:solidFill>
                  <a:srgbClr val="10265D"/>
                </a:solidFill>
                <a:latin typeface="Cascadia Mono"/>
              </a:rPr>
              <a:t>`</a:t>
            </a:r>
            <a:endParaRPr sz="1300" dirty="0">
              <a:solidFill>
                <a:srgbClr val="10265D"/>
              </a:solidFill>
              <a:latin typeface="Cascadia Mono"/>
            </a:endParaRPr>
          </a:p>
          <a:p>
            <a:pPr algn="l">
              <a:spcAft>
                <a:spcPts val="0"/>
              </a:spcAft>
            </a:pPr>
            <a:r>
              <a:rPr sz="1300" dirty="0">
                <a:solidFill>
                  <a:srgbClr val="10265D"/>
                </a:solidFill>
                <a:latin typeface="Cascadia Mono"/>
              </a:rPr>
              <a:t>  mcr.microsoft.com/azure-databases/data-</a:t>
            </a:r>
            <a:r>
              <a:rPr sz="1300" dirty="0" err="1">
                <a:solidFill>
                  <a:srgbClr val="10265D"/>
                </a:solidFill>
                <a:latin typeface="Cascadia Mono"/>
              </a:rPr>
              <a:t>api</a:t>
            </a:r>
            <a:r>
              <a:rPr sz="1300" dirty="0">
                <a:solidFill>
                  <a:srgbClr val="10265D"/>
                </a:solidFill>
                <a:latin typeface="Cascadia Mono"/>
              </a:rPr>
              <a:t>-builder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bubbles 2.png"/>
          <p:cNvPicPr preferRelativeResize="0"/>
          <p:nvPr/>
        </p:nvPicPr>
        <p:blipFill rotWithShape="1">
          <a:blip r:embed="rId4">
            <a:alphaModFix/>
          </a:blip>
          <a:srcRect l="15139" t="47353" r="57355" b="19349"/>
          <a:stretch/>
        </p:blipFill>
        <p:spPr>
          <a:xfrm rot="742634">
            <a:off x="183878" y="3150931"/>
            <a:ext cx="711448" cy="101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 title="bubbles.png"/>
          <p:cNvPicPr preferRelativeResize="0"/>
          <p:nvPr/>
        </p:nvPicPr>
        <p:blipFill rotWithShape="1">
          <a:blip r:embed="rId5">
            <a:alphaModFix/>
          </a:blip>
          <a:srcRect l="40507" r="16342"/>
          <a:stretch/>
        </p:blipFill>
        <p:spPr>
          <a:xfrm>
            <a:off x="8236582" y="2757825"/>
            <a:ext cx="907418" cy="23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 title="bubbles 2.png"/>
          <p:cNvPicPr preferRelativeResize="0"/>
          <p:nvPr/>
        </p:nvPicPr>
        <p:blipFill rotWithShape="1">
          <a:blip r:embed="rId4">
            <a:alphaModFix/>
          </a:blip>
          <a:srcRect r="57354" b="65392"/>
          <a:stretch/>
        </p:blipFill>
        <p:spPr>
          <a:xfrm rot="-308349">
            <a:off x="19632" y="2782409"/>
            <a:ext cx="573357" cy="54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 title="Tentacles-ind.png"/>
          <p:cNvPicPr preferRelativeResize="0"/>
          <p:nvPr/>
        </p:nvPicPr>
        <p:blipFill rotWithShape="1">
          <a:blip r:embed="rId6">
            <a:alphaModFix/>
          </a:blip>
          <a:srcRect t="33403" r="87438" b="15771"/>
          <a:stretch/>
        </p:blipFill>
        <p:spPr>
          <a:xfrm rot="439130">
            <a:off x="-47716" y="4206609"/>
            <a:ext cx="968293" cy="1246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 title="Tentacles-ind.png"/>
          <p:cNvPicPr preferRelativeResize="0"/>
          <p:nvPr/>
        </p:nvPicPr>
        <p:blipFill rotWithShape="1">
          <a:blip r:embed="rId6">
            <a:alphaModFix/>
          </a:blip>
          <a:srcRect l="13130" t="-3230" r="72448" b="3230"/>
          <a:stretch/>
        </p:blipFill>
        <p:spPr>
          <a:xfrm rot="4506413">
            <a:off x="741578" y="4122181"/>
            <a:ext cx="742087" cy="163746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TextBox 99"/>
          <p:cNvSpPr txBox="1"/>
          <p:nvPr/>
        </p:nvSpPr>
        <p:spPr>
          <a:xfrm>
            <a:off x="311700" y="350000"/>
            <a:ext cx="8520600" cy="1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265D"/>
                </a:solidFill>
                <a:latin typeface="Etna"/>
              </a:rPr>
              <a:t>Invoke-RestMethod is all you need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11700" y="1500000"/>
            <a:ext cx="8520600" cy="2376000"/>
          </a:xfrm>
          <a:prstGeom prst="rect">
            <a:avLst/>
          </a:prstGeom>
          <a:solidFill>
            <a:srgbClr val="F4F7FB"/>
          </a:solidFill>
          <a:ln>
            <a:solidFill>
              <a:srgbClr val="BDECFE"/>
            </a:solidFill>
          </a:ln>
        </p:spPr>
        <p:txBody>
          <a:bodyPr wrap="square" lIns="120000" tIns="80000" rIns="120000" bIns="800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$base = 'http://localhost:5000/</a:t>
            </a:r>
            <a:r>
              <a:rPr sz="1400" dirty="0" err="1">
                <a:solidFill>
                  <a:srgbClr val="10265D"/>
                </a:solidFill>
                <a:latin typeface="Cascadia Mono"/>
              </a:rPr>
              <a:t>api</a:t>
            </a:r>
            <a:r>
              <a:rPr sz="1400" dirty="0">
                <a:solidFill>
                  <a:srgbClr val="10265D"/>
                </a:solidFill>
                <a:latin typeface="Cascadia Mono"/>
              </a:rPr>
              <a:t>'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# write a row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$body = @{ date = '2026-05-04'; type = 'Ride'; </a:t>
            </a:r>
            <a:r>
              <a:rPr sz="1400" dirty="0" err="1">
                <a:solidFill>
                  <a:srgbClr val="10265D"/>
                </a:solidFill>
                <a:latin typeface="Cascadia Mono"/>
              </a:rPr>
              <a:t>tss</a:t>
            </a:r>
            <a:r>
              <a:rPr sz="1400" dirty="0">
                <a:solidFill>
                  <a:srgbClr val="10265D"/>
                </a:solidFill>
                <a:latin typeface="Cascadia Mono"/>
              </a:rPr>
              <a:t> = 84 } | </a:t>
            </a:r>
            <a:r>
              <a:rPr sz="1400" dirty="0" err="1">
                <a:solidFill>
                  <a:srgbClr val="10265D"/>
                </a:solidFill>
                <a:latin typeface="Cascadia Mono"/>
              </a:rPr>
              <a:t>ConvertTo</a:t>
            </a:r>
            <a:r>
              <a:rPr sz="1400" dirty="0">
                <a:solidFill>
                  <a:srgbClr val="10265D"/>
                </a:solidFill>
                <a:latin typeface="Cascadia Mono"/>
              </a:rPr>
              <a:t>-Json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Invoke-</a:t>
            </a:r>
            <a:r>
              <a:rPr sz="1400" dirty="0" err="1">
                <a:solidFill>
                  <a:srgbClr val="10265D"/>
                </a:solidFill>
                <a:latin typeface="Cascadia Mono"/>
              </a:rPr>
              <a:t>RestMethod</a:t>
            </a:r>
            <a:r>
              <a:rPr sz="1400" dirty="0">
                <a:solidFill>
                  <a:srgbClr val="10265D"/>
                </a:solidFill>
                <a:latin typeface="Cascadia Mono"/>
              </a:rPr>
              <a:t> "$base/Activity" -Method POST -Body $body `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    -</a:t>
            </a:r>
            <a:r>
              <a:rPr sz="1400" dirty="0" err="1">
                <a:solidFill>
                  <a:srgbClr val="10265D"/>
                </a:solidFill>
                <a:latin typeface="Cascadia Mono"/>
              </a:rPr>
              <a:t>ContentType</a:t>
            </a:r>
            <a:r>
              <a:rPr sz="1400" dirty="0">
                <a:solidFill>
                  <a:srgbClr val="10265D"/>
                </a:solidFill>
                <a:latin typeface="Cascadia Mono"/>
              </a:rPr>
              <a:t> 'application/</a:t>
            </a:r>
            <a:r>
              <a:rPr sz="1400" dirty="0" err="1">
                <a:solidFill>
                  <a:srgbClr val="10265D"/>
                </a:solidFill>
                <a:latin typeface="Cascadia Mono"/>
              </a:rPr>
              <a:t>json</a:t>
            </a:r>
            <a:r>
              <a:rPr sz="1400" dirty="0">
                <a:solidFill>
                  <a:srgbClr val="10265D"/>
                </a:solidFill>
                <a:latin typeface="Cascadia Mono"/>
              </a:rPr>
              <a:t>'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# read it back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Invoke-</a:t>
            </a:r>
            <a:r>
              <a:rPr sz="1400" dirty="0" err="1">
                <a:solidFill>
                  <a:srgbClr val="10265D"/>
                </a:solidFill>
                <a:latin typeface="Cascadia Mono"/>
              </a:rPr>
              <a:t>RestMethod</a:t>
            </a:r>
            <a:r>
              <a:rPr sz="1400" dirty="0">
                <a:solidFill>
                  <a:srgbClr val="10265D"/>
                </a:solidFill>
                <a:latin typeface="Cascadia Mono"/>
              </a:rPr>
              <a:t> "$base/Activity?\$filter=type eq 'Ride'" |</a:t>
            </a:r>
          </a:p>
          <a:p>
            <a:pPr algn="l">
              <a:spcAft>
                <a:spcPts val="0"/>
              </a:spcAft>
            </a:pPr>
            <a:r>
              <a:rPr sz="1400" dirty="0">
                <a:solidFill>
                  <a:srgbClr val="10265D"/>
                </a:solidFill>
                <a:latin typeface="Cascadia Mono"/>
              </a:rPr>
              <a:t>    Select-Object -</a:t>
            </a:r>
            <a:r>
              <a:rPr sz="1400" dirty="0" err="1">
                <a:solidFill>
                  <a:srgbClr val="10265D"/>
                </a:solidFill>
                <a:latin typeface="Cascadia Mono"/>
              </a:rPr>
              <a:t>ExpandProperty</a:t>
            </a:r>
            <a:r>
              <a:rPr sz="1400" dirty="0">
                <a:solidFill>
                  <a:srgbClr val="10265D"/>
                </a:solidFill>
                <a:latin typeface="Cascadia Mono"/>
              </a:rPr>
              <a:t> value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title="bubbles 2.png"/>
          <p:cNvPicPr preferRelativeResize="0"/>
          <p:nvPr/>
        </p:nvPicPr>
        <p:blipFill rotWithShape="1">
          <a:blip r:embed="rId4">
            <a:alphaModFix/>
          </a:blip>
          <a:srcRect l="15139" t="47353" r="57355" b="19349"/>
          <a:stretch/>
        </p:blipFill>
        <p:spPr>
          <a:xfrm rot="742634">
            <a:off x="183865" y="3325606"/>
            <a:ext cx="711448" cy="101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 title="bubbles.png"/>
          <p:cNvPicPr preferRelativeResize="0"/>
          <p:nvPr/>
        </p:nvPicPr>
        <p:blipFill rotWithShape="1">
          <a:blip r:embed="rId5">
            <a:alphaModFix/>
          </a:blip>
          <a:srcRect l="40507" r="16342"/>
          <a:stretch/>
        </p:blipFill>
        <p:spPr>
          <a:xfrm>
            <a:off x="8240407" y="2165913"/>
            <a:ext cx="907418" cy="23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bubbles 2.png"/>
          <p:cNvPicPr preferRelativeResize="0"/>
          <p:nvPr/>
        </p:nvPicPr>
        <p:blipFill rotWithShape="1">
          <a:blip r:embed="rId4">
            <a:alphaModFix/>
          </a:blip>
          <a:srcRect r="57354" b="65392"/>
          <a:stretch/>
        </p:blipFill>
        <p:spPr>
          <a:xfrm rot="-308349">
            <a:off x="252920" y="2687159"/>
            <a:ext cx="573357" cy="54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Tentacl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0958" y="3580350"/>
            <a:ext cx="2979741" cy="15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TextBox 80"/>
          <p:cNvSpPr txBox="1"/>
          <p:nvPr/>
        </p:nvSpPr>
        <p:spPr>
          <a:xfrm>
            <a:off x="311700" y="350000"/>
            <a:ext cx="8520600" cy="1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265D"/>
                </a:solidFill>
                <a:latin typeface="Etna"/>
              </a:rPr>
              <a:t>Pagination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1700" y="1500000"/>
            <a:ext cx="8520600" cy="177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dirty="0">
                <a:solidFill>
                  <a:srgbClr val="530080"/>
                </a:solidFill>
                <a:latin typeface="Etna"/>
              </a:rPr>
              <a:t>$first</a:t>
            </a:r>
            <a:r>
              <a:rPr sz="2000" b="0" dirty="0">
                <a:solidFill>
                  <a:srgbClr val="1A1A1A"/>
                </a:solidFill>
                <a:latin typeface="Garet"/>
              </a:rPr>
              <a:t> — limit results to N items per page. Default is 100.</a:t>
            </a:r>
          </a:p>
          <a:p>
            <a:pPr algn="l">
              <a:spcAft>
                <a:spcPts val="600"/>
              </a:spcAft>
            </a:pPr>
            <a:r>
              <a:rPr sz="2000" b="1" dirty="0">
                <a:solidFill>
                  <a:srgbClr val="530080"/>
                </a:solidFill>
                <a:latin typeface="Etna"/>
              </a:rPr>
              <a:t>$after</a:t>
            </a:r>
            <a:r>
              <a:rPr sz="2000" b="0" dirty="0">
                <a:solidFill>
                  <a:srgbClr val="1A1A1A"/>
                </a:solidFill>
                <a:latin typeface="Garet"/>
              </a:rPr>
              <a:t> — cursor-based pagination. Pass the continuation token to get the next page.</a:t>
            </a:r>
          </a:p>
          <a:p>
            <a:pPr algn="l">
              <a:spcAft>
                <a:spcPts val="600"/>
              </a:spcAft>
            </a:pPr>
            <a:r>
              <a:rPr sz="2000" b="0" dirty="0">
                <a:solidFill>
                  <a:srgbClr val="1A1A1A"/>
                </a:solidFill>
                <a:latin typeface="Garet"/>
              </a:rPr>
              <a:t>No offset-based paging — cursors are efficient on large datasets.</a:t>
            </a:r>
            <a:endParaRPr lang="en-GB" sz="2000" b="0" dirty="0">
              <a:solidFill>
                <a:srgbClr val="1A1A1A"/>
              </a:solidFill>
              <a:latin typeface="Garet"/>
            </a:endParaRPr>
          </a:p>
          <a:p>
            <a:pPr algn="l">
              <a:spcAft>
                <a:spcPts val="600"/>
              </a:spcAft>
            </a:pPr>
            <a:r>
              <a:rPr lang="en-GB" sz="2000" b="0" dirty="0">
                <a:solidFill>
                  <a:srgbClr val="1A1A1A"/>
                </a:solidFill>
                <a:latin typeface="Garet"/>
              </a:rPr>
              <a:t>Response</a:t>
            </a:r>
            <a:r>
              <a:rPr sz="2000" b="0" dirty="0">
                <a:solidFill>
                  <a:srgbClr val="1A1A1A"/>
                </a:solidFill>
                <a:latin typeface="Garet"/>
              </a:rPr>
              <a:t> includes </a:t>
            </a:r>
            <a:r>
              <a:rPr sz="2000" b="1" dirty="0" err="1">
                <a:solidFill>
                  <a:srgbClr val="530080"/>
                </a:solidFill>
                <a:latin typeface="Etna"/>
              </a:rPr>
              <a:t>hasNextPage</a:t>
            </a:r>
            <a:r>
              <a:rPr sz="2000" b="0" dirty="0">
                <a:solidFill>
                  <a:srgbClr val="1A1A1A"/>
                </a:solidFill>
                <a:latin typeface="Garet"/>
              </a:rPr>
              <a:t> and </a:t>
            </a:r>
            <a:r>
              <a:rPr sz="2000" b="1" dirty="0" err="1">
                <a:solidFill>
                  <a:srgbClr val="530080"/>
                </a:solidFill>
                <a:latin typeface="Etna"/>
              </a:rPr>
              <a:t>endCursor</a:t>
            </a:r>
            <a:r>
              <a:rPr sz="2000" b="0" dirty="0">
                <a:solidFill>
                  <a:srgbClr val="1A1A1A"/>
                </a:solidFill>
                <a:latin typeface="Garet"/>
              </a:rPr>
              <a:t>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1700" y="3365500"/>
            <a:ext cx="8520600" cy="600000"/>
          </a:xfrm>
          <a:prstGeom prst="rect">
            <a:avLst/>
          </a:prstGeom>
          <a:solidFill>
            <a:srgbClr val="F4F7FB"/>
          </a:solidFill>
          <a:ln>
            <a:solidFill>
              <a:srgbClr val="BDECFE"/>
            </a:solidFill>
          </a:ln>
        </p:spPr>
        <p:txBody>
          <a:bodyPr wrap="square" lIns="120000" tIns="80000" rIns="120000" bIns="800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dirty="0">
                <a:solidFill>
                  <a:srgbClr val="10265D"/>
                </a:solidFill>
                <a:latin typeface="Cascadia Mono"/>
              </a:rPr>
              <a:t>GET /</a:t>
            </a:r>
            <a:r>
              <a:rPr sz="1300" dirty="0" err="1">
                <a:solidFill>
                  <a:srgbClr val="10265D"/>
                </a:solidFill>
                <a:latin typeface="Cascadia Mono"/>
              </a:rPr>
              <a:t>api</a:t>
            </a:r>
            <a:r>
              <a:rPr sz="1300" dirty="0">
                <a:solidFill>
                  <a:srgbClr val="10265D"/>
                </a:solidFill>
                <a:latin typeface="Cascadia Mono"/>
              </a:rPr>
              <a:t>/Activity?$first=25&amp;$after=eyJpZCI6MTAwfQ==</a:t>
            </a:r>
          </a:p>
        </p:txBody>
      </p:sp>
    </p:spTree>
    <p:extLst>
      <p:ext uri="{BB962C8B-B14F-4D97-AF65-F5344CB8AC3E}">
        <p14:creationId xmlns:p14="http://schemas.microsoft.com/office/powerpoint/2010/main" val="283379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title="bubbles 2.png"/>
          <p:cNvPicPr preferRelativeResize="0"/>
          <p:nvPr/>
        </p:nvPicPr>
        <p:blipFill rotWithShape="1">
          <a:blip r:embed="rId4">
            <a:alphaModFix/>
          </a:blip>
          <a:srcRect l="15139" t="47353" r="57355" b="19349"/>
          <a:stretch/>
        </p:blipFill>
        <p:spPr>
          <a:xfrm rot="742634">
            <a:off x="183865" y="3325606"/>
            <a:ext cx="711448" cy="101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 title="bubbles.png"/>
          <p:cNvPicPr preferRelativeResize="0"/>
          <p:nvPr/>
        </p:nvPicPr>
        <p:blipFill rotWithShape="1">
          <a:blip r:embed="rId5">
            <a:alphaModFix/>
          </a:blip>
          <a:srcRect l="40507" r="16342"/>
          <a:stretch/>
        </p:blipFill>
        <p:spPr>
          <a:xfrm>
            <a:off x="8240407" y="2165913"/>
            <a:ext cx="907418" cy="23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bubbles 2.png"/>
          <p:cNvPicPr preferRelativeResize="0"/>
          <p:nvPr/>
        </p:nvPicPr>
        <p:blipFill rotWithShape="1">
          <a:blip r:embed="rId4">
            <a:alphaModFix/>
          </a:blip>
          <a:srcRect r="57354" b="65392"/>
          <a:stretch/>
        </p:blipFill>
        <p:spPr>
          <a:xfrm rot="-308349">
            <a:off x="252920" y="2687159"/>
            <a:ext cx="573357" cy="54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Tentacl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0958" y="3580350"/>
            <a:ext cx="2979741" cy="15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TextBox 80"/>
          <p:cNvSpPr txBox="1"/>
          <p:nvPr/>
        </p:nvSpPr>
        <p:spPr>
          <a:xfrm>
            <a:off x="311700" y="350000"/>
            <a:ext cx="8520600" cy="1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265D"/>
                </a:solidFill>
                <a:latin typeface="Etna"/>
              </a:rPr>
              <a:t>Filtering &amp; querying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530080"/>
                </a:solidFill>
                <a:latin typeface="Etna"/>
              </a:rPr>
              <a:t>$filter</a:t>
            </a:r>
            <a:r>
              <a:rPr sz="2000" b="0">
                <a:solidFill>
                  <a:srgbClr val="1A1A1A"/>
                </a:solidFill>
                <a:latin typeface="Garet"/>
              </a:rPr>
              <a:t> — OData-style expressions: eq, ne, gt, lt, contains, startswith.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530080"/>
                </a:solidFill>
                <a:latin typeface="Etna"/>
              </a:rPr>
              <a:t>$select</a:t>
            </a:r>
            <a:r>
              <a:rPr sz="2000" b="0">
                <a:solidFill>
                  <a:srgbClr val="1A1A1A"/>
                </a:solidFill>
                <a:latin typeface="Garet"/>
              </a:rPr>
              <a:t> — return only the fields you need. Less data over the wire.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530080"/>
                </a:solidFill>
                <a:latin typeface="Etna"/>
              </a:rPr>
              <a:t>$orderby</a:t>
            </a:r>
            <a:r>
              <a:rPr sz="2000" b="0">
                <a:solidFill>
                  <a:srgbClr val="1A1A1A"/>
                </a:solidFill>
                <a:latin typeface="Garet"/>
              </a:rPr>
              <a:t> — sort ascending or descending on any exposed column.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1700" y="2700000"/>
            <a:ext cx="8520600" cy="361617"/>
          </a:xfrm>
          <a:prstGeom prst="rect">
            <a:avLst/>
          </a:prstGeom>
          <a:solidFill>
            <a:srgbClr val="F4F7FB"/>
          </a:solidFill>
          <a:ln>
            <a:solidFill>
              <a:srgbClr val="BDECFE"/>
            </a:solidFill>
          </a:ln>
        </p:spPr>
        <p:txBody>
          <a:bodyPr wrap="square" lIns="120000" tIns="80000" rIns="120000" bIns="80000">
            <a:spAutoFit/>
          </a:bodyPr>
          <a:lstStyle/>
          <a:p>
            <a:pPr algn="l">
              <a:spcAft>
                <a:spcPts val="0"/>
              </a:spcAft>
            </a:pPr>
            <a:r>
              <a:rPr lang="en-GB" sz="1300" dirty="0">
                <a:solidFill>
                  <a:srgbClr val="10265D"/>
                </a:solidFill>
                <a:latin typeface="Cascadia Mono"/>
              </a:rPr>
              <a:t>GET /</a:t>
            </a:r>
            <a:r>
              <a:rPr lang="en-GB" sz="1300" dirty="0" err="1">
                <a:solidFill>
                  <a:srgbClr val="10265D"/>
                </a:solidFill>
                <a:latin typeface="Cascadia Mono"/>
              </a:rPr>
              <a:t>api</a:t>
            </a:r>
            <a:r>
              <a:rPr lang="en-GB" sz="1300" dirty="0">
                <a:solidFill>
                  <a:srgbClr val="10265D"/>
                </a:solidFill>
                <a:latin typeface="Cascadia Mono"/>
              </a:rPr>
              <a:t>/</a:t>
            </a:r>
            <a:r>
              <a:rPr lang="en-GB" sz="1300" dirty="0" err="1">
                <a:solidFill>
                  <a:srgbClr val="10265D"/>
                </a:solidFill>
                <a:latin typeface="Cascadia Mono"/>
              </a:rPr>
              <a:t>SyncLog</a:t>
            </a:r>
            <a:r>
              <a:rPr lang="en-GB" sz="1300" dirty="0">
                <a:solidFill>
                  <a:srgbClr val="10265D"/>
                </a:solidFill>
                <a:latin typeface="Cascadia Mono"/>
              </a:rPr>
              <a:t>?$filter=Source </a:t>
            </a:r>
            <a:r>
              <a:rPr lang="en-GB" sz="1300" dirty="0" err="1">
                <a:solidFill>
                  <a:srgbClr val="10265D"/>
                </a:solidFill>
                <a:latin typeface="Cascadia Mono"/>
              </a:rPr>
              <a:t>eq</a:t>
            </a:r>
            <a:r>
              <a:rPr lang="en-GB" sz="1300" dirty="0">
                <a:solidFill>
                  <a:srgbClr val="10265D"/>
                </a:solidFill>
                <a:latin typeface="Cascadia Mono"/>
              </a:rPr>
              <a:t> '</a:t>
            </a:r>
            <a:r>
              <a:rPr lang="en-GB" sz="1300" dirty="0" err="1">
                <a:solidFill>
                  <a:srgbClr val="10265D"/>
                </a:solidFill>
                <a:latin typeface="Cascadia Mono"/>
              </a:rPr>
              <a:t>IntervalsSync</a:t>
            </a:r>
            <a:r>
              <a:rPr lang="en-GB" sz="1300" dirty="0">
                <a:solidFill>
                  <a:srgbClr val="10265D"/>
                </a:solidFill>
                <a:latin typeface="Cascadia Mono"/>
              </a:rPr>
              <a:t>'&amp;$</a:t>
            </a:r>
            <a:r>
              <a:rPr lang="en-GB" sz="1300" dirty="0" err="1">
                <a:solidFill>
                  <a:srgbClr val="10265D"/>
                </a:solidFill>
                <a:latin typeface="Cascadia Mono"/>
              </a:rPr>
              <a:t>orderby</a:t>
            </a:r>
            <a:r>
              <a:rPr lang="en-GB" sz="1300" dirty="0">
                <a:solidFill>
                  <a:srgbClr val="10265D"/>
                </a:solidFill>
                <a:latin typeface="Cascadia Mono"/>
              </a:rPr>
              <a:t>=RunAt </a:t>
            </a:r>
            <a:r>
              <a:rPr lang="en-GB" sz="1300" dirty="0" err="1">
                <a:solidFill>
                  <a:srgbClr val="10265D"/>
                </a:solidFill>
                <a:latin typeface="Cascadia Mono"/>
              </a:rPr>
              <a:t>desc</a:t>
            </a:r>
            <a:r>
              <a:rPr lang="en-GB" sz="1300" dirty="0">
                <a:solidFill>
                  <a:srgbClr val="10265D"/>
                </a:solidFill>
                <a:latin typeface="Cascadia Mono"/>
              </a:rPr>
              <a:t>&amp;$first=10</a:t>
            </a:r>
            <a:endParaRPr sz="1300" dirty="0">
              <a:solidFill>
                <a:srgbClr val="10265D"/>
              </a:solidFill>
              <a:latin typeface="Cascadia Mono"/>
            </a:endParaRPr>
          </a:p>
        </p:txBody>
      </p:sp>
    </p:spTree>
    <p:extLst>
      <p:ext uri="{BB962C8B-B14F-4D97-AF65-F5344CB8AC3E}">
        <p14:creationId xmlns:p14="http://schemas.microsoft.com/office/powerpoint/2010/main" val="311064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title="bubbles 2.png"/>
          <p:cNvPicPr preferRelativeResize="0"/>
          <p:nvPr/>
        </p:nvPicPr>
        <p:blipFill rotWithShape="1">
          <a:blip r:embed="rId4">
            <a:alphaModFix/>
          </a:blip>
          <a:srcRect l="15139" t="47353" r="57355" b="19349"/>
          <a:stretch/>
        </p:blipFill>
        <p:spPr>
          <a:xfrm rot="742634">
            <a:off x="183865" y="3325606"/>
            <a:ext cx="711448" cy="101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 title="bubbles.png"/>
          <p:cNvPicPr preferRelativeResize="0"/>
          <p:nvPr/>
        </p:nvPicPr>
        <p:blipFill rotWithShape="1">
          <a:blip r:embed="rId5">
            <a:alphaModFix/>
          </a:blip>
          <a:srcRect l="40507" r="16342"/>
          <a:stretch/>
        </p:blipFill>
        <p:spPr>
          <a:xfrm>
            <a:off x="8240407" y="2165913"/>
            <a:ext cx="907418" cy="23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bubbles 2.png"/>
          <p:cNvPicPr preferRelativeResize="0"/>
          <p:nvPr/>
        </p:nvPicPr>
        <p:blipFill rotWithShape="1">
          <a:blip r:embed="rId4">
            <a:alphaModFix/>
          </a:blip>
          <a:srcRect r="57354" b="65392"/>
          <a:stretch/>
        </p:blipFill>
        <p:spPr>
          <a:xfrm rot="-308349">
            <a:off x="252920" y="2687159"/>
            <a:ext cx="573357" cy="54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Tentacle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0958" y="3580350"/>
            <a:ext cx="2979741" cy="15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TextBox 80"/>
          <p:cNvSpPr txBox="1"/>
          <p:nvPr/>
        </p:nvSpPr>
        <p:spPr>
          <a:xfrm>
            <a:off x="311700" y="350000"/>
            <a:ext cx="8520600" cy="1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dirty="0">
                <a:solidFill>
                  <a:srgbClr val="10265D"/>
                </a:solidFill>
                <a:latin typeface="Etna"/>
              </a:rPr>
              <a:t>Relationships &amp; </a:t>
            </a:r>
            <a:r>
              <a:rPr sz="3600" b="1" dirty="0" err="1">
                <a:solidFill>
                  <a:srgbClr val="10265D"/>
                </a:solidFill>
                <a:latin typeface="Etna"/>
              </a:rPr>
              <a:t>GraphQL</a:t>
            </a:r>
            <a:endParaRPr sz="3600" b="1" dirty="0">
              <a:solidFill>
                <a:srgbClr val="10265D"/>
              </a:solidFill>
              <a:latin typeface="Etna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11700" y="1500000"/>
            <a:ext cx="8520600" cy="177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Garet"/>
              </a:rPr>
              <a:t>Define relationships in the config file — DAB maps foreign keys and exposes nested data automatically.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Garet"/>
              </a:rPr>
              <a:t>One request returns parent + children — no client-side joins, no N+1 queries.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A1A1A"/>
                </a:solidFill>
                <a:latin typeface="Garet"/>
              </a:rPr>
              <a:t>The </a:t>
            </a:r>
            <a:r>
              <a:rPr sz="2000" b="1">
                <a:solidFill>
                  <a:srgbClr val="530080"/>
                </a:solidFill>
                <a:latin typeface="Etna"/>
              </a:rPr>
              <a:t>GraphQL endpoint</a:t>
            </a:r>
            <a:r>
              <a:rPr sz="2000" b="0">
                <a:solidFill>
                  <a:srgbClr val="1A1A1A"/>
                </a:solidFill>
                <a:latin typeface="Garet"/>
              </a:rPr>
              <a:t> lets callers ask for exactly what they need — nested fields, aliases, fragments.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1700" y="3365500"/>
            <a:ext cx="8520600" cy="600000"/>
          </a:xfrm>
          <a:prstGeom prst="rect">
            <a:avLst/>
          </a:prstGeom>
          <a:solidFill>
            <a:srgbClr val="F4F7FB"/>
          </a:solidFill>
          <a:ln>
            <a:solidFill>
              <a:srgbClr val="BDECFE"/>
            </a:solidFill>
          </a:ln>
        </p:spPr>
        <p:txBody>
          <a:bodyPr wrap="square" lIns="120000" tIns="80000" rIns="120000" bIns="80000">
            <a:spAutoFit/>
          </a:bodyPr>
          <a:lstStyle/>
          <a:p>
            <a:pPr algn="l">
              <a:spcAft>
                <a:spcPts val="0"/>
              </a:spcAft>
            </a:pPr>
            <a:r>
              <a:rPr sz="1300">
                <a:solidFill>
                  <a:srgbClr val="10265D"/>
                </a:solidFill>
                <a:latin typeface="Cascadia Mono"/>
              </a:rPr>
              <a:t>{ athletes(filter: {team: {eq: "A"}}) { name, activities { date, type, distance } } }</a:t>
            </a:r>
          </a:p>
        </p:txBody>
      </p:sp>
    </p:spTree>
    <p:extLst>
      <p:ext uri="{BB962C8B-B14F-4D97-AF65-F5344CB8AC3E}">
        <p14:creationId xmlns:p14="http://schemas.microsoft.com/office/powerpoint/2010/main" val="4019953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16FC9-F3EF-639D-9DF6-0CCA10871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BDE4FF86-FA40-9928-0FC8-7F034202883E}"/>
              </a:ext>
            </a:extLst>
          </p:cNvPr>
          <p:cNvSpPr/>
          <p:nvPr/>
        </p:nvSpPr>
        <p:spPr>
          <a:xfrm rot="10800000" flipH="1">
            <a:off x="-9816" y="2428866"/>
            <a:ext cx="9163638" cy="2714634"/>
          </a:xfrm>
          <a:prstGeom prst="flowChartDocument">
            <a:avLst/>
          </a:prstGeom>
          <a:solidFill>
            <a:srgbClr val="DEF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Wave.png">
            <a:extLst>
              <a:ext uri="{FF2B5EF4-FFF2-40B4-BE49-F238E27FC236}">
                <a16:creationId xmlns:a16="http://schemas.microsoft.com/office/drawing/2014/main" id="{0C26CF18-26CB-49CE-5BF0-F8194481F3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96" r="1886" b="28947"/>
          <a:stretch/>
        </p:blipFill>
        <p:spPr>
          <a:xfrm>
            <a:off x="-3850" y="3455650"/>
            <a:ext cx="9151677" cy="16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 title="bubbles.png">
            <a:extLst>
              <a:ext uri="{FF2B5EF4-FFF2-40B4-BE49-F238E27FC236}">
                <a16:creationId xmlns:a16="http://schemas.microsoft.com/office/drawing/2014/main" id="{642030E9-407A-F9B6-9365-11C5F94120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0507" r="16342"/>
          <a:stretch/>
        </p:blipFill>
        <p:spPr>
          <a:xfrm rot="10800000">
            <a:off x="8308600" y="1506410"/>
            <a:ext cx="765850" cy="20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bubbles 2.png">
            <a:extLst>
              <a:ext uri="{FF2B5EF4-FFF2-40B4-BE49-F238E27FC236}">
                <a16:creationId xmlns:a16="http://schemas.microsoft.com/office/drawing/2014/main" id="{41BBE259-673D-65DD-3485-6478AABC218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5139" t="58400" r="62500" b="19350"/>
          <a:stretch/>
        </p:blipFill>
        <p:spPr>
          <a:xfrm rot="742639">
            <a:off x="149255" y="3644868"/>
            <a:ext cx="578386" cy="679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bubbles 2.png">
            <a:extLst>
              <a:ext uri="{FF2B5EF4-FFF2-40B4-BE49-F238E27FC236}">
                <a16:creationId xmlns:a16="http://schemas.microsoft.com/office/drawing/2014/main" id="{F3FF1BBB-E0EC-D12A-7693-E6CC1996FA4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r="57354" b="65392"/>
          <a:stretch/>
        </p:blipFill>
        <p:spPr>
          <a:xfrm rot="-308349">
            <a:off x="19632" y="2782409"/>
            <a:ext cx="573357" cy="549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Tentacles.png">
            <a:extLst>
              <a:ext uri="{FF2B5EF4-FFF2-40B4-BE49-F238E27FC236}">
                <a16:creationId xmlns:a16="http://schemas.microsoft.com/office/drawing/2014/main" id="{DBFB0FC9-BF08-B58A-8EC5-E173DF94EF8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64377" y="3364666"/>
            <a:ext cx="3406625" cy="17870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5E8982B1-BFB1-F12A-5B6E-34B40AFFCDF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44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4000" b="1">
                <a:solidFill>
                  <a:srgbClr val="10265D"/>
                </a:solidFill>
                <a:latin typeface="Etna"/>
              </a:rPr>
              <a:t>Demo: Chase the Sun tracker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928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8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 title="bubbles.png"/>
          <p:cNvPicPr preferRelativeResize="0"/>
          <p:nvPr/>
        </p:nvPicPr>
        <p:blipFill rotWithShape="1">
          <a:blip r:embed="rId4">
            <a:alphaModFix/>
          </a:blip>
          <a:srcRect l="40507" r="16342"/>
          <a:stretch/>
        </p:blipFill>
        <p:spPr>
          <a:xfrm rot="10800000">
            <a:off x="8146807" y="970750"/>
            <a:ext cx="907418" cy="23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 title="Tentacles-ind.png"/>
          <p:cNvPicPr preferRelativeResize="0"/>
          <p:nvPr/>
        </p:nvPicPr>
        <p:blipFill rotWithShape="1">
          <a:blip r:embed="rId5">
            <a:alphaModFix/>
          </a:blip>
          <a:srcRect l="49571" t="721" r="31537" b="445"/>
          <a:stretch/>
        </p:blipFill>
        <p:spPr>
          <a:xfrm rot="-2501693">
            <a:off x="7445555" y="3987141"/>
            <a:ext cx="971391" cy="1617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 title="bubbles 2.png"/>
          <p:cNvPicPr preferRelativeResize="0"/>
          <p:nvPr/>
        </p:nvPicPr>
        <p:blipFill rotWithShape="1">
          <a:blip r:embed="rId6">
            <a:alphaModFix/>
          </a:blip>
          <a:srcRect t="47355" r="57354"/>
          <a:stretch/>
        </p:blipFill>
        <p:spPr>
          <a:xfrm rot="-9252631">
            <a:off x="-55300" y="3280125"/>
            <a:ext cx="1103049" cy="160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 title="Tentacles-ind.png"/>
          <p:cNvPicPr preferRelativeResize="0"/>
          <p:nvPr/>
        </p:nvPicPr>
        <p:blipFill rotWithShape="1">
          <a:blip r:embed="rId5">
            <a:alphaModFix/>
          </a:blip>
          <a:srcRect l="86032" t="15454" r="-185" b="646"/>
          <a:stretch/>
        </p:blipFill>
        <p:spPr>
          <a:xfrm rot="2272541">
            <a:off x="8016359" y="3980950"/>
            <a:ext cx="934982" cy="17637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TextBox 108"/>
          <p:cNvSpPr txBox="1"/>
          <p:nvPr/>
        </p:nvSpPr>
        <p:spPr>
          <a:xfrm>
            <a:off x="311700" y="350000"/>
            <a:ext cx="8520600" cy="1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265D"/>
                </a:solidFill>
                <a:latin typeface="Etna"/>
              </a:rPr>
              <a:t>The setup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0000" y="1479749"/>
            <a:ext cx="2200000" cy="700000"/>
          </a:xfrm>
          <a:prstGeom prst="rect">
            <a:avLst/>
          </a:prstGeom>
          <a:solidFill>
            <a:srgbClr val="4FAAB3"/>
          </a:solidFill>
          <a:ln>
            <a:solidFill>
              <a:srgbClr val="4FA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Etna"/>
              </a:rPr>
              <a:t>Intervals.icu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00000" y="2400000"/>
            <a:ext cx="2200000" cy="700000"/>
          </a:xfrm>
          <a:prstGeom prst="rect">
            <a:avLst/>
          </a:prstGeom>
          <a:solidFill>
            <a:srgbClr val="10265D"/>
          </a:solidFill>
          <a:ln>
            <a:solidFill>
              <a:srgbClr val="102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Etna"/>
              </a:rPr>
              <a:t>Azure SQL DB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300000" y="2400000"/>
            <a:ext cx="2000000" cy="700000"/>
          </a:xfrm>
          <a:prstGeom prst="rect">
            <a:avLst/>
          </a:prstGeom>
          <a:solidFill>
            <a:srgbClr val="530080"/>
          </a:solidFill>
          <a:ln>
            <a:solidFill>
              <a:srgbClr val="53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Etna"/>
              </a:rPr>
              <a:t>DAB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700000" y="2400000"/>
            <a:ext cx="2700000" cy="700000"/>
          </a:xfrm>
          <a:prstGeom prst="rect">
            <a:avLst/>
          </a:prstGeom>
          <a:solidFill>
            <a:srgbClr val="4FAAB3"/>
          </a:solidFill>
          <a:ln>
            <a:solidFill>
              <a:srgbClr val="4FA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Etna"/>
              </a:rPr>
              <a:t>Wellness 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8B78B3-04DF-92D4-53EB-A06683DDA932}"/>
              </a:ext>
            </a:extLst>
          </p:cNvPr>
          <p:cNvSpPr/>
          <p:nvPr/>
        </p:nvSpPr>
        <p:spPr>
          <a:xfrm>
            <a:off x="700000" y="3320251"/>
            <a:ext cx="2200000" cy="700000"/>
          </a:xfrm>
          <a:prstGeom prst="rect">
            <a:avLst/>
          </a:prstGeom>
          <a:solidFill>
            <a:srgbClr val="4FAAB3"/>
          </a:solidFill>
          <a:ln>
            <a:solidFill>
              <a:srgbClr val="4FA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0000" tIns="60000" rIns="80000" bIns="60000" rtlCol="0" anchor="ctr"/>
          <a:lstStyle/>
          <a:p>
            <a:pPr algn="ctr"/>
            <a:r>
              <a:rPr lang="en-GB" sz="1600" b="1" dirty="0" err="1">
                <a:solidFill>
                  <a:srgbClr val="FFFFFF"/>
                </a:solidFill>
                <a:latin typeface="Etna"/>
              </a:rPr>
              <a:t>FuelGauge</a:t>
            </a:r>
            <a:endParaRPr sz="1600" b="1" dirty="0">
              <a:solidFill>
                <a:srgbClr val="FFFFFF"/>
              </a:solidFill>
              <a:latin typeface="Et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FCC31-601F-7DBA-C186-D6A579AEF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AAE72-191E-66C7-E776-6671B05DE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CF030A-CC6B-F96A-384A-B09BF595C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8069"/>
            <a:ext cx="9144000" cy="424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10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EAC5B-B2F0-8AA1-19D7-E375B810D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4D779-02A5-8942-94E3-0273B8D4A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4A1FEA-08CB-F39D-0134-6409A7B8F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56912"/>
            <a:ext cx="9144000" cy="65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25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9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TextBox 118"/>
          <p:cNvSpPr txBox="1"/>
          <p:nvPr/>
        </p:nvSpPr>
        <p:spPr>
          <a:xfrm>
            <a:off x="311700" y="350000"/>
            <a:ext cx="8520600" cy="1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265D"/>
                </a:solidFill>
                <a:latin typeface="Etna"/>
              </a:rPr>
              <a:t>Demo: Wellness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034ED1-5DD2-4E38-29DE-2E8D793B8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430" y="1018442"/>
            <a:ext cx="6423116" cy="412505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1" title="Wave.png"/>
          <p:cNvPicPr preferRelativeResize="0"/>
          <p:nvPr/>
        </p:nvPicPr>
        <p:blipFill rotWithShape="1">
          <a:blip r:embed="rId3">
            <a:alphaModFix amt="50000"/>
          </a:blip>
          <a:srcRect l="1876" r="1905" b="34193"/>
          <a:stretch/>
        </p:blipFill>
        <p:spPr>
          <a:xfrm>
            <a:off x="-3850" y="3580350"/>
            <a:ext cx="9151677" cy="15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 title="bubbles.png"/>
          <p:cNvPicPr preferRelativeResize="0"/>
          <p:nvPr/>
        </p:nvPicPr>
        <p:blipFill rotWithShape="1">
          <a:blip r:embed="rId4">
            <a:alphaModFix/>
          </a:blip>
          <a:srcRect l="40507" r="16342"/>
          <a:stretch/>
        </p:blipFill>
        <p:spPr>
          <a:xfrm rot="-300128" flipH="1">
            <a:off x="8134308" y="2606775"/>
            <a:ext cx="907418" cy="2385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 title="bubbles 2.png"/>
          <p:cNvPicPr preferRelativeResize="0"/>
          <p:nvPr/>
        </p:nvPicPr>
        <p:blipFill rotWithShape="1">
          <a:blip r:embed="rId5">
            <a:alphaModFix/>
          </a:blip>
          <a:srcRect t="47355" r="57354"/>
          <a:stretch/>
        </p:blipFill>
        <p:spPr>
          <a:xfrm rot="-9252627">
            <a:off x="216531" y="2553922"/>
            <a:ext cx="992638" cy="1446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 title="Tentacles-ind.png"/>
          <p:cNvPicPr preferRelativeResize="0"/>
          <p:nvPr/>
        </p:nvPicPr>
        <p:blipFill rotWithShape="1">
          <a:blip r:embed="rId6">
            <a:alphaModFix/>
          </a:blip>
          <a:srcRect l="14411" t="-385" r="70221" b="1552"/>
          <a:stretch/>
        </p:blipFill>
        <p:spPr>
          <a:xfrm rot="754882">
            <a:off x="80254" y="3713151"/>
            <a:ext cx="790202" cy="161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 title="Tentacles-ind.png"/>
          <p:cNvPicPr preferRelativeResize="0"/>
          <p:nvPr/>
        </p:nvPicPr>
        <p:blipFill rotWithShape="1">
          <a:blip r:embed="rId6">
            <a:alphaModFix/>
          </a:blip>
          <a:srcRect l="86642" t="-3013" r="-800" b="2237"/>
          <a:stretch/>
        </p:blipFill>
        <p:spPr>
          <a:xfrm rot="3469674" flipH="1">
            <a:off x="670980" y="4067354"/>
            <a:ext cx="727975" cy="1649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 title="Tentacles-ind.png"/>
          <p:cNvPicPr preferRelativeResize="0"/>
          <p:nvPr/>
        </p:nvPicPr>
        <p:blipFill rotWithShape="1">
          <a:blip r:embed="rId6">
            <a:alphaModFix/>
          </a:blip>
          <a:srcRect l="28611" t="257" r="50006" b="909"/>
          <a:stretch/>
        </p:blipFill>
        <p:spPr>
          <a:xfrm rot="3202202">
            <a:off x="267247" y="3999171"/>
            <a:ext cx="1099418" cy="161720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TextBox 138"/>
          <p:cNvSpPr txBox="1"/>
          <p:nvPr/>
        </p:nvSpPr>
        <p:spPr>
          <a:xfrm>
            <a:off x="311700" y="350000"/>
            <a:ext cx="8520600" cy="1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0265D"/>
                </a:solidFill>
                <a:latin typeface="Etna"/>
              </a:rPr>
              <a:t>When not to reach for DAB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11700" y="1400000"/>
            <a:ext cx="8520600" cy="2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Garet"/>
              </a:rPr>
              <a:t>Heavy business logic — keep it in the database or a real backend.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Garet"/>
              </a:rPr>
              <a:t>Public-facing at scale — auth and rate limits need real thought.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Garet"/>
              </a:rPr>
              <a:t>Shaped responses — reach for a view or a sproc.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Garet"/>
              </a:rPr>
              <a:t>Multi-tenant separation — design it into the schema.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2"/>
          <p:cNvGrpSpPr/>
          <p:nvPr/>
        </p:nvGrpSpPr>
        <p:grpSpPr>
          <a:xfrm>
            <a:off x="-3850" y="-100"/>
            <a:ext cx="4734609" cy="5143600"/>
            <a:chOff x="-3850" y="-100"/>
            <a:chExt cx="4734609" cy="5143600"/>
          </a:xfrm>
        </p:grpSpPr>
        <p:sp>
          <p:nvSpPr>
            <p:cNvPr id="144" name="Google Shape;144;p22"/>
            <p:cNvSpPr/>
            <p:nvPr/>
          </p:nvSpPr>
          <p:spPr>
            <a:xfrm>
              <a:off x="-3850" y="-100"/>
              <a:ext cx="2099400" cy="5143500"/>
            </a:xfrm>
            <a:prstGeom prst="rect">
              <a:avLst/>
            </a:prstGeom>
            <a:solidFill>
              <a:srgbClr val="DEF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2"/>
            <p:cNvSpPr/>
            <p:nvPr/>
          </p:nvSpPr>
          <p:spPr>
            <a:xfrm rot="-5400000">
              <a:off x="801692" y="1214433"/>
              <a:ext cx="5143500" cy="2714634"/>
            </a:xfrm>
            <a:prstGeom prst="flowChartDocument">
              <a:avLst/>
            </a:prstGeom>
            <a:solidFill>
              <a:srgbClr val="DEF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6" name="Google Shape;146;p22" title="Wave.png"/>
          <p:cNvPicPr preferRelativeResize="0"/>
          <p:nvPr/>
        </p:nvPicPr>
        <p:blipFill rotWithShape="1">
          <a:blip r:embed="rId3">
            <a:alphaModFix/>
          </a:blip>
          <a:srcRect l="1896" r="1886" b="41643"/>
          <a:stretch/>
        </p:blipFill>
        <p:spPr>
          <a:xfrm>
            <a:off x="-3837" y="3757275"/>
            <a:ext cx="9151677" cy="138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 title="Tentacles-ind.png"/>
          <p:cNvPicPr preferRelativeResize="0"/>
          <p:nvPr/>
        </p:nvPicPr>
        <p:blipFill rotWithShape="1">
          <a:blip r:embed="rId4">
            <a:alphaModFix/>
          </a:blip>
          <a:srcRect l="13069" t="-385" r="70220" b="1552"/>
          <a:stretch/>
        </p:blipFill>
        <p:spPr>
          <a:xfrm rot="3262027" flipH="1">
            <a:off x="469839" y="4077227"/>
            <a:ext cx="859206" cy="1617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 title="Tentacles-ind.png"/>
          <p:cNvPicPr preferRelativeResize="0"/>
          <p:nvPr/>
        </p:nvPicPr>
        <p:blipFill rotWithShape="1">
          <a:blip r:embed="rId4">
            <a:alphaModFix/>
          </a:blip>
          <a:srcRect l="86642" t="-3013" r="-800" b="2237"/>
          <a:stretch/>
        </p:blipFill>
        <p:spPr>
          <a:xfrm rot="547276">
            <a:off x="-44339" y="3663256"/>
            <a:ext cx="727970" cy="1649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 title="Tentacles-ind.png"/>
          <p:cNvPicPr preferRelativeResize="0"/>
          <p:nvPr/>
        </p:nvPicPr>
        <p:blipFill rotWithShape="1">
          <a:blip r:embed="rId4">
            <a:alphaModFix/>
          </a:blip>
          <a:srcRect l="29514" t="257" r="50007" b="909"/>
          <a:stretch/>
        </p:blipFill>
        <p:spPr>
          <a:xfrm rot="814732" flipH="1">
            <a:off x="-66655" y="3841404"/>
            <a:ext cx="1052965" cy="161718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TextBox 151"/>
          <p:cNvSpPr txBox="1"/>
          <p:nvPr/>
        </p:nvSpPr>
        <p:spPr>
          <a:xfrm>
            <a:off x="311700" y="350000"/>
            <a:ext cx="8520600" cy="10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0265D"/>
                </a:solidFill>
                <a:latin typeface="Etna"/>
              </a:rPr>
              <a:t>Resources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11700" y="1300000"/>
            <a:ext cx="8520600" cy="20467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1A"/>
                </a:solidFill>
                <a:latin typeface="Garet"/>
              </a:rPr>
              <a:t>Docs — aka.ms/dab</a:t>
            </a: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1A"/>
                </a:solidFill>
                <a:latin typeface="Garet"/>
              </a:rPr>
              <a:t>Repo — github.com/Azure/data-</a:t>
            </a:r>
            <a:r>
              <a:rPr sz="1800" b="0" dirty="0" err="1">
                <a:solidFill>
                  <a:srgbClr val="1A1A1A"/>
                </a:solidFill>
                <a:latin typeface="Garet"/>
              </a:rPr>
              <a:t>api</a:t>
            </a:r>
            <a:r>
              <a:rPr sz="1800" b="0" dirty="0">
                <a:solidFill>
                  <a:srgbClr val="1A1A1A"/>
                </a:solidFill>
                <a:latin typeface="Garet"/>
              </a:rPr>
              <a:t>-builder</a:t>
            </a: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1A"/>
                </a:solidFill>
                <a:latin typeface="Garet"/>
              </a:rPr>
              <a:t>Deck + demos — github.com/</a:t>
            </a:r>
            <a:r>
              <a:rPr sz="1800" b="0" dirty="0" err="1">
                <a:solidFill>
                  <a:srgbClr val="1A1A1A"/>
                </a:solidFill>
                <a:latin typeface="Garet"/>
              </a:rPr>
              <a:t>jpomfret</a:t>
            </a:r>
            <a:r>
              <a:rPr sz="1800" b="0" dirty="0">
                <a:solidFill>
                  <a:srgbClr val="1A1A1A"/>
                </a:solidFill>
                <a:latin typeface="Garet"/>
              </a:rPr>
              <a:t>/dab-presentation</a:t>
            </a:r>
          </a:p>
          <a:p>
            <a:pPr algn="l">
              <a:spcAft>
                <a:spcPts val="600"/>
              </a:spcAft>
            </a:pPr>
            <a:r>
              <a:rPr sz="1800" b="1" dirty="0">
                <a:solidFill>
                  <a:srgbClr val="1A1A1A"/>
                </a:solidFill>
                <a:latin typeface="Garet"/>
              </a:rPr>
              <a:t>Find me — jesspomfret.com  ·  Jess Pomfret on LinkedIn</a:t>
            </a:r>
            <a:endParaRPr lang="en-GB" sz="1800" b="1" dirty="0">
              <a:solidFill>
                <a:srgbClr val="1A1A1A"/>
              </a:solidFill>
              <a:latin typeface="Garet"/>
            </a:endParaRPr>
          </a:p>
          <a:p>
            <a:pPr algn="l">
              <a:spcAft>
                <a:spcPts val="600"/>
              </a:spcAft>
            </a:pPr>
            <a:endParaRPr sz="1800" b="1" dirty="0">
              <a:solidFill>
                <a:srgbClr val="1A1A1A"/>
              </a:solidFill>
              <a:latin typeface="Garet"/>
            </a:endParaRPr>
          </a:p>
          <a:p>
            <a:pPr algn="l">
              <a:spcAft>
                <a:spcPts val="600"/>
              </a:spcAft>
            </a:pPr>
            <a:r>
              <a:rPr sz="1800" b="0" dirty="0">
                <a:solidFill>
                  <a:srgbClr val="1A1A1A"/>
                </a:solidFill>
                <a:latin typeface="Garet"/>
              </a:rPr>
              <a:t>Watch this space for the Chase the Sun post-mortem.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Custom 1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30080"/>
      </a:accent1>
      <a:accent2>
        <a:srgbClr val="10265D"/>
      </a:accent2>
      <a:accent3>
        <a:srgbClr val="BDECFE"/>
      </a:accent3>
      <a:accent4>
        <a:srgbClr val="4FAAB3"/>
      </a:accent4>
      <a:accent5>
        <a:srgbClr val="FFFFF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E169094-0DF9-4623-971C-04B5BF1B2B65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c89d7880-8596-43bd-a86d-eaeea3bd708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2661</Words>
  <Application>Microsoft Office PowerPoint</Application>
  <PresentationFormat>On-screen Show (16:9)</PresentationFormat>
  <Paragraphs>288</Paragraphs>
  <Slides>33</Slides>
  <Notes>29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Cascadia Mono</vt:lpstr>
      <vt:lpstr>Etna</vt:lpstr>
      <vt:lpstr>Garet</vt:lpstr>
      <vt:lpstr>Simple Light</vt:lpstr>
      <vt:lpstr>Data API Builder</vt:lpstr>
      <vt:lpstr>Jess Pomfret (She/Her)</vt:lpstr>
      <vt:lpstr> if I wanted to cycle 205 miles in one day…</vt:lpstr>
      <vt:lpstr>On 20th June 2026, I'm cycling 205 miles… in one day!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Data API Builder?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Demo: dab in 2 mins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Demo: Chase the Sun tracker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Jess Pomfret</dc:creator>
  <cp:lastModifiedBy>Jess Pomfret</cp:lastModifiedBy>
  <cp:revision>10</cp:revision>
  <dcterms:modified xsi:type="dcterms:W3CDTF">2026-05-09T16:43:20Z</dcterms:modified>
</cp:coreProperties>
</file>