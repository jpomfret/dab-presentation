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2"/>
  </p:notesMasterIdLst>
  <p:sldIdLst>
    <p:sldId id="268" r:id="rId2"/>
    <p:sldId id="311" r:id="rId3"/>
    <p:sldId id="269" r:id="rId4"/>
    <p:sldId id="309" r:id="rId5"/>
    <p:sldId id="270" r:id="rId6"/>
    <p:sldId id="291" r:id="rId7"/>
    <p:sldId id="271" r:id="rId8"/>
    <p:sldId id="296" r:id="rId9"/>
    <p:sldId id="293" r:id="rId10"/>
    <p:sldId id="297" r:id="rId11"/>
    <p:sldId id="273" r:id="rId12"/>
    <p:sldId id="313" r:id="rId13"/>
    <p:sldId id="314" r:id="rId14"/>
    <p:sldId id="274" r:id="rId15"/>
    <p:sldId id="275" r:id="rId16"/>
    <p:sldId id="276" r:id="rId17"/>
    <p:sldId id="277" r:id="rId18"/>
    <p:sldId id="279" r:id="rId19"/>
    <p:sldId id="280" r:id="rId20"/>
    <p:sldId id="284" r:id="rId21"/>
    <p:sldId id="281" r:id="rId22"/>
    <p:sldId id="282" r:id="rId23"/>
    <p:sldId id="283" r:id="rId24"/>
    <p:sldId id="312" r:id="rId25"/>
    <p:sldId id="285" r:id="rId26"/>
    <p:sldId id="310" r:id="rId27"/>
    <p:sldId id="286" r:id="rId28"/>
    <p:sldId id="287" r:id="rId29"/>
    <p:sldId id="288" r:id="rId30"/>
    <p:sldId id="289" r:id="rId3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74393" autoAdjust="0"/>
  </p:normalViewPr>
  <p:slideViewPr>
    <p:cSldViewPr snapToGrid="0">
      <p:cViewPr varScale="1">
        <p:scale>
          <a:sx n="108" d="100"/>
          <a:sy n="108" d="100"/>
        </p:scale>
        <p:origin x="54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8AC2F16-8798-47F5-18F4-E5CE8718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FD642B1-38E3-814A-7F40-6AFF6F3B8F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4165065-845C-D332-A862-3DFBC758F2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Welcome. I'm Jess. Today we're going to talk about Data API Builder — but I'm going to start with a story.</a:t>
            </a:r>
          </a:p>
        </p:txBody>
      </p:sp>
    </p:spTree>
    <p:extLst>
      <p:ext uri="{BB962C8B-B14F-4D97-AF65-F5344CB8AC3E}">
        <p14:creationId xmlns:p14="http://schemas.microsoft.com/office/powerpoint/2010/main" val="7905044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 Li instructor?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88DEC1-F2AB-4DD2-8E1F-AE80EFAA403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74705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d73be8fb28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d73be8fb28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Quite a few months ago now,</a:t>
            </a:r>
          </a:p>
          <a:p>
            <a:r>
              <a:rPr lang="en-GB" dirty="0"/>
              <a:t>Pete said ‘hey does anyone want to do this’ … and I thought – what a terrible idea, absolutely not…</a:t>
            </a:r>
          </a:p>
          <a:p>
            <a:r>
              <a:rPr lang="en-GB" dirty="0"/>
              <a:t>And then… </a:t>
            </a:r>
          </a:p>
          <a:p>
            <a:r>
              <a:rPr lang="en-GB" dirty="0"/>
              <a:t>Wait a min…. 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>
          <a:extLst>
            <a:ext uri="{FF2B5EF4-FFF2-40B4-BE49-F238E27FC236}">
              <a16:creationId xmlns:a16="http://schemas.microsoft.com/office/drawing/2014/main" id="{A88CBC78-3F0F-D5EB-1A54-EC1498806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d73be8fb28_0_92:notes">
            <a:extLst>
              <a:ext uri="{FF2B5EF4-FFF2-40B4-BE49-F238E27FC236}">
                <a16:creationId xmlns:a16="http://schemas.microsoft.com/office/drawing/2014/main" id="{CE43B33A-8928-AB8A-BC6E-715E86FCB9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d73be8fb28_0_92:notes">
            <a:extLst>
              <a:ext uri="{FF2B5EF4-FFF2-40B4-BE49-F238E27FC236}">
                <a16:creationId xmlns:a16="http://schemas.microsoft.com/office/drawing/2014/main" id="{F84FB2E1-83CA-4EA2-8324-EEAA8EFEFA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Big number, sets up the bet. Pause. Let it land.</a:t>
            </a:r>
          </a:p>
        </p:txBody>
      </p:sp>
    </p:spTree>
    <p:extLst>
      <p:ext uri="{BB962C8B-B14F-4D97-AF65-F5344CB8AC3E}">
        <p14:creationId xmlns:p14="http://schemas.microsoft.com/office/powerpoint/2010/main" val="39492987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d73be8fb28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d73be8fb28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OData-style filtering. Familiar if you've used the WebAPI/OData stack before. GraphQL endpoint is exposed at /graphql.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8A5F4B9F-F6CC-B0F9-F9B2-37DEEF3DA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d73be8fb28_0_5:notes">
            <a:extLst>
              <a:ext uri="{FF2B5EF4-FFF2-40B4-BE49-F238E27FC236}">
                <a16:creationId xmlns:a16="http://schemas.microsoft.com/office/drawing/2014/main" id="{42BCA853-DE0A-D1B4-FBD0-D275941CDC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d73be8fb28_0_5:notes">
            <a:extLst>
              <a:ext uri="{FF2B5EF4-FFF2-40B4-BE49-F238E27FC236}">
                <a16:creationId xmlns:a16="http://schemas.microsoft.com/office/drawing/2014/main" id="{D1A070C7-30C2-D133-1A23-D0E46636F5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87555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73be8fb2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73be8fb2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It’s also worth saying that I have a somewhat addictive personality – which tends to mean when I’m in… I’m all in….</a:t>
            </a:r>
          </a:p>
          <a:p>
            <a:endParaRPr lang="en-GB" dirty="0"/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GB" dirty="0"/>
              <a:t>This has generated a lot of data – and I thought what better way to procrastinate writing this </a:t>
            </a:r>
            <a:r>
              <a:rPr lang="en-GB" dirty="0" err="1"/>
              <a:t>presenentation</a:t>
            </a:r>
            <a:r>
              <a:rPr lang="en-GB" dirty="0"/>
              <a:t>… than building something to solve this problem, and show how cool DAB really is – so here we are!</a:t>
            </a:r>
          </a:p>
          <a:p>
            <a:endParaRPr lang="en-GB" dirty="0"/>
          </a:p>
          <a:p>
            <a:r>
              <a:rPr lang="en-GB" dirty="0"/>
              <a:t>And when I say there has been a lot of data…</a:t>
            </a:r>
          </a:p>
          <a:p>
            <a:endParaRPr lang="en-GB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>
          <a:extLst>
            <a:ext uri="{FF2B5EF4-FFF2-40B4-BE49-F238E27FC236}">
              <a16:creationId xmlns:a16="http://schemas.microsoft.com/office/drawing/2014/main" id="{DDF1CDDD-AF23-0EB6-3181-56F9151DE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73be8fb28_0_117:notes">
            <a:extLst>
              <a:ext uri="{FF2B5EF4-FFF2-40B4-BE49-F238E27FC236}">
                <a16:creationId xmlns:a16="http://schemas.microsoft.com/office/drawing/2014/main" id="{F51F95CE-224D-0CA7-8A43-BCA6EBAA27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73be8fb28_0_117:notes">
            <a:extLst>
              <a:ext uri="{FF2B5EF4-FFF2-40B4-BE49-F238E27FC236}">
                <a16:creationId xmlns:a16="http://schemas.microsoft.com/office/drawing/2014/main" id="{FF1C531B-5F16-39CF-6AAB-0BE1E1FFAB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We’ve got sleep stats, heart rate, heart rate variability, body battery, recovery, training readiness all coming from my Garmin watch</a:t>
            </a:r>
          </a:p>
          <a:p>
            <a:pPr lvl="0"/>
            <a:r>
              <a:rPr lang="en-GB" dirty="0"/>
              <a:t>And We’ve got bike ride data coming from a Garmin edge head unit + HR strap for more accurate HR reading + power pedals – how much force I’m putting through the pedals</a:t>
            </a:r>
          </a:p>
          <a:p>
            <a:pPr lvl="0"/>
            <a:r>
              <a:rPr lang="en-GB" dirty="0"/>
              <a:t>And we’ve got weights and calories of all the food that my wife is cooking, and I’m busy eating…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The last few months have been a lot of cycling, eating, recovering… and obviously working (literally my whole team is here shh)</a:t>
            </a:r>
          </a:p>
          <a:p>
            <a:pPr lvl="0"/>
            <a:endParaRPr lang="en-GB" dirty="0"/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93367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Most of this data goes via Garmin into </a:t>
            </a:r>
            <a:r>
              <a:rPr lang="en-GB" dirty="0" err="1"/>
              <a:t>intervals.icu</a:t>
            </a:r>
            <a:r>
              <a:rPr lang="en-GB" dirty="0"/>
              <a:t> a great open source tool for training data</a:t>
            </a:r>
          </a:p>
          <a:p>
            <a:r>
              <a:rPr lang="en-GB" dirty="0"/>
              <a:t>You can also plan your training here</a:t>
            </a:r>
          </a:p>
          <a:p>
            <a:endParaRPr lang="en-GB" dirty="0"/>
          </a:p>
          <a:p>
            <a:endParaRPr lang="en-GB" dirty="0"/>
          </a:p>
          <a:p>
            <a:pPr marL="15875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83351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BAF87-BE6E-B3BF-CC72-B3B15E65C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364D99-EA0B-D2E1-B09A-7276DF1CED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3F61E5-EBA1-437C-F588-8789D7A67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And then I built my own app to track my calories consumed, it pulls in data from Garmin for my daily calories burned to make sure I’m eating enough \ not eating too much</a:t>
            </a:r>
          </a:p>
          <a:p>
            <a:endParaRPr lang="en-GB" dirty="0"/>
          </a:p>
          <a:p>
            <a:endParaRPr lang="en-GB" dirty="0"/>
          </a:p>
          <a:p>
            <a:pPr marL="15875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320341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73be8fb28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73be8fb28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GB" dirty="0"/>
          </a:p>
          <a:p>
            <a:r>
              <a:rPr lang="en-GB" dirty="0"/>
              <a:t>I want to collect my data – load it into my Azure SQL Database – we’ll use Data API Builder as the API layer</a:t>
            </a:r>
          </a:p>
          <a:p>
            <a:endParaRPr lang="en-GB" dirty="0"/>
          </a:p>
          <a:p>
            <a:r>
              <a:rPr lang="en-GB" dirty="0"/>
              <a:t>We can use DAB to create GET and POST endpoints – meaning we can get and set data using this – and it’s so simple to get it set up</a:t>
            </a:r>
          </a:p>
          <a:p>
            <a:endParaRPr lang="en-GB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73be8fb28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d73be8fb28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Single config file in JSON </a:t>
            </a:r>
          </a:p>
          <a:p>
            <a:r>
              <a:rPr lang="en-GB" dirty="0"/>
              <a:t>Tell DAB about the config file</a:t>
            </a:r>
          </a:p>
          <a:p>
            <a:r>
              <a:rPr lang="en-GB" dirty="0"/>
              <a:t>API magic</a:t>
            </a:r>
          </a:p>
          <a:p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73be8fb28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d73be8fb28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Live demo part two. Show the schedule view, walk through how planned TSS compares to actual TSS, and the projection out to 13 June.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73be8fb28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73be8fb28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Simplest setup – we have a database, we have DAB running in a container say, and then we can access the endpoints</a:t>
            </a:r>
          </a:p>
          <a:p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73be8fb28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73be8fb28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Simplest form of config</a:t>
            </a:r>
          </a:p>
          <a:p>
            <a:pPr lvl="1"/>
            <a:r>
              <a:rPr lang="en-GB" dirty="0"/>
              <a:t>Using an environment variable for the connection string</a:t>
            </a:r>
          </a:p>
          <a:p>
            <a:pPr lvl="1"/>
            <a:r>
              <a:rPr lang="en-GB" dirty="0"/>
              <a:t>Exposing one table for read (GET) access with no authentication</a:t>
            </a:r>
          </a:p>
          <a:p>
            <a:pPr lvl="1"/>
            <a:r>
              <a:rPr lang="en-GB" dirty="0"/>
              <a:t>The name of the entity ‘</a:t>
            </a:r>
            <a:r>
              <a:rPr lang="en-GB" dirty="0" err="1"/>
              <a:t>IntervalsWellness</a:t>
            </a:r>
            <a:r>
              <a:rPr lang="en-GB" dirty="0"/>
              <a:t>’ in this example will become the API endpoint</a:t>
            </a:r>
          </a:p>
          <a:p>
            <a:pPr lvl="1"/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73be8fb28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73be8fb28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I lean on views heavily. Hide the join, expose the shape the consumer needs. Sprocs are the escape hatch for anything that isn't pure CRUD.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DD0E9-B14F-2E21-1BC9-C1E6B2A06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0320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48473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" name="Google Shape;66;p14" title="Wave.png">
            <a:extLst>
              <a:ext uri="{FF2B5EF4-FFF2-40B4-BE49-F238E27FC236}">
                <a16:creationId xmlns:a16="http://schemas.microsoft.com/office/drawing/2014/main" id="{F4F64EAE-7921-4F7A-F198-C32F3F0287C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1896" r="1886" b="28947"/>
          <a:stretch/>
        </p:blipFill>
        <p:spPr>
          <a:xfrm>
            <a:off x="2145" y="3455650"/>
            <a:ext cx="9151677" cy="1687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6151D4-DB60-411B-A528-50BAE53F57B2}"/>
              </a:ext>
            </a:extLst>
          </p:cNvPr>
          <p:cNvSpPr/>
          <p:nvPr userDrawn="1"/>
        </p:nvSpPr>
        <p:spPr>
          <a:xfrm>
            <a:off x="1" y="0"/>
            <a:ext cx="3790536" cy="509504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60309D-55BA-4D22-AAD6-E5A0B50ECF2B}"/>
              </a:ext>
            </a:extLst>
          </p:cNvPr>
          <p:cNvCxnSpPr>
            <a:cxnSpLocks/>
          </p:cNvCxnSpPr>
          <p:nvPr userDrawn="1"/>
        </p:nvCxnSpPr>
        <p:spPr>
          <a:xfrm>
            <a:off x="-3591" y="1247614"/>
            <a:ext cx="3794128" cy="0"/>
          </a:xfrm>
          <a:prstGeom prst="line">
            <a:avLst/>
          </a:prstGeom>
          <a:ln w="762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49088"/>
            <a:ext cx="5028008" cy="4246700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6F7AEB39-490D-4470-BB4F-F7E09AA2B52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7685D492-989E-4C18-9C16-618523FA8F8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7EFE7-5B1E-4F40-811D-08FCD8D618DD}"/>
              </a:ext>
            </a:extLst>
          </p:cNvPr>
          <p:cNvSpPr/>
          <p:nvPr userDrawn="1"/>
        </p:nvSpPr>
        <p:spPr>
          <a:xfrm>
            <a:off x="0" y="4676767"/>
            <a:ext cx="9147590" cy="46857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B38A53-4A23-41D0-8BA1-0FA329586176}"/>
              </a:ext>
            </a:extLst>
          </p:cNvPr>
          <p:cNvSpPr txBox="1"/>
          <p:nvPr userDrawn="1"/>
        </p:nvSpPr>
        <p:spPr>
          <a:xfrm>
            <a:off x="3872435" y="4780327"/>
            <a:ext cx="13955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/>
                </a:solidFill>
              </a:rPr>
              <a:t>JessPomfret.com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9766BB-530B-4DC7-AD7C-CC8099056C53}"/>
              </a:ext>
            </a:extLst>
          </p:cNvPr>
          <p:cNvSpPr txBox="1"/>
          <p:nvPr userDrawn="1"/>
        </p:nvSpPr>
        <p:spPr>
          <a:xfrm>
            <a:off x="6595888" y="4789565"/>
            <a:ext cx="23195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dirty="0">
                <a:solidFill>
                  <a:schemeClr val="bg1"/>
                </a:solidFill>
              </a:rPr>
              <a:t>jpomfret7@gmail.com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5E0488E-0427-43E8-BBA5-D99047E55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539" y="149088"/>
            <a:ext cx="3340480" cy="105479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E8AD4E-3E68-45C9-8E82-47CD85003D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38539" y="1343400"/>
            <a:ext cx="3340480" cy="3058341"/>
          </a:xfrm>
        </p:spPr>
        <p:txBody>
          <a:bodyPr/>
          <a:lstStyle>
            <a:lvl1pPr marL="0" indent="0">
              <a:buNone/>
              <a:defRPr sz="120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DBCFCE-7AC5-DF08-B76C-5409937C4E5A}"/>
              </a:ext>
            </a:extLst>
          </p:cNvPr>
          <p:cNvSpPr txBox="1"/>
          <p:nvPr userDrawn="1"/>
        </p:nvSpPr>
        <p:spPr>
          <a:xfrm>
            <a:off x="387922" y="4784094"/>
            <a:ext cx="15983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err="1">
                <a:solidFill>
                  <a:schemeClr val="bg1"/>
                </a:solidFill>
              </a:rPr>
              <a:t>jpomfret</a:t>
            </a:r>
            <a:endParaRPr lang="en-US" sz="1050" dirty="0">
              <a:solidFill>
                <a:schemeClr val="bg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6B5D76B-9DC3-A1CB-6DE1-8FEDC14AC2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57664" y="4838648"/>
            <a:ext cx="167961" cy="155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014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29768075-4408-C9DE-7541-FF79A785C69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44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algn="l"/>
            <a:r>
              <a:rPr sz="4800" b="1">
                <a:solidFill>
                  <a:srgbClr val="10265D"/>
                </a:solidFill>
                <a:latin typeface="Etna"/>
              </a:rPr>
              <a:t>Data API Builder</a:t>
            </a:r>
            <a:endParaRPr lang="en-GB" dirty="0"/>
          </a:p>
        </p:txBody>
      </p:sp>
      <p:pic>
        <p:nvPicPr>
          <p:cNvPr id="55" name="Google Shape;55;p13" title="Wave.png">
            <a:extLst>
              <a:ext uri="{FF2B5EF4-FFF2-40B4-BE49-F238E27FC236}">
                <a16:creationId xmlns:a16="http://schemas.microsoft.com/office/drawing/2014/main" id="{7851F0E5-F47D-8BDA-4596-7D01B4A099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876" r="1905" b="6209"/>
          <a:stretch/>
        </p:blipFill>
        <p:spPr>
          <a:xfrm>
            <a:off x="-7675" y="2571750"/>
            <a:ext cx="9151677" cy="25770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>
            <a:extLst>
              <a:ext uri="{FF2B5EF4-FFF2-40B4-BE49-F238E27FC236}">
                <a16:creationId xmlns:a16="http://schemas.microsoft.com/office/drawing/2014/main" id="{249B031B-D21C-F914-51F5-761F281ED9D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1908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algn="l"/>
            <a:r>
              <a:rPr sz="2200">
                <a:solidFill>
                  <a:srgbClr val="530080"/>
                </a:solidFill>
                <a:latin typeface="Garet"/>
              </a:rPr>
              <a:t>Create an API for your database in seconds</a:t>
            </a:r>
            <a:endParaRPr lang="en-GB" dirty="0"/>
          </a:p>
          <a:p>
            <a:pPr algn="l">
              <a:spcBef>
                <a:spcPts val="800"/>
              </a:spcBef>
            </a:pPr>
            <a:r>
              <a:rPr sz="1600">
                <a:solidFill>
                  <a:srgbClr val="4FAAB3"/>
                </a:solidFill>
                <a:latin typeface="Garet"/>
              </a:rPr>
              <a:t>Jess Pomfret  ·  datagrillen 2026</a:t>
            </a:r>
          </a:p>
        </p:txBody>
      </p:sp>
      <p:pic>
        <p:nvPicPr>
          <p:cNvPr id="2" name="Google Shape;70;p14" title="Tentacles.png">
            <a:extLst>
              <a:ext uri="{FF2B5EF4-FFF2-40B4-BE49-F238E27FC236}">
                <a16:creationId xmlns:a16="http://schemas.microsoft.com/office/drawing/2014/main" id="{1080E83B-07FF-BC83-703F-084068A6CC2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117765" y="3824371"/>
            <a:ext cx="2514600" cy="13191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E9CB3-7382-4630-9D25-124626170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539" y="149088"/>
            <a:ext cx="3340480" cy="954884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b="1" dirty="0">
                <a:solidFill>
                  <a:srgbClr val="10265D"/>
                </a:solidFill>
                <a:latin typeface="Etna"/>
              </a:rPr>
              <a:t>Jess Pomfret</a:t>
            </a:r>
          </a:p>
          <a:p>
            <a:pPr algn="l"/>
            <a:r>
              <a:rPr lang="en-US" sz="1800" dirty="0">
                <a:solidFill>
                  <a:schemeClr val="accent2"/>
                </a:solidFill>
                <a:latin typeface="Garet"/>
              </a:rPr>
              <a:t>(She/Her)</a:t>
            </a:r>
          </a:p>
        </p:txBody>
      </p: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DC714AD4-83A8-4057-BC8E-2D231207D3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2991" y="3048104"/>
            <a:ext cx="972519" cy="1539821"/>
          </a:xfrm>
          <a:prstGeom prst="rect">
            <a:avLst/>
          </a:prstGeom>
        </p:spPr>
      </p:pic>
      <p:pic>
        <p:nvPicPr>
          <p:cNvPr id="6" name="Picture 5" descr="A person smiling for a picture&#10;&#10;AI-generated content may be incorrect.">
            <a:extLst>
              <a:ext uri="{FF2B5EF4-FFF2-40B4-BE49-F238E27FC236}">
                <a16:creationId xmlns:a16="http://schemas.microsoft.com/office/drawing/2014/main" id="{1FDAF9AD-CE55-000A-47C3-57C965972D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539" y="1455486"/>
            <a:ext cx="3218688" cy="3218688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1A60581-8059-605C-38CC-3A7FBE9F32A9}"/>
              </a:ext>
            </a:extLst>
          </p:cNvPr>
          <p:cNvSpPr txBox="1">
            <a:spLocks/>
          </p:cNvSpPr>
          <p:nvPr/>
        </p:nvSpPr>
        <p:spPr>
          <a:xfrm>
            <a:off x="3887391" y="1197429"/>
            <a:ext cx="4213667" cy="3390496"/>
          </a:xfrm>
          <a:prstGeom prst="rect">
            <a:avLst/>
          </a:prstGeom>
        </p:spPr>
        <p:txBody>
          <a:bodyPr vert="horz" lIns="68580" tIns="34290" rIns="68580" bIns="34290" rtlCol="0" anchor="t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/>
              <a:buChar char="•"/>
            </a:pPr>
            <a:r>
              <a:rPr lang="en-US" sz="2000" dirty="0">
                <a:solidFill>
                  <a:srgbClr val="10265D"/>
                </a:solidFill>
                <a:latin typeface="Garet"/>
              </a:rPr>
              <a:t>Data Platform Engineer</a:t>
            </a:r>
          </a:p>
          <a:p>
            <a:pPr marL="342900" indent="-342900">
              <a:buFont typeface="Arial"/>
              <a:buChar char="•"/>
            </a:pPr>
            <a:r>
              <a:rPr lang="en-US" sz="2000" dirty="0">
                <a:solidFill>
                  <a:srgbClr val="10265D"/>
                </a:solidFill>
                <a:latin typeface="Garet"/>
              </a:rPr>
              <a:t>LinkedIn Learning Instructor</a:t>
            </a:r>
          </a:p>
          <a:p>
            <a:pPr marL="342900" indent="-342900">
              <a:buFont typeface="Arial"/>
              <a:buChar char="•"/>
            </a:pPr>
            <a:r>
              <a:rPr lang="en-US" sz="2000" dirty="0">
                <a:solidFill>
                  <a:srgbClr val="10265D"/>
                </a:solidFill>
                <a:latin typeface="Garet"/>
              </a:rPr>
              <a:t>Open Source Contributor</a:t>
            </a:r>
          </a:p>
          <a:p>
            <a:pPr marL="685800" lvl="1" indent="-342900">
              <a:buFont typeface="Arial"/>
              <a:buChar char="•"/>
            </a:pPr>
            <a:r>
              <a:rPr lang="en-US" sz="1700" dirty="0">
                <a:solidFill>
                  <a:schemeClr val="accent2"/>
                </a:solidFill>
                <a:latin typeface="Garet"/>
              </a:rPr>
              <a:t>dbatools, MicrosoftFabricMgmt</a:t>
            </a:r>
          </a:p>
          <a:p>
            <a:pPr marL="342900" indent="-342900">
              <a:buFont typeface="Arial"/>
              <a:buChar char="•"/>
            </a:pPr>
            <a:r>
              <a:rPr lang="en-US" sz="2000" dirty="0">
                <a:solidFill>
                  <a:srgbClr val="10265D"/>
                </a:solidFill>
                <a:latin typeface="Garet"/>
              </a:rPr>
              <a:t>Passionate about Automation, Proper Football &amp; Fitness</a:t>
            </a:r>
          </a:p>
          <a:p>
            <a:pPr>
              <a:buNone/>
            </a:pPr>
            <a:endParaRPr lang="en-US" sz="1200" dirty="0"/>
          </a:p>
          <a:p>
            <a:pPr>
              <a:buNone/>
            </a:pPr>
            <a:r>
              <a:rPr lang="en-US" sz="1600" dirty="0">
                <a:solidFill>
                  <a:schemeClr val="accent2"/>
                </a:solidFill>
                <a:latin typeface="Garet"/>
              </a:rPr>
              <a:t>jpomfret7@gmail.com</a:t>
            </a:r>
          </a:p>
          <a:p>
            <a:pPr>
              <a:buNone/>
            </a:pPr>
            <a:r>
              <a:rPr lang="en-US" sz="1600" dirty="0">
                <a:solidFill>
                  <a:schemeClr val="accent2"/>
                </a:solidFill>
                <a:latin typeface="Garet"/>
              </a:rPr>
              <a:t>jesspomfret.com</a:t>
            </a:r>
          </a:p>
          <a:p>
            <a:pPr>
              <a:buNone/>
            </a:pPr>
            <a:r>
              <a:rPr lang="en-US" sz="1600" dirty="0">
                <a:solidFill>
                  <a:schemeClr val="accent2"/>
                </a:solidFill>
                <a:latin typeface="Garet"/>
              </a:rPr>
              <a:t>linkedin.com/in/jpomfret/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0BA7A62-ABC3-F587-3BC6-43423ED040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427" y="134084"/>
            <a:ext cx="2618870" cy="571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36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/>
          <p:nvPr/>
        </p:nvSpPr>
        <p:spPr>
          <a:xfrm rot="10800000" flipH="1">
            <a:off x="-9816" y="2428866"/>
            <a:ext cx="9163638" cy="2714634"/>
          </a:xfrm>
          <a:prstGeom prst="flowChartDocument">
            <a:avLst/>
          </a:prstGeom>
          <a:solidFill>
            <a:srgbClr val="DEF5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14" title="Wave.png"/>
          <p:cNvPicPr preferRelativeResize="0"/>
          <p:nvPr/>
        </p:nvPicPr>
        <p:blipFill rotWithShape="1">
          <a:blip r:embed="rId3">
            <a:alphaModFix/>
          </a:blip>
          <a:srcRect l="1896" r="1886" b="28947"/>
          <a:stretch/>
        </p:blipFill>
        <p:spPr>
          <a:xfrm>
            <a:off x="2145" y="3455650"/>
            <a:ext cx="9151677" cy="168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Tentacle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64377" y="3364666"/>
            <a:ext cx="3406625" cy="178707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44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b="1" dirty="0">
                <a:solidFill>
                  <a:srgbClr val="10265D"/>
                </a:solidFill>
                <a:latin typeface="Etna"/>
              </a:rPr>
              <a:t>One day someone asked me if I wanted to cycle 205 miles in one day…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67802-AB0B-F549-635E-9BF55181D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>
            <a:extLst>
              <a:ext uri="{FF2B5EF4-FFF2-40B4-BE49-F238E27FC236}">
                <a16:creationId xmlns:a16="http://schemas.microsoft.com/office/drawing/2014/main" id="{830D509F-5B67-D4D1-B023-3DF4609895FA}"/>
              </a:ext>
            </a:extLst>
          </p:cNvPr>
          <p:cNvSpPr/>
          <p:nvPr/>
        </p:nvSpPr>
        <p:spPr>
          <a:xfrm rot="10800000" flipH="1">
            <a:off x="-9816" y="2428866"/>
            <a:ext cx="9163638" cy="2714634"/>
          </a:xfrm>
          <a:prstGeom prst="flowChartDocument">
            <a:avLst/>
          </a:prstGeom>
          <a:solidFill>
            <a:srgbClr val="DEF5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14" title="Wave.png">
            <a:extLst>
              <a:ext uri="{FF2B5EF4-FFF2-40B4-BE49-F238E27FC236}">
                <a16:creationId xmlns:a16="http://schemas.microsoft.com/office/drawing/2014/main" id="{D0423DF8-6803-62F5-0378-AE40B03A37F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896" r="1886" b="28947"/>
          <a:stretch/>
        </p:blipFill>
        <p:spPr>
          <a:xfrm>
            <a:off x="-3850" y="3455650"/>
            <a:ext cx="9151677" cy="168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Tentacles.png">
            <a:extLst>
              <a:ext uri="{FF2B5EF4-FFF2-40B4-BE49-F238E27FC236}">
                <a16:creationId xmlns:a16="http://schemas.microsoft.com/office/drawing/2014/main" id="{BC37F823-ECD9-BD19-E586-D7E3FAEE4F7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64377" y="3364666"/>
            <a:ext cx="3406625" cy="178707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>
            <a:extLst>
              <a:ext uri="{FF2B5EF4-FFF2-40B4-BE49-F238E27FC236}">
                <a16:creationId xmlns:a16="http://schemas.microsoft.com/office/drawing/2014/main" id="{A103968F-0BA7-6A49-DA4F-49EC41980BB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44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4000" b="1" dirty="0">
                <a:solidFill>
                  <a:srgbClr val="10265D"/>
                </a:solidFill>
                <a:latin typeface="Etna"/>
              </a:rPr>
              <a:t>On </a:t>
            </a:r>
            <a:r>
              <a:rPr lang="en-GB" sz="4000" b="1" dirty="0">
                <a:solidFill>
                  <a:srgbClr val="10265D"/>
                </a:solidFill>
                <a:latin typeface="Etna"/>
              </a:rPr>
              <a:t>20</a:t>
            </a:r>
            <a:r>
              <a:rPr lang="en-GB" sz="4000" b="1" baseline="30000" dirty="0">
                <a:solidFill>
                  <a:srgbClr val="10265D"/>
                </a:solidFill>
                <a:latin typeface="Etna"/>
              </a:rPr>
              <a:t>th</a:t>
            </a:r>
            <a:r>
              <a:rPr lang="en-GB" sz="4000" b="1" dirty="0">
                <a:solidFill>
                  <a:srgbClr val="10265D"/>
                </a:solidFill>
                <a:latin typeface="Etna"/>
              </a:rPr>
              <a:t> </a:t>
            </a:r>
            <a:r>
              <a:rPr sz="4000" b="1" dirty="0">
                <a:solidFill>
                  <a:srgbClr val="10265D"/>
                </a:solidFill>
                <a:latin typeface="Etna"/>
              </a:rPr>
              <a:t>June, I'm cycling 205 miles.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46054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5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TextBox 80"/>
          <p:cNvSpPr txBox="1"/>
          <p:nvPr/>
        </p:nvSpPr>
        <p:spPr>
          <a:xfrm>
            <a:off x="311700" y="350000"/>
            <a:ext cx="85206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10265D"/>
                </a:solidFill>
                <a:latin typeface="Etna"/>
              </a:rPr>
              <a:t>Chase the Sun</a:t>
            </a:r>
            <a:r>
              <a:rPr lang="en-GB" sz="4000" b="1" dirty="0">
                <a:solidFill>
                  <a:srgbClr val="10265D"/>
                </a:solidFill>
                <a:latin typeface="Etna"/>
              </a:rPr>
              <a:t> 2026</a:t>
            </a:r>
            <a:endParaRPr sz="4000" b="1" dirty="0">
              <a:solidFill>
                <a:srgbClr val="10265D"/>
              </a:solidFill>
              <a:latin typeface="Etna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311700" y="1500000"/>
            <a:ext cx="8520600" cy="10772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dirty="0">
                <a:solidFill>
                  <a:srgbClr val="1A1A1A"/>
                </a:solidFill>
                <a:latin typeface="Garet"/>
              </a:rPr>
              <a:t>205 miles. Minster-on-Sea </a:t>
            </a:r>
            <a:r>
              <a:rPr lang="en-GB" sz="2000" b="1" dirty="0">
                <a:solidFill>
                  <a:srgbClr val="1A1A1A"/>
                </a:solidFill>
                <a:latin typeface="Garet"/>
              </a:rPr>
              <a:t>to Weston-Super-Mare.</a:t>
            </a:r>
            <a:endParaRPr sz="2000" b="1" dirty="0">
              <a:solidFill>
                <a:srgbClr val="1A1A1A"/>
              </a:solidFill>
              <a:latin typeface="Garet"/>
            </a:endParaRPr>
          </a:p>
          <a:p>
            <a:pPr algn="l">
              <a:spcAft>
                <a:spcPts val="600"/>
              </a:spcAft>
            </a:pPr>
            <a:r>
              <a:rPr sz="2000" b="0" dirty="0">
                <a:solidFill>
                  <a:srgbClr val="1A1A1A"/>
                </a:solidFill>
                <a:latin typeface="Garet"/>
              </a:rPr>
              <a:t>Sunrise to sunset. One day. Coast to coast.</a:t>
            </a:r>
          </a:p>
          <a:p>
            <a:pPr algn="l">
              <a:spcAft>
                <a:spcPts val="600"/>
              </a:spcAft>
            </a:pPr>
            <a:r>
              <a:rPr lang="en-GB" sz="2000" b="0" dirty="0">
                <a:solidFill>
                  <a:srgbClr val="1A1A1A"/>
                </a:solidFill>
                <a:latin typeface="Garet"/>
              </a:rPr>
              <a:t>3 days after</a:t>
            </a:r>
            <a:r>
              <a:rPr sz="2000" b="0" dirty="0">
                <a:solidFill>
                  <a:srgbClr val="1A1A1A"/>
                </a:solidFill>
                <a:latin typeface="Garet"/>
              </a:rPr>
              <a:t> my 40th birthday.</a:t>
            </a:r>
            <a:endParaRPr lang="en-GB" sz="2000" b="0" dirty="0">
              <a:solidFill>
                <a:srgbClr val="1A1A1A"/>
              </a:solidFill>
              <a:latin typeface="Gare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92058-1FE5-97EA-DB80-0381A1285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5" title="Wave.png">
            <a:extLst>
              <a:ext uri="{FF2B5EF4-FFF2-40B4-BE49-F238E27FC236}">
                <a16:creationId xmlns:a16="http://schemas.microsoft.com/office/drawing/2014/main" id="{BBE1093E-2956-9BB2-B7F3-B83A82F5A3E3}"/>
              </a:ext>
            </a:extLst>
          </p:cNvPr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711F962-A36A-481E-9D1D-B915315EFD62}"/>
              </a:ext>
            </a:extLst>
          </p:cNvPr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10265D"/>
                </a:solidFill>
                <a:latin typeface="Etna"/>
              </a:rPr>
              <a:t>Chase the Sun</a:t>
            </a:r>
          </a:p>
        </p:txBody>
      </p:sp>
      <p:pic>
        <p:nvPicPr>
          <p:cNvPr id="1026" name="Picture 2" descr="Chase The Sun South detailed route map from Minster-on-sea to Weston-Super-Mare cycling challenge.">
            <a:extLst>
              <a:ext uri="{FF2B5EF4-FFF2-40B4-BE49-F238E27FC236}">
                <a16:creationId xmlns:a16="http://schemas.microsoft.com/office/drawing/2014/main" id="{1153E8FF-6105-5515-1BEA-22891725C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00" y="120772"/>
            <a:ext cx="8520620" cy="3687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B71D494C-8097-C693-0B43-C5A7F7A07C61}"/>
              </a:ext>
            </a:extLst>
          </p:cNvPr>
          <p:cNvSpPr txBox="1"/>
          <p:nvPr/>
        </p:nvSpPr>
        <p:spPr>
          <a:xfrm>
            <a:off x="1010873" y="3500825"/>
            <a:ext cx="7122254" cy="307777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dirty="0">
                <a:solidFill>
                  <a:srgbClr val="1A1A1A"/>
                </a:solidFill>
                <a:latin typeface="Garet"/>
              </a:rPr>
              <a:t>One small problem — I </a:t>
            </a:r>
            <a:r>
              <a:rPr lang="en-GB" sz="2000" b="0" dirty="0">
                <a:solidFill>
                  <a:srgbClr val="1A1A1A"/>
                </a:solidFill>
                <a:latin typeface="Garet"/>
              </a:rPr>
              <a:t>have to</a:t>
            </a:r>
            <a:r>
              <a:rPr sz="2000" b="0" dirty="0">
                <a:solidFill>
                  <a:srgbClr val="1A1A1A"/>
                </a:solidFill>
                <a:latin typeface="Garet"/>
              </a:rPr>
              <a:t> get there. Trained. Fed. In one piece.</a:t>
            </a:r>
          </a:p>
        </p:txBody>
      </p:sp>
    </p:spTree>
    <p:extLst>
      <p:ext uri="{BB962C8B-B14F-4D97-AF65-F5344CB8AC3E}">
        <p14:creationId xmlns:p14="http://schemas.microsoft.com/office/powerpoint/2010/main" val="2359891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6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6" title="bubbles 2.png"/>
          <p:cNvPicPr preferRelativeResize="0"/>
          <p:nvPr/>
        </p:nvPicPr>
        <p:blipFill rotWithShape="1">
          <a:blip r:embed="rId4">
            <a:alphaModFix/>
          </a:blip>
          <a:srcRect l="15139" t="47353" r="57355" b="19349"/>
          <a:stretch/>
        </p:blipFill>
        <p:spPr>
          <a:xfrm rot="742634">
            <a:off x="183865" y="3325606"/>
            <a:ext cx="711448" cy="1017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6" title="bubbles.png"/>
          <p:cNvPicPr preferRelativeResize="0"/>
          <p:nvPr/>
        </p:nvPicPr>
        <p:blipFill rotWithShape="1">
          <a:blip r:embed="rId5">
            <a:alphaModFix/>
          </a:blip>
          <a:srcRect l="40505" r="29998"/>
          <a:stretch/>
        </p:blipFill>
        <p:spPr>
          <a:xfrm>
            <a:off x="8489514" y="1887525"/>
            <a:ext cx="620274" cy="2385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 title="bubbles 2.png"/>
          <p:cNvPicPr preferRelativeResize="0"/>
          <p:nvPr/>
        </p:nvPicPr>
        <p:blipFill rotWithShape="1">
          <a:blip r:embed="rId4">
            <a:alphaModFix/>
          </a:blip>
          <a:srcRect r="57354" b="65392"/>
          <a:stretch/>
        </p:blipFill>
        <p:spPr>
          <a:xfrm rot="-308349">
            <a:off x="252920" y="268715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 title="Octopu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376300">
            <a:off x="7587669" y="3744539"/>
            <a:ext cx="1341412" cy="134142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extBox 89"/>
          <p:cNvSpPr txBox="1"/>
          <p:nvPr/>
        </p:nvSpPr>
        <p:spPr>
          <a:xfrm>
            <a:off x="311700" y="350000"/>
            <a:ext cx="852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3600" b="1" dirty="0">
                <a:solidFill>
                  <a:srgbClr val="10265D"/>
                </a:solidFill>
                <a:latin typeface="Etna"/>
              </a:rPr>
              <a:t>This has generated a lot of data</a:t>
            </a:r>
            <a:endParaRPr sz="3600" b="1" dirty="0">
              <a:solidFill>
                <a:srgbClr val="10265D"/>
              </a:solidFill>
              <a:latin typeface="Etna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311700" y="1500000"/>
            <a:ext cx="8520600" cy="10772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dirty="0">
                <a:solidFill>
                  <a:srgbClr val="1A1A1A"/>
                </a:solidFill>
                <a:latin typeface="Garet"/>
              </a:rPr>
              <a:t>Heart rate, power, sleep, HRV, RPE, fueling.</a:t>
            </a:r>
          </a:p>
          <a:p>
            <a:pPr algn="l">
              <a:spcAft>
                <a:spcPts val="600"/>
              </a:spcAft>
            </a:pPr>
            <a:r>
              <a:rPr lang="en-GB" sz="2000" b="0" dirty="0">
                <a:solidFill>
                  <a:srgbClr val="1A1A1A"/>
                </a:solidFill>
                <a:latin typeface="Garet"/>
              </a:rPr>
              <a:t>Many devices. Many Apps</a:t>
            </a:r>
            <a:r>
              <a:rPr sz="2000" b="0" dirty="0">
                <a:solidFill>
                  <a:srgbClr val="1A1A1A"/>
                </a:solidFill>
                <a:latin typeface="Garet"/>
              </a:rPr>
              <a:t>. No shared view. No way to query it together.</a:t>
            </a:r>
          </a:p>
          <a:p>
            <a:pPr algn="l">
              <a:spcAft>
                <a:spcPts val="600"/>
              </a:spcAft>
            </a:pPr>
            <a:r>
              <a:rPr sz="2000" b="0" dirty="0">
                <a:solidFill>
                  <a:srgbClr val="1A1A1A"/>
                </a:solidFill>
                <a:latin typeface="Garet"/>
              </a:rPr>
              <a:t>I'm a </a:t>
            </a:r>
            <a:r>
              <a:rPr lang="en-GB" sz="2000" b="0" dirty="0">
                <a:solidFill>
                  <a:srgbClr val="1A1A1A"/>
                </a:solidFill>
                <a:latin typeface="Garet"/>
              </a:rPr>
              <a:t>data nerd</a:t>
            </a:r>
            <a:r>
              <a:rPr sz="2000" b="0" dirty="0">
                <a:solidFill>
                  <a:srgbClr val="1A1A1A"/>
                </a:solidFill>
                <a:latin typeface="Garet"/>
              </a:rPr>
              <a:t>. I want it in my database.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AB019-52A5-1E63-3C7E-0B252B348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6" title="Wave.png">
            <a:extLst>
              <a:ext uri="{FF2B5EF4-FFF2-40B4-BE49-F238E27FC236}">
                <a16:creationId xmlns:a16="http://schemas.microsoft.com/office/drawing/2014/main" id="{6DD976CD-26E8-FEFB-3ADD-9216433ED1B2}"/>
              </a:ext>
            </a:extLst>
          </p:cNvPr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6" title="bubbles 2.png">
            <a:extLst>
              <a:ext uri="{FF2B5EF4-FFF2-40B4-BE49-F238E27FC236}">
                <a16:creationId xmlns:a16="http://schemas.microsoft.com/office/drawing/2014/main" id="{593AA662-160E-7C89-B90B-D40EFCF5778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15139" t="47353" r="57355" b="19349"/>
          <a:stretch/>
        </p:blipFill>
        <p:spPr>
          <a:xfrm rot="742634">
            <a:off x="183865" y="3325606"/>
            <a:ext cx="711448" cy="1017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6" title="bubbles.png">
            <a:extLst>
              <a:ext uri="{FF2B5EF4-FFF2-40B4-BE49-F238E27FC236}">
                <a16:creationId xmlns:a16="http://schemas.microsoft.com/office/drawing/2014/main" id="{ACA7499B-15BC-2D04-9FC0-0AE1861D253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40505" r="29998"/>
          <a:stretch/>
        </p:blipFill>
        <p:spPr>
          <a:xfrm>
            <a:off x="8489514" y="1887525"/>
            <a:ext cx="620274" cy="2385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 title="bubbles 2.png">
            <a:extLst>
              <a:ext uri="{FF2B5EF4-FFF2-40B4-BE49-F238E27FC236}">
                <a16:creationId xmlns:a16="http://schemas.microsoft.com/office/drawing/2014/main" id="{19F2B084-3CC9-B27A-8026-052E2FECDB4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r="57354" b="65392"/>
          <a:stretch/>
        </p:blipFill>
        <p:spPr>
          <a:xfrm rot="-308349">
            <a:off x="252920" y="268715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 title="Octopus.png">
            <a:extLst>
              <a:ext uri="{FF2B5EF4-FFF2-40B4-BE49-F238E27FC236}">
                <a16:creationId xmlns:a16="http://schemas.microsoft.com/office/drawing/2014/main" id="{AF969701-C066-F06F-52F1-14A402F186F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376300">
            <a:off x="7587669" y="3744539"/>
            <a:ext cx="1341412" cy="134142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extBox 89">
            <a:extLst>
              <a:ext uri="{FF2B5EF4-FFF2-40B4-BE49-F238E27FC236}">
                <a16:creationId xmlns:a16="http://schemas.microsoft.com/office/drawing/2014/main" id="{74B841DA-BFDA-074C-65FC-A45E2F333025}"/>
              </a:ext>
            </a:extLst>
          </p:cNvPr>
          <p:cNvSpPr txBox="1"/>
          <p:nvPr/>
        </p:nvSpPr>
        <p:spPr>
          <a:xfrm>
            <a:off x="311700" y="350000"/>
            <a:ext cx="852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3600" b="1" dirty="0">
                <a:solidFill>
                  <a:srgbClr val="10265D"/>
                </a:solidFill>
                <a:latin typeface="Etna"/>
              </a:rPr>
              <a:t>No… like A LOT of data</a:t>
            </a:r>
            <a:endParaRPr sz="3600" b="1" dirty="0">
              <a:solidFill>
                <a:srgbClr val="10265D"/>
              </a:solidFill>
              <a:latin typeface="Etna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9C5FC6-B8C8-A158-2EDC-49614EF82A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700" y="1214785"/>
            <a:ext cx="1750845" cy="15401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F9878DC-1B8E-90A0-861B-92C571C6A4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5234" y="2799143"/>
            <a:ext cx="1151555" cy="11498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AFA22D1-253F-3D51-05D0-02995B1E995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38996" y="1159851"/>
            <a:ext cx="963889" cy="154018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D72D87-783E-EDAF-877A-A78C3803898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7882" y="1136705"/>
            <a:ext cx="1758147" cy="15016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C30222-1EEE-E733-14CA-3B718E72835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49147" y="758357"/>
            <a:ext cx="1800027" cy="319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867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A0FC571-2881-2BE1-A064-3517F7C5C22E}"/>
              </a:ext>
            </a:extLst>
          </p:cNvPr>
          <p:cNvSpPr txBox="1"/>
          <p:nvPr/>
        </p:nvSpPr>
        <p:spPr>
          <a:xfrm>
            <a:off x="311700" y="402172"/>
            <a:ext cx="85206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4000" b="1" dirty="0" err="1">
                <a:solidFill>
                  <a:srgbClr val="10265D"/>
                </a:solidFill>
                <a:latin typeface="Etna"/>
              </a:rPr>
              <a:t>Intervals.icu</a:t>
            </a:r>
            <a:endParaRPr sz="4000" b="1" dirty="0">
              <a:solidFill>
                <a:srgbClr val="10265D"/>
              </a:solidFill>
              <a:latin typeface="Etna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C9894B5-3F07-E5F6-5ADE-70D67F1F42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3218"/>
            <a:ext cx="9144000" cy="4540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100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2EA8E-AB57-A334-D89A-0A1056B71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908824-C035-D708-618B-32016397A9D1}"/>
              </a:ext>
            </a:extLst>
          </p:cNvPr>
          <p:cNvSpPr txBox="1"/>
          <p:nvPr/>
        </p:nvSpPr>
        <p:spPr>
          <a:xfrm>
            <a:off x="311700" y="402172"/>
            <a:ext cx="85206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4000" b="1" dirty="0" err="1">
                <a:solidFill>
                  <a:srgbClr val="10265D"/>
                </a:solidFill>
                <a:latin typeface="Etna"/>
              </a:rPr>
              <a:t>FuelGauge</a:t>
            </a:r>
            <a:endParaRPr sz="4000" b="1" dirty="0">
              <a:solidFill>
                <a:srgbClr val="10265D"/>
              </a:solidFill>
              <a:latin typeface="Etn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084D70-49FD-CB6C-7AA4-285C269E3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2682" y="0"/>
            <a:ext cx="3021318" cy="51435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B493FE-E56D-E7B7-CCBD-3746DEA063EC}"/>
              </a:ext>
            </a:extLst>
          </p:cNvPr>
          <p:cNvSpPr txBox="1"/>
          <p:nvPr/>
        </p:nvSpPr>
        <p:spPr>
          <a:xfrm>
            <a:off x="311700" y="1500000"/>
            <a:ext cx="2649614" cy="16927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2000" b="1" dirty="0">
                <a:solidFill>
                  <a:srgbClr val="1A1A1A"/>
                </a:solidFill>
                <a:latin typeface="Garet"/>
              </a:rPr>
              <a:t>Home grown app</a:t>
            </a:r>
          </a:p>
          <a:p>
            <a:pPr algn="l">
              <a:spcAft>
                <a:spcPts val="600"/>
              </a:spcAft>
            </a:pPr>
            <a:r>
              <a:rPr lang="en-GB" sz="2000" dirty="0">
                <a:solidFill>
                  <a:srgbClr val="1A1A1A"/>
                </a:solidFill>
                <a:latin typeface="Garet"/>
              </a:rPr>
              <a:t>Tracks Calories Consumed</a:t>
            </a:r>
          </a:p>
          <a:p>
            <a:pPr algn="l">
              <a:spcAft>
                <a:spcPts val="600"/>
              </a:spcAft>
            </a:pPr>
            <a:r>
              <a:rPr lang="en-GB" sz="2000" dirty="0">
                <a:solidFill>
                  <a:srgbClr val="1A1A1A"/>
                </a:solidFill>
                <a:latin typeface="Garet"/>
              </a:rPr>
              <a:t>Compares to Calories Burnt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FECBA4-776D-E396-8DBC-AA1C358FF6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939" r="2894"/>
          <a:stretch>
            <a:fillRect/>
          </a:stretch>
        </p:blipFill>
        <p:spPr>
          <a:xfrm>
            <a:off x="3061341" y="0"/>
            <a:ext cx="3021318" cy="5143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54728DE-A1DD-1AD0-BAEF-453DBB4B74D5}"/>
              </a:ext>
            </a:extLst>
          </p:cNvPr>
          <p:cNvSpPr txBox="1"/>
          <p:nvPr/>
        </p:nvSpPr>
        <p:spPr>
          <a:xfrm>
            <a:off x="311700" y="4510495"/>
            <a:ext cx="23656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200" dirty="0">
                <a:solidFill>
                  <a:srgbClr val="1A1A1A"/>
                </a:solidFill>
                <a:latin typeface="Garet"/>
              </a:rPr>
              <a:t>Stored in </a:t>
            </a:r>
            <a:r>
              <a:rPr lang="en-GB" sz="1200" dirty="0" err="1">
                <a:solidFill>
                  <a:srgbClr val="1A1A1A"/>
                </a:solidFill>
                <a:latin typeface="Garet"/>
              </a:rPr>
              <a:t>postgres</a:t>
            </a:r>
            <a:r>
              <a:rPr lang="en-GB" sz="1200" dirty="0">
                <a:solidFill>
                  <a:srgbClr val="1A1A1A"/>
                </a:solidFill>
                <a:latin typeface="Garet"/>
              </a:rPr>
              <a:t> database running on Kubernetes (don’t ask)</a:t>
            </a:r>
          </a:p>
        </p:txBody>
      </p:sp>
    </p:spTree>
    <p:extLst>
      <p:ext uri="{BB962C8B-B14F-4D97-AF65-F5344CB8AC3E}">
        <p14:creationId xmlns:p14="http://schemas.microsoft.com/office/powerpoint/2010/main" val="20414685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8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8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 rot="10800000">
            <a:off x="8146807" y="970750"/>
            <a:ext cx="907418" cy="238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8" title="Tentacles-ind.png"/>
          <p:cNvPicPr preferRelativeResize="0"/>
          <p:nvPr/>
        </p:nvPicPr>
        <p:blipFill rotWithShape="1">
          <a:blip r:embed="rId5">
            <a:alphaModFix/>
          </a:blip>
          <a:srcRect l="49571" t="721" r="31537" b="445"/>
          <a:stretch/>
        </p:blipFill>
        <p:spPr>
          <a:xfrm rot="-2501693">
            <a:off x="7445555" y="3987141"/>
            <a:ext cx="971391" cy="16171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8" title="bubbles 2.png"/>
          <p:cNvPicPr preferRelativeResize="0"/>
          <p:nvPr/>
        </p:nvPicPr>
        <p:blipFill rotWithShape="1">
          <a:blip r:embed="rId6">
            <a:alphaModFix/>
          </a:blip>
          <a:srcRect t="47355" r="57354"/>
          <a:stretch/>
        </p:blipFill>
        <p:spPr>
          <a:xfrm rot="-9252631">
            <a:off x="-55300" y="3280125"/>
            <a:ext cx="1103049" cy="160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8" title="Tentacles-ind.png"/>
          <p:cNvPicPr preferRelativeResize="0"/>
          <p:nvPr/>
        </p:nvPicPr>
        <p:blipFill rotWithShape="1">
          <a:blip r:embed="rId5">
            <a:alphaModFix/>
          </a:blip>
          <a:srcRect l="86032" t="15454" r="-185" b="646"/>
          <a:stretch/>
        </p:blipFill>
        <p:spPr>
          <a:xfrm rot="2272541">
            <a:off x="8016359" y="3980950"/>
            <a:ext cx="934982" cy="1763774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TextBox 10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10265D"/>
                </a:solidFill>
                <a:latin typeface="Etna"/>
              </a:rPr>
              <a:t>One place. One way in. One way out.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1700" y="1500000"/>
            <a:ext cx="85206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dirty="0">
                <a:solidFill>
                  <a:srgbClr val="1A1A1A"/>
                </a:solidFill>
                <a:latin typeface="Garet"/>
              </a:rPr>
              <a:t>Everything in SQL Server.</a:t>
            </a:r>
          </a:p>
          <a:p>
            <a:pPr algn="l">
              <a:spcAft>
                <a:spcPts val="600"/>
              </a:spcAft>
            </a:pPr>
            <a:r>
              <a:rPr sz="2200" b="1" dirty="0">
                <a:solidFill>
                  <a:srgbClr val="1A1A1A"/>
                </a:solidFill>
                <a:latin typeface="Garet"/>
              </a:rPr>
              <a:t>PowerShell writes to it.</a:t>
            </a:r>
          </a:p>
          <a:p>
            <a:pPr algn="l">
              <a:spcAft>
                <a:spcPts val="600"/>
              </a:spcAft>
            </a:pPr>
            <a:r>
              <a:rPr sz="2200" b="1" dirty="0">
                <a:solidFill>
                  <a:srgbClr val="1A1A1A"/>
                </a:solidFill>
                <a:latin typeface="Garet"/>
              </a:rPr>
              <a:t>A dashboard reads from it.</a:t>
            </a:r>
          </a:p>
          <a:p>
            <a:pPr algn="l">
              <a:spcAft>
                <a:spcPts val="600"/>
              </a:spcAft>
            </a:pPr>
            <a:r>
              <a:rPr sz="2200" b="0" dirty="0">
                <a:solidFill>
                  <a:srgbClr val="1A1A1A"/>
                </a:solidFill>
                <a:latin typeface="Garet"/>
              </a:rPr>
              <a:t>I do not want to write a backend.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0771E-59F4-ECB4-C0C7-B458074E1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2CC05A-23E5-178A-7198-5FEEAC3DFB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73A658-0095-1ACE-94F3-CAAC355C9C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497"/>
            <a:ext cx="9144000" cy="456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0357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3D542-4AEE-4570-C037-0F577EE8D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284FD-C2FA-B456-739C-7FAC9F506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43DF3-E2A2-BB3A-EF89-077A8E0020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20441B-E511-F21C-751C-3590A9E28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6923"/>
            <a:ext cx="9144000" cy="4527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6790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/>
          <p:nvPr/>
        </p:nvSpPr>
        <p:spPr>
          <a:xfrm rot="10800000" flipH="1">
            <a:off x="-9816" y="2428866"/>
            <a:ext cx="9163638" cy="2714634"/>
          </a:xfrm>
          <a:prstGeom prst="flowChartDocument">
            <a:avLst/>
          </a:prstGeom>
          <a:solidFill>
            <a:srgbClr val="DEF5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14" title="Wave.png"/>
          <p:cNvPicPr preferRelativeResize="0"/>
          <p:nvPr/>
        </p:nvPicPr>
        <p:blipFill rotWithShape="1">
          <a:blip r:embed="rId3">
            <a:alphaModFix/>
          </a:blip>
          <a:srcRect l="1896" r="1886" b="28947"/>
          <a:stretch/>
        </p:blipFill>
        <p:spPr>
          <a:xfrm>
            <a:off x="-3850" y="3455650"/>
            <a:ext cx="9151677" cy="168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4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 rot="10800000">
            <a:off x="8308600" y="1506410"/>
            <a:ext cx="765850" cy="201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 title="bubbles 2.png"/>
          <p:cNvPicPr preferRelativeResize="0"/>
          <p:nvPr/>
        </p:nvPicPr>
        <p:blipFill rotWithShape="1">
          <a:blip r:embed="rId5">
            <a:alphaModFix/>
          </a:blip>
          <a:srcRect l="15139" t="58400" r="62500" b="19350"/>
          <a:stretch/>
        </p:blipFill>
        <p:spPr>
          <a:xfrm rot="742639">
            <a:off x="149255" y="3644868"/>
            <a:ext cx="578386" cy="679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 title="bubbles 2.png"/>
          <p:cNvPicPr preferRelativeResize="0"/>
          <p:nvPr/>
        </p:nvPicPr>
        <p:blipFill rotWithShape="1">
          <a:blip r:embed="rId5">
            <a:alphaModFix/>
          </a:blip>
          <a:srcRect r="57354" b="65392"/>
          <a:stretch/>
        </p:blipFill>
        <p:spPr>
          <a:xfrm rot="-308349">
            <a:off x="19632" y="278240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Tentacle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64377" y="3364666"/>
            <a:ext cx="3406625" cy="178707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44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10265D"/>
                </a:solidFill>
                <a:latin typeface="Etna"/>
              </a:rPr>
              <a:t>What is Data API Builder?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9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9" title="Tentacles-ind.png"/>
          <p:cNvPicPr preferRelativeResize="0"/>
          <p:nvPr/>
        </p:nvPicPr>
        <p:blipFill rotWithShape="1">
          <a:blip r:embed="rId4">
            <a:alphaModFix/>
          </a:blip>
          <a:srcRect l="68941" t="1670" r="12167" b="-504"/>
          <a:stretch/>
        </p:blipFill>
        <p:spPr>
          <a:xfrm rot="477805">
            <a:off x="5342718" y="4076284"/>
            <a:ext cx="971396" cy="16171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 title="Tentacles-ind.png"/>
          <p:cNvPicPr preferRelativeResize="0"/>
          <p:nvPr/>
        </p:nvPicPr>
        <p:blipFill rotWithShape="1">
          <a:blip r:embed="rId4">
            <a:alphaModFix/>
          </a:blip>
          <a:srcRect l="11379" t="4220" r="72849" b="-3054"/>
          <a:stretch/>
        </p:blipFill>
        <p:spPr>
          <a:xfrm rot="4189594">
            <a:off x="5772703" y="4106841"/>
            <a:ext cx="810940" cy="1617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9" title="Tentacles-ind.png"/>
          <p:cNvPicPr preferRelativeResize="0"/>
          <p:nvPr/>
        </p:nvPicPr>
        <p:blipFill rotWithShape="1">
          <a:blip r:embed="rId4">
            <a:alphaModFix/>
          </a:blip>
          <a:srcRect l="-179" t="27751" r="87145" b="744"/>
          <a:stretch/>
        </p:blipFill>
        <p:spPr>
          <a:xfrm rot="-3698090">
            <a:off x="5007930" y="4475714"/>
            <a:ext cx="670174" cy="1170053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TextBox 11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What is DAB?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11700" y="1500000"/>
            <a:ext cx="8520600" cy="14619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dirty="0">
                <a:solidFill>
                  <a:srgbClr val="1A1A1A"/>
                </a:solidFill>
                <a:latin typeface="Garet"/>
              </a:rPr>
              <a:t>A config-driven REST</a:t>
            </a:r>
            <a:r>
              <a:rPr lang="en-GB" sz="2000" b="1" dirty="0">
                <a:solidFill>
                  <a:srgbClr val="1A1A1A"/>
                </a:solidFill>
                <a:latin typeface="Garet"/>
              </a:rPr>
              <a:t>, </a:t>
            </a:r>
            <a:r>
              <a:rPr sz="2000" b="1" dirty="0" err="1">
                <a:solidFill>
                  <a:srgbClr val="1A1A1A"/>
                </a:solidFill>
                <a:latin typeface="Garet"/>
              </a:rPr>
              <a:t>GraphQL</a:t>
            </a:r>
            <a:r>
              <a:rPr lang="en-GB" sz="2000" b="1" dirty="0">
                <a:solidFill>
                  <a:srgbClr val="1A1A1A"/>
                </a:solidFill>
                <a:latin typeface="Garet"/>
              </a:rPr>
              <a:t> &amp; MCP (preview)</a:t>
            </a:r>
            <a:r>
              <a:rPr sz="2000" b="1" dirty="0">
                <a:solidFill>
                  <a:srgbClr val="1A1A1A"/>
                </a:solidFill>
                <a:latin typeface="Garet"/>
              </a:rPr>
              <a:t> layer over your database.</a:t>
            </a:r>
          </a:p>
          <a:p>
            <a:pPr algn="l">
              <a:spcAft>
                <a:spcPts val="600"/>
              </a:spcAft>
            </a:pPr>
            <a:r>
              <a:rPr sz="2000" b="0" dirty="0">
                <a:solidFill>
                  <a:srgbClr val="1A1A1A"/>
                </a:solidFill>
                <a:latin typeface="Garet"/>
              </a:rPr>
              <a:t>Point it at SQL Server, Postgres, MySQL, or Cosmos DB.</a:t>
            </a:r>
          </a:p>
          <a:p>
            <a:pPr algn="l">
              <a:spcAft>
                <a:spcPts val="600"/>
              </a:spcAft>
            </a:pPr>
            <a:r>
              <a:rPr sz="2000" b="0" dirty="0">
                <a:solidFill>
                  <a:srgbClr val="1A1A1A"/>
                </a:solidFill>
                <a:latin typeface="Garet"/>
              </a:rPr>
              <a:t>It serves your tables, views, and stored procs over HTTP.</a:t>
            </a:r>
          </a:p>
          <a:p>
            <a:pPr algn="l">
              <a:spcAft>
                <a:spcPts val="600"/>
              </a:spcAft>
            </a:pPr>
            <a:r>
              <a:rPr sz="2000" b="0" dirty="0">
                <a:solidFill>
                  <a:srgbClr val="1A1A1A"/>
                </a:solidFill>
                <a:latin typeface="Garet"/>
              </a:rPr>
              <a:t>No backend code. Just configuration.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0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0" title="Tentacles-ind.png"/>
          <p:cNvPicPr preferRelativeResize="0"/>
          <p:nvPr/>
        </p:nvPicPr>
        <p:blipFill rotWithShape="1">
          <a:blip r:embed="rId4">
            <a:alphaModFix/>
          </a:blip>
          <a:srcRect l="13069" t="-385" r="70220" b="1552"/>
          <a:stretch/>
        </p:blipFill>
        <p:spPr>
          <a:xfrm rot="-4992229">
            <a:off x="8144571" y="4012444"/>
            <a:ext cx="859208" cy="1617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20" title="Tentacles-ind.png"/>
          <p:cNvPicPr preferRelativeResize="0"/>
          <p:nvPr/>
        </p:nvPicPr>
        <p:blipFill rotWithShape="1">
          <a:blip r:embed="rId4">
            <a:alphaModFix/>
          </a:blip>
          <a:srcRect l="86642" t="-3013" r="-800" b="2237"/>
          <a:stretch/>
        </p:blipFill>
        <p:spPr>
          <a:xfrm rot="-2277445" flipH="1">
            <a:off x="8526105" y="3368186"/>
            <a:ext cx="727972" cy="1649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0" title="Tentacles-ind.png"/>
          <p:cNvPicPr preferRelativeResize="0"/>
          <p:nvPr/>
        </p:nvPicPr>
        <p:blipFill rotWithShape="1">
          <a:blip r:embed="rId4">
            <a:alphaModFix/>
          </a:blip>
          <a:srcRect l="29514" t="257" r="50007" b="909"/>
          <a:stretch/>
        </p:blipFill>
        <p:spPr>
          <a:xfrm rot="-2544924">
            <a:off x="8319055" y="3593832"/>
            <a:ext cx="1052965" cy="1617187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TextBox 12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What it isn't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11700" y="1500000"/>
            <a:ext cx="85206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Garet"/>
              </a:rPr>
              <a:t>Not an ORM.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Garet"/>
              </a:rPr>
              <a:t>Not a full backend framework.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Garet"/>
              </a:rPr>
              <a:t>Not a replacement for your stored procs.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Garet"/>
              </a:rPr>
              <a:t>Not magic — auth, rate limits, business logic still need thinking about.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21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1" title="Tentacles-ind.png"/>
          <p:cNvPicPr preferRelativeResize="0"/>
          <p:nvPr/>
        </p:nvPicPr>
        <p:blipFill rotWithShape="1">
          <a:blip r:embed="rId4">
            <a:alphaModFix/>
          </a:blip>
          <a:srcRect l="14411" t="-385" r="70221" b="1552"/>
          <a:stretch/>
        </p:blipFill>
        <p:spPr>
          <a:xfrm rot="754882">
            <a:off x="80254" y="3713151"/>
            <a:ext cx="790202" cy="1617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1" title="Tentacles-ind.png"/>
          <p:cNvPicPr preferRelativeResize="0"/>
          <p:nvPr/>
        </p:nvPicPr>
        <p:blipFill rotWithShape="1">
          <a:blip r:embed="rId4">
            <a:alphaModFix/>
          </a:blip>
          <a:srcRect l="86642" t="-3013" r="-800" b="2237"/>
          <a:stretch/>
        </p:blipFill>
        <p:spPr>
          <a:xfrm rot="3469674" flipH="1">
            <a:off x="670980" y="4067354"/>
            <a:ext cx="727975" cy="1649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1" title="Tentacles-ind.png"/>
          <p:cNvPicPr preferRelativeResize="0"/>
          <p:nvPr/>
        </p:nvPicPr>
        <p:blipFill rotWithShape="1">
          <a:blip r:embed="rId4">
            <a:alphaModFix/>
          </a:blip>
          <a:srcRect l="28611" t="257" r="50006" b="909"/>
          <a:stretch/>
        </p:blipFill>
        <p:spPr>
          <a:xfrm rot="3202202">
            <a:off x="267247" y="3999171"/>
            <a:ext cx="1099418" cy="1617204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TextBox 13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Architecture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00000" y="1700000"/>
            <a:ext cx="2200000" cy="1100000"/>
          </a:xfrm>
          <a:prstGeom prst="rect">
            <a:avLst/>
          </a:prstGeom>
          <a:solidFill>
            <a:srgbClr val="10265D"/>
          </a:solidFill>
          <a:ln>
            <a:solidFill>
              <a:srgbClr val="102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80000" rIns="80000" bIns="800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Etna"/>
              </a:rPr>
              <a:t>SQL Server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Etna"/>
              </a:rPr>
              <a:t>(or Postgres)</a:t>
            </a:r>
          </a:p>
        </p:txBody>
      </p:sp>
      <p:sp>
        <p:nvSpPr>
          <p:cNvPr id="141" name="Can 140"/>
          <p:cNvSpPr/>
          <p:nvPr/>
        </p:nvSpPr>
        <p:spPr>
          <a:xfrm>
            <a:off x="2960000" y="2130000"/>
            <a:ext cx="280000" cy="240000"/>
          </a:xfrm>
          <a:prstGeom prst="can">
            <a:avLst/>
          </a:prstGeom>
          <a:solidFill>
            <a:srgbClr val="BDECFE"/>
          </a:solidFill>
          <a:ln>
            <a:solidFill>
              <a:srgbClr val="BDEC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3300000" y="1700000"/>
            <a:ext cx="2200000" cy="1100000"/>
          </a:xfrm>
          <a:prstGeom prst="rect">
            <a:avLst/>
          </a:prstGeom>
          <a:solidFill>
            <a:srgbClr val="530080"/>
          </a:solidFill>
          <a:ln>
            <a:solidFill>
              <a:srgbClr val="53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80000" rIns="80000" bIns="800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Etna"/>
              </a:rPr>
              <a:t>DAB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Etna"/>
              </a:rPr>
              <a:t>(config-driven)</a:t>
            </a:r>
          </a:p>
        </p:txBody>
      </p:sp>
      <p:sp>
        <p:nvSpPr>
          <p:cNvPr id="143" name="Can 142"/>
          <p:cNvSpPr/>
          <p:nvPr/>
        </p:nvSpPr>
        <p:spPr>
          <a:xfrm>
            <a:off x="5560000" y="2130000"/>
            <a:ext cx="280000" cy="240000"/>
          </a:xfrm>
          <a:prstGeom prst="can">
            <a:avLst/>
          </a:prstGeom>
          <a:solidFill>
            <a:srgbClr val="BDECFE"/>
          </a:solidFill>
          <a:ln>
            <a:solidFill>
              <a:srgbClr val="BDEC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5900000" y="1700000"/>
            <a:ext cx="2200000" cy="1100000"/>
          </a:xfrm>
          <a:prstGeom prst="rect">
            <a:avLst/>
          </a:prstGeom>
          <a:solidFill>
            <a:srgbClr val="4FAAB3"/>
          </a:solidFill>
          <a:ln>
            <a:solidFill>
              <a:srgbClr val="4FA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80000" rIns="80000" bIns="800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Etna"/>
              </a:rPr>
              <a:t>REST + GraphQL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Etna"/>
              </a:rPr>
              <a:t>endpoints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11700" y="3000000"/>
            <a:ext cx="85206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Garet"/>
              </a:rPr>
              <a:t>One config file describes which entities are exposed and how.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Google Shape;143;p22"/>
          <p:cNvGrpSpPr/>
          <p:nvPr/>
        </p:nvGrpSpPr>
        <p:grpSpPr>
          <a:xfrm>
            <a:off x="-3850" y="-100"/>
            <a:ext cx="4734609" cy="5143600"/>
            <a:chOff x="-3850" y="-100"/>
            <a:chExt cx="4734609" cy="5143600"/>
          </a:xfrm>
        </p:grpSpPr>
        <p:sp>
          <p:nvSpPr>
            <p:cNvPr id="144" name="Google Shape;144;p22"/>
            <p:cNvSpPr/>
            <p:nvPr/>
          </p:nvSpPr>
          <p:spPr>
            <a:xfrm>
              <a:off x="-3850" y="-100"/>
              <a:ext cx="2099400" cy="5143500"/>
            </a:xfrm>
            <a:prstGeom prst="rect">
              <a:avLst/>
            </a:prstGeom>
            <a:solidFill>
              <a:srgbClr val="DEF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2"/>
            <p:cNvSpPr/>
            <p:nvPr/>
          </p:nvSpPr>
          <p:spPr>
            <a:xfrm rot="-5400000">
              <a:off x="801692" y="1214433"/>
              <a:ext cx="5143500" cy="2714634"/>
            </a:xfrm>
            <a:prstGeom prst="flowChartDocument">
              <a:avLst/>
            </a:prstGeom>
            <a:solidFill>
              <a:srgbClr val="DEF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6" name="Google Shape;146;p22" title="Wave.png"/>
          <p:cNvPicPr preferRelativeResize="0"/>
          <p:nvPr/>
        </p:nvPicPr>
        <p:blipFill rotWithShape="1">
          <a:blip r:embed="rId3">
            <a:alphaModFix/>
          </a:blip>
          <a:srcRect l="1896" r="1886" b="41643"/>
          <a:stretch/>
        </p:blipFill>
        <p:spPr>
          <a:xfrm>
            <a:off x="-3837" y="4224415"/>
            <a:ext cx="9151677" cy="9190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2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>
            <a:off x="229150" y="1000625"/>
            <a:ext cx="765850" cy="201345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TextBox 151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The config file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11700" y="1100000"/>
            <a:ext cx="85206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dirty="0">
                <a:solidFill>
                  <a:srgbClr val="1A1A1A"/>
                </a:solidFill>
                <a:latin typeface="Garet"/>
              </a:rPr>
              <a:t>One JSON file. Two </a:t>
            </a:r>
            <a:r>
              <a:rPr lang="en-GB" sz="1800" b="0" dirty="0">
                <a:solidFill>
                  <a:srgbClr val="1A1A1A"/>
                </a:solidFill>
                <a:latin typeface="Garet"/>
              </a:rPr>
              <a:t>important parts</a:t>
            </a:r>
            <a:r>
              <a:rPr sz="1800" b="0" dirty="0">
                <a:solidFill>
                  <a:srgbClr val="1A1A1A"/>
                </a:solidFill>
                <a:latin typeface="Garet"/>
              </a:rPr>
              <a:t>: data source and entities.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00300" y="1473830"/>
            <a:ext cx="8532000" cy="3608660"/>
          </a:xfrm>
          <a:prstGeom prst="rect">
            <a:avLst/>
          </a:prstGeom>
          <a:solidFill>
            <a:srgbClr val="F4F7FB"/>
          </a:solidFill>
          <a:ln>
            <a:solidFill>
              <a:srgbClr val="BDECFE"/>
            </a:solidFill>
          </a:ln>
        </p:spPr>
        <p:txBody>
          <a:bodyPr wrap="square" lIns="120000" tIns="80000" rIns="120000" bIns="80000">
            <a:spAutoFit/>
          </a:bodyPr>
          <a:lstStyle/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{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"data-source": {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"database-type": "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mssql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",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"connection-string": "@env('</a:t>
            </a:r>
            <a:r>
              <a:rPr lang="en-GB" sz="1400" dirty="0">
                <a:solidFill>
                  <a:srgbClr val="10265D"/>
                </a:solidFill>
                <a:latin typeface="Cascadia Mono"/>
              </a:rPr>
              <a:t>DATABASE_CONNECTION_STRING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')"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},</a:t>
            </a:r>
            <a:endParaRPr lang="en-GB" sz="1400" dirty="0">
              <a:solidFill>
                <a:srgbClr val="10265D"/>
              </a:solidFill>
              <a:latin typeface="Cascadia Mono"/>
            </a:endParaRPr>
          </a:p>
          <a:p>
            <a:pPr algn="l">
              <a:spcAft>
                <a:spcPts val="0"/>
              </a:spcAft>
            </a:pPr>
            <a:r>
              <a:rPr lang="en-GB" dirty="0">
                <a:solidFill>
                  <a:srgbClr val="10265D"/>
                </a:solidFill>
                <a:latin typeface="Cascadia Mono"/>
              </a:rPr>
              <a:t>...</a:t>
            </a:r>
            <a:endParaRPr sz="1400" dirty="0">
              <a:solidFill>
                <a:srgbClr val="10265D"/>
              </a:solidFill>
              <a:latin typeface="Cascadia Mono"/>
            </a:endParaRP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"entities": {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"</a:t>
            </a:r>
            <a:r>
              <a:rPr lang="en-GB" sz="1400" dirty="0" err="1">
                <a:solidFill>
                  <a:srgbClr val="10265D"/>
                </a:solidFill>
                <a:latin typeface="Cascadia Mono"/>
              </a:rPr>
              <a:t>IntervalsWellness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": {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  </a:t>
            </a:r>
            <a:r>
              <a:rPr lang="en-GB" sz="1400" dirty="0">
                <a:solidFill>
                  <a:srgbClr val="10265D"/>
                </a:solidFill>
                <a:latin typeface="Cascadia Mono"/>
              </a:rPr>
              <a:t>"source": {</a:t>
            </a:r>
          </a:p>
          <a:p>
            <a:pPr algn="l">
              <a:spcAft>
                <a:spcPts val="0"/>
              </a:spcAft>
            </a:pPr>
            <a:r>
              <a:rPr lang="en-GB" sz="1400" dirty="0">
                <a:solidFill>
                  <a:srgbClr val="10265D"/>
                </a:solidFill>
                <a:latin typeface="Cascadia Mono"/>
              </a:rPr>
              <a:t>        "object": "</a:t>
            </a:r>
            <a:r>
              <a:rPr lang="en-GB" sz="1400" dirty="0" err="1">
                <a:solidFill>
                  <a:srgbClr val="10265D"/>
                </a:solidFill>
                <a:latin typeface="Cascadia Mono"/>
              </a:rPr>
              <a:t>dbo.IntervalsWellness</a:t>
            </a:r>
            <a:r>
              <a:rPr lang="en-GB" sz="1400" dirty="0">
                <a:solidFill>
                  <a:srgbClr val="10265D"/>
                </a:solidFill>
                <a:latin typeface="Cascadia Mono"/>
              </a:rPr>
              <a:t>",</a:t>
            </a:r>
          </a:p>
          <a:p>
            <a:pPr algn="l">
              <a:spcAft>
                <a:spcPts val="0"/>
              </a:spcAft>
            </a:pPr>
            <a:r>
              <a:rPr lang="en-GB" sz="1400" dirty="0">
                <a:solidFill>
                  <a:srgbClr val="10265D"/>
                </a:solidFill>
                <a:latin typeface="Cascadia Mono"/>
              </a:rPr>
              <a:t>        "type": "table"</a:t>
            </a:r>
          </a:p>
          <a:p>
            <a:pPr algn="l">
              <a:spcAft>
                <a:spcPts val="0"/>
              </a:spcAft>
            </a:pPr>
            <a:r>
              <a:rPr lang="en-GB" sz="1400" dirty="0">
                <a:solidFill>
                  <a:srgbClr val="10265D"/>
                </a:solidFill>
                <a:latin typeface="Cascadia Mono"/>
              </a:rPr>
              <a:t>      },</a:t>
            </a:r>
            <a:endParaRPr sz="1400" dirty="0">
              <a:solidFill>
                <a:srgbClr val="10265D"/>
              </a:solidFill>
              <a:latin typeface="Cascadia Mono"/>
            </a:endParaRP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  "permissions": [{ "role": "anonymous", "actions": ["read"] }]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}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Google Shape;156;p23"/>
          <p:cNvGrpSpPr/>
          <p:nvPr/>
        </p:nvGrpSpPr>
        <p:grpSpPr>
          <a:xfrm flipH="1">
            <a:off x="4413250" y="-50"/>
            <a:ext cx="4734609" cy="5143600"/>
            <a:chOff x="-3850" y="-100"/>
            <a:chExt cx="4734609" cy="5143600"/>
          </a:xfrm>
        </p:grpSpPr>
        <p:sp>
          <p:nvSpPr>
            <p:cNvPr id="157" name="Google Shape;157;p23"/>
            <p:cNvSpPr/>
            <p:nvPr/>
          </p:nvSpPr>
          <p:spPr>
            <a:xfrm>
              <a:off x="-3850" y="-100"/>
              <a:ext cx="2099400" cy="5143500"/>
            </a:xfrm>
            <a:prstGeom prst="rect">
              <a:avLst/>
            </a:prstGeom>
            <a:solidFill>
              <a:srgbClr val="DEF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23"/>
            <p:cNvSpPr/>
            <p:nvPr/>
          </p:nvSpPr>
          <p:spPr>
            <a:xfrm rot="-5400000">
              <a:off x="801692" y="1214433"/>
              <a:ext cx="5143500" cy="2714634"/>
            </a:xfrm>
            <a:prstGeom prst="flowChartDocument">
              <a:avLst/>
            </a:prstGeom>
            <a:solidFill>
              <a:srgbClr val="DEF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59" name="Google Shape;159;p23" title="Wave.png"/>
          <p:cNvPicPr preferRelativeResize="0"/>
          <p:nvPr/>
        </p:nvPicPr>
        <p:blipFill rotWithShape="1">
          <a:blip r:embed="rId3">
            <a:alphaModFix/>
          </a:blip>
          <a:srcRect l="1896" r="1886" b="41643"/>
          <a:stretch/>
        </p:blipFill>
        <p:spPr>
          <a:xfrm>
            <a:off x="-3837" y="3757275"/>
            <a:ext cx="9151677" cy="1386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3" title="bubbles 2.png"/>
          <p:cNvPicPr preferRelativeResize="0"/>
          <p:nvPr/>
        </p:nvPicPr>
        <p:blipFill rotWithShape="1">
          <a:blip r:embed="rId4">
            <a:alphaModFix/>
          </a:blip>
          <a:srcRect t="47355" r="57354"/>
          <a:stretch/>
        </p:blipFill>
        <p:spPr>
          <a:xfrm rot="2198316">
            <a:off x="-117244" y="1193772"/>
            <a:ext cx="992638" cy="14469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3" title="bubbles.png"/>
          <p:cNvPicPr preferRelativeResize="0"/>
          <p:nvPr/>
        </p:nvPicPr>
        <p:blipFill rotWithShape="1">
          <a:blip r:embed="rId5">
            <a:alphaModFix/>
          </a:blip>
          <a:srcRect l="40507" r="16342"/>
          <a:stretch/>
        </p:blipFill>
        <p:spPr>
          <a:xfrm>
            <a:off x="139025" y="2889750"/>
            <a:ext cx="765850" cy="201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3" title="Tentacles-ind.png"/>
          <p:cNvPicPr preferRelativeResize="0"/>
          <p:nvPr/>
        </p:nvPicPr>
        <p:blipFill rotWithShape="1">
          <a:blip r:embed="rId6">
            <a:alphaModFix/>
          </a:blip>
          <a:srcRect l="49571" t="721" r="31537" b="445"/>
          <a:stretch/>
        </p:blipFill>
        <p:spPr>
          <a:xfrm rot="-915490" flipH="1">
            <a:off x="8280345" y="3641788"/>
            <a:ext cx="971392" cy="16171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23" title="Tentacles-ind.png"/>
          <p:cNvPicPr preferRelativeResize="0"/>
          <p:nvPr/>
        </p:nvPicPr>
        <p:blipFill rotWithShape="1">
          <a:blip r:embed="rId6">
            <a:alphaModFix/>
          </a:blip>
          <a:srcRect l="86032" t="15454" r="-185" b="646"/>
          <a:stretch/>
        </p:blipFill>
        <p:spPr>
          <a:xfrm rot="-3683979">
            <a:off x="8060416" y="3984507"/>
            <a:ext cx="934980" cy="1763774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TextBox 163"/>
          <p:cNvSpPr txBox="1"/>
          <p:nvPr/>
        </p:nvSpPr>
        <p:spPr>
          <a:xfrm>
            <a:off x="311700" y="350000"/>
            <a:ext cx="852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3600" b="1" dirty="0">
                <a:solidFill>
                  <a:srgbClr val="10265D"/>
                </a:solidFill>
                <a:latin typeface="Etna"/>
              </a:rPr>
              <a:t>Entities</a:t>
            </a:r>
            <a:endParaRPr sz="3600" b="1" dirty="0">
              <a:solidFill>
                <a:srgbClr val="10265D"/>
              </a:solidFill>
              <a:latin typeface="Etna"/>
            </a:endParaRPr>
          </a:p>
        </p:txBody>
      </p:sp>
      <p:sp>
        <p:nvSpPr>
          <p:cNvPr id="165" name="TextBox 164"/>
          <p:cNvSpPr txBox="1"/>
          <p:nvPr/>
        </p:nvSpPr>
        <p:spPr>
          <a:xfrm>
            <a:off x="311700" y="1500000"/>
            <a:ext cx="2706866" cy="2700000"/>
          </a:xfrm>
          <a:prstGeom prst="rect">
            <a:avLst/>
          </a:prstGeom>
          <a:solidFill>
            <a:srgbClr val="F4F7FB"/>
          </a:solidFill>
          <a:ln>
            <a:solidFill>
              <a:srgbClr val="BDECFE"/>
            </a:solidFill>
          </a:ln>
        </p:spPr>
        <p:txBody>
          <a:bodyPr wrap="square" lIns="150000" tIns="150000" rIns="150000" bIns="15000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530080"/>
                </a:solidFill>
                <a:latin typeface="Etna"/>
              </a:rPr>
              <a:t>Tables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Full CRUD if you want it.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Per-action permissions.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Read-only is one config flag.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218566" y="1500000"/>
            <a:ext cx="2706866" cy="2700000"/>
          </a:xfrm>
          <a:prstGeom prst="rect">
            <a:avLst/>
          </a:prstGeom>
          <a:solidFill>
            <a:srgbClr val="F4F7FB"/>
          </a:solidFill>
          <a:ln>
            <a:solidFill>
              <a:srgbClr val="BDECFE"/>
            </a:solidFill>
          </a:ln>
        </p:spPr>
        <p:txBody>
          <a:bodyPr wrap="square" lIns="150000" tIns="150000" rIns="150000" bIns="15000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530080"/>
                </a:solidFill>
                <a:latin typeface="Etna"/>
              </a:rPr>
              <a:t>Views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Read-only by design.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Perfect for reporting.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Hide joins behind a clean shape.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125432" y="1500000"/>
            <a:ext cx="2706866" cy="2700000"/>
          </a:xfrm>
          <a:prstGeom prst="rect">
            <a:avLst/>
          </a:prstGeom>
          <a:solidFill>
            <a:srgbClr val="F4F7FB"/>
          </a:solidFill>
          <a:ln>
            <a:solidFill>
              <a:srgbClr val="BDECFE"/>
            </a:solidFill>
          </a:ln>
        </p:spPr>
        <p:txBody>
          <a:bodyPr wrap="square" lIns="150000" tIns="150000" rIns="150000" bIns="15000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530080"/>
                </a:solidFill>
                <a:latin typeface="Etna"/>
              </a:rPr>
              <a:t>Stored procs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Parameterised actions.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POST with a JSON body.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Great for existing logic you don't want to rewrite.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/>
          <p:nvPr/>
        </p:nvSpPr>
        <p:spPr>
          <a:xfrm rot="10800000" flipH="1">
            <a:off x="-9816" y="2428866"/>
            <a:ext cx="9163638" cy="2714634"/>
          </a:xfrm>
          <a:prstGeom prst="flowChartDocument">
            <a:avLst/>
          </a:prstGeom>
          <a:solidFill>
            <a:srgbClr val="DEF5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14" title="Wave.png"/>
          <p:cNvPicPr preferRelativeResize="0"/>
          <p:nvPr/>
        </p:nvPicPr>
        <p:blipFill rotWithShape="1">
          <a:blip r:embed="rId3">
            <a:alphaModFix/>
          </a:blip>
          <a:srcRect l="1896" r="1886" b="28947"/>
          <a:stretch/>
        </p:blipFill>
        <p:spPr>
          <a:xfrm>
            <a:off x="-3850" y="3455650"/>
            <a:ext cx="9151677" cy="168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4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 rot="10800000">
            <a:off x="8308600" y="1506410"/>
            <a:ext cx="765850" cy="201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 title="bubbles 2.png"/>
          <p:cNvPicPr preferRelativeResize="0"/>
          <p:nvPr/>
        </p:nvPicPr>
        <p:blipFill rotWithShape="1">
          <a:blip r:embed="rId5">
            <a:alphaModFix/>
          </a:blip>
          <a:srcRect l="15139" t="58400" r="62500" b="19350"/>
          <a:stretch/>
        </p:blipFill>
        <p:spPr>
          <a:xfrm rot="742639">
            <a:off x="149255" y="3644868"/>
            <a:ext cx="578386" cy="679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 title="bubbles 2.png"/>
          <p:cNvPicPr preferRelativeResize="0"/>
          <p:nvPr/>
        </p:nvPicPr>
        <p:blipFill rotWithShape="1">
          <a:blip r:embed="rId5">
            <a:alphaModFix/>
          </a:blip>
          <a:srcRect r="57354" b="65392"/>
          <a:stretch/>
        </p:blipFill>
        <p:spPr>
          <a:xfrm rot="-308349">
            <a:off x="19632" y="278240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Tentacle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64377" y="3364666"/>
            <a:ext cx="3406625" cy="178707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44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4000" b="1" dirty="0">
                <a:solidFill>
                  <a:srgbClr val="10265D"/>
                </a:solidFill>
                <a:latin typeface="Etna"/>
              </a:rPr>
              <a:t>Demo: </a:t>
            </a:r>
            <a:r>
              <a:rPr lang="en-GB" sz="4000" b="1" dirty="0">
                <a:solidFill>
                  <a:srgbClr val="10265D"/>
                </a:solidFill>
                <a:latin typeface="Etna"/>
              </a:rPr>
              <a:t>dab in 2 mins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5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5" title="bubbles 2.png"/>
          <p:cNvPicPr preferRelativeResize="0"/>
          <p:nvPr/>
        </p:nvPicPr>
        <p:blipFill rotWithShape="1">
          <a:blip r:embed="rId4">
            <a:alphaModFix/>
          </a:blip>
          <a:srcRect l="15139" t="47353" r="57355" b="19349"/>
          <a:stretch/>
        </p:blipFill>
        <p:spPr>
          <a:xfrm rot="742634">
            <a:off x="183865" y="3325606"/>
            <a:ext cx="711448" cy="1017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5" title="bubbles.png"/>
          <p:cNvPicPr preferRelativeResize="0"/>
          <p:nvPr/>
        </p:nvPicPr>
        <p:blipFill rotWithShape="1">
          <a:blip r:embed="rId5">
            <a:alphaModFix/>
          </a:blip>
          <a:srcRect l="40507" r="16342"/>
          <a:stretch/>
        </p:blipFill>
        <p:spPr>
          <a:xfrm>
            <a:off x="8240407" y="2165913"/>
            <a:ext cx="907418" cy="238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5" title="bubbles 2.png"/>
          <p:cNvPicPr preferRelativeResize="0"/>
          <p:nvPr/>
        </p:nvPicPr>
        <p:blipFill rotWithShape="1">
          <a:blip r:embed="rId4">
            <a:alphaModFix/>
          </a:blip>
          <a:srcRect r="57354" b="65392"/>
          <a:stretch/>
        </p:blipFill>
        <p:spPr>
          <a:xfrm rot="-308349">
            <a:off x="252920" y="268715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 title="Tentacle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10958" y="3580350"/>
            <a:ext cx="2979741" cy="156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TextBox 80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Filter, page, relate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1700" y="1500000"/>
            <a:ext cx="85206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Garet"/>
              </a:rPr>
              <a:t>Filter via query string — $filter, $select.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Garet"/>
              </a:rPr>
              <a:t>Paginate — $first, $after.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Garet"/>
              </a:rPr>
              <a:t>Express relationships in the config — get nested data in one call.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Garet"/>
              </a:rPr>
              <a:t>Or use the GraphQL endpoint and ask for exactly what you need.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1700" y="2700000"/>
            <a:ext cx="8520600" cy="600000"/>
          </a:xfrm>
          <a:prstGeom prst="rect">
            <a:avLst/>
          </a:prstGeom>
          <a:solidFill>
            <a:srgbClr val="F4F7FB"/>
          </a:solidFill>
          <a:ln>
            <a:solidFill>
              <a:srgbClr val="BDECFE"/>
            </a:solidFill>
          </a:ln>
        </p:spPr>
        <p:txBody>
          <a:bodyPr wrap="square" lIns="120000" tIns="80000" rIns="120000" bIns="80000">
            <a:spAutoFit/>
          </a:bodyPr>
          <a:lstStyle/>
          <a:p>
            <a:pPr algn="l">
              <a:spcAft>
                <a:spcPts val="0"/>
              </a:spcAft>
            </a:pPr>
            <a:r>
              <a:rPr sz="1300">
                <a:solidFill>
                  <a:srgbClr val="10265D"/>
                </a:solidFill>
                <a:latin typeface="Cascadia Mono"/>
              </a:rPr>
              <a:t>GET /api/Activity?$filter=type eq 'Ride'&amp;$first=10&amp;$select=date,distance,tss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6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6" title="bubbles 2.png"/>
          <p:cNvPicPr preferRelativeResize="0"/>
          <p:nvPr/>
        </p:nvPicPr>
        <p:blipFill rotWithShape="1">
          <a:blip r:embed="rId4">
            <a:alphaModFix/>
          </a:blip>
          <a:srcRect l="15139" t="47353" r="57355" b="19349"/>
          <a:stretch/>
        </p:blipFill>
        <p:spPr>
          <a:xfrm rot="742634">
            <a:off x="183865" y="3325606"/>
            <a:ext cx="711448" cy="1017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6" title="bubbles.png"/>
          <p:cNvPicPr preferRelativeResize="0"/>
          <p:nvPr/>
        </p:nvPicPr>
        <p:blipFill rotWithShape="1">
          <a:blip r:embed="rId5">
            <a:alphaModFix/>
          </a:blip>
          <a:srcRect l="40505" r="29998"/>
          <a:stretch/>
        </p:blipFill>
        <p:spPr>
          <a:xfrm>
            <a:off x="8489514" y="1887525"/>
            <a:ext cx="620274" cy="2385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 title="bubbles 2.png"/>
          <p:cNvPicPr preferRelativeResize="0"/>
          <p:nvPr/>
        </p:nvPicPr>
        <p:blipFill rotWithShape="1">
          <a:blip r:embed="rId4">
            <a:alphaModFix/>
          </a:blip>
          <a:srcRect r="57354" b="65392"/>
          <a:stretch/>
        </p:blipFill>
        <p:spPr>
          <a:xfrm rot="-308349">
            <a:off x="252920" y="268715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 title="Octopu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376300">
            <a:off x="7587669" y="3744539"/>
            <a:ext cx="1341412" cy="134142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extBox 89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Run it anywhere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11700" y="1450000"/>
            <a:ext cx="85206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800" b="0" dirty="0">
                <a:solidFill>
                  <a:srgbClr val="1A1A1A"/>
                </a:solidFill>
                <a:latin typeface="Garet"/>
              </a:rPr>
              <a:t>dab</a:t>
            </a:r>
            <a:r>
              <a:rPr sz="1800" b="0" dirty="0">
                <a:solidFill>
                  <a:srgbClr val="1A1A1A"/>
                </a:solidFill>
                <a:latin typeface="Garet"/>
              </a:rPr>
              <a:t> CLI locally. Docker image everywhere else. Same config, same </a:t>
            </a:r>
            <a:r>
              <a:rPr sz="1800" b="0" dirty="0" err="1">
                <a:solidFill>
                  <a:srgbClr val="1A1A1A"/>
                </a:solidFill>
                <a:latin typeface="Garet"/>
              </a:rPr>
              <a:t>behaviour</a:t>
            </a:r>
            <a:r>
              <a:rPr sz="1800" b="0" dirty="0">
                <a:solidFill>
                  <a:srgbClr val="1A1A1A"/>
                </a:solidFill>
                <a:latin typeface="Garet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1700" y="2150000"/>
            <a:ext cx="8520600" cy="1762001"/>
          </a:xfrm>
          <a:prstGeom prst="rect">
            <a:avLst/>
          </a:prstGeom>
          <a:solidFill>
            <a:srgbClr val="F4F7FB"/>
          </a:solidFill>
          <a:ln>
            <a:solidFill>
              <a:srgbClr val="BDECFE"/>
            </a:solidFill>
          </a:ln>
        </p:spPr>
        <p:txBody>
          <a:bodyPr wrap="square" lIns="120000" tIns="80000" rIns="120000" bIns="800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dirty="0">
                <a:solidFill>
                  <a:srgbClr val="10265D"/>
                </a:solidFill>
                <a:latin typeface="Cascadia Mono"/>
              </a:rPr>
              <a:t># local</a:t>
            </a:r>
          </a:p>
          <a:p>
            <a:pPr algn="l">
              <a:spcAft>
                <a:spcPts val="0"/>
              </a:spcAft>
            </a:pPr>
            <a:r>
              <a:rPr sz="1300" dirty="0">
                <a:solidFill>
                  <a:srgbClr val="10265D"/>
                </a:solidFill>
                <a:latin typeface="Cascadia Mono"/>
              </a:rPr>
              <a:t>dab start --config dab-</a:t>
            </a:r>
            <a:r>
              <a:rPr sz="1300" dirty="0" err="1">
                <a:solidFill>
                  <a:srgbClr val="10265D"/>
                </a:solidFill>
                <a:latin typeface="Cascadia Mono"/>
              </a:rPr>
              <a:t>config.json</a:t>
            </a:r>
            <a:endParaRPr sz="1300" dirty="0">
              <a:solidFill>
                <a:srgbClr val="10265D"/>
              </a:solidFill>
              <a:latin typeface="Cascadia Mono"/>
            </a:endParaRPr>
          </a:p>
          <a:p>
            <a:pPr algn="l">
              <a:spcAft>
                <a:spcPts val="0"/>
              </a:spcAft>
            </a:pPr>
            <a:r>
              <a:rPr sz="1300" dirty="0">
                <a:solidFill>
                  <a:srgbClr val="10265D"/>
                </a:solidFill>
                <a:latin typeface="Cascadia Mono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300" dirty="0">
                <a:solidFill>
                  <a:srgbClr val="10265D"/>
                </a:solidFill>
                <a:latin typeface="Cascadia Mono"/>
              </a:rPr>
              <a:t># container</a:t>
            </a:r>
          </a:p>
          <a:p>
            <a:pPr algn="l">
              <a:spcAft>
                <a:spcPts val="0"/>
              </a:spcAft>
            </a:pPr>
            <a:r>
              <a:rPr sz="1300" dirty="0">
                <a:solidFill>
                  <a:srgbClr val="10265D"/>
                </a:solidFill>
                <a:latin typeface="Cascadia Mono"/>
              </a:rPr>
              <a:t>docker run -p 5000:5000 </a:t>
            </a:r>
            <a:r>
              <a:rPr lang="en-GB" sz="1300" dirty="0">
                <a:solidFill>
                  <a:srgbClr val="10265D"/>
                </a:solidFill>
                <a:latin typeface="Cascadia Mono"/>
              </a:rPr>
              <a:t>`</a:t>
            </a:r>
            <a:endParaRPr sz="1300" dirty="0">
              <a:solidFill>
                <a:srgbClr val="10265D"/>
              </a:solidFill>
              <a:latin typeface="Cascadia Mono"/>
            </a:endParaRPr>
          </a:p>
          <a:p>
            <a:pPr algn="l">
              <a:spcAft>
                <a:spcPts val="0"/>
              </a:spcAft>
            </a:pPr>
            <a:r>
              <a:rPr sz="1300" dirty="0">
                <a:solidFill>
                  <a:srgbClr val="10265D"/>
                </a:solidFill>
                <a:latin typeface="Cascadia Mono"/>
              </a:rPr>
              <a:t>  -v ${PWD}:/App/configs</a:t>
            </a:r>
            <a:r>
              <a:rPr lang="en-GB" sz="1300" dirty="0">
                <a:solidFill>
                  <a:srgbClr val="10265D"/>
                </a:solidFill>
                <a:latin typeface="Cascadia Mono"/>
              </a:rPr>
              <a:t> `</a:t>
            </a:r>
            <a:endParaRPr sz="1300" dirty="0">
              <a:solidFill>
                <a:srgbClr val="10265D"/>
              </a:solidFill>
              <a:latin typeface="Cascadia Mono"/>
            </a:endParaRPr>
          </a:p>
          <a:p>
            <a:r>
              <a:rPr sz="1300" dirty="0">
                <a:solidFill>
                  <a:srgbClr val="10265D"/>
                </a:solidFill>
                <a:latin typeface="Cascadia Mono"/>
              </a:rPr>
              <a:t>  -e </a:t>
            </a:r>
            <a:r>
              <a:rPr lang="en-GB" sz="1200" dirty="0">
                <a:solidFill>
                  <a:srgbClr val="10265D"/>
                </a:solidFill>
                <a:latin typeface="Cascadia Mono"/>
              </a:rPr>
              <a:t>DATABASE_CONNECTION_STRING </a:t>
            </a:r>
            <a:r>
              <a:rPr lang="en-GB" sz="1300" dirty="0">
                <a:solidFill>
                  <a:srgbClr val="10265D"/>
                </a:solidFill>
                <a:latin typeface="Cascadia Mono"/>
              </a:rPr>
              <a:t>`</a:t>
            </a:r>
            <a:endParaRPr sz="1300" dirty="0">
              <a:solidFill>
                <a:srgbClr val="10265D"/>
              </a:solidFill>
              <a:latin typeface="Cascadia Mono"/>
            </a:endParaRPr>
          </a:p>
          <a:p>
            <a:pPr algn="l">
              <a:spcAft>
                <a:spcPts val="0"/>
              </a:spcAft>
            </a:pPr>
            <a:r>
              <a:rPr sz="1300" dirty="0">
                <a:solidFill>
                  <a:srgbClr val="10265D"/>
                </a:solidFill>
                <a:latin typeface="Cascadia Mono"/>
              </a:rPr>
              <a:t>  mcr.microsoft.com/azure-databases/data-</a:t>
            </a:r>
            <a:r>
              <a:rPr sz="1300" dirty="0" err="1">
                <a:solidFill>
                  <a:srgbClr val="10265D"/>
                </a:solidFill>
                <a:latin typeface="Cascadia Mono"/>
              </a:rPr>
              <a:t>api</a:t>
            </a:r>
            <a:r>
              <a:rPr sz="1300" dirty="0">
                <a:solidFill>
                  <a:srgbClr val="10265D"/>
                </a:solidFill>
                <a:latin typeface="Cascadia Mono"/>
              </a:rPr>
              <a:t>-builder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 title="bubbles 2.png"/>
          <p:cNvPicPr preferRelativeResize="0"/>
          <p:nvPr/>
        </p:nvPicPr>
        <p:blipFill rotWithShape="1">
          <a:blip r:embed="rId4">
            <a:alphaModFix/>
          </a:blip>
          <a:srcRect l="15139" t="47353" r="57355" b="19349"/>
          <a:stretch/>
        </p:blipFill>
        <p:spPr>
          <a:xfrm rot="742634">
            <a:off x="183878" y="3150931"/>
            <a:ext cx="711448" cy="1017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7" title="bubbles.png"/>
          <p:cNvPicPr preferRelativeResize="0"/>
          <p:nvPr/>
        </p:nvPicPr>
        <p:blipFill rotWithShape="1">
          <a:blip r:embed="rId5">
            <a:alphaModFix/>
          </a:blip>
          <a:srcRect l="40507" r="16342"/>
          <a:stretch/>
        </p:blipFill>
        <p:spPr>
          <a:xfrm>
            <a:off x="8236582" y="2757825"/>
            <a:ext cx="907418" cy="238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7" title="bubbles 2.png"/>
          <p:cNvPicPr preferRelativeResize="0"/>
          <p:nvPr/>
        </p:nvPicPr>
        <p:blipFill rotWithShape="1">
          <a:blip r:embed="rId4">
            <a:alphaModFix/>
          </a:blip>
          <a:srcRect r="57354" b="65392"/>
          <a:stretch/>
        </p:blipFill>
        <p:spPr>
          <a:xfrm rot="-308349">
            <a:off x="19632" y="278240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7" title="Tentacles-ind.png"/>
          <p:cNvPicPr preferRelativeResize="0"/>
          <p:nvPr/>
        </p:nvPicPr>
        <p:blipFill rotWithShape="1">
          <a:blip r:embed="rId6">
            <a:alphaModFix/>
          </a:blip>
          <a:srcRect t="33403" r="87438" b="15771"/>
          <a:stretch/>
        </p:blipFill>
        <p:spPr>
          <a:xfrm rot="439130">
            <a:off x="-47716" y="4206609"/>
            <a:ext cx="968293" cy="1246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7" title="Tentacles-ind.png"/>
          <p:cNvPicPr preferRelativeResize="0"/>
          <p:nvPr/>
        </p:nvPicPr>
        <p:blipFill rotWithShape="1">
          <a:blip r:embed="rId6">
            <a:alphaModFix/>
          </a:blip>
          <a:srcRect l="13130" t="-3230" r="72448" b="3230"/>
          <a:stretch/>
        </p:blipFill>
        <p:spPr>
          <a:xfrm rot="4506413">
            <a:off x="741578" y="4122181"/>
            <a:ext cx="742087" cy="163746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TextBox 99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10265D"/>
                </a:solidFill>
                <a:latin typeface="Etna"/>
              </a:rPr>
              <a:t>Invoke-RestMethod is all you need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1700" y="1500000"/>
            <a:ext cx="8520600" cy="2376000"/>
          </a:xfrm>
          <a:prstGeom prst="rect">
            <a:avLst/>
          </a:prstGeom>
          <a:solidFill>
            <a:srgbClr val="F4F7FB"/>
          </a:solidFill>
          <a:ln>
            <a:solidFill>
              <a:srgbClr val="BDECFE"/>
            </a:solidFill>
          </a:ln>
        </p:spPr>
        <p:txBody>
          <a:bodyPr wrap="square" lIns="120000" tIns="80000" rIns="120000" bIns="80000">
            <a:spAutoFit/>
          </a:bodyPr>
          <a:lstStyle/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$base = 'http://localhost:5000/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api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'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# write a row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$body = @{ date = '2026-05-04'; type = 'Ride'; 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tss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 = 84 } | 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ConvertTo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-Json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Invoke-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RestMethod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 "$base/Activity" -Method POST -Body $body `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-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ContentType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 'application/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json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'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# read it back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Invoke-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RestMethod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 "$base/Activity?\$filter=type eq 'Ride'" |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Select-Object -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ExpandProperty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 value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16FC9-F3EF-639D-9DF6-0CCA10871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>
            <a:extLst>
              <a:ext uri="{FF2B5EF4-FFF2-40B4-BE49-F238E27FC236}">
                <a16:creationId xmlns:a16="http://schemas.microsoft.com/office/drawing/2014/main" id="{BDE4FF86-FA40-9928-0FC8-7F034202883E}"/>
              </a:ext>
            </a:extLst>
          </p:cNvPr>
          <p:cNvSpPr/>
          <p:nvPr/>
        </p:nvSpPr>
        <p:spPr>
          <a:xfrm rot="10800000" flipH="1">
            <a:off x="-9816" y="2428866"/>
            <a:ext cx="9163638" cy="2714634"/>
          </a:xfrm>
          <a:prstGeom prst="flowChartDocument">
            <a:avLst/>
          </a:prstGeom>
          <a:solidFill>
            <a:srgbClr val="DEF5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14" title="Wave.png">
            <a:extLst>
              <a:ext uri="{FF2B5EF4-FFF2-40B4-BE49-F238E27FC236}">
                <a16:creationId xmlns:a16="http://schemas.microsoft.com/office/drawing/2014/main" id="{0C26CF18-26CB-49CE-5BF0-F8194481F34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896" r="1886" b="28947"/>
          <a:stretch/>
        </p:blipFill>
        <p:spPr>
          <a:xfrm>
            <a:off x="-3850" y="3455650"/>
            <a:ext cx="9151677" cy="168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4" title="bubbles.png">
            <a:extLst>
              <a:ext uri="{FF2B5EF4-FFF2-40B4-BE49-F238E27FC236}">
                <a16:creationId xmlns:a16="http://schemas.microsoft.com/office/drawing/2014/main" id="{642030E9-407A-F9B6-9365-11C5F94120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 rot="10800000">
            <a:off x="8308600" y="1506410"/>
            <a:ext cx="765850" cy="201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 title="bubbles 2.png">
            <a:extLst>
              <a:ext uri="{FF2B5EF4-FFF2-40B4-BE49-F238E27FC236}">
                <a16:creationId xmlns:a16="http://schemas.microsoft.com/office/drawing/2014/main" id="{41BBE259-673D-65DD-3485-6478AABC218A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15139" t="58400" r="62500" b="19350"/>
          <a:stretch/>
        </p:blipFill>
        <p:spPr>
          <a:xfrm rot="742639">
            <a:off x="149255" y="3644868"/>
            <a:ext cx="578386" cy="679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 title="bubbles 2.png">
            <a:extLst>
              <a:ext uri="{FF2B5EF4-FFF2-40B4-BE49-F238E27FC236}">
                <a16:creationId xmlns:a16="http://schemas.microsoft.com/office/drawing/2014/main" id="{F3FF1BBB-E0EC-D12A-7693-E6CC1996FA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r="57354" b="65392"/>
          <a:stretch/>
        </p:blipFill>
        <p:spPr>
          <a:xfrm rot="-308349">
            <a:off x="19632" y="278240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Tentacles.png">
            <a:extLst>
              <a:ext uri="{FF2B5EF4-FFF2-40B4-BE49-F238E27FC236}">
                <a16:creationId xmlns:a16="http://schemas.microsoft.com/office/drawing/2014/main" id="{DBFB0FC9-BF08-B58A-8EC5-E173DF94EF80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64377" y="3364666"/>
            <a:ext cx="3406625" cy="178707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>
            <a:extLst>
              <a:ext uri="{FF2B5EF4-FFF2-40B4-BE49-F238E27FC236}">
                <a16:creationId xmlns:a16="http://schemas.microsoft.com/office/drawing/2014/main" id="{5E8982B1-BFB1-F12A-5B6E-34B40AFFCDF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44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10265D"/>
                </a:solidFill>
                <a:latin typeface="Etna"/>
              </a:rPr>
              <a:t>Demo: Chase the Sun tracker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59284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8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8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 rot="10800000">
            <a:off x="8146807" y="970750"/>
            <a:ext cx="907418" cy="238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8" title="Tentacles-ind.png"/>
          <p:cNvPicPr preferRelativeResize="0"/>
          <p:nvPr/>
        </p:nvPicPr>
        <p:blipFill rotWithShape="1">
          <a:blip r:embed="rId5">
            <a:alphaModFix/>
          </a:blip>
          <a:srcRect l="49571" t="721" r="31537" b="445"/>
          <a:stretch/>
        </p:blipFill>
        <p:spPr>
          <a:xfrm rot="-2501693">
            <a:off x="7445555" y="3987141"/>
            <a:ext cx="971391" cy="16171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8" title="bubbles 2.png"/>
          <p:cNvPicPr preferRelativeResize="0"/>
          <p:nvPr/>
        </p:nvPicPr>
        <p:blipFill rotWithShape="1">
          <a:blip r:embed="rId6">
            <a:alphaModFix/>
          </a:blip>
          <a:srcRect t="47355" r="57354"/>
          <a:stretch/>
        </p:blipFill>
        <p:spPr>
          <a:xfrm rot="-9252631">
            <a:off x="-55300" y="3280125"/>
            <a:ext cx="1103049" cy="160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8" title="Tentacles-ind.png"/>
          <p:cNvPicPr preferRelativeResize="0"/>
          <p:nvPr/>
        </p:nvPicPr>
        <p:blipFill rotWithShape="1">
          <a:blip r:embed="rId5">
            <a:alphaModFix/>
          </a:blip>
          <a:srcRect l="86032" t="15454" r="-185" b="646"/>
          <a:stretch/>
        </p:blipFill>
        <p:spPr>
          <a:xfrm rot="2272541">
            <a:off x="8016359" y="3980950"/>
            <a:ext cx="934982" cy="1763774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TextBox 10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The setup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00000" y="1500000"/>
            <a:ext cx="2200000" cy="700000"/>
          </a:xfrm>
          <a:prstGeom prst="rect">
            <a:avLst/>
          </a:prstGeom>
          <a:solidFill>
            <a:srgbClr val="4FAAB3"/>
          </a:solidFill>
          <a:ln>
            <a:solidFill>
              <a:srgbClr val="4FA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60000" rIns="80000" bIns="6000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Etna"/>
              </a:rPr>
              <a:t>Intervals.icu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00000" y="2400000"/>
            <a:ext cx="2200000" cy="700000"/>
          </a:xfrm>
          <a:prstGeom prst="rect">
            <a:avLst/>
          </a:prstGeom>
          <a:solidFill>
            <a:srgbClr val="10265D"/>
          </a:solidFill>
          <a:ln>
            <a:solidFill>
              <a:srgbClr val="102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60000" rIns="80000" bIns="600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Etna"/>
              </a:rPr>
              <a:t>Azure SQL DB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300000" y="2400000"/>
            <a:ext cx="2000000" cy="700000"/>
          </a:xfrm>
          <a:prstGeom prst="rect">
            <a:avLst/>
          </a:prstGeom>
          <a:solidFill>
            <a:srgbClr val="530080"/>
          </a:solidFill>
          <a:ln>
            <a:solidFill>
              <a:srgbClr val="53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60000" rIns="80000" bIns="6000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Etna"/>
              </a:rPr>
              <a:t>DAB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700000" y="1700000"/>
            <a:ext cx="2700000" cy="700000"/>
          </a:xfrm>
          <a:prstGeom prst="rect">
            <a:avLst/>
          </a:prstGeom>
          <a:solidFill>
            <a:srgbClr val="4FAAB3"/>
          </a:solidFill>
          <a:ln>
            <a:solidFill>
              <a:srgbClr val="4FA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60000" rIns="80000" bIns="6000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Etna"/>
              </a:rPr>
              <a:t>Wellness dashboard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700000" y="3100000"/>
            <a:ext cx="2700000" cy="700000"/>
          </a:xfrm>
          <a:prstGeom prst="rect">
            <a:avLst/>
          </a:prstGeom>
          <a:solidFill>
            <a:srgbClr val="4FAAB3"/>
          </a:solidFill>
          <a:ln>
            <a:solidFill>
              <a:srgbClr val="4FA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60000" rIns="80000" bIns="6000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Etna"/>
              </a:rPr>
              <a:t>Training schedule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FCC31-601F-7DBA-C186-D6A579AEF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7AAE72-191E-66C7-E776-6671B05DE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CF030A-CC6B-F96A-384A-B09BF595C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8069"/>
            <a:ext cx="9144000" cy="4247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5100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9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9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>
            <a:off x="75532" y="2692150"/>
            <a:ext cx="907418" cy="238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9" title="Tentacles-ind.png"/>
          <p:cNvPicPr preferRelativeResize="0"/>
          <p:nvPr/>
        </p:nvPicPr>
        <p:blipFill rotWithShape="1">
          <a:blip r:embed="rId5">
            <a:alphaModFix/>
          </a:blip>
          <a:srcRect l="68941" t="1670" r="12167" b="-504"/>
          <a:stretch/>
        </p:blipFill>
        <p:spPr>
          <a:xfrm rot="477805">
            <a:off x="5342718" y="4076284"/>
            <a:ext cx="971396" cy="16171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9" title="bubbles 2.png"/>
          <p:cNvPicPr preferRelativeResize="0"/>
          <p:nvPr/>
        </p:nvPicPr>
        <p:blipFill rotWithShape="1">
          <a:blip r:embed="rId6">
            <a:alphaModFix/>
          </a:blip>
          <a:srcRect t="47355" r="57354"/>
          <a:stretch/>
        </p:blipFill>
        <p:spPr>
          <a:xfrm rot="-9252631">
            <a:off x="8025075" y="2661525"/>
            <a:ext cx="1103049" cy="160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 title="Tentacles-ind.png"/>
          <p:cNvPicPr preferRelativeResize="0"/>
          <p:nvPr/>
        </p:nvPicPr>
        <p:blipFill rotWithShape="1">
          <a:blip r:embed="rId5">
            <a:alphaModFix/>
          </a:blip>
          <a:srcRect l="11379" t="4220" r="72849" b="-3054"/>
          <a:stretch/>
        </p:blipFill>
        <p:spPr>
          <a:xfrm rot="4189594">
            <a:off x="5772703" y="4106841"/>
            <a:ext cx="810940" cy="1617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9" title="Tentacles-ind.png"/>
          <p:cNvPicPr preferRelativeResize="0"/>
          <p:nvPr/>
        </p:nvPicPr>
        <p:blipFill rotWithShape="1">
          <a:blip r:embed="rId5">
            <a:alphaModFix/>
          </a:blip>
          <a:srcRect l="-179" t="27751" r="87145" b="744"/>
          <a:stretch/>
        </p:blipFill>
        <p:spPr>
          <a:xfrm rot="-3698090">
            <a:off x="5007930" y="4475714"/>
            <a:ext cx="670174" cy="1170053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TextBox 11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Demo: Wellness dashboard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11700" y="1450000"/>
            <a:ext cx="8520600" cy="1900000"/>
          </a:xfrm>
          <a:prstGeom prst="rect">
            <a:avLst/>
          </a:prstGeom>
          <a:solidFill>
            <a:srgbClr val="F4F7FB"/>
          </a:solidFill>
          <a:ln w="19050">
            <a:solidFill>
              <a:srgbClr val="53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530080"/>
                </a:solidFill>
                <a:latin typeface="Etna"/>
              </a:rPr>
              <a:t>[wellness dashboard screenshot — sleep, HRV, fatigue, ramp rate]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11700" y="3450000"/>
            <a:ext cx="85206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Garet"/>
              </a:rPr>
              <a:t>Reads from a DAB view. Refreshes on demand.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0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0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 rot="-954180" flipH="1">
            <a:off x="8260067" y="1823287"/>
            <a:ext cx="837889" cy="220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0" title="Tentacles-ind.png"/>
          <p:cNvPicPr preferRelativeResize="0"/>
          <p:nvPr/>
        </p:nvPicPr>
        <p:blipFill rotWithShape="1">
          <a:blip r:embed="rId5">
            <a:alphaModFix/>
          </a:blip>
          <a:srcRect l="13069" t="-385" r="70220" b="1552"/>
          <a:stretch/>
        </p:blipFill>
        <p:spPr>
          <a:xfrm rot="-4992229">
            <a:off x="8144571" y="4012444"/>
            <a:ext cx="859208" cy="1617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20" title="bubbles 2.png"/>
          <p:cNvPicPr preferRelativeResize="0"/>
          <p:nvPr/>
        </p:nvPicPr>
        <p:blipFill rotWithShape="1">
          <a:blip r:embed="rId6">
            <a:alphaModFix/>
          </a:blip>
          <a:srcRect t="47355" r="57354"/>
          <a:stretch/>
        </p:blipFill>
        <p:spPr>
          <a:xfrm rot="1839941">
            <a:off x="-59600" y="3484000"/>
            <a:ext cx="1103049" cy="1607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20" title="Tentacles-ind.png"/>
          <p:cNvPicPr preferRelativeResize="0"/>
          <p:nvPr/>
        </p:nvPicPr>
        <p:blipFill rotWithShape="1">
          <a:blip r:embed="rId5">
            <a:alphaModFix/>
          </a:blip>
          <a:srcRect l="86642" t="-3013" r="-800" b="2237"/>
          <a:stretch/>
        </p:blipFill>
        <p:spPr>
          <a:xfrm rot="-2277445" flipH="1">
            <a:off x="8526105" y="3368186"/>
            <a:ext cx="727972" cy="1649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0" title="Tentacles-ind.png"/>
          <p:cNvPicPr preferRelativeResize="0"/>
          <p:nvPr/>
        </p:nvPicPr>
        <p:blipFill rotWithShape="1">
          <a:blip r:embed="rId5">
            <a:alphaModFix/>
          </a:blip>
          <a:srcRect l="29514" t="257" r="50007" b="909"/>
          <a:stretch/>
        </p:blipFill>
        <p:spPr>
          <a:xfrm rot="-2544924">
            <a:off x="8319055" y="3593832"/>
            <a:ext cx="1052965" cy="1617187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TextBox 12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Demo: Are we on track?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11700" y="1450000"/>
            <a:ext cx="8520600" cy="1900000"/>
          </a:xfrm>
          <a:prstGeom prst="rect">
            <a:avLst/>
          </a:prstGeom>
          <a:solidFill>
            <a:srgbClr val="F4F7FB"/>
          </a:solidFill>
          <a:ln w="19050">
            <a:solidFill>
              <a:srgbClr val="53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530080"/>
                </a:solidFill>
                <a:latin typeface="Etna"/>
              </a:rPr>
              <a:t>[training schedule view — planned vs actual to CTS]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1700" y="3450000"/>
            <a:ext cx="85206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Garet"/>
              </a:rPr>
              <a:t>Plan, actuals, gap. The 'are we nearly there yet?' answer.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21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21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 rot="-300128" flipH="1">
            <a:off x="8134308" y="2606775"/>
            <a:ext cx="907418" cy="2385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1" title="bubbles 2.png"/>
          <p:cNvPicPr preferRelativeResize="0"/>
          <p:nvPr/>
        </p:nvPicPr>
        <p:blipFill rotWithShape="1">
          <a:blip r:embed="rId5">
            <a:alphaModFix/>
          </a:blip>
          <a:srcRect t="47355" r="57354"/>
          <a:stretch/>
        </p:blipFill>
        <p:spPr>
          <a:xfrm rot="-9252627">
            <a:off x="216531" y="2553922"/>
            <a:ext cx="992638" cy="14469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1" title="Tentacles-ind.png"/>
          <p:cNvPicPr preferRelativeResize="0"/>
          <p:nvPr/>
        </p:nvPicPr>
        <p:blipFill rotWithShape="1">
          <a:blip r:embed="rId6">
            <a:alphaModFix/>
          </a:blip>
          <a:srcRect l="14411" t="-385" r="70221" b="1552"/>
          <a:stretch/>
        </p:blipFill>
        <p:spPr>
          <a:xfrm rot="754882">
            <a:off x="80254" y="3713151"/>
            <a:ext cx="790202" cy="1617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1" title="Tentacles-ind.png"/>
          <p:cNvPicPr preferRelativeResize="0"/>
          <p:nvPr/>
        </p:nvPicPr>
        <p:blipFill rotWithShape="1">
          <a:blip r:embed="rId6">
            <a:alphaModFix/>
          </a:blip>
          <a:srcRect l="86642" t="-3013" r="-800" b="2237"/>
          <a:stretch/>
        </p:blipFill>
        <p:spPr>
          <a:xfrm rot="3469674" flipH="1">
            <a:off x="670980" y="4067354"/>
            <a:ext cx="727975" cy="1649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1" title="Tentacles-ind.png"/>
          <p:cNvPicPr preferRelativeResize="0"/>
          <p:nvPr/>
        </p:nvPicPr>
        <p:blipFill rotWithShape="1">
          <a:blip r:embed="rId6">
            <a:alphaModFix/>
          </a:blip>
          <a:srcRect l="28611" t="257" r="50006" b="909"/>
          <a:stretch/>
        </p:blipFill>
        <p:spPr>
          <a:xfrm rot="3202202">
            <a:off x="267247" y="3999171"/>
            <a:ext cx="1099418" cy="1617204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TextBox 13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10265D"/>
                </a:solidFill>
                <a:latin typeface="Etna"/>
              </a:rPr>
              <a:t>When not to reach for DAB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11700" y="1400000"/>
            <a:ext cx="85206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Heavy business logic — keep it in the database or a real backend.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Public-facing at scale — auth and rate limits need real thought.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Shaped responses — reach for a view or a sproc.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Multi-tenant separation — design it into the schema.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Google Shape;143;p22"/>
          <p:cNvGrpSpPr/>
          <p:nvPr/>
        </p:nvGrpSpPr>
        <p:grpSpPr>
          <a:xfrm>
            <a:off x="-3850" y="-100"/>
            <a:ext cx="4734609" cy="5143600"/>
            <a:chOff x="-3850" y="-100"/>
            <a:chExt cx="4734609" cy="5143600"/>
          </a:xfrm>
        </p:grpSpPr>
        <p:sp>
          <p:nvSpPr>
            <p:cNvPr id="144" name="Google Shape;144;p22"/>
            <p:cNvSpPr/>
            <p:nvPr/>
          </p:nvSpPr>
          <p:spPr>
            <a:xfrm>
              <a:off x="-3850" y="-100"/>
              <a:ext cx="2099400" cy="5143500"/>
            </a:xfrm>
            <a:prstGeom prst="rect">
              <a:avLst/>
            </a:prstGeom>
            <a:solidFill>
              <a:srgbClr val="DEF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2"/>
            <p:cNvSpPr/>
            <p:nvPr/>
          </p:nvSpPr>
          <p:spPr>
            <a:xfrm rot="-5400000">
              <a:off x="801692" y="1214433"/>
              <a:ext cx="5143500" cy="2714634"/>
            </a:xfrm>
            <a:prstGeom prst="flowChartDocument">
              <a:avLst/>
            </a:prstGeom>
            <a:solidFill>
              <a:srgbClr val="DEF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6" name="Google Shape;146;p22" title="Wave.png"/>
          <p:cNvPicPr preferRelativeResize="0"/>
          <p:nvPr/>
        </p:nvPicPr>
        <p:blipFill rotWithShape="1">
          <a:blip r:embed="rId3">
            <a:alphaModFix/>
          </a:blip>
          <a:srcRect l="1896" r="1886" b="41643"/>
          <a:stretch/>
        </p:blipFill>
        <p:spPr>
          <a:xfrm>
            <a:off x="-3837" y="3757275"/>
            <a:ext cx="9151677" cy="1386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2" title="bubbles 2.png"/>
          <p:cNvPicPr preferRelativeResize="0"/>
          <p:nvPr/>
        </p:nvPicPr>
        <p:blipFill rotWithShape="1">
          <a:blip r:embed="rId4">
            <a:alphaModFix/>
          </a:blip>
          <a:srcRect t="47355" r="57354"/>
          <a:stretch/>
        </p:blipFill>
        <p:spPr>
          <a:xfrm rot="2198316">
            <a:off x="8246606" y="2379297"/>
            <a:ext cx="992638" cy="14469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2" title="bubbles.png"/>
          <p:cNvPicPr preferRelativeResize="0"/>
          <p:nvPr/>
        </p:nvPicPr>
        <p:blipFill rotWithShape="1">
          <a:blip r:embed="rId5">
            <a:alphaModFix/>
          </a:blip>
          <a:srcRect l="40507" r="16342"/>
          <a:stretch/>
        </p:blipFill>
        <p:spPr>
          <a:xfrm>
            <a:off x="229150" y="1000625"/>
            <a:ext cx="765850" cy="201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2" title="Tentacles-ind.png"/>
          <p:cNvPicPr preferRelativeResize="0"/>
          <p:nvPr/>
        </p:nvPicPr>
        <p:blipFill rotWithShape="1">
          <a:blip r:embed="rId6">
            <a:alphaModFix/>
          </a:blip>
          <a:srcRect l="13069" t="-385" r="70220" b="1552"/>
          <a:stretch/>
        </p:blipFill>
        <p:spPr>
          <a:xfrm rot="3262027" flipH="1">
            <a:off x="469839" y="4077227"/>
            <a:ext cx="859206" cy="1617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2" title="Tentacles-ind.png"/>
          <p:cNvPicPr preferRelativeResize="0"/>
          <p:nvPr/>
        </p:nvPicPr>
        <p:blipFill rotWithShape="1">
          <a:blip r:embed="rId6">
            <a:alphaModFix/>
          </a:blip>
          <a:srcRect l="86642" t="-3013" r="-800" b="2237"/>
          <a:stretch/>
        </p:blipFill>
        <p:spPr>
          <a:xfrm rot="547276">
            <a:off x="-44339" y="3663256"/>
            <a:ext cx="727970" cy="1649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2" title="Tentacles-ind.png"/>
          <p:cNvPicPr preferRelativeResize="0"/>
          <p:nvPr/>
        </p:nvPicPr>
        <p:blipFill rotWithShape="1">
          <a:blip r:embed="rId6">
            <a:alphaModFix/>
          </a:blip>
          <a:srcRect l="29514" t="257" r="50007" b="909"/>
          <a:stretch/>
        </p:blipFill>
        <p:spPr>
          <a:xfrm rot="814732" flipH="1">
            <a:off x="-66655" y="3841404"/>
            <a:ext cx="1052965" cy="1617186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TextBox 151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Resources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11700" y="1300000"/>
            <a:ext cx="8520600" cy="2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Docs — aka.ms/dab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Repo — github.com/Azure/data-api-builder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Deck + demos — github.com/jpomfret/dab-presentation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A1A"/>
                </a:solidFill>
                <a:latin typeface="Garet"/>
              </a:rPr>
              <a:t>Find me — jesspomfret.com  ·  Jess Pomfret on LinkedIn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Watch this space for the Chase the Sun post-mortem.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1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530080"/>
      </a:accent1>
      <a:accent2>
        <a:srgbClr val="10265D"/>
      </a:accent2>
      <a:accent3>
        <a:srgbClr val="BDECFE"/>
      </a:accent3>
      <a:accent4>
        <a:srgbClr val="4FAAB3"/>
      </a:accent4>
      <a:accent5>
        <a:srgbClr val="FFFFFF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E169094-0DF9-4623-971C-04B5BF1B2B65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c89d7880-8596-43bd-a86d-eaeea3bd708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1472</Words>
  <Application>Microsoft Office PowerPoint</Application>
  <PresentationFormat>On-screen Show (16:9)</PresentationFormat>
  <Paragraphs>178</Paragraphs>
  <Slides>30</Slides>
  <Notes>28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Cascadia Mono</vt:lpstr>
      <vt:lpstr>Etna</vt:lpstr>
      <vt:lpstr>Garet</vt:lpstr>
      <vt:lpstr>Simple Light</vt:lpstr>
      <vt:lpstr>Data API Builder</vt:lpstr>
      <vt:lpstr>Jess Pomfret (She/Her)</vt:lpstr>
      <vt:lpstr>One day someone asked me if I wanted to cycle 205 miles in one day…</vt:lpstr>
      <vt:lpstr>On 20th June, I'm cycling 205 miles.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is Data API Builder?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Demo: dab in 2 mins</vt:lpstr>
      <vt:lpstr>PowerPoint Presentation</vt:lpstr>
      <vt:lpstr>PowerPoint Presentation</vt:lpstr>
      <vt:lpstr>PowerPoint Presentation</vt:lpstr>
      <vt:lpstr>Demo: Chase the Sun tracker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Jess Pomfret</dc:creator>
  <cp:lastModifiedBy>Jess Pomfret</cp:lastModifiedBy>
  <cp:revision>5</cp:revision>
  <dcterms:modified xsi:type="dcterms:W3CDTF">2026-05-04T17:41:41Z</dcterms:modified>
</cp:coreProperties>
</file>