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3.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97" r:id="rId5"/>
    <p:sldMasterId id="2147483695" r:id="rId6"/>
    <p:sldMasterId id="2147483684" r:id="rId7"/>
  </p:sldMasterIdLst>
  <p:notesMasterIdLst>
    <p:notesMasterId r:id="rId33"/>
  </p:notesMasterIdLst>
  <p:handoutMasterIdLst>
    <p:handoutMasterId r:id="rId34"/>
  </p:handoutMasterIdLst>
  <p:sldIdLst>
    <p:sldId id="272" r:id="rId8"/>
    <p:sldId id="259" r:id="rId9"/>
    <p:sldId id="269" r:id="rId10"/>
    <p:sldId id="270" r:id="rId11"/>
    <p:sldId id="273" r:id="rId12"/>
    <p:sldId id="275" r:id="rId13"/>
    <p:sldId id="267" r:id="rId14"/>
    <p:sldId id="330" r:id="rId15"/>
    <p:sldId id="327" r:id="rId16"/>
    <p:sldId id="331" r:id="rId17"/>
    <p:sldId id="333" r:id="rId18"/>
    <p:sldId id="335" r:id="rId19"/>
    <p:sldId id="337" r:id="rId20"/>
    <p:sldId id="339" r:id="rId21"/>
    <p:sldId id="344" r:id="rId22"/>
    <p:sldId id="285" r:id="rId23"/>
    <p:sldId id="321" r:id="rId24"/>
    <p:sldId id="284" r:id="rId25"/>
    <p:sldId id="343" r:id="rId26"/>
    <p:sldId id="264" r:id="rId27"/>
    <p:sldId id="265" r:id="rId28"/>
    <p:sldId id="274" r:id="rId29"/>
    <p:sldId id="271" r:id="rId30"/>
    <p:sldId id="263" r:id="rId31"/>
    <p:sldId id="26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efore the session" id="{9248E0E9-B469-42C5-B521-34DBB63F9E0C}">
          <p14:sldIdLst>
            <p14:sldId id="272"/>
            <p14:sldId id="259"/>
            <p14:sldId id="269"/>
            <p14:sldId id="270"/>
          </p14:sldIdLst>
        </p14:section>
        <p14:section name="The session" id="{9BCE8471-468A-4538-82B3-E4E62B0A593E}">
          <p14:sldIdLst>
            <p14:sldId id="273"/>
            <p14:sldId id="275"/>
            <p14:sldId id="267"/>
            <p14:sldId id="330"/>
            <p14:sldId id="327"/>
            <p14:sldId id="331"/>
            <p14:sldId id="333"/>
            <p14:sldId id="335"/>
            <p14:sldId id="337"/>
            <p14:sldId id="339"/>
            <p14:sldId id="344"/>
            <p14:sldId id="285"/>
            <p14:sldId id="321"/>
            <p14:sldId id="284"/>
            <p14:sldId id="343"/>
            <p14:sldId id="264"/>
            <p14:sldId id="265"/>
            <p14:sldId id="274"/>
          </p14:sldIdLst>
        </p14:section>
        <p14:section name="archive" id="{B37EAA5E-C2E4-48CE-9D96-FF11D3F16E54}">
          <p14:sldIdLst>
            <p14:sldId id="271"/>
            <p14:sldId id="263"/>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E4ED"/>
    <a:srgbClr val="3B2A47"/>
    <a:srgbClr val="3B2B46"/>
    <a:srgbClr val="346297"/>
    <a:srgbClr val="000000"/>
    <a:srgbClr val="FFFFFF"/>
    <a:srgbClr val="346296"/>
    <a:srgbClr val="E646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9DF284-ECBD-EE42-323A-0CB3009BCB25}" v="1" dt="2026-03-15T16:37:15.4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4125" autoAdjust="0"/>
  </p:normalViewPr>
  <p:slideViewPr>
    <p:cSldViewPr snapToGrid="0">
      <p:cViewPr varScale="1">
        <p:scale>
          <a:sx n="116" d="100"/>
          <a:sy n="116" d="100"/>
        </p:scale>
        <p:origin x="653"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microsoft.com/office/2015/10/relationships/revisionInfo" Target="revisionInfo.xml"/><Relationship Id="rId21" Type="http://schemas.openxmlformats.org/officeDocument/2006/relationships/slide" Target="slides/slide14.xml"/><Relationship Id="rId34" Type="http://schemas.openxmlformats.org/officeDocument/2006/relationships/handoutMaster" Target="handoutMasters/handoutMaster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presProps" Target="presProps.xml"/><Relationship Id="rId8" Type="http://schemas.openxmlformats.org/officeDocument/2006/relationships/slide" Target="slides/slide1.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ABDC4E67-8CB2-26CB-9842-22F9A691D93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CE31EB5F-53B0-CDA3-72A4-3FA9BE40D0E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440670-43D7-400A-ABC5-B69E064DBB37}" type="datetimeFigureOut">
              <a:rPr lang="en-GB" smtClean="0"/>
              <a:t>16/05/2026</a:t>
            </a:fld>
            <a:endParaRPr lang="en-GB"/>
          </a:p>
        </p:txBody>
      </p:sp>
      <p:sp>
        <p:nvSpPr>
          <p:cNvPr id="4" name="Espace réservé du pied de page 3">
            <a:extLst>
              <a:ext uri="{FF2B5EF4-FFF2-40B4-BE49-F238E27FC236}">
                <a16:creationId xmlns:a16="http://schemas.microsoft.com/office/drawing/2014/main" id="{00EB1E06-E4F0-A1A2-1EFB-AD58FA1AF7A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47061963-6110-4C16-C593-C8C56E4881C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8274045-2E90-4839-9E75-1C1FCF04B584}" type="slidenum">
              <a:rPr lang="en-GB" smtClean="0"/>
              <a:t>‹#›</a:t>
            </a:fld>
            <a:endParaRPr lang="en-GB"/>
          </a:p>
        </p:txBody>
      </p:sp>
    </p:spTree>
    <p:extLst>
      <p:ext uri="{BB962C8B-B14F-4D97-AF65-F5344CB8AC3E}">
        <p14:creationId xmlns:p14="http://schemas.microsoft.com/office/powerpoint/2010/main" val="21401830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1B03A4-75C9-4E3D-9183-2102CA9AEC33}" type="datetimeFigureOut">
              <a:rPr lang="en-GB" smtClean="0"/>
              <a:t>16/05/2026</a:t>
            </a:fld>
            <a:endParaRPr lang="en-GB"/>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839206-A81D-4F76-8486-302187992F73}" type="slidenum">
              <a:rPr lang="en-GB" smtClean="0"/>
              <a:t>‹#›</a:t>
            </a:fld>
            <a:endParaRPr lang="en-GB"/>
          </a:p>
        </p:txBody>
      </p:sp>
    </p:spTree>
    <p:extLst>
      <p:ext uri="{BB962C8B-B14F-4D97-AF65-F5344CB8AC3E}">
        <p14:creationId xmlns:p14="http://schemas.microsoft.com/office/powerpoint/2010/main" val="3230807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en.wikipedia.org/wiki/High-bandwidth_Digital_Content_Protection" TargetMode="External"/><Relationship Id="rId2" Type="http://schemas.openxmlformats.org/officeDocument/2006/relationships/slide" Target="../slides/slide23.xml"/><Relationship Id="rId1" Type="http://schemas.openxmlformats.org/officeDocument/2006/relationships/notesMaster" Target="../notesMasters/notesMaster1.xml"/><Relationship Id="rId5" Type="http://schemas.openxmlformats.org/officeDocument/2006/relationships/hyperlink" Target="https://vimeo.com/thorstenbutz/byourself" TargetMode="External"/><Relationship Id="rId4" Type="http://schemas.openxmlformats.org/officeDocument/2006/relationships/image" Target="../media/image25.png"/></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1</a:t>
            </a:fld>
            <a:endParaRPr lang="en-GB"/>
          </a:p>
        </p:txBody>
      </p:sp>
    </p:spTree>
    <p:extLst>
      <p:ext uri="{BB962C8B-B14F-4D97-AF65-F5344CB8AC3E}">
        <p14:creationId xmlns:p14="http://schemas.microsoft.com/office/powerpoint/2010/main" val="3020269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2</a:t>
            </a:fld>
            <a:endParaRPr lang="en-GB"/>
          </a:p>
        </p:txBody>
      </p:sp>
    </p:spTree>
    <p:extLst>
      <p:ext uri="{BB962C8B-B14F-4D97-AF65-F5344CB8AC3E}">
        <p14:creationId xmlns:p14="http://schemas.microsoft.com/office/powerpoint/2010/main" val="41985348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3</a:t>
            </a:fld>
            <a:endParaRPr lang="en-GB"/>
          </a:p>
        </p:txBody>
      </p:sp>
    </p:spTree>
    <p:extLst>
      <p:ext uri="{BB962C8B-B14F-4D97-AF65-F5344CB8AC3E}">
        <p14:creationId xmlns:p14="http://schemas.microsoft.com/office/powerpoint/2010/main" val="188273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4</a:t>
            </a:fld>
            <a:endParaRPr lang="en-GB"/>
          </a:p>
        </p:txBody>
      </p:sp>
    </p:spTree>
    <p:extLst>
      <p:ext uri="{BB962C8B-B14F-4D97-AF65-F5344CB8AC3E}">
        <p14:creationId xmlns:p14="http://schemas.microsoft.com/office/powerpoint/2010/main" val="21667267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a:p>
        </p:txBody>
      </p:sp>
      <p:sp>
        <p:nvSpPr>
          <p:cNvPr id="4" name="Espace réservé du numéro de diapositive 3"/>
          <p:cNvSpPr>
            <a:spLocks noGrp="1"/>
          </p:cNvSpPr>
          <p:nvPr>
            <p:ph type="sldNum" sz="quarter" idx="5"/>
          </p:nvPr>
        </p:nvSpPr>
        <p:spPr/>
        <p:txBody>
          <a:bodyPr/>
          <a:lstStyle/>
          <a:p>
            <a:fld id="{A7839206-A81D-4F76-8486-302187992F73}" type="slidenum">
              <a:rPr lang="en-GB" smtClean="0"/>
              <a:t>6</a:t>
            </a:fld>
            <a:endParaRPr lang="en-GB"/>
          </a:p>
        </p:txBody>
      </p:sp>
    </p:spTree>
    <p:extLst>
      <p:ext uri="{BB962C8B-B14F-4D97-AF65-F5344CB8AC3E}">
        <p14:creationId xmlns:p14="http://schemas.microsoft.com/office/powerpoint/2010/main" val="5296006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7839206-A81D-4F76-8486-302187992F73}" type="slidenum">
              <a:rPr lang="en-GB" smtClean="0"/>
              <a:t>8</a:t>
            </a:fld>
            <a:endParaRPr lang="en-GB"/>
          </a:p>
        </p:txBody>
      </p:sp>
    </p:spTree>
    <p:extLst>
      <p:ext uri="{BB962C8B-B14F-4D97-AF65-F5344CB8AC3E}">
        <p14:creationId xmlns:p14="http://schemas.microsoft.com/office/powerpoint/2010/main" val="9018004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this session is about DAB – Data API Builder</a:t>
            </a:r>
          </a:p>
          <a:p>
            <a:r>
              <a:rPr lang="en-GB" dirty="0"/>
              <a:t>We’re going to cover what it is – and why we care as PowerShell professionals</a:t>
            </a:r>
          </a:p>
          <a:p>
            <a:endParaRPr lang="en-GB" dirty="0"/>
          </a:p>
          <a:p>
            <a:r>
              <a:rPr lang="en-GB" dirty="0"/>
              <a:t>But while I was building this session – I was struck with an idea – some will call it procrastination</a:t>
            </a:r>
          </a:p>
          <a:p>
            <a:endParaRPr lang="en-GB" dirty="0"/>
          </a:p>
          <a:p>
            <a:r>
              <a:rPr lang="en-GB" dirty="0"/>
              <a:t>How could I show how great DAB is? Well a fun side project of course!</a:t>
            </a:r>
          </a:p>
          <a:p>
            <a:endParaRPr lang="en-GB" dirty="0"/>
          </a:p>
          <a:p>
            <a:endParaRPr lang="en-GB" dirty="0"/>
          </a:p>
        </p:txBody>
      </p:sp>
      <p:sp>
        <p:nvSpPr>
          <p:cNvPr id="4" name="Slide Number Placeholder 3"/>
          <p:cNvSpPr>
            <a:spLocks noGrp="1"/>
          </p:cNvSpPr>
          <p:nvPr>
            <p:ph type="sldNum" sz="quarter" idx="5"/>
          </p:nvPr>
        </p:nvSpPr>
        <p:spPr/>
        <p:txBody>
          <a:bodyPr/>
          <a:lstStyle/>
          <a:p>
            <a:fld id="{A7839206-A81D-4F76-8486-302187992F73}" type="slidenum">
              <a:rPr lang="en-GB" smtClean="0"/>
              <a:t>16</a:t>
            </a:fld>
            <a:endParaRPr lang="en-GB"/>
          </a:p>
        </p:txBody>
      </p:sp>
    </p:spTree>
    <p:extLst>
      <p:ext uri="{BB962C8B-B14F-4D97-AF65-F5344CB8AC3E}">
        <p14:creationId xmlns:p14="http://schemas.microsoft.com/office/powerpoint/2010/main" val="16336479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I built this…</a:t>
            </a:r>
          </a:p>
          <a:p>
            <a:endParaRPr lang="en-GB" dirty="0"/>
          </a:p>
          <a:p>
            <a:r>
              <a:rPr lang="en-GB" dirty="0"/>
              <a:t>Centred around Data API Builder which</a:t>
            </a:r>
          </a:p>
        </p:txBody>
      </p:sp>
      <p:sp>
        <p:nvSpPr>
          <p:cNvPr id="4" name="Slide Number Placeholder 3"/>
          <p:cNvSpPr>
            <a:spLocks noGrp="1"/>
          </p:cNvSpPr>
          <p:nvPr>
            <p:ph type="sldNum" sz="quarter" idx="5"/>
          </p:nvPr>
        </p:nvSpPr>
        <p:spPr/>
        <p:txBody>
          <a:bodyPr/>
          <a:lstStyle/>
          <a:p>
            <a:fld id="{A7839206-A81D-4F76-8486-302187992F73}" type="slidenum">
              <a:rPr lang="en-GB" smtClean="0"/>
              <a:t>17</a:t>
            </a:fld>
            <a:endParaRPr lang="en-GB"/>
          </a:p>
        </p:txBody>
      </p:sp>
    </p:spTree>
    <p:extLst>
      <p:ext uri="{BB962C8B-B14F-4D97-AF65-F5344CB8AC3E}">
        <p14:creationId xmlns:p14="http://schemas.microsoft.com/office/powerpoint/2010/main" val="13689220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a:p>
        </p:txBody>
      </p:sp>
      <p:sp>
        <p:nvSpPr>
          <p:cNvPr id="4" name="Espace réservé du numéro de diapositive 3"/>
          <p:cNvSpPr>
            <a:spLocks noGrp="1"/>
          </p:cNvSpPr>
          <p:nvPr>
            <p:ph type="sldNum" sz="quarter" idx="5"/>
          </p:nvPr>
        </p:nvSpPr>
        <p:spPr/>
        <p:txBody>
          <a:bodyPr/>
          <a:lstStyle/>
          <a:p>
            <a:fld id="{A7839206-A81D-4F76-8486-302187992F73}" type="slidenum">
              <a:rPr lang="en-GB" smtClean="0"/>
              <a:t>22</a:t>
            </a:fld>
            <a:endParaRPr lang="en-GB"/>
          </a:p>
        </p:txBody>
      </p:sp>
    </p:spTree>
    <p:extLst>
      <p:ext uri="{BB962C8B-B14F-4D97-AF65-F5344CB8AC3E}">
        <p14:creationId xmlns:p14="http://schemas.microsoft.com/office/powerpoint/2010/main" val="16863083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a:xfrm>
            <a:off x="685800" y="4400549"/>
            <a:ext cx="2743200" cy="4467225"/>
          </a:xfrm>
        </p:spPr>
        <p:txBody>
          <a:bodyPr/>
          <a:lstStyle/>
          <a:p>
            <a:pPr>
              <a:lnSpc>
                <a:spcPct val="110000"/>
              </a:lnSpc>
            </a:pPr>
            <a:r>
              <a:rPr lang="en-US" sz="900" b="1">
                <a:latin typeface="Aptos" panose="020B0004020202020204" pitchFamily="34" charset="0"/>
              </a:rPr>
              <a:t>The fine print (additional information)</a:t>
            </a: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Why should you care about HDCP? </a:t>
            </a: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a:t>
            </a:r>
            <a:r>
              <a:rPr lang="en-US" sz="900" i="1">
                <a:latin typeface="Aptos" panose="020B0004020202020204" pitchFamily="34" charset="0"/>
              </a:rPr>
              <a:t>High-bandwidth Digital Content Protection (HDCP) is a form of digital copy protection developed by Intel Corporation to prevent copying of digital audio and video content as it travels across connections. Types of connections include DisplayPort (DP), Digital Visual Interface (DVI), and High-Definition Multimedia Interface (HDMI), as well as less popular or now deprecated protocols like Gigabit Video Interface (GVIF) and Unified Display Interface (UDI).</a:t>
            </a:r>
            <a:r>
              <a:rPr lang="en-US" sz="900">
                <a:latin typeface="Aptos" panose="020B0004020202020204" pitchFamily="34" charset="0"/>
              </a:rPr>
              <a:t>"</a:t>
            </a:r>
          </a:p>
          <a:p>
            <a:pPr>
              <a:lnSpc>
                <a:spcPct val="110000"/>
              </a:lnSpc>
            </a:pPr>
            <a:r>
              <a:rPr lang="de-DE" sz="900">
                <a:latin typeface="Aptos" panose="020B0004020202020204" pitchFamily="34" charset="0"/>
                <a:hlinkClick r:id="rId3"/>
              </a:rPr>
              <a:t>https://en.wikipedia.org/wiki/High-bandwidth_Digital_Content_Protection</a:t>
            </a:r>
            <a:endParaRPr lang="de-DE" sz="900">
              <a:latin typeface="Aptos" panose="020B0004020202020204" pitchFamily="34" charset="0"/>
            </a:endParaRPr>
          </a:p>
          <a:p>
            <a:pPr>
              <a:lnSpc>
                <a:spcPct val="110000"/>
              </a:lnSpc>
            </a:pPr>
            <a:endParaRPr lang="de-DE" sz="900">
              <a:latin typeface="Aptos" panose="020B0004020202020204" pitchFamily="34" charset="0"/>
            </a:endParaRPr>
          </a:p>
          <a:p>
            <a:pPr>
              <a:lnSpc>
                <a:spcPct val="110000"/>
              </a:lnSpc>
            </a:pPr>
            <a:r>
              <a:rPr lang="de-DE" sz="900">
                <a:latin typeface="Aptos" panose="020B0004020202020204" pitchFamily="34" charset="0"/>
              </a:rPr>
              <a:t>Some notebooks ignore the HDCP standard, some vendors comply with the standard. Apple and Microsoft are somehow famous for strictly following the HDCP guidelines. Sadly, we will not be able to guarantee, that your session can be recorded in the latter case.</a:t>
            </a:r>
          </a:p>
          <a:p>
            <a:pPr>
              <a:lnSpc>
                <a:spcPct val="110000"/>
              </a:lnSpc>
            </a:pPr>
            <a:endParaRPr lang="de-DE" sz="900">
              <a:latin typeface="Aptos" panose="020B0004020202020204" pitchFamily="34" charset="0"/>
            </a:endParaRPr>
          </a:p>
          <a:p>
            <a:pPr>
              <a:lnSpc>
                <a:spcPct val="110000"/>
              </a:lnSpc>
            </a:pPr>
            <a:r>
              <a:rPr lang="de-DE" sz="900">
                <a:latin typeface="Aptos" panose="020B0004020202020204" pitchFamily="34" charset="0"/>
              </a:rPr>
              <a:t>But you can do simple things, to  overcome these problems. </a:t>
            </a:r>
            <a:r>
              <a:rPr lang="en-US" sz="900">
                <a:latin typeface="Aptos" panose="020B0004020202020204" pitchFamily="34" charset="0"/>
              </a:rPr>
              <a:t>It is also very likely that you presented with your notebook before. So you will know, if this worked fine.If you are in doubt and if the agenda allows, try a dry-run a day before and connect everything.</a:t>
            </a:r>
          </a:p>
          <a:p>
            <a:pPr>
              <a:lnSpc>
                <a:spcPct val="110000"/>
              </a:lnSpc>
            </a:pPr>
            <a:endParaRPr lang="en-US" sz="900">
              <a:latin typeface="Aptos" panose="020B0004020202020204" pitchFamily="34" charset="0"/>
            </a:endParaRPr>
          </a:p>
          <a:p>
            <a:pPr>
              <a:lnSpc>
                <a:spcPct val="110000"/>
              </a:lnSpc>
            </a:pPr>
            <a:endParaRPr lang="de-DE" sz="900">
              <a:latin typeface="Aptos" panose="020B0004020202020204" pitchFamily="34" charset="0"/>
            </a:endParaRPr>
          </a:p>
        </p:txBody>
      </p:sp>
      <p:sp>
        <p:nvSpPr>
          <p:cNvPr id="4" name="Foliennummernplatzhalter 3"/>
          <p:cNvSpPr>
            <a:spLocks noGrp="1"/>
          </p:cNvSpPr>
          <p:nvPr>
            <p:ph type="sldNum" sz="quarter" idx="5"/>
          </p:nvPr>
        </p:nvSpPr>
        <p:spPr/>
        <p:txBody>
          <a:bodyPr/>
          <a:lstStyle/>
          <a:p>
            <a:fld id="{A7839206-A81D-4F76-8486-302187992F73}" type="slidenum">
              <a:rPr lang="en-GB" smtClean="0"/>
              <a:t>23</a:t>
            </a:fld>
            <a:endParaRPr lang="en-GB"/>
          </a:p>
        </p:txBody>
      </p:sp>
      <p:pic>
        <p:nvPicPr>
          <p:cNvPr id="5" name="Grafik 4" descr="https://www.amazon.de/gp/product/B09F2N17H5/ref=ppx_yo_dt_b_asin_title_o09_s00">
            <a:extLst>
              <a:ext uri="{FF2B5EF4-FFF2-40B4-BE49-F238E27FC236}">
                <a16:creationId xmlns:a16="http://schemas.microsoft.com/office/drawing/2014/main" id="{E466A8E6-289E-2C4E-027A-1D532F5BF0BF}"/>
              </a:ext>
            </a:extLst>
          </p:cNvPr>
          <p:cNvPicPr>
            <a:picLocks noChangeAspect="1"/>
          </p:cNvPicPr>
          <p:nvPr/>
        </p:nvPicPr>
        <p:blipFill>
          <a:blip r:embed="rId4"/>
          <a:stretch>
            <a:fillRect/>
          </a:stretch>
        </p:blipFill>
        <p:spPr>
          <a:xfrm>
            <a:off x="3699256" y="5256530"/>
            <a:ext cx="2202687" cy="1967734"/>
          </a:xfrm>
          <a:prstGeom prst="rect">
            <a:avLst/>
          </a:prstGeom>
        </p:spPr>
      </p:pic>
      <p:sp>
        <p:nvSpPr>
          <p:cNvPr id="6" name="Notizenplatzhalter 2">
            <a:extLst>
              <a:ext uri="{FF2B5EF4-FFF2-40B4-BE49-F238E27FC236}">
                <a16:creationId xmlns:a16="http://schemas.microsoft.com/office/drawing/2014/main" id="{6C2E4E82-CC92-21BA-6CC9-5E1EC16B971C}"/>
              </a:ext>
            </a:extLst>
          </p:cNvPr>
          <p:cNvSpPr txBox="1">
            <a:spLocks/>
          </p:cNvSpPr>
          <p:nvPr/>
        </p:nvSpPr>
        <p:spPr>
          <a:xfrm>
            <a:off x="3429000" y="4400548"/>
            <a:ext cx="2743200" cy="4467225"/>
          </a:xfrm>
          <a:prstGeom prst="rect">
            <a:avLst/>
          </a:prstGeom>
        </p:spPr>
        <p:txBody>
          <a:bodyPr vert="horz" lIns="91440" tIns="45720" rIns="91440" bIns="45720" rtlCol="0"/>
          <a:lst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a:lstStyle>
          <a:p>
            <a:pPr>
              <a:lnSpc>
                <a:spcPct val="110000"/>
              </a:lnSpc>
            </a:pPr>
            <a:r>
              <a:rPr lang="en-US" sz="900">
                <a:latin typeface="Aptos" panose="020B0004020202020204" pitchFamily="34" charset="0"/>
              </a:rPr>
              <a:t>In general you can easily bypass HDCP restrictions with a cheap splitter (the cheaper the better), just like the one you see below. This is an example device that we bought for 16 euros (in Germany). </a:t>
            </a:r>
          </a:p>
          <a:p>
            <a:pPr>
              <a:lnSpc>
                <a:spcPct val="110000"/>
              </a:lnSpc>
            </a:pPr>
            <a:r>
              <a:rPr lang="en-US" sz="900">
                <a:latin typeface="Aptos" panose="020B0004020202020204" pitchFamily="34" charset="0"/>
              </a:rPr>
              <a:t>Ask us, we will lend you such a device.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Thorsten also gave a whole presentation about "Broadcasting yourself" -  easy steps to record yourself and create a (backup) session recording on your own. If you want to invest your time and dive deeper, take a look at his recordings and notes:</a:t>
            </a:r>
            <a:endParaRPr lang="de-DE" sz="900">
              <a:latin typeface="Aptos" panose="020B0004020202020204" pitchFamily="34" charset="0"/>
            </a:endParaRPr>
          </a:p>
          <a:p>
            <a:pPr>
              <a:lnSpc>
                <a:spcPct val="110000"/>
              </a:lnSpc>
              <a:spcAft>
                <a:spcPts val="1000"/>
              </a:spcAft>
            </a:pPr>
            <a:r>
              <a:rPr lang="de-DE" sz="900">
                <a:latin typeface="Aptos" panose="020B0004020202020204" pitchFamily="34" charset="0"/>
                <a:hlinkClick r:id="rId5"/>
              </a:rPr>
              <a:t>https://vimeo.com/thorstenbutz/byourself</a:t>
            </a:r>
            <a:endParaRPr lang="de-DE" sz="900">
              <a:latin typeface="Aptos" panose="020B0004020202020204" pitchFamily="34" charset="0"/>
            </a:endParaRPr>
          </a:p>
          <a:p>
            <a:pPr>
              <a:lnSpc>
                <a:spcPct val="110000"/>
              </a:lnSpc>
            </a:pPr>
            <a:r>
              <a:rPr lang="en-US" sz="900">
                <a:latin typeface="Aptos" panose="020B0004020202020204" pitchFamily="34" charset="0"/>
              </a:rPr>
              <a:t>This is of course completely voluntary, but perhaps you will find it helpful.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de-DE" sz="900">
              <a:latin typeface="Aptos" panose="020B0004020202020204" pitchFamily="34" charset="0"/>
            </a:endParaRPr>
          </a:p>
          <a:p>
            <a:pPr>
              <a:lnSpc>
                <a:spcPct val="110000"/>
              </a:lnSpc>
            </a:pPr>
            <a:endParaRPr lang="en-DE" sz="900">
              <a:latin typeface="Aptos" panose="020B0004020202020204" pitchFamily="34" charset="0"/>
            </a:endParaRPr>
          </a:p>
        </p:txBody>
      </p:sp>
    </p:spTree>
    <p:extLst>
      <p:ext uri="{BB962C8B-B14F-4D97-AF65-F5344CB8AC3E}">
        <p14:creationId xmlns:p14="http://schemas.microsoft.com/office/powerpoint/2010/main" val="4140272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s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0342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nly black">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341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ly blue">
    <p:bg>
      <p:bgPr>
        <a:solidFill>
          <a:srgbClr val="346297"/>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8615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ly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1666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s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5659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49385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044C786-AD10-7D88-1933-9D7659D256DF}"/>
              </a:ext>
            </a:extLst>
          </p:cNvPr>
          <p:cNvSpPr>
            <a:spLocks noGrp="1"/>
          </p:cNvSpPr>
          <p:nvPr>
            <p:ph idx="1"/>
          </p:nvPr>
        </p:nvSpPr>
        <p:spPr>
          <a:xfrm>
            <a:off x="3467314" y="1852863"/>
            <a:ext cx="7886486" cy="4324100"/>
          </a:xfrm>
          <a:prstGeom prst="rect">
            <a:avLst/>
          </a:prstGeom>
        </p:spPr>
        <p:txBody>
          <a:bodyPr vert="horz" lIns="91440" tIns="45720" rIns="91440" bIns="45720" rtlCol="0">
            <a:normAutofit/>
          </a:bodyPr>
          <a:lstStyle/>
          <a:p>
            <a:pPr lvl="0"/>
            <a:r>
              <a:rPr lang="en-US"/>
              <a:t>Your bio</a:t>
            </a:r>
            <a:endParaRPr lang="en-GB"/>
          </a:p>
        </p:txBody>
      </p:sp>
      <p:sp>
        <p:nvSpPr>
          <p:cNvPr id="4" name="Title Placeholder 1">
            <a:extLst>
              <a:ext uri="{FF2B5EF4-FFF2-40B4-BE49-F238E27FC236}">
                <a16:creationId xmlns:a16="http://schemas.microsoft.com/office/drawing/2014/main" id="{1BA7B894-6BCA-2B29-BA04-8AAB1735BFFD}"/>
              </a:ext>
            </a:extLst>
          </p:cNvPr>
          <p:cNvSpPr>
            <a:spLocks noGrp="1"/>
          </p:cNvSpPr>
          <p:nvPr>
            <p:ph type="title"/>
          </p:nvPr>
        </p:nvSpPr>
        <p:spPr>
          <a:xfrm>
            <a:off x="3467313" y="324853"/>
            <a:ext cx="7886485" cy="1325563"/>
          </a:xfrm>
          <a:prstGeom prst="rect">
            <a:avLst/>
          </a:prstGeom>
        </p:spPr>
        <p:txBody>
          <a:bodyPr vert="horz" lIns="91440" tIns="45720" rIns="91440" bIns="45720" rtlCol="0" anchor="ctr">
            <a:normAutofit/>
          </a:bodyPr>
          <a:lstStyle/>
          <a:p>
            <a:r>
              <a:rPr lang="en-US"/>
              <a:t>Speaker’s name</a:t>
            </a:r>
            <a:endParaRPr lang="en-GB"/>
          </a:p>
        </p:txBody>
      </p:sp>
    </p:spTree>
    <p:extLst>
      <p:ext uri="{BB962C8B-B14F-4D97-AF65-F5344CB8AC3E}">
        <p14:creationId xmlns:p14="http://schemas.microsoft.com/office/powerpoint/2010/main" val="16033740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GB" smtClean="0"/>
              <a:pPr algn="r"/>
              <a:t>‹#›</a:t>
            </a:fld>
            <a:endParaRPr lang="en-GB"/>
          </a:p>
        </p:txBody>
      </p:sp>
    </p:spTree>
    <p:extLst>
      <p:ext uri="{BB962C8B-B14F-4D97-AF65-F5344CB8AC3E}">
        <p14:creationId xmlns:p14="http://schemas.microsoft.com/office/powerpoint/2010/main" val="3499684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FF0C1-723F-8331-7203-2AD1CA3085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200EBD9-8D5A-98D4-BC92-CE5E1C7560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141723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3D202-8931-7832-6C93-86B82B68652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25BBC0C-D418-7F75-653D-7BD01A94CB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2802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93987-4D9C-734A-F0DD-FA7C5E5BFD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48C8F2A-06F7-926F-11A3-0E18B5E012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476032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9D26B-2105-B752-1559-A5E7E358065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0CB2030-5E24-3C76-AF6E-BEABDB29D9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10EF88D-DEBE-FA6D-7C2B-49DE203B99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530253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0F04B-2070-B32A-26F9-689ACEB1798E}"/>
              </a:ext>
            </a:extLst>
          </p:cNvPr>
          <p:cNvSpPr>
            <a:spLocks noGrp="1"/>
          </p:cNvSpPr>
          <p:nvPr>
            <p:ph type="title"/>
          </p:nvPr>
        </p:nvSpPr>
        <p:spPr>
          <a:xfrm>
            <a:off x="839788" y="365125"/>
            <a:ext cx="9721532"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4351C8F-389D-6D1D-529E-8F7B5D2561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7AB8FD-3AC0-420A-CD1A-4BB2C4DEB2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2E0881B-0B39-A9CB-08B8-7FA6C0D98A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27CCB1-27F7-D503-AC18-183950FAE8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2547285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E4D49-1A5A-DFCF-8CA7-93B2889E2B5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1650198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04708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1FA22-F0C4-1510-0E4C-953C802C4E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786368D-1D41-F3F9-3D07-85EFF2CFBC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B83765E-1500-5380-7D29-9BED9AFAFC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9641347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19606-9316-A7A0-65BC-635A494F00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3637042-5D0D-C650-5659-376D12BF8F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9EF090A-47F3-1576-D5A3-105EE33762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074897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3B042-3840-06BB-E1DF-E9094D81989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DCC1C5E-7112-083E-8A66-4B30A4DD39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02736460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8.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image" Target="../media/image5.svg"/><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image" Target="../media/image1.png"/><Relationship Id="rId2" Type="http://schemas.openxmlformats.org/officeDocument/2006/relationships/slideLayout" Target="../slideLayouts/slideLayout10.xml"/><Relationship Id="rId16" Type="http://schemas.openxmlformats.org/officeDocument/2006/relationships/image" Target="../media/image4.png"/><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theme" Target="../theme/theme4.xml"/><Relationship Id="rId5" Type="http://schemas.openxmlformats.org/officeDocument/2006/relationships/slideLayout" Target="../slideLayouts/slideLayout13.xml"/><Relationship Id="rId15" Type="http://schemas.openxmlformats.org/officeDocument/2006/relationships/image" Target="../media/image7.svg"/><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Image 13" descr="Une image contenant texte  Description générée automatiquement">
            <a:extLst>
              <a:ext uri="{FF2B5EF4-FFF2-40B4-BE49-F238E27FC236}">
                <a16:creationId xmlns:a16="http://schemas.microsoft.com/office/drawing/2014/main" id="{46B6AA1A-3151-3AC2-83FB-1C6A4D626CEE}"/>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pic>
        <p:nvPicPr>
          <p:cNvPr id="3" name="Image 2">
            <a:extLst>
              <a:ext uri="{FF2B5EF4-FFF2-40B4-BE49-F238E27FC236}">
                <a16:creationId xmlns:a16="http://schemas.microsoft.com/office/drawing/2014/main" id="{E38E8CAF-D224-9556-511F-8D65E9383F2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010591" y="137310"/>
            <a:ext cx="4166241" cy="1426795"/>
          </a:xfrm>
          <a:prstGeom prst="rect">
            <a:avLst/>
          </a:prstGeom>
        </p:spPr>
      </p:pic>
      <p:pic>
        <p:nvPicPr>
          <p:cNvPr id="8" name="Image 7" descr="Une image contenant Police, Graphique, typographie, graphisme  Le contenu généré par l’IA peut être incorrect.">
            <a:extLst>
              <a:ext uri="{FF2B5EF4-FFF2-40B4-BE49-F238E27FC236}">
                <a16:creationId xmlns:a16="http://schemas.microsoft.com/office/drawing/2014/main" id="{B287398A-20D9-4E87-9997-CB57AB2CCEE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08900" y="6074646"/>
            <a:ext cx="2471121" cy="372258"/>
          </a:xfrm>
          <a:prstGeom prst="rect">
            <a:avLst/>
          </a:prstGeom>
        </p:spPr>
      </p:pic>
    </p:spTree>
    <p:extLst>
      <p:ext uri="{BB962C8B-B14F-4D97-AF65-F5344CB8AC3E}">
        <p14:creationId xmlns:p14="http://schemas.microsoft.com/office/powerpoint/2010/main" val="1739929472"/>
      </p:ext>
    </p:extLst>
  </p:cSld>
  <p:clrMap bg1="lt1" tx1="dk1" bg2="lt2" tx2="dk2" accent1="accent1" accent2="accent2" accent3="accent3" accent4="accent4" accent5="accent5" accent6="accent6" hlink="hlink" folHlink="folHlink"/>
  <p:sldLayoutIdLst>
    <p:sldLayoutId id="2147483649" r:id="rId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el 1">
            <a:extLst>
              <a:ext uri="{FF2B5EF4-FFF2-40B4-BE49-F238E27FC236}">
                <a16:creationId xmlns:a16="http://schemas.microsoft.com/office/drawing/2014/main" id="{427B60B6-58D4-7B9F-C29A-CE66AF93F596}"/>
              </a:ext>
            </a:extLst>
          </p:cNvPr>
          <p:cNvSpPr txBox="1">
            <a:spLocks/>
          </p:cNvSpPr>
          <p:nvPr userDrawn="1"/>
        </p:nvSpPr>
        <p:spPr>
          <a:xfrm>
            <a:off x="0" y="1"/>
            <a:ext cx="12192000" cy="6858000"/>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e-DE" sz="25000">
                <a:latin typeface="Stencil" panose="040409050D0802020404" pitchFamily="82" charset="0"/>
              </a:rPr>
              <a:t> </a:t>
            </a:r>
            <a:endParaRPr lang="en-DE" sz="25000">
              <a:latin typeface="Stencil" panose="040409050D0802020404" pitchFamily="82" charset="0"/>
            </a:endParaRPr>
          </a:p>
        </p:txBody>
      </p:sp>
    </p:spTree>
    <p:extLst>
      <p:ext uri="{BB962C8B-B14F-4D97-AF65-F5344CB8AC3E}">
        <p14:creationId xmlns:p14="http://schemas.microsoft.com/office/powerpoint/2010/main" val="2018877621"/>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descr="Une image contenant texte  Description générée automatiquement">
            <a:extLst>
              <a:ext uri="{FF2B5EF4-FFF2-40B4-BE49-F238E27FC236}">
                <a16:creationId xmlns:a16="http://schemas.microsoft.com/office/drawing/2014/main" id="{E6A8F4F5-7628-E9E8-23A7-09169C6794F7}"/>
              </a:ext>
            </a:extLst>
          </p:cNvPr>
          <p:cNvPicPr>
            <a:picLocks noGrp="1" noRot="1" noMove="1" noResize="1" noEditPoints="1" noAdjustHandles="1" noChangeArrowheads="1" noChangeShapeType="1" noCrop="1"/>
          </p:cNvPicPr>
          <p:nvPr userDrawn="1"/>
        </p:nvPicPr>
        <p:blipFill>
          <a:blip r:embed="rId4">
            <a:extLst>
              <a:ext uri="{28A0092B-C50C-407E-A947-70E740481C1C}">
                <a14:useLocalDpi xmlns:a14="http://schemas.microsoft.com/office/drawing/2010/main" val="0"/>
              </a:ext>
            </a:extLst>
          </a:blip>
          <a:stretch>
            <a:fillRect/>
          </a:stretch>
        </p:blipFill>
        <p:spPr>
          <a:xfrm>
            <a:off x="2369" y="0"/>
            <a:ext cx="12189631" cy="6858000"/>
          </a:xfrm>
          <a:prstGeom prst="rect">
            <a:avLst/>
          </a:prstGeom>
        </p:spPr>
      </p:pic>
      <p:sp>
        <p:nvSpPr>
          <p:cNvPr id="3" name="Espace réservé du numéro de diapositive 5">
            <a:extLst>
              <a:ext uri="{FF2B5EF4-FFF2-40B4-BE49-F238E27FC236}">
                <a16:creationId xmlns:a16="http://schemas.microsoft.com/office/drawing/2014/main" id="{FC40251A-A850-BFFB-8B10-8DF9490B82FC}"/>
              </a:ext>
            </a:extLst>
          </p:cNvPr>
          <p:cNvSpPr txBox="1">
            <a:spLocks/>
          </p:cNvSpPr>
          <p:nvPr userDrawn="1"/>
        </p:nvSpPr>
        <p:spPr>
          <a:xfrm>
            <a:off x="7001786" y="6335963"/>
            <a:ext cx="305661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b="1" dirty="0">
              <a:solidFill>
                <a:srgbClr val="3B2B46"/>
              </a:solidFill>
            </a:endParaRPr>
          </a:p>
        </p:txBody>
      </p:sp>
      <p:sp>
        <p:nvSpPr>
          <p:cNvPr id="4" name="Rectangle 3">
            <a:extLst>
              <a:ext uri="{FF2B5EF4-FFF2-40B4-BE49-F238E27FC236}">
                <a16:creationId xmlns:a16="http://schemas.microsoft.com/office/drawing/2014/main" id="{BB4BA6D3-5703-2B33-8381-A6B521E4EF59}"/>
              </a:ext>
            </a:extLst>
          </p:cNvPr>
          <p:cNvSpPr/>
          <p:nvPr userDrawn="1"/>
        </p:nvSpPr>
        <p:spPr>
          <a:xfrm>
            <a:off x="6636662" y="6335963"/>
            <a:ext cx="365125" cy="522037"/>
          </a:xfrm>
          <a:prstGeom prst="rect">
            <a:avLst/>
          </a:prstGeom>
          <a:solidFill>
            <a:srgbClr val="3B2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a:extLst>
              <a:ext uri="{FF2B5EF4-FFF2-40B4-BE49-F238E27FC236}">
                <a16:creationId xmlns:a16="http://schemas.microsoft.com/office/drawing/2014/main" id="{1A860DC8-4B78-2237-4C38-2C185C670544}"/>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6679687" y="6457483"/>
            <a:ext cx="300326" cy="278517"/>
          </a:xfrm>
          <a:prstGeom prst="rect">
            <a:avLst/>
          </a:prstGeom>
        </p:spPr>
      </p:pic>
      <p:sp>
        <p:nvSpPr>
          <p:cNvPr id="8" name="Espace réservé du numéro de diapositive 5">
            <a:extLst>
              <a:ext uri="{FF2B5EF4-FFF2-40B4-BE49-F238E27FC236}">
                <a16:creationId xmlns:a16="http://schemas.microsoft.com/office/drawing/2014/main" id="{A2B033C5-BD82-5743-BD0D-F87D0516D009}"/>
              </a:ext>
            </a:extLst>
          </p:cNvPr>
          <p:cNvSpPr txBox="1">
            <a:spLocks/>
          </p:cNvSpPr>
          <p:nvPr userDrawn="1"/>
        </p:nvSpPr>
        <p:spPr>
          <a:xfrm>
            <a:off x="7044812" y="6414178"/>
            <a:ext cx="305661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dirty="0" err="1">
                <a:solidFill>
                  <a:srgbClr val="3B2B46"/>
                </a:solidFill>
              </a:rPr>
              <a:t>jpomfret</a:t>
            </a:r>
            <a:endParaRPr lang="en-GB" b="1" dirty="0">
              <a:solidFill>
                <a:srgbClr val="3B2B46"/>
              </a:solidFill>
            </a:endParaRPr>
          </a:p>
        </p:txBody>
      </p:sp>
    </p:spTree>
    <p:extLst>
      <p:ext uri="{BB962C8B-B14F-4D97-AF65-F5344CB8AC3E}">
        <p14:creationId xmlns:p14="http://schemas.microsoft.com/office/powerpoint/2010/main" val="1520531744"/>
      </p:ext>
    </p:extLst>
  </p:cSld>
  <p:clrMap bg1="lt1" tx1="dk1" bg2="lt2" tx2="dk2" accent1="accent1" accent2="accent2" accent3="accent3" accent4="accent4" accent5="accent5" accent6="accent6" hlink="hlink" folHlink="folHlink"/>
  <p:sldLayoutIdLst>
    <p:sldLayoutId id="2147483696" r:id="rId1"/>
    <p:sldLayoutId id="2147483703" r:id="rId2"/>
  </p:sldLayoutIdLst>
  <p:txStyles>
    <p:title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GB" sz="32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descr="Une image contenant texte  Description générée automatiquement">
            <a:extLst>
              <a:ext uri="{FF2B5EF4-FFF2-40B4-BE49-F238E27FC236}">
                <a16:creationId xmlns:a16="http://schemas.microsoft.com/office/drawing/2014/main" id="{1B01AB94-EEA2-3211-2551-34A16625A107}"/>
              </a:ext>
            </a:extLst>
          </p:cNvPr>
          <p:cNvPicPr>
            <a:picLocks noGrp="1" noRot="1" noChangeAspect="1" noMove="1" noResize="1" noEditPoints="1" noAdjustHandles="1" noChangeArrowheads="1" noChangeShapeType="1" noCrop="1"/>
          </p:cNvPicPr>
          <p:nvPr userDrawn="1"/>
        </p:nvPicPr>
        <p:blipFill>
          <a:blip r:embed="rId12">
            <a:extLst>
              <a:ext uri="{28A0092B-C50C-407E-A947-70E740481C1C}">
                <a14:useLocalDpi xmlns:a14="http://schemas.microsoft.com/office/drawing/2010/main" val="0"/>
              </a:ext>
            </a:extLst>
          </a:blip>
          <a:stretch>
            <a:fillRect/>
          </a:stretch>
        </p:blipFill>
        <p:spPr>
          <a:xfrm>
            <a:off x="2369" y="0"/>
            <a:ext cx="12189631" cy="6858000"/>
          </a:xfrm>
          <a:prstGeom prst="rect">
            <a:avLst/>
          </a:prstGeom>
        </p:spPr>
      </p:pic>
      <p:sp>
        <p:nvSpPr>
          <p:cNvPr id="2" name="Title Placeholder 1">
            <a:extLst>
              <a:ext uri="{FF2B5EF4-FFF2-40B4-BE49-F238E27FC236}">
                <a16:creationId xmlns:a16="http://schemas.microsoft.com/office/drawing/2014/main" id="{4157010D-0C09-8FBA-F719-A4ED7C3FC593}"/>
              </a:ext>
            </a:extLst>
          </p:cNvPr>
          <p:cNvSpPr>
            <a:spLocks noGrp="1"/>
          </p:cNvSpPr>
          <p:nvPr>
            <p:ph type="title"/>
          </p:nvPr>
        </p:nvSpPr>
        <p:spPr>
          <a:xfrm>
            <a:off x="838200" y="365125"/>
            <a:ext cx="973328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BC054D6-CB61-3142-2199-DDEA2FD483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8" name="Graphique 7">
            <a:extLst>
              <a:ext uri="{FF2B5EF4-FFF2-40B4-BE49-F238E27FC236}">
                <a16:creationId xmlns:a16="http://schemas.microsoft.com/office/drawing/2014/main" id="{59BD5C5E-FB1B-A32E-1927-AB6A3C9A6664}"/>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10822738" y="196674"/>
            <a:ext cx="1062038" cy="904875"/>
          </a:xfrm>
          <a:prstGeom prst="rect">
            <a:avLst/>
          </a:prstGeom>
        </p:spPr>
      </p:pic>
      <p:pic>
        <p:nvPicPr>
          <p:cNvPr id="12" name="Image 11" descr="Une image contenant Police, Graphique, capture d’écran, graphisme  Le contenu généré par l’IA peut être incorrect.">
            <a:extLst>
              <a:ext uri="{FF2B5EF4-FFF2-40B4-BE49-F238E27FC236}">
                <a16:creationId xmlns:a16="http://schemas.microsoft.com/office/drawing/2014/main" id="{9DA822DC-EA6F-C834-636F-0CFA0983C12B}"/>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799716" y="1147469"/>
            <a:ext cx="1169451" cy="376843"/>
          </a:xfrm>
          <a:prstGeom prst="rect">
            <a:avLst/>
          </a:prstGeom>
        </p:spPr>
      </p:pic>
      <p:pic>
        <p:nvPicPr>
          <p:cNvPr id="15" name="Graphique 14">
            <a:extLst>
              <a:ext uri="{FF2B5EF4-FFF2-40B4-BE49-F238E27FC236}">
                <a16:creationId xmlns:a16="http://schemas.microsoft.com/office/drawing/2014/main" id="{E16A90F8-D789-E1FC-28F1-B2BFBC4CCE32}"/>
              </a:ext>
            </a:extLst>
          </p:cNvPr>
          <p:cNvPicPr>
            <a:picLocks noChangeAspect="1"/>
          </p:cNvPicPr>
          <p:nvPr userDrawn="1"/>
        </p:nvPicPr>
        <p:blipFill>
          <a:blip>
            <a:extLst>
              <a:ext uri="{96DAC541-7B7A-43D3-8B79-37D633B846F1}">
                <asvg:svgBlip xmlns:asvg="http://schemas.microsoft.com/office/drawing/2016/SVG/main" r:embed="rId15"/>
              </a:ext>
            </a:extLst>
          </a:blip>
          <a:stretch>
            <a:fillRect/>
          </a:stretch>
        </p:blipFill>
        <p:spPr>
          <a:xfrm>
            <a:off x="6636662" y="6335963"/>
            <a:ext cx="365125" cy="365125"/>
          </a:xfrm>
          <a:prstGeom prst="rect">
            <a:avLst/>
          </a:prstGeom>
        </p:spPr>
      </p:pic>
      <p:sp>
        <p:nvSpPr>
          <p:cNvPr id="4" name="Rectangle 3">
            <a:extLst>
              <a:ext uri="{FF2B5EF4-FFF2-40B4-BE49-F238E27FC236}">
                <a16:creationId xmlns:a16="http://schemas.microsoft.com/office/drawing/2014/main" id="{DF44D690-D208-DF75-EDDE-A77CD190B586}"/>
              </a:ext>
            </a:extLst>
          </p:cNvPr>
          <p:cNvSpPr/>
          <p:nvPr userDrawn="1"/>
        </p:nvSpPr>
        <p:spPr>
          <a:xfrm>
            <a:off x="6636662" y="6335963"/>
            <a:ext cx="365125" cy="522037"/>
          </a:xfrm>
          <a:prstGeom prst="rect">
            <a:avLst/>
          </a:prstGeom>
          <a:solidFill>
            <a:srgbClr val="3B2A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a:extLst>
              <a:ext uri="{FF2B5EF4-FFF2-40B4-BE49-F238E27FC236}">
                <a16:creationId xmlns:a16="http://schemas.microsoft.com/office/drawing/2014/main" id="{147E2725-8D28-B4C1-15B4-1519C4991933}"/>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6679687" y="6457483"/>
            <a:ext cx="300326" cy="278517"/>
          </a:xfrm>
          <a:prstGeom prst="rect">
            <a:avLst/>
          </a:prstGeom>
        </p:spPr>
      </p:pic>
      <p:sp>
        <p:nvSpPr>
          <p:cNvPr id="6" name="Espace réservé du numéro de diapositive 5">
            <a:extLst>
              <a:ext uri="{FF2B5EF4-FFF2-40B4-BE49-F238E27FC236}">
                <a16:creationId xmlns:a16="http://schemas.microsoft.com/office/drawing/2014/main" id="{195238B8-FE7E-DFE9-C79A-68FC0BBEE783}"/>
              </a:ext>
            </a:extLst>
          </p:cNvPr>
          <p:cNvSpPr txBox="1">
            <a:spLocks/>
          </p:cNvSpPr>
          <p:nvPr userDrawn="1"/>
        </p:nvSpPr>
        <p:spPr>
          <a:xfrm>
            <a:off x="7044812" y="6414178"/>
            <a:ext cx="3056613"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dirty="0" err="1">
                <a:solidFill>
                  <a:srgbClr val="3B2B46"/>
                </a:solidFill>
              </a:rPr>
              <a:t>jpomfret</a:t>
            </a:r>
            <a:endParaRPr lang="en-GB" b="1" dirty="0">
              <a:solidFill>
                <a:srgbClr val="3B2B46"/>
              </a:solidFill>
            </a:endParaRPr>
          </a:p>
        </p:txBody>
      </p:sp>
    </p:spTree>
    <p:extLst>
      <p:ext uri="{BB962C8B-B14F-4D97-AF65-F5344CB8AC3E}">
        <p14:creationId xmlns:p14="http://schemas.microsoft.com/office/powerpoint/2010/main" val="257769973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Lst>
  <p:txStyles>
    <p:titleStyle>
      <a:lvl1pPr algn="l" defTabSz="914400" rtl="0" eaLnBrk="1" latinLnBrk="0" hangingPunct="1">
        <a:lnSpc>
          <a:spcPct val="90000"/>
        </a:lnSpc>
        <a:spcBef>
          <a:spcPct val="0"/>
        </a:spcBef>
        <a:buNone/>
        <a:defRPr sz="5400" b="1" kern="1200">
          <a:solidFill>
            <a:srgbClr val="3B2B4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3200" kern="1200">
          <a:solidFill>
            <a:srgbClr val="346297"/>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512BD2B3-5213-AE89-B245-3E2067844782}"/>
              </a:ext>
            </a:extLst>
          </p:cNvPr>
          <p:cNvSpPr txBox="1">
            <a:spLocks/>
          </p:cNvSpPr>
          <p:nvPr/>
        </p:nvSpPr>
        <p:spPr>
          <a:xfrm>
            <a:off x="1524000" y="4271395"/>
            <a:ext cx="9144000" cy="631759"/>
          </a:xfrm>
          <a:prstGeom prst="rect">
            <a:avLst/>
          </a:prstGeom>
        </p:spPr>
        <p:txBody>
          <a:bodyP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4400" kern="1200">
                <a:solidFill>
                  <a:srgbClr val="3B2B46"/>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i="1" dirty="0">
                <a:latin typeface="Segoe UI" panose="020B0502040204020203" pitchFamily="34" charset="0"/>
                <a:cs typeface="Segoe UI" panose="020B0502040204020203" pitchFamily="34" charset="0"/>
              </a:rPr>
              <a:t>Jess Pomfret</a:t>
            </a:r>
            <a:endParaRPr lang="en-GB" b="1" i="1" dirty="0">
              <a:latin typeface="Segoe UI" panose="020B0502040204020203" pitchFamily="34" charset="0"/>
              <a:cs typeface="Segoe UI" panose="020B0502040204020203" pitchFamily="34" charset="0"/>
            </a:endParaRPr>
          </a:p>
        </p:txBody>
      </p:sp>
      <p:cxnSp>
        <p:nvCxnSpPr>
          <p:cNvPr id="4" name="Connecteur droit 5">
            <a:extLst>
              <a:ext uri="{FF2B5EF4-FFF2-40B4-BE49-F238E27FC236}">
                <a16:creationId xmlns:a16="http://schemas.microsoft.com/office/drawing/2014/main" id="{E9631884-5100-1BA8-2365-47609B2977D7}"/>
              </a:ext>
            </a:extLst>
          </p:cNvPr>
          <p:cNvCxnSpPr/>
          <p:nvPr/>
        </p:nvCxnSpPr>
        <p:spPr>
          <a:xfrm>
            <a:off x="3867150" y="4089400"/>
            <a:ext cx="4508500" cy="0"/>
          </a:xfrm>
          <a:prstGeom prst="line">
            <a:avLst/>
          </a:prstGeom>
          <a:ln>
            <a:solidFill>
              <a:srgbClr val="3B2B46"/>
            </a:solidFill>
          </a:ln>
        </p:spPr>
        <p:style>
          <a:lnRef idx="1">
            <a:schemeClr val="accent1"/>
          </a:lnRef>
          <a:fillRef idx="0">
            <a:schemeClr val="accent1"/>
          </a:fillRef>
          <a:effectRef idx="0">
            <a:schemeClr val="accent1"/>
          </a:effectRef>
          <a:fontRef idx="minor">
            <a:schemeClr val="tx1"/>
          </a:fontRef>
        </p:style>
      </p:cxnSp>
      <p:sp>
        <p:nvSpPr>
          <p:cNvPr id="5" name="Titel 4">
            <a:extLst>
              <a:ext uri="{FF2B5EF4-FFF2-40B4-BE49-F238E27FC236}">
                <a16:creationId xmlns:a16="http://schemas.microsoft.com/office/drawing/2014/main" id="{EC34FE26-AFCF-2A09-DB2E-84FFA4D454A5}"/>
              </a:ext>
            </a:extLst>
          </p:cNvPr>
          <p:cNvSpPr>
            <a:spLocks noGrp="1"/>
          </p:cNvSpPr>
          <p:nvPr>
            <p:ph type="title" idx="4294967295"/>
          </p:nvPr>
        </p:nvSpPr>
        <p:spPr>
          <a:xfrm>
            <a:off x="863600" y="2672840"/>
            <a:ext cx="10515600" cy="1325563"/>
          </a:xfrm>
          <a:prstGeom prst="rect">
            <a:avLst/>
          </a:prstGeom>
        </p:spPr>
        <p:txBody>
          <a:bodyPr anchor="b" anchorCtr="0"/>
          <a:lstStyle/>
          <a:p>
            <a:pPr algn="ctr"/>
            <a:r>
              <a:rPr lang="en-DE" sz="6000" b="1">
                <a:solidFill>
                  <a:srgbClr val="346296"/>
                </a:solidFill>
                <a:latin typeface="Segoe UI Light" panose="020B0502040204020203" pitchFamily="34" charset="0"/>
                <a:cs typeface="Segoe UI Light" panose="020B0502040204020203" pitchFamily="34" charset="0"/>
              </a:rPr>
              <a:t>N</a:t>
            </a:r>
            <a:r>
              <a:rPr lang="en-US" sz="6000" b="1" err="1">
                <a:solidFill>
                  <a:srgbClr val="346296"/>
                </a:solidFill>
                <a:latin typeface="Segoe UI Light" panose="020B0502040204020203" pitchFamily="34" charset="0"/>
                <a:cs typeface="Segoe UI Light" panose="020B0502040204020203" pitchFamily="34" charset="0"/>
              </a:rPr>
              <a:t>ext</a:t>
            </a:r>
            <a:r>
              <a:rPr lang="en-US" sz="6000" b="1">
                <a:solidFill>
                  <a:srgbClr val="346296"/>
                </a:solidFill>
                <a:latin typeface="Segoe UI Light" panose="020B0502040204020203" pitchFamily="34" charset="0"/>
                <a:cs typeface="Segoe UI Light" panose="020B0502040204020203" pitchFamily="34" charset="0"/>
              </a:rPr>
              <a:t> Up:</a:t>
            </a:r>
            <a:endParaRPr lang="en-DE" sz="6000" b="1">
              <a:solidFill>
                <a:srgbClr val="346296"/>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3158865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a:extLst>
              <a:ext uri="{FF2B5EF4-FFF2-40B4-BE49-F238E27FC236}">
                <a16:creationId xmlns:a16="http://schemas.microsoft.com/office/drawing/2014/main" id="{82643D59-896E-68AE-5BCA-3F8558F198EF}"/>
              </a:ext>
            </a:extLst>
          </p:cNvPr>
          <p:cNvSpPr txBox="1">
            <a:spLocks/>
          </p:cNvSpPr>
          <p:nvPr/>
        </p:nvSpPr>
        <p:spPr>
          <a:xfrm>
            <a:off x="838200" y="365125"/>
            <a:ext cx="973328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a:t>3</a:t>
            </a:r>
            <a:endParaRPr lang="en-GB"/>
          </a:p>
        </p:txBody>
      </p:sp>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a:solidFill>
                  <a:schemeClr val="bg1"/>
                </a:solidFill>
                <a:latin typeface="Stencil" panose="040409050D0802020404" pitchFamily="82" charset="0"/>
              </a:rPr>
              <a:t>3</a:t>
            </a:r>
            <a:endParaRPr lang="en-DE" sz="25000">
              <a:solidFill>
                <a:schemeClr val="bg1"/>
              </a:solidFill>
              <a:latin typeface="Stencil" panose="040409050D0802020404" pitchFamily="82" charset="0"/>
            </a:endParaRPr>
          </a:p>
        </p:txBody>
      </p:sp>
    </p:spTree>
    <p:extLst>
      <p:ext uri="{BB962C8B-B14F-4D97-AF65-F5344CB8AC3E}">
        <p14:creationId xmlns:p14="http://schemas.microsoft.com/office/powerpoint/2010/main" val="2970004164"/>
      </p:ext>
    </p:extLst>
  </p:cSld>
  <p:clrMapOvr>
    <a:masterClrMapping/>
  </p:clrMapOvr>
  <p:transition spd="slow" advTm="1000">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a:solidFill>
                  <a:schemeClr val="bg1"/>
                </a:solidFill>
                <a:latin typeface="Stencil" panose="040409050D0802020404" pitchFamily="82" charset="0"/>
              </a:rPr>
              <a:t>2</a:t>
            </a:r>
            <a:endParaRPr lang="en-DE" sz="25000">
              <a:solidFill>
                <a:schemeClr val="bg1"/>
              </a:solidFill>
              <a:latin typeface="Stencil" panose="040409050D0802020404" pitchFamily="82" charset="0"/>
            </a:endParaRPr>
          </a:p>
        </p:txBody>
      </p:sp>
    </p:spTree>
    <p:extLst>
      <p:ext uri="{BB962C8B-B14F-4D97-AF65-F5344CB8AC3E}">
        <p14:creationId xmlns:p14="http://schemas.microsoft.com/office/powerpoint/2010/main" val="986012733"/>
      </p:ext>
    </p:extLst>
  </p:cSld>
  <p:clrMapOvr>
    <a:masterClrMapping/>
  </p:clrMapOvr>
  <p:transition spd="slow" advTm="1000">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a:latin typeface="Stencil" panose="040409050D0802020404" pitchFamily="82" charset="0"/>
              </a:rPr>
              <a:t>1</a:t>
            </a:r>
            <a:endParaRPr lang="en-DE" sz="25000">
              <a:latin typeface="Stencil" panose="040409050D0802020404" pitchFamily="82" charset="0"/>
            </a:endParaRPr>
          </a:p>
        </p:txBody>
      </p:sp>
    </p:spTree>
    <p:extLst>
      <p:ext uri="{BB962C8B-B14F-4D97-AF65-F5344CB8AC3E}">
        <p14:creationId xmlns:p14="http://schemas.microsoft.com/office/powerpoint/2010/main" val="73231530"/>
      </p:ext>
    </p:extLst>
  </p:cSld>
  <p:clrMapOvr>
    <a:masterClrMapping/>
  </p:clrMapOvr>
  <p:transition spd="slow" advTm="1000">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FB22B504-146E-1966-17CE-BB797BC6083D}"/>
              </a:ext>
            </a:extLst>
          </p:cNvPr>
          <p:cNvSpPr txBox="1">
            <a:spLocks/>
          </p:cNvSpPr>
          <p:nvPr/>
        </p:nvSpPr>
        <p:spPr>
          <a:xfrm>
            <a:off x="1524000" y="4271395"/>
            <a:ext cx="9144000" cy="631759"/>
          </a:xfrm>
          <a:prstGeom prst="rect">
            <a:avLst/>
          </a:prstGeom>
        </p:spPr>
        <p:txBody>
          <a:bodyP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4400" kern="1200">
                <a:solidFill>
                  <a:srgbClr val="3B2B46"/>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b="1" i="1" dirty="0"/>
              <a:t>Jess Pomfret</a:t>
            </a:r>
            <a:endParaRPr lang="en-GB" b="1" i="1" dirty="0"/>
          </a:p>
        </p:txBody>
      </p:sp>
      <p:cxnSp>
        <p:nvCxnSpPr>
          <p:cNvPr id="6" name="Connecteur droit 5">
            <a:extLst>
              <a:ext uri="{FF2B5EF4-FFF2-40B4-BE49-F238E27FC236}">
                <a16:creationId xmlns:a16="http://schemas.microsoft.com/office/drawing/2014/main" id="{A169C0FB-08C4-E3EC-573C-91852880EBAA}"/>
              </a:ext>
            </a:extLst>
          </p:cNvPr>
          <p:cNvCxnSpPr/>
          <p:nvPr/>
        </p:nvCxnSpPr>
        <p:spPr>
          <a:xfrm>
            <a:off x="3867150" y="4089400"/>
            <a:ext cx="4508500" cy="0"/>
          </a:xfrm>
          <a:prstGeom prst="line">
            <a:avLst/>
          </a:prstGeom>
          <a:ln>
            <a:solidFill>
              <a:srgbClr val="3B2B46"/>
            </a:solidFill>
          </a:ln>
        </p:spPr>
        <p:style>
          <a:lnRef idx="1">
            <a:schemeClr val="accent1"/>
          </a:lnRef>
          <a:fillRef idx="0">
            <a:schemeClr val="accent1"/>
          </a:fillRef>
          <a:effectRef idx="0">
            <a:schemeClr val="accent1"/>
          </a:effectRef>
          <a:fontRef idx="minor">
            <a:schemeClr val="tx1"/>
          </a:fontRef>
        </p:style>
      </p:cxnSp>
      <p:sp>
        <p:nvSpPr>
          <p:cNvPr id="4" name="Titel 3">
            <a:extLst>
              <a:ext uri="{FF2B5EF4-FFF2-40B4-BE49-F238E27FC236}">
                <a16:creationId xmlns:a16="http://schemas.microsoft.com/office/drawing/2014/main" id="{0E2348EB-2258-5792-670F-322202E630B4}"/>
              </a:ext>
            </a:extLst>
          </p:cNvPr>
          <p:cNvSpPr>
            <a:spLocks noGrp="1"/>
          </p:cNvSpPr>
          <p:nvPr>
            <p:ph type="title" idx="4294967295"/>
          </p:nvPr>
        </p:nvSpPr>
        <p:spPr>
          <a:xfrm>
            <a:off x="838200" y="2666707"/>
            <a:ext cx="10515600" cy="1325563"/>
          </a:xfrm>
          <a:prstGeom prst="rect">
            <a:avLst/>
          </a:prstGeom>
        </p:spPr>
        <p:txBody>
          <a:bodyPr anchor="b" anchorCtr="0"/>
          <a:lstStyle/>
          <a:p>
            <a:pPr algn="ctr"/>
            <a:r>
              <a:rPr lang="en-GB" sz="6000" b="1" dirty="0">
                <a:solidFill>
                  <a:srgbClr val="346296"/>
                </a:solidFill>
                <a:latin typeface="+mn-lt"/>
              </a:rPr>
              <a:t>Persist Your PowerShell Script Data with Data API Builder</a:t>
            </a:r>
            <a:endParaRPr lang="en-DE" sz="6000" b="1" dirty="0">
              <a:solidFill>
                <a:srgbClr val="346296"/>
              </a:solidFill>
              <a:latin typeface="+mn-lt"/>
            </a:endParaRPr>
          </a:p>
        </p:txBody>
      </p:sp>
    </p:spTree>
    <p:extLst>
      <p:ext uri="{BB962C8B-B14F-4D97-AF65-F5344CB8AC3E}">
        <p14:creationId xmlns:p14="http://schemas.microsoft.com/office/powerpoint/2010/main" val="21938168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D531CB4D-40EE-4CEA-4C1F-A86C158A8A50}"/>
              </a:ext>
            </a:extLst>
          </p:cNvPr>
          <p:cNvSpPr>
            <a:spLocks noGrp="1"/>
          </p:cNvSpPr>
          <p:nvPr>
            <p:ph type="title" idx="4294967295"/>
          </p:nvPr>
        </p:nvSpPr>
        <p:spPr>
          <a:xfrm>
            <a:off x="0" y="365125"/>
            <a:ext cx="9732963"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400" b="1" kern="1200">
                <a:solidFill>
                  <a:srgbClr val="3B2B46"/>
                </a:solidFill>
                <a:latin typeface="+mj-lt"/>
                <a:ea typeface="+mj-ea"/>
                <a:cs typeface="+mj-cs"/>
              </a:defRPr>
            </a:lvl1pPr>
          </a:lstStyle>
          <a:p>
            <a:pPr rtl="0" eaLnBrk="1" latinLnBrk="0" hangingPunct="1"/>
            <a:r>
              <a:rPr lang="en-US"/>
              <a:t>Click to edit Master title style</a:t>
            </a:r>
            <a:endParaRPr lang="en-DE">
              <a:solidFill>
                <a:srgbClr val="3B2A47"/>
              </a:solidFill>
            </a:endParaRPr>
          </a:p>
        </p:txBody>
      </p:sp>
      <p:pic>
        <p:nvPicPr>
          <p:cNvPr id="7" name="Graphique 6">
            <a:extLst>
              <a:ext uri="{FF2B5EF4-FFF2-40B4-BE49-F238E27FC236}">
                <a16:creationId xmlns:a16="http://schemas.microsoft.com/office/drawing/2014/main" id="{56B20C8F-B2CB-B1F9-8E7F-3897FE369D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42212" y="2226290"/>
            <a:ext cx="8666977" cy="2650633"/>
          </a:xfrm>
          <a:prstGeom prst="rect">
            <a:avLst/>
          </a:prstGeom>
        </p:spPr>
      </p:pic>
    </p:spTree>
    <p:extLst>
      <p:ext uri="{BB962C8B-B14F-4D97-AF65-F5344CB8AC3E}">
        <p14:creationId xmlns:p14="http://schemas.microsoft.com/office/powerpoint/2010/main" val="1699889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93312970-1382-905E-DF3A-5D367E6E7736}"/>
              </a:ext>
            </a:extLst>
          </p:cNvPr>
          <p:cNvSpPr txBox="1">
            <a:spLocks/>
          </p:cNvSpPr>
          <p:nvPr/>
        </p:nvSpPr>
        <p:spPr>
          <a:xfrm>
            <a:off x="3467314" y="1852863"/>
            <a:ext cx="7886486" cy="43241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GB" sz="32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indent="-228600">
              <a:lnSpc>
                <a:spcPct val="100000"/>
              </a:lnSpc>
              <a:spcBef>
                <a:spcPts val="800"/>
              </a:spcBef>
              <a:buChar char="•"/>
            </a:pPr>
            <a:r>
              <a:rPr lang="en-GB" sz="2400" dirty="0">
                <a:solidFill>
                  <a:schemeClr val="tx1"/>
                </a:solidFill>
                <a:latin typeface="+mn-lt"/>
              </a:rPr>
              <a:t>Data Platform Engineer</a:t>
            </a:r>
          </a:p>
          <a:p>
            <a:pPr marL="228600" indent="-228600">
              <a:lnSpc>
                <a:spcPct val="100000"/>
              </a:lnSpc>
              <a:spcBef>
                <a:spcPts val="800"/>
              </a:spcBef>
              <a:buChar char="•"/>
            </a:pPr>
            <a:r>
              <a:rPr lang="en-GB" sz="2400" dirty="0">
                <a:solidFill>
                  <a:schemeClr val="tx1"/>
                </a:solidFill>
                <a:latin typeface="+mn-lt"/>
              </a:rPr>
              <a:t>LinkedIn Learning Instructor</a:t>
            </a:r>
          </a:p>
          <a:p>
            <a:pPr marL="228600" indent="-228600">
              <a:lnSpc>
                <a:spcPct val="100000"/>
              </a:lnSpc>
              <a:spcBef>
                <a:spcPts val="800"/>
              </a:spcBef>
              <a:buChar char="•"/>
            </a:pPr>
            <a:r>
              <a:rPr lang="en-GB" sz="2400" dirty="0">
                <a:solidFill>
                  <a:schemeClr val="tx1"/>
                </a:solidFill>
                <a:latin typeface="+mn-lt"/>
              </a:rPr>
              <a:t>Open Source Contributor</a:t>
            </a:r>
          </a:p>
          <a:p>
            <a:pPr marL="571500" indent="-228600">
              <a:lnSpc>
                <a:spcPct val="100000"/>
              </a:lnSpc>
              <a:spcBef>
                <a:spcPts val="400"/>
              </a:spcBef>
              <a:buChar char="–"/>
            </a:pPr>
            <a:r>
              <a:rPr lang="en-GB" sz="2000" dirty="0">
                <a:solidFill>
                  <a:schemeClr val="tx1"/>
                </a:solidFill>
                <a:latin typeface="+mn-lt"/>
              </a:rPr>
              <a:t>dbatools, MicrosoftFabricMgmt</a:t>
            </a:r>
          </a:p>
          <a:p>
            <a:pPr marL="228600" indent="-228600">
              <a:lnSpc>
                <a:spcPct val="100000"/>
              </a:lnSpc>
              <a:spcBef>
                <a:spcPts val="800"/>
              </a:spcBef>
              <a:buChar char="•"/>
            </a:pPr>
            <a:r>
              <a:rPr lang="en-GB" sz="2400" dirty="0">
                <a:solidFill>
                  <a:schemeClr val="tx1"/>
                </a:solidFill>
                <a:latin typeface="+mn-lt"/>
              </a:rPr>
              <a:t>Passionate about Automation, Proper Football &amp; Fitness</a:t>
            </a:r>
          </a:p>
          <a:p>
            <a:pPr>
              <a:spcBef>
                <a:spcPts val="1200"/>
              </a:spcBef>
              <a:buNone/>
            </a:pPr>
            <a:endParaRPr lang="en-GB" sz="2000" dirty="0"/>
          </a:p>
          <a:p>
            <a:pPr>
              <a:spcBef>
                <a:spcPts val="200"/>
              </a:spcBef>
              <a:buNone/>
            </a:pPr>
            <a:r>
              <a:rPr lang="en-GB" sz="2000" dirty="0">
                <a:solidFill>
                  <a:schemeClr val="tx1"/>
                </a:solidFill>
                <a:latin typeface="+mn-lt"/>
              </a:rPr>
              <a:t>jpomfret7@gmail.com</a:t>
            </a:r>
          </a:p>
          <a:p>
            <a:pPr>
              <a:spcBef>
                <a:spcPts val="200"/>
              </a:spcBef>
              <a:buNone/>
            </a:pPr>
            <a:r>
              <a:rPr lang="en-GB" sz="2000" dirty="0">
                <a:solidFill>
                  <a:schemeClr val="tx1"/>
                </a:solidFill>
                <a:latin typeface="+mn-lt"/>
              </a:rPr>
              <a:t>jesspomfret.com</a:t>
            </a:r>
          </a:p>
          <a:p>
            <a:pPr>
              <a:spcBef>
                <a:spcPts val="200"/>
              </a:spcBef>
              <a:buNone/>
            </a:pPr>
            <a:r>
              <a:rPr lang="en-GB" sz="2000" dirty="0">
                <a:solidFill>
                  <a:schemeClr val="tx1"/>
                </a:solidFill>
                <a:latin typeface="+mn-lt"/>
              </a:rPr>
              <a:t>linkedin.com/in/jpomfret/</a:t>
            </a:r>
          </a:p>
        </p:txBody>
      </p:sp>
      <p:sp>
        <p:nvSpPr>
          <p:cNvPr id="2" name="Titel 1">
            <a:extLst>
              <a:ext uri="{FF2B5EF4-FFF2-40B4-BE49-F238E27FC236}">
                <a16:creationId xmlns:a16="http://schemas.microsoft.com/office/drawing/2014/main" id="{B63F84C9-7486-D81C-EDE7-12CE856D5B81}"/>
              </a:ext>
            </a:extLst>
          </p:cNvPr>
          <p:cNvSpPr>
            <a:spLocks noGrp="1"/>
          </p:cNvSpPr>
          <p:nvPr>
            <p:ph type="title"/>
          </p:nvPr>
        </p:nvSpPr>
        <p:spPr>
          <a:xfrm>
            <a:off x="3467312" y="324852"/>
            <a:ext cx="7886485" cy="1325563"/>
          </a:xfrm>
        </p:spPr>
        <p:txBody>
          <a:bodyPr>
            <a:normAutofit fontScale="90000"/>
          </a:bodyPr>
          <a:lstStyle/>
          <a:p>
            <a:r>
              <a:rPr lang="en-GB" sz="6600" dirty="0">
                <a:solidFill>
                  <a:srgbClr val="3B2A47"/>
                </a:solidFill>
                <a:latin typeface="+mn-lt"/>
                <a:ea typeface="+mn-ea"/>
                <a:cs typeface="+mn-cs"/>
              </a:rPr>
              <a:t>Jess Pomfret</a:t>
            </a:r>
            <a:endParaRPr lang="en-DE" sz="6600" dirty="0">
              <a:solidFill>
                <a:srgbClr val="3B2A47"/>
              </a:solidFill>
              <a:latin typeface="+mn-lt"/>
              <a:ea typeface="+mn-ea"/>
              <a:cs typeface="+mn-cs"/>
            </a:endParaRPr>
          </a:p>
          <a:p>
            <a:r>
              <a:rPr lang="en-GB" sz="2600" i="1" dirty="0">
                <a:solidFill>
                  <a:srgbClr val="3B2A47"/>
                </a:solidFill>
                <a:latin typeface="+mn-lt"/>
              </a:rPr>
              <a:t>(She/Her)</a:t>
            </a:r>
          </a:p>
        </p:txBody>
      </p:sp>
      <p:pic>
        <p:nvPicPr>
          <p:cNvPr id="9" name="Picture 8">
            <a:extLst>
              <a:ext uri="{FF2B5EF4-FFF2-40B4-BE49-F238E27FC236}">
                <a16:creationId xmlns:a16="http://schemas.microsoft.com/office/drawing/2014/main" id="{F2AE40DF-15AC-174A-3587-47495ED2FB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977634"/>
            <a:ext cx="2880366" cy="2880366"/>
          </a:xfrm>
          <a:prstGeom prst="rect">
            <a:avLst/>
          </a:prstGeom>
        </p:spPr>
      </p:pic>
    </p:spTree>
    <p:extLst>
      <p:ext uri="{BB962C8B-B14F-4D97-AF65-F5344CB8AC3E}">
        <p14:creationId xmlns:p14="http://schemas.microsoft.com/office/powerpoint/2010/main" val="751095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Data API Builder?</a:t>
            </a:r>
          </a:p>
        </p:txBody>
      </p:sp>
      <p:sp>
        <p:nvSpPr>
          <p:cNvPr id="3" name="Content Placeholder 2"/>
          <p:cNvSpPr>
            <a:spLocks noGrp="1"/>
          </p:cNvSpPr>
          <p:nvPr>
            <p:ph idx="1"/>
          </p:nvPr>
        </p:nvSpPr>
        <p:spPr>
          <a:xfrm>
            <a:off x="838200" y="1825625"/>
            <a:ext cx="9525000" cy="4351338"/>
          </a:xfrm>
        </p:spPr>
        <p:txBody>
          <a:bodyPr>
            <a:normAutofit/>
          </a:bodyPr>
          <a:lstStyle/>
          <a:p>
            <a:pPr marL="0" indent="0">
              <a:buNone/>
            </a:pPr>
            <a:r>
              <a:rPr lang="en-GB" sz="2400" dirty="0"/>
              <a:t>A config-driven engine that instantly generates REST and GraphQL APIs over your database — with zero backend code.</a:t>
            </a:r>
          </a:p>
          <a:p>
            <a:pPr marL="0" indent="0">
              <a:buNone/>
            </a:pPr>
            <a:r>
              <a:rPr lang="en-GB" sz="2000" dirty="0">
                <a:solidFill>
                  <a:srgbClr val="44546A"/>
                </a:solidFill>
              </a:rPr>
              <a:t>Just define a </a:t>
            </a:r>
            <a:r>
              <a:rPr lang="en-GB" sz="2000" b="1" dirty="0">
                <a:solidFill>
                  <a:srgbClr val="4472C4"/>
                </a:solidFill>
              </a:rPr>
              <a:t>dab-config.json</a:t>
            </a:r>
            <a:r>
              <a:rPr lang="en-GB" sz="2000" dirty="0">
                <a:solidFill>
                  <a:srgbClr val="44546A"/>
                </a:solidFill>
              </a:rPr>
              <a:t> and you're live.</a:t>
            </a:r>
          </a:p>
          <a:p>
            <a:pPr marL="0" indent="0">
              <a:buNone/>
            </a:pPr>
            <a:r>
              <a:rPr lang="en-GB" sz="1600" dirty="0">
                <a:solidFill>
                  <a:srgbClr val="44546A"/>
                </a:solidFill>
              </a:rPr>
              <a:t>Open source, Microsoft-backed</a:t>
            </a:r>
          </a:p>
        </p:txBody>
      </p:sp>
      <p:pic>
        <p:nvPicPr>
          <p:cNvPr id="4" name="Graphic 4" descr="Config-driven settings ic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41000" y="3810000"/>
            <a:ext cx="1143000" cy="1143000"/>
          </a:xfrm>
          <a:prstGeom prst="rect">
            <a:avLst/>
          </a:prstGeom>
        </p:spPr>
      </p:pic>
    </p:spTree>
    <p:extLst>
      <p:ext uri="{BB962C8B-B14F-4D97-AF65-F5344CB8AC3E}">
        <p14:creationId xmlns:p14="http://schemas.microsoft.com/office/powerpoint/2010/main" val="386278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Databases &amp; Endpoints</a:t>
            </a:r>
          </a:p>
        </p:txBody>
      </p:sp>
      <p:sp>
        <p:nvSpPr>
          <p:cNvPr id="3" name="Content Placeholder 2"/>
          <p:cNvSpPr>
            <a:spLocks noGrp="1"/>
          </p:cNvSpPr>
          <p:nvPr>
            <p:ph idx="1"/>
          </p:nvPr>
        </p:nvSpPr>
        <p:spPr>
          <a:xfrm>
            <a:off x="838200" y="1825625"/>
            <a:ext cx="9525000" cy="4351338"/>
          </a:xfrm>
        </p:spPr>
        <p:txBody>
          <a:bodyPr>
            <a:normAutofit/>
          </a:bodyPr>
          <a:lstStyle/>
          <a:p>
            <a:pPr marL="0" indent="0">
              <a:buNone/>
            </a:pPr>
            <a:r>
              <a:rPr lang="en-GB" sz="2400" b="1" dirty="0">
                <a:solidFill>
                  <a:srgbClr val="4472C4"/>
                </a:solidFill>
              </a:rPr>
              <a:t>Supported Databases</a:t>
            </a:r>
          </a:p>
          <a:p>
            <a:pPr marL="457200" indent="-457200">
              <a:spcBef>
                <a:spcPts val="300"/>
              </a:spcBef>
              <a:buFont typeface="Arial"/>
              <a:buChar char="■"/>
            </a:pPr>
            <a:r>
              <a:rPr lang="en-GB" sz="2000" dirty="0"/>
              <a:t>SQL Server</a:t>
            </a:r>
            <a:r>
              <a:rPr lang="en-GB" sz="2000" dirty="0">
                <a:solidFill>
                  <a:srgbClr val="A5A5A5"/>
                </a:solidFill>
              </a:rPr>
              <a:t>  ·  </a:t>
            </a:r>
            <a:r>
              <a:rPr lang="en-GB" sz="2000" dirty="0"/>
              <a:t>PostgreSQL</a:t>
            </a:r>
            <a:r>
              <a:rPr lang="en-GB" sz="2000" dirty="0">
                <a:solidFill>
                  <a:srgbClr val="A5A5A5"/>
                </a:solidFill>
              </a:rPr>
              <a:t>  ·  </a:t>
            </a:r>
            <a:r>
              <a:rPr lang="en-GB" sz="2000" dirty="0"/>
              <a:t>MySQL</a:t>
            </a:r>
            <a:r>
              <a:rPr lang="en-GB" sz="2000" dirty="0">
                <a:solidFill>
                  <a:srgbClr val="A5A5A5"/>
                </a:solidFill>
              </a:rPr>
              <a:t>  ·  </a:t>
            </a:r>
            <a:r>
              <a:rPr lang="en-GB" sz="2000" dirty="0"/>
              <a:t>CosmosDB</a:t>
            </a:r>
          </a:p>
          <a:p>
            <a:pPr marL="0" indent="0">
              <a:buNone/>
            </a:pPr>
            <a:endParaRPr lang="en-GB" sz="2400" b="1" dirty="0">
              <a:solidFill>
                <a:srgbClr val="4472C4"/>
              </a:solidFill>
            </a:endParaRPr>
          </a:p>
          <a:p>
            <a:pPr marL="0" indent="0">
              <a:buNone/>
            </a:pPr>
            <a:r>
              <a:rPr lang="en-GB" sz="2400" b="1" dirty="0">
                <a:solidFill>
                  <a:srgbClr val="4472C4"/>
                </a:solidFill>
              </a:rPr>
              <a:t>Expose as HTTP Endpoints</a:t>
            </a:r>
          </a:p>
          <a:p>
            <a:pPr marL="457200" indent="-457200">
              <a:spcBef>
                <a:spcPts val="300"/>
              </a:spcBef>
              <a:buFont typeface="Arial"/>
              <a:buChar char="■"/>
            </a:pPr>
            <a:r>
              <a:rPr lang="en-GB" sz="2000" dirty="0"/>
              <a:t>Tables</a:t>
            </a:r>
          </a:p>
          <a:p>
            <a:pPr marL="457200" indent="-457200">
              <a:spcBef>
                <a:spcPts val="200"/>
              </a:spcBef>
              <a:buFont typeface="Arial"/>
              <a:buChar char="■"/>
            </a:pPr>
            <a:r>
              <a:rPr lang="en-GB" sz="2000" dirty="0"/>
              <a:t>Views</a:t>
            </a:r>
          </a:p>
          <a:p>
            <a:pPr marL="457200" indent="-457200">
              <a:spcBef>
                <a:spcPts val="200"/>
              </a:spcBef>
              <a:buFont typeface="Arial"/>
              <a:buChar char="■"/>
            </a:pPr>
            <a:r>
              <a:rPr lang="en-GB" sz="2000" dirty="0"/>
              <a:t>Stored Procedures</a:t>
            </a:r>
          </a:p>
        </p:txBody>
      </p:sp>
      <p:pic>
        <p:nvPicPr>
          <p:cNvPr id="4" name="Graphic 4" descr="Database icon"/>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41000" y="2286000"/>
            <a:ext cx="1016000" cy="1016000"/>
          </a:xfrm>
          <a:prstGeom prst="rect">
            <a:avLst/>
          </a:prstGeom>
        </p:spPr>
      </p:pic>
    </p:spTree>
    <p:extLst>
      <p:ext uri="{BB962C8B-B14F-4D97-AF65-F5344CB8AC3E}">
        <p14:creationId xmlns:p14="http://schemas.microsoft.com/office/powerpoint/2010/main" val="1677258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Built-in Capabilities</a:t>
            </a:r>
          </a:p>
        </p:txBody>
      </p:sp>
      <p:sp>
        <p:nvSpPr>
          <p:cNvPr id="3" name="Content Placeholder 2"/>
          <p:cNvSpPr>
            <a:spLocks noGrp="1"/>
          </p:cNvSpPr>
          <p:nvPr>
            <p:ph idx="1"/>
          </p:nvPr>
        </p:nvSpPr>
        <p:spPr>
          <a:xfrm>
            <a:off x="838200" y="2032000"/>
            <a:ext cx="9525000" cy="4445000"/>
          </a:xfrm>
        </p:spPr>
        <p:txBody>
          <a:bodyPr>
            <a:normAutofit/>
          </a:bodyPr>
          <a:lstStyle/>
          <a:p>
            <a:pPr marL="0" indent="0">
              <a:buNone/>
            </a:pPr>
            <a:r>
              <a:rPr lang="en-GB" sz="2000" dirty="0">
                <a:solidFill>
                  <a:srgbClr val="44546A"/>
                </a:solidFill>
              </a:rPr>
              <a:t>Everything you need out of the box — no custom code required.</a:t>
            </a:r>
          </a:p>
          <a:p>
            <a:pPr marL="457200" indent="-457200">
              <a:spcBef>
                <a:spcPts val="800"/>
              </a:spcBef>
              <a:buFont typeface="Arial"/>
              <a:buChar char="■"/>
            </a:pPr>
            <a:r>
              <a:rPr lang="en-GB" sz="2000" b="1" dirty="0">
                <a:solidFill>
                  <a:srgbClr val="4472C4"/>
                </a:solidFill>
              </a:rPr>
              <a:t>Filtering</a:t>
            </a:r>
            <a:r>
              <a:rPr lang="en-GB" sz="2000" dirty="0"/>
              <a:t>  —  Query data with OData-style filters</a:t>
            </a:r>
          </a:p>
          <a:p>
            <a:pPr marL="457200" indent="-457200">
              <a:spcBef>
                <a:spcPts val="600"/>
              </a:spcBef>
              <a:buFont typeface="Arial"/>
              <a:buChar char="■"/>
            </a:pPr>
            <a:r>
              <a:rPr lang="en-GB" sz="2000" b="1" dirty="0">
                <a:solidFill>
                  <a:srgbClr val="4472C4"/>
                </a:solidFill>
              </a:rPr>
              <a:t>Pagination</a:t>
            </a:r>
            <a:r>
              <a:rPr lang="en-GB" sz="2000" dirty="0"/>
              <a:t>  —  Automatic page-based result sets</a:t>
            </a:r>
          </a:p>
          <a:p>
            <a:pPr marL="457200" indent="-457200">
              <a:spcBef>
                <a:spcPts val="600"/>
              </a:spcBef>
              <a:buFont typeface="Arial"/>
              <a:buChar char="■"/>
            </a:pPr>
            <a:r>
              <a:rPr lang="en-GB" sz="2000" b="1" dirty="0">
                <a:solidFill>
                  <a:srgbClr val="4472C4"/>
                </a:solidFill>
              </a:rPr>
              <a:t>Sorting</a:t>
            </a:r>
            <a:r>
              <a:rPr lang="en-GB" sz="2000" dirty="0"/>
              <a:t>  —  Order by any exposed column</a:t>
            </a:r>
          </a:p>
          <a:p>
            <a:pPr marL="457200" indent="-457200">
              <a:spcBef>
                <a:spcPts val="600"/>
              </a:spcBef>
              <a:buFont typeface="Arial"/>
              <a:buChar char="■"/>
            </a:pPr>
            <a:r>
              <a:rPr lang="en-GB" sz="2000" b="1" dirty="0">
                <a:solidFill>
                  <a:srgbClr val="4472C4"/>
                </a:solidFill>
              </a:rPr>
              <a:t>Relationships</a:t>
            </a:r>
            <a:r>
              <a:rPr lang="en-GB" sz="2000" dirty="0"/>
              <a:t>  —  Navigate foreign keys as nested objects</a:t>
            </a:r>
          </a:p>
        </p:txBody>
      </p:sp>
      <p:pic>
        <p:nvPicPr>
          <p:cNvPr id="4" name="Graphic 4" descr="Filter capabilities icon"/>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41000" y="2794000"/>
            <a:ext cx="1016000" cy="1016000"/>
          </a:xfrm>
          <a:prstGeom prst="rect">
            <a:avLst/>
          </a:prstGeom>
        </p:spPr>
      </p:pic>
    </p:spTree>
    <p:extLst>
      <p:ext uri="{BB962C8B-B14F-4D97-AF65-F5344CB8AC3E}">
        <p14:creationId xmlns:p14="http://schemas.microsoft.com/office/powerpoint/2010/main" val="3591167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How DAB Works</a:t>
            </a:r>
          </a:p>
        </p:txBody>
      </p:sp>
      <p:sp>
        <p:nvSpPr>
          <p:cNvPr id="3" name="Content Placeholder 2"/>
          <p:cNvSpPr>
            <a:spLocks noGrp="1"/>
          </p:cNvSpPr>
          <p:nvPr>
            <p:ph idx="1"/>
          </p:nvPr>
        </p:nvSpPr>
        <p:spPr>
          <a:xfrm>
            <a:off x="838200" y="1825625"/>
            <a:ext cx="9525000" cy="4351338"/>
          </a:xfrm>
        </p:spPr>
        <p:txBody>
          <a:bodyPr>
            <a:normAutofit/>
          </a:bodyPr>
          <a:lstStyle/>
          <a:p>
            <a:pPr marL="0" indent="0">
              <a:buNone/>
            </a:pPr>
            <a:r>
              <a:rPr lang="en-GB" sz="2000" b="1" dirty="0">
                <a:solidFill>
                  <a:srgbClr val="4472C4"/>
                </a:solidFill>
              </a:rPr>
              <a:t>The Pipeline</a:t>
            </a:r>
          </a:p>
          <a:p>
            <a:pPr marL="0" indent="0">
              <a:buNone/>
            </a:pPr>
            <a:r>
              <a:rPr lang="en-GB" sz="2000" dirty="0"/>
              <a:t>Your Database  →  dab-config.json  →  DAB Runtime  →  HTTP Endpoints</a:t>
            </a:r>
          </a:p>
          <a:p>
            <a:pPr marL="0" indent="0">
              <a:buNone/>
            </a:pPr>
            <a:r>
              <a:rPr lang="en-GB" sz="2000" b="1" dirty="0">
                <a:solidFill>
                  <a:srgbClr val="4472C4"/>
                </a:solidFill>
              </a:rPr>
              <a:t>Deployment Options</a:t>
            </a:r>
          </a:p>
          <a:p>
            <a:pPr marL="457200" indent="-457200">
              <a:spcBef>
                <a:spcPts val="200"/>
              </a:spcBef>
              <a:buFont typeface="Arial"/>
              <a:buChar char="■"/>
            </a:pPr>
            <a:r>
              <a:rPr lang="en-GB" sz="1800" dirty="0"/>
              <a:t>Locally with dotnet CLI  ·  Docker  ·  Azure Container Instances</a:t>
            </a:r>
          </a:p>
          <a:p>
            <a:pPr marL="0" indent="0">
              <a:buNone/>
            </a:pPr>
            <a:r>
              <a:rPr lang="en-GB" sz="2000" b="1" dirty="0">
                <a:solidFill>
                  <a:srgbClr val="4472C4"/>
                </a:solidFill>
              </a:rPr>
              <a:t>Authentication</a:t>
            </a:r>
          </a:p>
          <a:p>
            <a:pPr marL="457200" indent="-457200">
              <a:spcBef>
                <a:spcPts val="200"/>
              </a:spcBef>
              <a:buFont typeface="Arial"/>
              <a:buChar char="■"/>
            </a:pPr>
            <a:r>
              <a:rPr lang="en-GB" sz="1800" dirty="0"/>
              <a:t>Anonymous for dev  ·  Azure AD / JWT for production</a:t>
            </a:r>
          </a:p>
        </p:txBody>
      </p:sp>
      <p:pic>
        <p:nvPicPr>
          <p:cNvPr id="4" name="Graphic 4" descr="How it works - gears icon"/>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668000" y="2286000"/>
            <a:ext cx="1016000" cy="1016000"/>
          </a:xfrm>
          <a:prstGeom prst="rect">
            <a:avLst/>
          </a:prstGeom>
        </p:spPr>
      </p:pic>
    </p:spTree>
    <p:extLst>
      <p:ext uri="{BB962C8B-B14F-4D97-AF65-F5344CB8AC3E}">
        <p14:creationId xmlns:p14="http://schemas.microsoft.com/office/powerpoint/2010/main" val="40780740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Zero to API in Minutes</a:t>
            </a:r>
          </a:p>
        </p:txBody>
      </p:sp>
      <p:sp>
        <p:nvSpPr>
          <p:cNvPr id="3" name="Content Placeholder 2"/>
          <p:cNvSpPr>
            <a:spLocks noGrp="1"/>
          </p:cNvSpPr>
          <p:nvPr>
            <p:ph idx="1"/>
          </p:nvPr>
        </p:nvSpPr>
        <p:spPr>
          <a:xfrm>
            <a:off x="838200" y="1825625"/>
            <a:ext cx="9525000" cy="4351338"/>
          </a:xfrm>
        </p:spPr>
        <p:txBody>
          <a:bodyPr>
            <a:normAutofit/>
          </a:bodyPr>
          <a:lstStyle/>
          <a:p>
            <a:pPr marL="0" indent="0">
              <a:buNone/>
            </a:pPr>
            <a:r>
              <a:rPr lang="en-GB" sz="1800" b="1" dirty="0">
                <a:solidFill>
                  <a:srgbClr val="4472C4"/>
                </a:solidFill>
              </a:rPr>
              <a:t>1. Install</a:t>
            </a:r>
          </a:p>
          <a:p>
            <a:pPr marL="457200" indent="-457200">
              <a:spcBef>
                <a:spcPts val="100"/>
              </a:spcBef>
              <a:buNone/>
            </a:pPr>
            <a:r>
              <a:rPr lang="en-GB" sz="1400" dirty="0">
                <a:solidFill>
                  <a:srgbClr val="44546A"/>
                </a:solidFill>
                <a:latin typeface="Consolas"/>
              </a:rPr>
              <a:t>dotnet tool install --global Microsoft.DataApiBuilder</a:t>
            </a:r>
          </a:p>
          <a:p>
            <a:pPr marL="0" indent="0">
              <a:buNone/>
            </a:pPr>
            <a:r>
              <a:rPr lang="en-GB" sz="1800" b="1" dirty="0">
                <a:solidFill>
                  <a:srgbClr val="4472C4"/>
                </a:solidFill>
              </a:rPr>
              <a:t>2. Initialise Config</a:t>
            </a:r>
          </a:p>
          <a:p>
            <a:pPr marL="457200" indent="-457200">
              <a:spcBef>
                <a:spcPts val="100"/>
              </a:spcBef>
              <a:buNone/>
            </a:pPr>
            <a:r>
              <a:rPr lang="en-GB" sz="1400" dirty="0">
                <a:solidFill>
                  <a:srgbClr val="44546A"/>
                </a:solidFill>
                <a:latin typeface="Consolas"/>
              </a:rPr>
              <a:t>dab init --database-type mssql --connection-string "..."</a:t>
            </a:r>
          </a:p>
          <a:p>
            <a:pPr marL="0" indent="0">
              <a:buNone/>
            </a:pPr>
            <a:r>
              <a:rPr lang="en-GB" sz="1800" b="1" dirty="0">
                <a:solidFill>
                  <a:srgbClr val="4472C4"/>
                </a:solidFill>
              </a:rPr>
              <a:t>3. Add an Entity</a:t>
            </a:r>
          </a:p>
          <a:p>
            <a:pPr marL="457200" indent="-457200">
              <a:spcBef>
                <a:spcPts val="100"/>
              </a:spcBef>
              <a:buNone/>
            </a:pPr>
            <a:r>
              <a:rPr lang="en-GB" sz="1400" dirty="0">
                <a:solidFill>
                  <a:srgbClr val="44546A"/>
                </a:solidFill>
                <a:latin typeface="Consolas"/>
              </a:rPr>
              <a:t>dab add ScriptLog --source "dbo.ScriptLog" --permissions "anonymous:*"</a:t>
            </a:r>
          </a:p>
          <a:p>
            <a:pPr marL="0" indent="0">
              <a:buNone/>
            </a:pPr>
            <a:r>
              <a:rPr lang="en-GB" sz="1800" b="1" dirty="0">
                <a:solidFill>
                  <a:srgbClr val="4472C4"/>
                </a:solidFill>
              </a:rPr>
              <a:t>4. Start</a:t>
            </a:r>
          </a:p>
          <a:p>
            <a:pPr marL="457200" indent="-457200">
              <a:spcBef>
                <a:spcPts val="100"/>
              </a:spcBef>
              <a:buNone/>
            </a:pPr>
            <a:r>
              <a:rPr lang="en-GB" sz="1400" dirty="0">
                <a:solidFill>
                  <a:srgbClr val="44546A"/>
                </a:solidFill>
                <a:latin typeface="Consolas"/>
              </a:rPr>
              <a:t>dab start</a:t>
            </a:r>
            <a:r>
              <a:rPr lang="en-GB" sz="1400" dirty="0">
                <a:solidFill>
                  <a:srgbClr val="A5A5A5"/>
                </a:solidFill>
              </a:rPr>
              <a:t>    → http://localhost:5000/api/ScriptLog</a:t>
            </a:r>
          </a:p>
        </p:txBody>
      </p:sp>
      <p:pic>
        <p:nvPicPr>
          <p:cNvPr id="4" name="Graphic 4" descr="Rocket - quickstart icon"/>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668000" y="2286000"/>
            <a:ext cx="1016000" cy="1016000"/>
          </a:xfrm>
          <a:prstGeom prst="rect">
            <a:avLst/>
          </a:prstGeom>
        </p:spPr>
      </p:pic>
    </p:spTree>
    <p:extLst>
      <p:ext uri="{BB962C8B-B14F-4D97-AF65-F5344CB8AC3E}">
        <p14:creationId xmlns:p14="http://schemas.microsoft.com/office/powerpoint/2010/main" val="1140952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Calling DAB from PowerShell</a:t>
            </a:r>
          </a:p>
        </p:txBody>
      </p:sp>
      <p:sp>
        <p:nvSpPr>
          <p:cNvPr id="3" name="Content Placeholder 2"/>
          <p:cNvSpPr>
            <a:spLocks noGrp="1"/>
          </p:cNvSpPr>
          <p:nvPr>
            <p:ph idx="1"/>
          </p:nvPr>
        </p:nvSpPr>
        <p:spPr>
          <a:xfrm>
            <a:off x="838200" y="1825625"/>
            <a:ext cx="9525000" cy="4351338"/>
          </a:xfrm>
        </p:spPr>
        <p:txBody>
          <a:bodyPr/>
          <a:lstStyle/>
          <a:p>
            <a:pPr marL="0" indent="0">
              <a:buNone/>
            </a:pPr>
            <a:r>
              <a:rPr lang="en-GB" sz="2000" b="1" dirty="0">
                <a:solidFill>
                  <a:srgbClr val="4472C4"/>
                </a:solidFill>
              </a:rPr>
              <a:t>Read Data  (GET)</a:t>
            </a:r>
          </a:p>
          <a:p>
            <a:pPr marL="457200" indent="-457200">
              <a:spcBef>
                <a:spcPts val="100"/>
              </a:spcBef>
              <a:buNone/>
            </a:pPr>
            <a:r>
              <a:rPr lang="en-GB" sz="1400" dirty="0">
                <a:solidFill>
                  <a:srgbClr val="44546A"/>
                </a:solidFill>
                <a:latin typeface="Consolas"/>
              </a:rPr>
              <a:t>Invoke-RestMethod -Uri 'http://localhost:5000/api/ScriptLog'</a:t>
            </a:r>
          </a:p>
          <a:p>
            <a:pPr marL="0" indent="0">
              <a:buNone/>
            </a:pPr>
            <a:r>
              <a:rPr lang="en-GB" sz="2000" b="1" dirty="0">
                <a:solidFill>
                  <a:srgbClr val="4472C4"/>
                </a:solidFill>
              </a:rPr>
              <a:t>Write Data  (POST)</a:t>
            </a:r>
          </a:p>
          <a:p>
            <a:pPr marL="457200" indent="-457200">
              <a:spcBef>
                <a:spcPts val="100"/>
              </a:spcBef>
              <a:buNone/>
            </a:pPr>
            <a:r>
              <a:rPr lang="en-GB" sz="1400" dirty="0">
                <a:solidFill>
                  <a:srgbClr val="44546A"/>
                </a:solidFill>
                <a:latin typeface="Consolas"/>
              </a:rPr>
              <a:t>$body = @{</a:t>
            </a:r>
          </a:p>
          <a:p>
            <a:pPr marL="457200" indent="-457200">
              <a:buNone/>
            </a:pPr>
            <a:r>
              <a:rPr lang="en-GB" sz="1400" dirty="0">
                <a:solidFill>
                  <a:srgbClr val="44546A"/>
                </a:solidFill>
                <a:latin typeface="Consolas"/>
              </a:rPr>
              <a:t>    ScriptName = 'backup.ps1'</a:t>
            </a:r>
          </a:p>
          <a:p>
            <a:pPr marL="457200" indent="-457200">
              <a:buNone/>
            </a:pPr>
            <a:r>
              <a:rPr lang="en-GB" sz="1400" dirty="0">
                <a:solidFill>
                  <a:srgbClr val="44546A"/>
                </a:solidFill>
                <a:latin typeface="Consolas"/>
              </a:rPr>
              <a:t>    Status = 'Success'</a:t>
            </a:r>
          </a:p>
          <a:p>
            <a:pPr marL="457200" indent="-457200">
              <a:buNone/>
            </a:pPr>
            <a:r>
              <a:rPr lang="en-GB" sz="1400" dirty="0">
                <a:solidFill>
                  <a:srgbClr val="44546A"/>
                </a:solidFill>
                <a:latin typeface="Consolas"/>
              </a:rPr>
              <a:t>} | ConvertTo-Json</a:t>
            </a:r>
          </a:p>
          <a:p>
            <a:pPr marL="457200" indent="-457200">
              <a:spcBef>
                <a:spcPts val="200"/>
              </a:spcBef>
              <a:buNone/>
            </a:pPr>
            <a:r>
              <a:rPr lang="en-GB" sz="1400" dirty="0">
                <a:solidFill>
                  <a:srgbClr val="44546A"/>
                </a:solidFill>
                <a:latin typeface="Consolas"/>
              </a:rPr>
              <a:t>Invoke-RestMethod -Uri '.../api/ScriptLog' </a:t>
            </a:r>
          </a:p>
          <a:p>
            <a:pPr marL="457200" indent="-457200">
              <a:buNone/>
            </a:pPr>
            <a:r>
              <a:rPr lang="en-GB" sz="1400" dirty="0">
                <a:solidFill>
                  <a:srgbClr val="44546A"/>
                </a:solidFill>
                <a:latin typeface="Consolas"/>
              </a:rPr>
              <a:t>    -Method Post -Body $body -ContentType 'application/json'</a:t>
            </a:r>
          </a:p>
        </p:txBody>
      </p:sp>
      <p:pic>
        <p:nvPicPr>
          <p:cNvPr id="4" name="Graphic 4" descr="Terminal - PowerShell icon"/>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668000" y="2286000"/>
            <a:ext cx="1016000" cy="1016000"/>
          </a:xfrm>
          <a:prstGeom prst="rect">
            <a:avLst/>
          </a:prstGeom>
        </p:spPr>
      </p:pic>
    </p:spTree>
    <p:extLst>
      <p:ext uri="{BB962C8B-B14F-4D97-AF65-F5344CB8AC3E}">
        <p14:creationId xmlns:p14="http://schemas.microsoft.com/office/powerpoint/2010/main" val="35566554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Can You Persist?</a:t>
            </a:r>
          </a:p>
        </p:txBody>
      </p:sp>
      <p:sp>
        <p:nvSpPr>
          <p:cNvPr id="3" name="Content Placeholder 2"/>
          <p:cNvSpPr>
            <a:spLocks noGrp="1"/>
          </p:cNvSpPr>
          <p:nvPr>
            <p:ph idx="1"/>
          </p:nvPr>
        </p:nvSpPr>
        <p:spPr>
          <a:xfrm>
            <a:off x="838200" y="1825625"/>
            <a:ext cx="9525000" cy="4351338"/>
          </a:xfrm>
        </p:spPr>
        <p:txBody>
          <a:bodyPr>
            <a:normAutofit/>
          </a:bodyPr>
          <a:lstStyle/>
          <a:p>
            <a:pPr marL="457200" indent="-457200">
              <a:spcBef>
                <a:spcPts val="200"/>
              </a:spcBef>
              <a:buFont typeface="Arial"/>
              <a:buChar char="■"/>
            </a:pPr>
            <a:r>
              <a:rPr lang="en-GB" sz="1800" b="1" dirty="0">
                <a:solidFill>
                  <a:srgbClr val="4472C4"/>
                </a:solidFill>
              </a:rPr>
              <a:t>Script Execution Logs</a:t>
            </a:r>
            <a:r>
              <a:rPr lang="en-GB" sz="1800" dirty="0"/>
              <a:t>  —  when it ran, result, errors</a:t>
            </a:r>
          </a:p>
          <a:p>
            <a:pPr marL="457200" indent="-457200">
              <a:spcBef>
                <a:spcPts val="500"/>
              </a:spcBef>
              <a:buFont typeface="Arial"/>
              <a:buChar char="■"/>
            </a:pPr>
            <a:r>
              <a:rPr lang="en-GB" sz="1800" b="1" dirty="0">
                <a:solidFill>
                  <a:srgbClr val="4472C4"/>
                </a:solidFill>
              </a:rPr>
              <a:t>Automation State</a:t>
            </a:r>
            <a:r>
              <a:rPr lang="en-GB" sz="1800" dirty="0"/>
              <a:t>  —  resume where you left off</a:t>
            </a:r>
          </a:p>
          <a:p>
            <a:pPr marL="457200" indent="-457200">
              <a:spcBef>
                <a:spcPts val="500"/>
              </a:spcBef>
              <a:buFont typeface="Arial"/>
              <a:buChar char="■"/>
            </a:pPr>
            <a:r>
              <a:rPr lang="en-GB" sz="1800" b="1" dirty="0">
                <a:solidFill>
                  <a:srgbClr val="4472C4"/>
                </a:solidFill>
              </a:rPr>
              <a:t>System Health</a:t>
            </a:r>
            <a:r>
              <a:rPr lang="en-GB" sz="1800" dirty="0"/>
              <a:t>  —  inventory, ping results, disk usage</a:t>
            </a:r>
          </a:p>
          <a:p>
            <a:pPr marL="457200" indent="-457200">
              <a:spcBef>
                <a:spcPts val="500"/>
              </a:spcBef>
              <a:buFont typeface="Arial"/>
              <a:buChar char="■"/>
            </a:pPr>
            <a:r>
              <a:rPr lang="en-GB" sz="1800" b="1" dirty="0">
                <a:solidFill>
                  <a:srgbClr val="4472C4"/>
                </a:solidFill>
              </a:rPr>
              <a:t>Job Results</a:t>
            </a:r>
            <a:r>
              <a:rPr lang="en-GB" sz="1800" dirty="0"/>
              <a:t>  —  pipeline outputs, test data, reports</a:t>
            </a:r>
          </a:p>
          <a:p>
            <a:pPr marL="0" indent="0">
              <a:buNone/>
            </a:pPr>
            <a:r>
              <a:rPr lang="en-GB" sz="2000" b="1" dirty="0">
                <a:solidFill>
                  <a:srgbClr val="ED7D31"/>
                </a:solidFill>
              </a:rPr>
              <a:t>Anything you'd put in a CSV — now queryable forever.</a:t>
            </a:r>
          </a:p>
        </p:txBody>
      </p:sp>
      <p:pic>
        <p:nvPicPr>
          <p:cNvPr id="4" name="Graphic 4" descr="Persistence - disk icon"/>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668000" y="2286000"/>
            <a:ext cx="1016000" cy="1016000"/>
          </a:xfrm>
          <a:prstGeom prst="rect">
            <a:avLst/>
          </a:prstGeom>
        </p:spPr>
      </p:pic>
    </p:spTree>
    <p:extLst>
      <p:ext uri="{BB962C8B-B14F-4D97-AF65-F5344CB8AC3E}">
        <p14:creationId xmlns:p14="http://schemas.microsoft.com/office/powerpoint/2010/main" val="23449102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Azure Function + DAB</a:t>
            </a:r>
          </a:p>
        </p:txBody>
      </p:sp>
      <p:sp>
        <p:nvSpPr>
          <p:cNvPr id="3" name="Content Placeholder 2"/>
          <p:cNvSpPr>
            <a:spLocks noGrp="1"/>
          </p:cNvSpPr>
          <p:nvPr>
            <p:ph idx="1"/>
          </p:nvPr>
        </p:nvSpPr>
        <p:spPr>
          <a:xfrm>
            <a:off x="838200" y="1832203"/>
            <a:ext cx="9525000" cy="4351338"/>
          </a:xfrm>
        </p:spPr>
        <p:txBody>
          <a:bodyPr>
            <a:normAutofit/>
          </a:bodyPr>
          <a:lstStyle/>
          <a:p>
            <a:pPr marL="0" indent="0">
              <a:buNone/>
            </a:pPr>
            <a:r>
              <a:rPr lang="en-GB" sz="1800" dirty="0">
                <a:solidFill>
                  <a:srgbClr val="44546A"/>
                </a:solidFill>
              </a:rPr>
              <a:t>No direct database connections in your functions — just HTTP.</a:t>
            </a:r>
          </a:p>
          <a:p>
            <a:pPr marL="0" indent="0">
              <a:buNone/>
            </a:pPr>
            <a:r>
              <a:rPr lang="en-GB" sz="2000" b="1" dirty="0">
                <a:solidFill>
                  <a:srgbClr val="4472C4"/>
                </a:solidFill>
              </a:rPr>
              <a:t>Architecture</a:t>
            </a:r>
          </a:p>
          <a:p>
            <a:pPr marL="457200" indent="-457200">
              <a:spcBef>
                <a:spcPts val="200"/>
              </a:spcBef>
              <a:buFont typeface="Arial"/>
              <a:buChar char="■"/>
            </a:pPr>
            <a:r>
              <a:rPr lang="en-GB" sz="1800" dirty="0"/>
              <a:t>DAB in Azure Container Instance (config in Azure File Share)</a:t>
            </a:r>
          </a:p>
          <a:p>
            <a:pPr marL="457200" indent="-457200">
              <a:spcBef>
                <a:spcPts val="200"/>
              </a:spcBef>
              <a:buFont typeface="Arial"/>
              <a:buChar char="■"/>
            </a:pPr>
            <a:r>
              <a:rPr lang="en-GB" sz="1800" dirty="0"/>
              <a:t>Azure SQL Database as the backend</a:t>
            </a:r>
          </a:p>
          <a:p>
            <a:pPr marL="0" indent="0">
              <a:buNone/>
            </a:pPr>
            <a:r>
              <a:rPr lang="en-GB" sz="2000" b="1" dirty="0">
                <a:solidFill>
                  <a:srgbClr val="4472C4"/>
                </a:solidFill>
              </a:rPr>
              <a:t>Workflow</a:t>
            </a:r>
          </a:p>
          <a:p>
            <a:pPr marL="457200" indent="-457200">
              <a:spcBef>
                <a:spcPts val="200"/>
              </a:spcBef>
              <a:buFont typeface="Arial"/>
              <a:buChar char="■"/>
            </a:pPr>
            <a:r>
              <a:rPr lang="en-GB" sz="1800" dirty="0"/>
              <a:t>Azure Function runs on a schedule</a:t>
            </a:r>
          </a:p>
          <a:p>
            <a:pPr marL="457200" indent="-457200">
              <a:spcBef>
                <a:spcPts val="200"/>
              </a:spcBef>
              <a:buFont typeface="Arial"/>
              <a:buChar char="■"/>
            </a:pPr>
            <a:r>
              <a:rPr lang="en-GB" sz="1800" dirty="0"/>
              <a:t>Fetches data from external API, POSTs to DAB endpoint</a:t>
            </a:r>
          </a:p>
          <a:p>
            <a:pPr marL="457200" indent="-457200">
              <a:spcBef>
                <a:spcPts val="200"/>
              </a:spcBef>
              <a:buFont typeface="Arial"/>
              <a:buChar char="■"/>
            </a:pPr>
            <a:r>
              <a:rPr lang="en-GB" sz="1800" dirty="0"/>
              <a:t>DAB writes to SQL — function never touches the DB</a:t>
            </a:r>
          </a:p>
        </p:txBody>
      </p:sp>
      <p:pic>
        <p:nvPicPr>
          <p:cNvPr id="4" name="Graphic 4" descr="Cloud - Azure architecture icon"/>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668000" y="2286000"/>
            <a:ext cx="1016000" cy="1016000"/>
          </a:xfrm>
          <a:prstGeom prst="rect">
            <a:avLst/>
          </a:prstGeom>
        </p:spPr>
      </p:pic>
    </p:spTree>
    <p:extLst>
      <p:ext uri="{BB962C8B-B14F-4D97-AF65-F5344CB8AC3E}">
        <p14:creationId xmlns:p14="http://schemas.microsoft.com/office/powerpoint/2010/main" val="1696806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3A62EF6-1291-F059-1B19-A50D69CCF334}"/>
              </a:ext>
            </a:extLst>
          </p:cNvPr>
          <p:cNvSpPr>
            <a:spLocks noGrp="1"/>
          </p:cNvSpPr>
          <p:nvPr>
            <p:ph idx="1"/>
          </p:nvPr>
        </p:nvSpPr>
        <p:spPr/>
        <p:txBody>
          <a:bodyPr/>
          <a:lstStyle/>
          <a:p>
            <a:endParaRPr lang="en-GB"/>
          </a:p>
        </p:txBody>
      </p:sp>
      <p:sp>
        <p:nvSpPr>
          <p:cNvPr id="3" name="Title 2">
            <a:extLst>
              <a:ext uri="{FF2B5EF4-FFF2-40B4-BE49-F238E27FC236}">
                <a16:creationId xmlns:a16="http://schemas.microsoft.com/office/drawing/2014/main" id="{93211C74-3BAF-F27C-A85F-629CB56E3E56}"/>
              </a:ext>
            </a:extLst>
          </p:cNvPr>
          <p:cNvSpPr>
            <a:spLocks noGrp="1"/>
          </p:cNvSpPr>
          <p:nvPr>
            <p:ph type="title"/>
          </p:nvPr>
        </p:nvSpPr>
        <p:spPr/>
        <p:txBody>
          <a:bodyPr/>
          <a:lstStyle/>
          <a:p>
            <a:r>
              <a:rPr lang="en-GB"/>
              <a:t>This</a:t>
            </a:r>
          </a:p>
        </p:txBody>
      </p:sp>
      <p:pic>
        <p:nvPicPr>
          <p:cNvPr id="4" name="Graphic 3">
            <a:extLst>
              <a:ext uri="{FF2B5EF4-FFF2-40B4-BE49-F238E27FC236}">
                <a16:creationId xmlns:a16="http://schemas.microsoft.com/office/drawing/2014/main" id="{14A9254E-544B-8E66-5EAE-BE35A3C03B2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93342" y="-4598978"/>
            <a:ext cx="34762396" cy="17728823"/>
          </a:xfrm>
          <a:prstGeom prst="rect">
            <a:avLst/>
          </a:prstGeom>
        </p:spPr>
      </p:pic>
    </p:spTree>
    <p:extLst>
      <p:ext uri="{BB962C8B-B14F-4D97-AF65-F5344CB8AC3E}">
        <p14:creationId xmlns:p14="http://schemas.microsoft.com/office/powerpoint/2010/main" val="25315178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59DFC8DC-CBF0-5DC0-EF1C-C23F25114B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320040"/>
            <a:ext cx="12192000" cy="6217920"/>
          </a:xfrm>
          <a:prstGeom prst="rect">
            <a:avLst/>
          </a:prstGeom>
        </p:spPr>
      </p:pic>
    </p:spTree>
    <p:extLst>
      <p:ext uri="{BB962C8B-B14F-4D97-AF65-F5344CB8AC3E}">
        <p14:creationId xmlns:p14="http://schemas.microsoft.com/office/powerpoint/2010/main" val="10540791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C3001-5F11-A1E7-3628-033054A14198}"/>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96320B11-7ECF-9404-2479-63D3E295A3BC}"/>
              </a:ext>
            </a:extLst>
          </p:cNvPr>
          <p:cNvSpPr>
            <a:spLocks noGrp="1"/>
          </p:cNvSpPr>
          <p:nvPr>
            <p:ph idx="1"/>
          </p:nvPr>
        </p:nvSpPr>
        <p:spPr/>
        <p:txBody>
          <a:bodyPr/>
          <a:lstStyle/>
          <a:p>
            <a:endParaRPr lang="en-GB" dirty="0"/>
          </a:p>
        </p:txBody>
      </p:sp>
      <p:pic>
        <p:nvPicPr>
          <p:cNvPr id="5" name="Picture 4">
            <a:extLst>
              <a:ext uri="{FF2B5EF4-FFF2-40B4-BE49-F238E27FC236}">
                <a16:creationId xmlns:a16="http://schemas.microsoft.com/office/drawing/2014/main" id="{291AEB61-78A2-2DB4-B25F-28A39812DEEF}"/>
              </a:ext>
            </a:extLst>
          </p:cNvPr>
          <p:cNvPicPr>
            <a:picLocks noChangeAspect="1"/>
          </p:cNvPicPr>
          <p:nvPr/>
        </p:nvPicPr>
        <p:blipFill>
          <a:blip r:embed="rId2"/>
          <a:stretch>
            <a:fillRect/>
          </a:stretch>
        </p:blipFill>
        <p:spPr>
          <a:xfrm>
            <a:off x="0" y="2990879"/>
            <a:ext cx="12192000" cy="876241"/>
          </a:xfrm>
          <a:prstGeom prst="rect">
            <a:avLst/>
          </a:prstGeom>
        </p:spPr>
      </p:pic>
    </p:spTree>
    <p:extLst>
      <p:ext uri="{BB962C8B-B14F-4D97-AF65-F5344CB8AC3E}">
        <p14:creationId xmlns:p14="http://schemas.microsoft.com/office/powerpoint/2010/main" val="24131451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Get Started Today</a:t>
            </a:r>
          </a:p>
        </p:txBody>
      </p:sp>
      <p:sp>
        <p:nvSpPr>
          <p:cNvPr id="3" name="Content Placeholder 2"/>
          <p:cNvSpPr>
            <a:spLocks noGrp="1"/>
          </p:cNvSpPr>
          <p:nvPr>
            <p:ph idx="1"/>
          </p:nvPr>
        </p:nvSpPr>
        <p:spPr>
          <a:xfrm>
            <a:off x="838200" y="1825625"/>
            <a:ext cx="9525000" cy="4351338"/>
          </a:xfrm>
        </p:spPr>
        <p:txBody>
          <a:bodyPr>
            <a:normAutofit/>
          </a:bodyPr>
          <a:lstStyle/>
          <a:p>
            <a:pPr marL="0" indent="0">
              <a:buNone/>
            </a:pPr>
            <a:r>
              <a:rPr lang="en-GB" sz="2000" b="1" dirty="0">
                <a:solidFill>
                  <a:srgbClr val="4472C4"/>
                </a:solidFill>
              </a:rPr>
              <a:t>Resources</a:t>
            </a:r>
          </a:p>
          <a:p>
            <a:pPr marL="457200" indent="-457200">
              <a:spcBef>
                <a:spcPts val="200"/>
              </a:spcBef>
              <a:buFont typeface="Arial"/>
              <a:buChar char="■"/>
            </a:pPr>
            <a:r>
              <a:rPr lang="en-GB" sz="1800" b="1" dirty="0"/>
              <a:t>Install  </a:t>
            </a:r>
            <a:r>
              <a:rPr lang="en-GB" sz="1600" dirty="0">
                <a:solidFill>
                  <a:srgbClr val="44546A"/>
                </a:solidFill>
                <a:latin typeface="Consolas"/>
              </a:rPr>
              <a:t>dotnet tool install --global Microsoft.DataApiBuilder</a:t>
            </a:r>
          </a:p>
          <a:p>
            <a:pPr marL="457200" indent="-457200">
              <a:spcBef>
                <a:spcPts val="200"/>
              </a:spcBef>
              <a:buFont typeface="Arial"/>
              <a:buChar char="■"/>
            </a:pPr>
            <a:r>
              <a:rPr lang="en-GB" sz="1800" b="1" dirty="0"/>
              <a:t>Docs  </a:t>
            </a:r>
            <a:r>
              <a:rPr lang="en-GB" sz="1800" dirty="0">
                <a:solidFill>
                  <a:srgbClr val="4472C4"/>
                </a:solidFill>
              </a:rPr>
              <a:t>aka.ms/dab</a:t>
            </a:r>
          </a:p>
          <a:p>
            <a:pPr marL="457200" indent="-457200">
              <a:spcBef>
                <a:spcPts val="200"/>
              </a:spcBef>
              <a:buFont typeface="Arial"/>
              <a:buChar char="■"/>
            </a:pPr>
            <a:r>
              <a:rPr lang="en-GB" sz="1800" b="1" dirty="0"/>
              <a:t>GitHub  </a:t>
            </a:r>
            <a:r>
              <a:rPr lang="en-GB" sz="1800" dirty="0">
                <a:solidFill>
                  <a:srgbClr val="4472C4"/>
                </a:solidFill>
              </a:rPr>
              <a:t>github.com/Azure/data-api-builder</a:t>
            </a:r>
          </a:p>
          <a:p>
            <a:pPr marL="457200" indent="-457200">
              <a:spcBef>
                <a:spcPts val="200"/>
              </a:spcBef>
              <a:buFont typeface="Arial"/>
              <a:buChar char="■"/>
            </a:pPr>
            <a:r>
              <a:rPr lang="en-GB" sz="1800" b="1" dirty="0"/>
              <a:t>Slides + Demos  </a:t>
            </a:r>
            <a:r>
              <a:rPr lang="en-GB" sz="1800" dirty="0">
                <a:solidFill>
                  <a:srgbClr val="4472C4"/>
                </a:solidFill>
              </a:rPr>
              <a:t>github.com/jpomfret/dab-presentation</a:t>
            </a:r>
          </a:p>
          <a:p>
            <a:pPr marL="0" indent="0">
              <a:buNone/>
            </a:pPr>
            <a:r>
              <a:rPr lang="en-GB" sz="2000" b="1" dirty="0">
                <a:solidFill>
                  <a:srgbClr val="ED7D31"/>
                </a:solidFill>
              </a:rPr>
              <a:t>Pick one script that writes to a CSV today.</a:t>
            </a:r>
          </a:p>
          <a:p>
            <a:pPr marL="0" indent="0">
              <a:buNone/>
            </a:pPr>
            <a:r>
              <a:rPr lang="en-GB" sz="2000" b="1" dirty="0">
                <a:solidFill>
                  <a:srgbClr val="ED7D31"/>
                </a:solidFill>
              </a:rPr>
              <a:t>Make it write to a database instead.</a:t>
            </a:r>
          </a:p>
        </p:txBody>
      </p:sp>
      <p:pic>
        <p:nvPicPr>
          <p:cNvPr id="4" name="Graphic 4" descr="Checklist - get started icon"/>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668000" y="2286000"/>
            <a:ext cx="1016000" cy="1016000"/>
          </a:xfrm>
          <a:prstGeom prst="rect">
            <a:avLst/>
          </a:prstGeom>
        </p:spPr>
      </p:pic>
    </p:spTree>
    <p:extLst>
      <p:ext uri="{BB962C8B-B14F-4D97-AF65-F5344CB8AC3E}">
        <p14:creationId xmlns:p14="http://schemas.microsoft.com/office/powerpoint/2010/main" val="20846404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167248-C99C-E892-89E1-4CBB81F02F90}"/>
              </a:ext>
            </a:extLst>
          </p:cNvPr>
          <p:cNvSpPr>
            <a:spLocks noGrp="1"/>
          </p:cNvSpPr>
          <p:nvPr>
            <p:ph type="title"/>
          </p:nvPr>
        </p:nvSpPr>
        <p:spPr>
          <a:xfrm>
            <a:off x="831850" y="529389"/>
            <a:ext cx="10515600" cy="1004637"/>
          </a:xfrm>
        </p:spPr>
        <p:txBody>
          <a:bodyPr/>
          <a:lstStyle/>
          <a:p>
            <a:r>
              <a:rPr lang="en-GB"/>
              <a:t>Demos</a:t>
            </a:r>
          </a:p>
        </p:txBody>
      </p:sp>
      <p:sp>
        <p:nvSpPr>
          <p:cNvPr id="5" name="Text Placeholder 4">
            <a:extLst>
              <a:ext uri="{FF2B5EF4-FFF2-40B4-BE49-F238E27FC236}">
                <a16:creationId xmlns:a16="http://schemas.microsoft.com/office/drawing/2014/main" id="{2CACAFC7-78CB-98F9-FEF3-D3E8C9FF6E6F}"/>
              </a:ext>
            </a:extLst>
          </p:cNvPr>
          <p:cNvSpPr>
            <a:spLocks noGrp="1"/>
          </p:cNvSpPr>
          <p:nvPr>
            <p:ph type="body" idx="1"/>
          </p:nvPr>
        </p:nvSpPr>
        <p:spPr>
          <a:xfrm>
            <a:off x="831850" y="1653758"/>
            <a:ext cx="10515600" cy="1500187"/>
          </a:xfrm>
        </p:spPr>
        <p:txBody>
          <a:bodyPr/>
          <a:lstStyle/>
          <a:p>
            <a:r>
              <a:rPr lang="en-GB"/>
              <a:t>We love Demos!</a:t>
            </a:r>
          </a:p>
        </p:txBody>
      </p:sp>
      <p:pic>
        <p:nvPicPr>
          <p:cNvPr id="9" name="Picture 9">
            <a:extLst>
              <a:ext uri="{FF2B5EF4-FFF2-40B4-BE49-F238E27FC236}">
                <a16:creationId xmlns:a16="http://schemas.microsoft.com/office/drawing/2014/main" id="{776AC288-703A-8014-23CA-E040CDD7E976}"/>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3404191" y="615392"/>
            <a:ext cx="6127897" cy="506014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172594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3">
            <a:extLst>
              <a:ext uri="{FF2B5EF4-FFF2-40B4-BE49-F238E27FC236}">
                <a16:creationId xmlns:a16="http://schemas.microsoft.com/office/drawing/2014/main" id="{063F7B61-5334-421F-9456-A905D333F4B3}"/>
              </a:ext>
            </a:extLst>
          </p:cNvPr>
          <p:cNvSpPr txBox="1">
            <a:spLocks/>
          </p:cNvSpPr>
          <p:nvPr/>
        </p:nvSpPr>
        <p:spPr>
          <a:xfrm>
            <a:off x="831850" y="529389"/>
            <a:ext cx="10515600" cy="100463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3B2B46"/>
                </a:solidFill>
                <a:latin typeface="+mj-lt"/>
                <a:ea typeface="+mj-ea"/>
                <a:cs typeface="+mj-cs"/>
              </a:defRPr>
            </a:lvl1pPr>
          </a:lstStyle>
          <a:p>
            <a:r>
              <a:rPr lang="en-GB"/>
              <a:t>Q&amp;A</a:t>
            </a:r>
          </a:p>
        </p:txBody>
      </p:sp>
      <p:sp>
        <p:nvSpPr>
          <p:cNvPr id="10" name="Text Placeholder 4">
            <a:extLst>
              <a:ext uri="{FF2B5EF4-FFF2-40B4-BE49-F238E27FC236}">
                <a16:creationId xmlns:a16="http://schemas.microsoft.com/office/drawing/2014/main" id="{E7911686-C4FE-022C-2490-99F4F5BFDF39}"/>
              </a:ext>
            </a:extLst>
          </p:cNvPr>
          <p:cNvSpPr txBox="1">
            <a:spLocks/>
          </p:cNvSpPr>
          <p:nvPr/>
        </p:nvSpPr>
        <p:spPr>
          <a:xfrm>
            <a:off x="831850" y="1653758"/>
            <a:ext cx="10515600" cy="15001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GB"/>
              <a:t>15 minutes</a:t>
            </a:r>
          </a:p>
        </p:txBody>
      </p:sp>
      <p:pic>
        <p:nvPicPr>
          <p:cNvPr id="2" name="Picture 2">
            <a:extLst>
              <a:ext uri="{FF2B5EF4-FFF2-40B4-BE49-F238E27FC236}">
                <a16:creationId xmlns:a16="http://schemas.microsoft.com/office/drawing/2014/main" id="{04697E65-3DA9-6EF3-472C-734FB98C3839}"/>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2731477" y="1770873"/>
            <a:ext cx="6729046" cy="359174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348428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C2B4B-CF61-3DC5-6221-F5F99F86F619}"/>
            </a:ext>
          </a:extLst>
        </p:cNvPr>
        <p:cNvGrpSpPr/>
        <p:nvPr/>
      </p:nvGrpSpPr>
      <p:grpSpPr>
        <a:xfrm>
          <a:off x="0" y="0"/>
          <a:ext cx="0" cy="0"/>
          <a:chOff x="0" y="0"/>
          <a:chExt cx="0" cy="0"/>
        </a:xfrm>
      </p:grpSpPr>
      <p:sp>
        <p:nvSpPr>
          <p:cNvPr id="9" name="Title 3">
            <a:extLst>
              <a:ext uri="{FF2B5EF4-FFF2-40B4-BE49-F238E27FC236}">
                <a16:creationId xmlns:a16="http://schemas.microsoft.com/office/drawing/2014/main" id="{0AFF23A2-578F-B7AD-CC96-F1E75AA0FD82}"/>
              </a:ext>
            </a:extLst>
          </p:cNvPr>
          <p:cNvSpPr txBox="1">
            <a:spLocks/>
          </p:cNvSpPr>
          <p:nvPr/>
        </p:nvSpPr>
        <p:spPr>
          <a:xfrm>
            <a:off x="831850" y="529389"/>
            <a:ext cx="10515600" cy="100463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3B2B46"/>
                </a:solidFill>
                <a:latin typeface="+mj-lt"/>
                <a:ea typeface="+mj-ea"/>
                <a:cs typeface="+mj-cs"/>
              </a:defRPr>
            </a:lvl1pPr>
          </a:lstStyle>
          <a:p>
            <a:r>
              <a:rPr lang="en-GB"/>
              <a:t>GIVE ME FEEDBACK</a:t>
            </a:r>
          </a:p>
        </p:txBody>
      </p:sp>
      <p:sp>
        <p:nvSpPr>
          <p:cNvPr id="4" name="Rectangle 3">
            <a:extLst>
              <a:ext uri="{FF2B5EF4-FFF2-40B4-BE49-F238E27FC236}">
                <a16:creationId xmlns:a16="http://schemas.microsoft.com/office/drawing/2014/main" id="{C98D9FEC-D0B6-03AA-2C12-1CA5AE4EB596}"/>
              </a:ext>
            </a:extLst>
          </p:cNvPr>
          <p:cNvSpPr/>
          <p:nvPr/>
        </p:nvSpPr>
        <p:spPr>
          <a:xfrm>
            <a:off x="3831771" y="2046514"/>
            <a:ext cx="3868058" cy="3868058"/>
          </a:xfrm>
          <a:prstGeom prst="rect">
            <a:avLst/>
          </a:prstGeom>
          <a:noFill/>
          <a:ln w="38100">
            <a:solidFill>
              <a:srgbClr val="3B2A47"/>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noFill/>
                <a:prstDash val="dash"/>
              </a:ln>
            </a:endParaRPr>
          </a:p>
        </p:txBody>
      </p:sp>
      <p:sp>
        <p:nvSpPr>
          <p:cNvPr id="5" name="ZoneTexte 4">
            <a:extLst>
              <a:ext uri="{FF2B5EF4-FFF2-40B4-BE49-F238E27FC236}">
                <a16:creationId xmlns:a16="http://schemas.microsoft.com/office/drawing/2014/main" id="{2CD424B4-E900-F6B6-EAA3-A874A8F70DAC}"/>
              </a:ext>
            </a:extLst>
          </p:cNvPr>
          <p:cNvSpPr txBox="1"/>
          <p:nvPr/>
        </p:nvSpPr>
        <p:spPr>
          <a:xfrm>
            <a:off x="4049486" y="3380378"/>
            <a:ext cx="3461657" cy="1200329"/>
          </a:xfrm>
          <a:prstGeom prst="rect">
            <a:avLst/>
          </a:prstGeom>
          <a:noFill/>
        </p:spPr>
        <p:txBody>
          <a:bodyPr wrap="square" rtlCol="0">
            <a:spAutoFit/>
          </a:bodyPr>
          <a:lstStyle/>
          <a:p>
            <a:pPr algn="ctr"/>
            <a:r>
              <a:rPr lang="en-GB" sz="2400" b="1">
                <a:latin typeface="Acumin Pro Black" panose="020B0904020202020204" pitchFamily="34" charset="0"/>
              </a:rPr>
              <a:t>INSERT YOUR SESSION QRCODE HERE</a:t>
            </a:r>
          </a:p>
        </p:txBody>
      </p:sp>
      <p:pic>
        <p:nvPicPr>
          <p:cNvPr id="2" name="Graphique 5">
            <a:extLst>
              <a:ext uri="{FF2B5EF4-FFF2-40B4-BE49-F238E27FC236}">
                <a16:creationId xmlns:a16="http://schemas.microsoft.com/office/drawing/2014/main" id="{8C7569A3-761E-DEAA-1C30-F448FEB741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3433" y="1514958"/>
            <a:ext cx="1679652" cy="1865420"/>
          </a:xfrm>
          <a:prstGeom prst="rect">
            <a:avLst/>
          </a:prstGeom>
        </p:spPr>
      </p:pic>
      <p:pic>
        <p:nvPicPr>
          <p:cNvPr id="7" name="Picture 6">
            <a:extLst>
              <a:ext uri="{FF2B5EF4-FFF2-40B4-BE49-F238E27FC236}">
                <a16:creationId xmlns:a16="http://schemas.microsoft.com/office/drawing/2014/main" id="{2EAC1034-B442-7881-160D-F5A3FDEAAB0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43085" y="1534026"/>
            <a:ext cx="4490186" cy="4490186"/>
          </a:xfrm>
          <a:prstGeom prst="rect">
            <a:avLst/>
          </a:prstGeom>
        </p:spPr>
      </p:pic>
    </p:spTree>
    <p:extLst>
      <p:ext uri="{BB962C8B-B14F-4D97-AF65-F5344CB8AC3E}">
        <p14:creationId xmlns:p14="http://schemas.microsoft.com/office/powerpoint/2010/main" val="9232746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A13D084F-E8FE-14E3-7A60-1AB8B95A44C2}"/>
              </a:ext>
            </a:extLst>
          </p:cNvPr>
          <p:cNvSpPr txBox="1"/>
          <p:nvPr/>
        </p:nvSpPr>
        <p:spPr>
          <a:xfrm>
            <a:off x="1046162" y="1057275"/>
            <a:ext cx="4892675" cy="5187830"/>
          </a:xfrm>
          <a:prstGeom prst="rect">
            <a:avLst/>
          </a:prstGeom>
          <a:noFill/>
        </p:spPr>
        <p:txBody>
          <a:bodyPr wrap="square" rtlCol="0">
            <a:spAutoFit/>
          </a:bodyPr>
          <a:lstStyle/>
          <a:p>
            <a:pPr>
              <a:lnSpc>
                <a:spcPct val="110000"/>
              </a:lnSpc>
            </a:pPr>
            <a:r>
              <a:rPr lang="en-US" sz="1400"/>
              <a:t>Dear Speaker, we are thrilled and honored to have you with us in Wiesbaden in 2026. Take your time and read this before you prepare your session. </a:t>
            </a:r>
          </a:p>
          <a:p>
            <a:pPr>
              <a:lnSpc>
                <a:spcPct val="110000"/>
              </a:lnSpc>
            </a:pPr>
            <a:endParaRPr lang="en-US" sz="1400"/>
          </a:p>
          <a:p>
            <a:pPr>
              <a:lnSpc>
                <a:spcPct val="110000"/>
              </a:lnSpc>
              <a:spcAft>
                <a:spcPts val="1000"/>
              </a:spcAft>
            </a:pPr>
            <a:r>
              <a:rPr lang="en-US" sz="1400"/>
              <a:t>Since most of you have been with us before, you will already know a lot about </a:t>
            </a:r>
            <a:r>
              <a:rPr lang="en-US" sz="1400" err="1"/>
              <a:t>PSConfEU</a:t>
            </a:r>
            <a:r>
              <a:rPr lang="en-US" sz="1400"/>
              <a:t>. You know that we try to capture all sessions carefully and publish your work on YouTube. </a:t>
            </a:r>
            <a:r>
              <a:rPr lang="en-US" sz="1400" b="1" u="sng"/>
              <a:t>There are a few easily avoidable stumbling blocks that we would like to draw your attention to: </a:t>
            </a:r>
          </a:p>
          <a:p>
            <a:pPr marL="285750" indent="-285750">
              <a:lnSpc>
                <a:spcPct val="110000"/>
              </a:lnSpc>
              <a:buClr>
                <a:srgbClr val="C00000"/>
              </a:buClr>
              <a:buFont typeface="Arial" panose="020B0604020202020204" pitchFamily="34" charset="0"/>
              <a:buChar char="•"/>
            </a:pPr>
            <a:r>
              <a:rPr lang="en-US" sz="1400"/>
              <a:t>Your screen resolution should be</a:t>
            </a:r>
            <a:br>
              <a:rPr lang="en-US" sz="1400"/>
            </a:br>
            <a:r>
              <a:rPr lang="en-US" sz="1400"/>
              <a:t>1920x1080 </a:t>
            </a:r>
            <a:r>
              <a:rPr lang="en-US" sz="1400" err="1"/>
              <a:t>px</a:t>
            </a:r>
            <a:r>
              <a:rPr lang="en-US" sz="1400"/>
              <a:t> (</a:t>
            </a:r>
            <a:r>
              <a:rPr lang="en-US" sz="1400" err="1"/>
              <a:t>FullHD</a:t>
            </a:r>
            <a:r>
              <a:rPr lang="en-US" sz="1400"/>
              <a:t>)</a:t>
            </a:r>
          </a:p>
          <a:p>
            <a:pPr marL="285750" indent="-285750">
              <a:lnSpc>
                <a:spcPct val="110000"/>
              </a:lnSpc>
              <a:buClr>
                <a:srgbClr val="C00000"/>
              </a:buClr>
              <a:buFont typeface="Arial" panose="020B0604020202020204" pitchFamily="34" charset="0"/>
              <a:buChar char="•"/>
            </a:pPr>
            <a:r>
              <a:rPr lang="en-US" sz="1400"/>
              <a:t>You should provide a full size HDMI socket</a:t>
            </a:r>
          </a:p>
          <a:p>
            <a:pPr marL="285750" indent="-285750">
              <a:lnSpc>
                <a:spcPct val="110000"/>
              </a:lnSpc>
              <a:buClr>
                <a:srgbClr val="C00000"/>
              </a:buClr>
              <a:buFont typeface="Arial" panose="020B0604020202020204" pitchFamily="34" charset="0"/>
              <a:buChar char="•"/>
            </a:pPr>
            <a:r>
              <a:rPr lang="en-US" sz="1400"/>
              <a:t>Mirror your screen</a:t>
            </a:r>
          </a:p>
          <a:p>
            <a:pPr marL="285750" indent="-285750">
              <a:lnSpc>
                <a:spcPct val="110000"/>
              </a:lnSpc>
              <a:buClr>
                <a:srgbClr val="C00000"/>
              </a:buClr>
              <a:buFont typeface="Arial" panose="020B0604020202020204" pitchFamily="34" charset="0"/>
              <a:buChar char="•"/>
            </a:pPr>
            <a:r>
              <a:rPr lang="en-US" sz="1400"/>
              <a:t>Disable "Presenter View" in PowerPoint</a:t>
            </a:r>
          </a:p>
          <a:p>
            <a:pPr marL="285750" indent="-285750">
              <a:lnSpc>
                <a:spcPct val="110000"/>
              </a:lnSpc>
              <a:buClr>
                <a:srgbClr val="C00000"/>
              </a:buClr>
              <a:buFont typeface="Arial" panose="020B0604020202020204" pitchFamily="34" charset="0"/>
              <a:buChar char="•"/>
            </a:pPr>
            <a:r>
              <a:rPr lang="en-US" sz="1400"/>
              <a:t>Using MAC or Surface book? </a:t>
            </a:r>
            <a:br>
              <a:rPr lang="en-US" sz="1400"/>
            </a:br>
            <a:r>
              <a:rPr lang="en-US" sz="1400"/>
              <a:t>Be aware of HDCP!</a:t>
            </a:r>
          </a:p>
          <a:p>
            <a:pPr marL="285750" indent="-285750">
              <a:lnSpc>
                <a:spcPct val="110000"/>
              </a:lnSpc>
              <a:buClr>
                <a:srgbClr val="C00000"/>
              </a:buClr>
              <a:buFont typeface="Arial" panose="020B0604020202020204" pitchFamily="34" charset="0"/>
              <a:buChar char="•"/>
            </a:pPr>
            <a:r>
              <a:rPr lang="en-US" sz="1400"/>
              <a:t>Disable the ‘Night Light’ Mode</a:t>
            </a:r>
          </a:p>
          <a:p>
            <a:pPr marL="285750" indent="-285750">
              <a:lnSpc>
                <a:spcPct val="110000"/>
              </a:lnSpc>
              <a:buClr>
                <a:srgbClr val="C00000"/>
              </a:buClr>
              <a:buFont typeface="Arial" panose="020B0604020202020204" pitchFamily="34" charset="0"/>
              <a:buChar char="•"/>
            </a:pPr>
            <a:r>
              <a:rPr lang="en-GB" sz="1400"/>
              <a:t>Enable the presentation setting</a:t>
            </a:r>
            <a:br>
              <a:rPr lang="en-GB" sz="1400"/>
            </a:br>
            <a:r>
              <a:rPr lang="en-GB" sz="1400" i="1"/>
              <a:t>(presentationsettings.exe in Windows)</a:t>
            </a:r>
          </a:p>
          <a:p>
            <a:pPr marL="285750" indent="-285750">
              <a:lnSpc>
                <a:spcPct val="110000"/>
              </a:lnSpc>
              <a:buClr>
                <a:srgbClr val="C00000"/>
              </a:buClr>
              <a:buFont typeface="Arial" panose="020B0604020202020204" pitchFamily="34" charset="0"/>
              <a:buChar char="•"/>
            </a:pPr>
            <a:r>
              <a:rPr lang="en-GB" sz="1400"/>
              <a:t>If you present sensitive information on web portals, consider using something like "</a:t>
            </a:r>
            <a:r>
              <a:rPr lang="en-GB" sz="1400" err="1"/>
              <a:t>CloudCloak</a:t>
            </a:r>
            <a:r>
              <a:rPr lang="en-GB" sz="1400"/>
              <a:t>"</a:t>
            </a:r>
            <a:endParaRPr lang="en-US" sz="1400" i="1"/>
          </a:p>
        </p:txBody>
      </p:sp>
      <p:sp>
        <p:nvSpPr>
          <p:cNvPr id="4" name="Rechteck 3">
            <a:extLst>
              <a:ext uri="{FF2B5EF4-FFF2-40B4-BE49-F238E27FC236}">
                <a16:creationId xmlns:a16="http://schemas.microsoft.com/office/drawing/2014/main" id="{CBA44082-0847-F389-B219-CBA49C7725C2}"/>
              </a:ext>
            </a:extLst>
          </p:cNvPr>
          <p:cNvSpPr/>
          <p:nvPr/>
        </p:nvSpPr>
        <p:spPr>
          <a:xfrm>
            <a:off x="0" y="0"/>
            <a:ext cx="889000" cy="685800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4400">
                <a:latin typeface="Calibri" panose="020F0502020204030204" pitchFamily="34" charset="0"/>
                <a:ea typeface="Calibri" panose="020F0502020204030204" pitchFamily="34" charset="0"/>
                <a:cs typeface="Calibri" panose="020F0502020204030204" pitchFamily="34" charset="0"/>
              </a:rPr>
              <a:t>BURN AFTER READING</a:t>
            </a:r>
            <a:endParaRPr lang="en-DE" sz="4400">
              <a:latin typeface="Calibri" panose="020F0502020204030204" pitchFamily="34" charset="0"/>
              <a:ea typeface="Calibri" panose="020F0502020204030204" pitchFamily="34" charset="0"/>
              <a:cs typeface="Calibri" panose="020F0502020204030204" pitchFamily="34" charset="0"/>
            </a:endParaRPr>
          </a:p>
        </p:txBody>
      </p:sp>
      <p:sp>
        <p:nvSpPr>
          <p:cNvPr id="2" name="Textfeld 1">
            <a:extLst>
              <a:ext uri="{FF2B5EF4-FFF2-40B4-BE49-F238E27FC236}">
                <a16:creationId xmlns:a16="http://schemas.microsoft.com/office/drawing/2014/main" id="{A196BBFD-A430-8F6F-DBB7-52C55DB3DA2F}"/>
              </a:ext>
            </a:extLst>
          </p:cNvPr>
          <p:cNvSpPr txBox="1"/>
          <p:nvPr/>
        </p:nvSpPr>
        <p:spPr>
          <a:xfrm>
            <a:off x="5938836" y="663834"/>
            <a:ext cx="5972175" cy="5087290"/>
          </a:xfrm>
          <a:prstGeom prst="rect">
            <a:avLst/>
          </a:prstGeom>
          <a:noFill/>
        </p:spPr>
        <p:txBody>
          <a:bodyPr wrap="square" rtlCol="0">
            <a:spAutoFit/>
          </a:bodyPr>
          <a:lstStyle/>
          <a:p>
            <a:pPr>
              <a:lnSpc>
                <a:spcPct val="110000"/>
              </a:lnSpc>
              <a:spcAft>
                <a:spcPts val="800"/>
              </a:spcAft>
            </a:pPr>
            <a:r>
              <a:rPr lang="en-US" sz="1600" b="1" err="1">
                <a:highlight>
                  <a:srgbClr val="00FF00"/>
                </a:highlight>
              </a:rPr>
              <a:t>about_SlideDeck</a:t>
            </a:r>
            <a:endParaRPr lang="en-US" sz="1600" b="1">
              <a:highlight>
                <a:srgbClr val="00FF00"/>
              </a:highlight>
            </a:endParaRPr>
          </a:p>
          <a:p>
            <a:pPr>
              <a:lnSpc>
                <a:spcPct val="110000"/>
              </a:lnSpc>
            </a:pPr>
            <a:r>
              <a:rPr lang="en-US" sz="1400"/>
              <a:t>The actual presentation starts with slide 6 ("Session title"). The first five slides have a purely </a:t>
            </a:r>
            <a:r>
              <a:rPr lang="en-US" sz="1400" err="1"/>
              <a:t>organisational</a:t>
            </a:r>
            <a:r>
              <a:rPr lang="en-US" sz="1400"/>
              <a:t> purpose. During the break before your session, you should start the presentation with slide 2 ("Next up"), so that the audience knows that they are in the right room. It's fine if you start chatting with the audience during this break, </a:t>
            </a:r>
            <a:r>
              <a:rPr lang="en-US" sz="1400" b="1"/>
              <a:t>but</a:t>
            </a:r>
            <a:r>
              <a:rPr lang="en-US" sz="1400"/>
              <a:t> </a:t>
            </a:r>
            <a:r>
              <a:rPr lang="en-US" sz="1400" b="1"/>
              <a:t>we need a precise starting point for your presentation </a:t>
            </a:r>
            <a:r>
              <a:rPr lang="en-US" sz="1400"/>
              <a:t>in terms of editing your video. That means: </a:t>
            </a:r>
          </a:p>
          <a:p>
            <a:pPr>
              <a:lnSpc>
                <a:spcPct val="110000"/>
              </a:lnSpc>
            </a:pPr>
            <a:r>
              <a:rPr lang="en-US" sz="1400"/>
              <a:t>The recording of your presentation will start after the countdown. </a:t>
            </a:r>
            <a:r>
              <a:rPr lang="en-US" sz="1400" b="1"/>
              <a:t>Please  (RE)START talking after the countdown</a:t>
            </a:r>
            <a:r>
              <a:rPr lang="en-US" sz="1400"/>
              <a:t>, not during it! Otherwise your recording will start with a half sentence.  </a:t>
            </a:r>
          </a:p>
          <a:p>
            <a:pPr>
              <a:lnSpc>
                <a:spcPct val="110000"/>
              </a:lnSpc>
            </a:pPr>
            <a:r>
              <a:rPr lang="en-US" sz="1400"/>
              <a:t>It is not necessary to explicitly signal to the PA operator, this is your signal! </a:t>
            </a:r>
          </a:p>
          <a:p>
            <a:pPr>
              <a:lnSpc>
                <a:spcPct val="110000"/>
              </a:lnSpc>
            </a:pPr>
            <a:endParaRPr lang="en-US" sz="1400"/>
          </a:p>
          <a:p>
            <a:pPr>
              <a:lnSpc>
                <a:spcPct val="110000"/>
              </a:lnSpc>
            </a:pPr>
            <a:r>
              <a:rPr lang="en-US" sz="1400"/>
              <a:t>Finally, do you have to use this slide deck? </a:t>
            </a:r>
            <a:br>
              <a:rPr lang="en-US" sz="1400"/>
            </a:br>
            <a:r>
              <a:rPr lang="en-US" sz="1400"/>
              <a:t>No, you are free to present the way you like it. But you are asked </a:t>
            </a:r>
            <a:br>
              <a:rPr lang="en-US" sz="1400"/>
            </a:br>
            <a:r>
              <a:rPr lang="en-US" sz="1400"/>
              <a:t>to use the intro slides: countdown, session title, sponsor slide.</a:t>
            </a:r>
            <a:br>
              <a:rPr lang="en-US" sz="1400"/>
            </a:br>
            <a:r>
              <a:rPr lang="en-US" sz="1400"/>
              <a:t>Beyond that, use what is good for the cause – from no slides to sketches from your children, from </a:t>
            </a:r>
            <a:r>
              <a:rPr lang="en-US" sz="1400" err="1"/>
              <a:t>Jupyter</a:t>
            </a:r>
            <a:r>
              <a:rPr lang="en-US" sz="1400"/>
              <a:t> to $</a:t>
            </a:r>
            <a:r>
              <a:rPr lang="en-US" sz="1400" err="1"/>
              <a:t>youNameIt</a:t>
            </a:r>
            <a:r>
              <a:rPr lang="en-US" sz="1400"/>
              <a:t>. </a:t>
            </a:r>
          </a:p>
          <a:p>
            <a:pPr>
              <a:lnSpc>
                <a:spcPct val="110000"/>
              </a:lnSpc>
              <a:spcAft>
                <a:spcPts val="1000"/>
              </a:spcAft>
            </a:pPr>
            <a:r>
              <a:rPr lang="en-US" sz="1400"/>
              <a:t>You will find additional information in the notes below.</a:t>
            </a:r>
          </a:p>
          <a:p>
            <a:pPr>
              <a:lnSpc>
                <a:spcPct val="110000"/>
              </a:lnSpc>
            </a:pPr>
            <a:r>
              <a:rPr lang="en-US" sz="1400" i="1"/>
              <a:t>Sincerely, your hosts!</a:t>
            </a:r>
          </a:p>
        </p:txBody>
      </p:sp>
      <p:sp>
        <p:nvSpPr>
          <p:cNvPr id="5" name="Titel 4">
            <a:extLst>
              <a:ext uri="{FF2B5EF4-FFF2-40B4-BE49-F238E27FC236}">
                <a16:creationId xmlns:a16="http://schemas.microsoft.com/office/drawing/2014/main" id="{E2CFEAF8-3999-F242-E154-0BD39B8675DC}"/>
              </a:ext>
            </a:extLst>
          </p:cNvPr>
          <p:cNvSpPr>
            <a:spLocks noGrp="1"/>
          </p:cNvSpPr>
          <p:nvPr>
            <p:ph type="title" idx="4294967295"/>
          </p:nvPr>
        </p:nvSpPr>
        <p:spPr>
          <a:xfrm>
            <a:off x="1046161" y="66675"/>
            <a:ext cx="4892675" cy="662782"/>
          </a:xfrm>
          <a:prstGeom prst="rect">
            <a:avLst/>
          </a:prstGeom>
        </p:spPr>
        <p:txBody>
          <a:bodyPr/>
          <a:lstStyle/>
          <a:p>
            <a:r>
              <a:rPr lang="en-DE" sz="4200">
                <a:latin typeface="Calibri" panose="020F0502020204030204" pitchFamily="34" charset="0"/>
                <a:ea typeface="Calibri" panose="020F0502020204030204" pitchFamily="34" charset="0"/>
                <a:cs typeface="Calibri" panose="020F0502020204030204" pitchFamily="34" charset="0"/>
              </a:rPr>
              <a:t>R</a:t>
            </a:r>
            <a:r>
              <a:rPr lang="en-US" sz="4200">
                <a:latin typeface="Calibri" panose="020F0502020204030204" pitchFamily="34" charset="0"/>
                <a:ea typeface="Calibri" panose="020F0502020204030204" pitchFamily="34" charset="0"/>
                <a:cs typeface="Calibri" panose="020F0502020204030204" pitchFamily="34" charset="0"/>
              </a:rPr>
              <a:t>EADME</a:t>
            </a:r>
            <a:endParaRPr lang="en-DE" sz="420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310957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D5B32-5508-746F-68D8-7CD5B87075B3}"/>
              </a:ext>
            </a:extLst>
          </p:cNvPr>
          <p:cNvSpPr>
            <a:spLocks noGrp="1"/>
          </p:cNvSpPr>
          <p:nvPr>
            <p:ph type="title"/>
          </p:nvPr>
        </p:nvSpPr>
        <p:spPr/>
        <p:txBody>
          <a:bodyPr/>
          <a:lstStyle/>
          <a:p>
            <a:r>
              <a:rPr lang="en-GB"/>
              <a:t>Instructions</a:t>
            </a:r>
          </a:p>
        </p:txBody>
      </p:sp>
      <p:sp>
        <p:nvSpPr>
          <p:cNvPr id="3" name="Content Placeholder 2">
            <a:extLst>
              <a:ext uri="{FF2B5EF4-FFF2-40B4-BE49-F238E27FC236}">
                <a16:creationId xmlns:a16="http://schemas.microsoft.com/office/drawing/2014/main" id="{66E58DE9-2079-E03F-78A8-7FE2D8B2F0E7}"/>
              </a:ext>
            </a:extLst>
          </p:cNvPr>
          <p:cNvSpPr>
            <a:spLocks noGrp="1"/>
          </p:cNvSpPr>
          <p:nvPr>
            <p:ph idx="1"/>
          </p:nvPr>
        </p:nvSpPr>
        <p:spPr/>
        <p:txBody>
          <a:bodyPr>
            <a:normAutofit lnSpcReduction="10000"/>
          </a:bodyPr>
          <a:lstStyle/>
          <a:p>
            <a:r>
              <a:rPr lang="en-GB"/>
              <a:t>Use this template if you want, it’s preferred but not mandatory.</a:t>
            </a:r>
          </a:p>
          <a:p>
            <a:r>
              <a:rPr lang="en-GB"/>
              <a:t>Please make sure our sponsors are mentioned on your first slide after the title.</a:t>
            </a:r>
          </a:p>
          <a:p>
            <a:r>
              <a:rPr lang="en-GB"/>
              <a:t>Do not amend the ratio or the colours of the sponsors’ logo and background.</a:t>
            </a:r>
          </a:p>
          <a:p>
            <a:r>
              <a:rPr lang="en-GB"/>
              <a:t>Update your twitter handle through the master page (see next slides).</a:t>
            </a:r>
          </a:p>
          <a:p>
            <a:endParaRPr lang="en-GB"/>
          </a:p>
        </p:txBody>
      </p:sp>
    </p:spTree>
    <p:extLst>
      <p:ext uri="{BB962C8B-B14F-4D97-AF65-F5344CB8AC3E}">
        <p14:creationId xmlns:p14="http://schemas.microsoft.com/office/powerpoint/2010/main" val="34223637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E053C-741E-8349-0EAA-61BB90AA5C8A}"/>
              </a:ext>
            </a:extLst>
          </p:cNvPr>
          <p:cNvSpPr>
            <a:spLocks noGrp="1"/>
          </p:cNvSpPr>
          <p:nvPr>
            <p:ph type="title"/>
          </p:nvPr>
        </p:nvSpPr>
        <p:spPr/>
        <p:txBody>
          <a:bodyPr/>
          <a:lstStyle/>
          <a:p>
            <a:r>
              <a:rPr lang="en-GB"/>
              <a:t>Instruction (Continued)</a:t>
            </a:r>
          </a:p>
        </p:txBody>
      </p:sp>
      <p:sp>
        <p:nvSpPr>
          <p:cNvPr id="3" name="Content Placeholder 2">
            <a:extLst>
              <a:ext uri="{FF2B5EF4-FFF2-40B4-BE49-F238E27FC236}">
                <a16:creationId xmlns:a16="http://schemas.microsoft.com/office/drawing/2014/main" id="{D7E72C65-167D-1927-2A32-0E6E760ABC81}"/>
              </a:ext>
            </a:extLst>
          </p:cNvPr>
          <p:cNvSpPr>
            <a:spLocks noGrp="1"/>
          </p:cNvSpPr>
          <p:nvPr>
            <p:ph idx="1"/>
          </p:nvPr>
        </p:nvSpPr>
        <p:spPr/>
        <p:txBody>
          <a:bodyPr/>
          <a:lstStyle/>
          <a:p>
            <a:r>
              <a:rPr lang="en-GB"/>
              <a:t>The session is 30 min.</a:t>
            </a:r>
          </a:p>
          <a:p>
            <a:r>
              <a:rPr lang="en-GB"/>
              <a:t>Then 15min Q&amp;A.</a:t>
            </a:r>
          </a:p>
          <a:p>
            <a:r>
              <a:rPr lang="en-GB"/>
              <a:t>At the end of your 45 min, please leave the room to the next speaker.</a:t>
            </a:r>
          </a:p>
          <a:p>
            <a:r>
              <a:rPr lang="en-GB"/>
              <a:t>You’re welcome to continue the discussion in the Foyer area.</a:t>
            </a:r>
          </a:p>
        </p:txBody>
      </p:sp>
    </p:spTree>
    <p:extLst>
      <p:ext uri="{BB962C8B-B14F-4D97-AF65-F5344CB8AC3E}">
        <p14:creationId xmlns:p14="http://schemas.microsoft.com/office/powerpoint/2010/main" val="2961006699"/>
      </p:ext>
    </p:extLst>
  </p:cSld>
  <p:clrMapOvr>
    <a:masterClrMapping/>
  </p:clrMapOvr>
</p:sld>
</file>

<file path=ppt/theme/theme1.xml><?xml version="1.0" encoding="utf-8"?>
<a:theme xmlns:a="http://schemas.openxmlformats.org/drawingml/2006/main" name="Titl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lank">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Speaker's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tent">
  <a:themeElements>
    <a:clrScheme name="PSConfEU">
      <a:dk1>
        <a:sysClr val="windowText" lastClr="000000"/>
      </a:dk1>
      <a:lt1>
        <a:sysClr val="window" lastClr="FFFFFF"/>
      </a:lt1>
      <a:dk2>
        <a:srgbClr val="44546A"/>
      </a:dk2>
      <a:lt2>
        <a:srgbClr val="E7E6E6"/>
      </a:lt2>
      <a:accent1>
        <a:srgbClr val="326198"/>
      </a:accent1>
      <a:accent2>
        <a:srgbClr val="ED7D31"/>
      </a:accent2>
      <a:accent3>
        <a:srgbClr val="A5A5A5"/>
      </a:accent3>
      <a:accent4>
        <a:srgbClr val="FFC000"/>
      </a:accent4>
      <a:accent5>
        <a:srgbClr val="5B9BD5"/>
      </a:accent5>
      <a:accent6>
        <a:srgbClr val="70AD47"/>
      </a:accent6>
      <a:hlink>
        <a:srgbClr val="0563C1"/>
      </a:hlink>
      <a:folHlink>
        <a:srgbClr val="0563C1"/>
      </a:folHlink>
    </a:clrScheme>
    <a:fontScheme name="PSConfEU202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5D37454-8B27-4C77-846D-04F0B0E6F709}">
  <we:reference id="wa200010001" version="1.0.0.1" store="en-US" storeType="OMEX"/>
  <we:alternateReferences>
    <we:reference id="wa200010001" version="1.0.0.1" store="wa200010001" storeType="OMEX"/>
  </we:alternateReferences>
  <we:properties>
    <we:property name="claude.fileId" value="&quot;b0462ffd-edd2-49f4-838e-a51f648c0dcb&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33502FDC476714EB47BD1BE2BFD7B3D" ma:contentTypeVersion="13" ma:contentTypeDescription="Create a new document." ma:contentTypeScope="" ma:versionID="0d4fb5ca5076182280cb93c7d6bdff79">
  <xsd:schema xmlns:xsd="http://www.w3.org/2001/XMLSchema" xmlns:xs="http://www.w3.org/2001/XMLSchema" xmlns:p="http://schemas.microsoft.com/office/2006/metadata/properties" xmlns:ns2="abdc9a1f-962e-4235-838d-61f9c438f4db" xmlns:ns3="de47e97d-64fd-4aef-b10e-fd7d6cfcfcf4" targetNamespace="http://schemas.microsoft.com/office/2006/metadata/properties" ma:root="true" ma:fieldsID="da14a0effa8c0f0120811d0692d695e7" ns2:_="" ns3:_="">
    <xsd:import namespace="abdc9a1f-962e-4235-838d-61f9c438f4db"/>
    <xsd:import namespace="de47e97d-64fd-4aef-b10e-fd7d6cfcfcf4"/>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dc9a1f-962e-4235-838d-61f9c438f4db"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bd613703-4b30-4a23-b3bf-9e58a81c4af7"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e47e97d-64fd-4aef-b10e-fd7d6cfcfcf4"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2f96598e-1e7b-44ab-a102-458ae76ccdba}" ma:internalName="TaxCatchAll" ma:showField="CatchAllData" ma:web="de47e97d-64fd-4aef-b10e-fd7d6cfcfcf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bdc9a1f-962e-4235-838d-61f9c438f4db">
      <Terms xmlns="http://schemas.microsoft.com/office/infopath/2007/PartnerControls"/>
    </lcf76f155ced4ddcb4097134ff3c332f>
    <TaxCatchAll xmlns="de47e97d-64fd-4aef-b10e-fd7d6cfcfcf4" xsi:nil="true"/>
  </documentManagement>
</p:properties>
</file>

<file path=customXml/itemProps1.xml><?xml version="1.0" encoding="utf-8"?>
<ds:datastoreItem xmlns:ds="http://schemas.openxmlformats.org/officeDocument/2006/customXml" ds:itemID="{2C38D965-436F-4DCC-97AA-50BEF4F7BE29}">
  <ds:schemaRefs>
    <ds:schemaRef ds:uri="abdc9a1f-962e-4235-838d-61f9c438f4db"/>
    <ds:schemaRef ds:uri="de47e97d-64fd-4aef-b10e-fd7d6cfcfcf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7D9B22B-F436-4FE5-B6C0-65AB2260F593}">
  <ds:schemaRefs>
    <ds:schemaRef ds:uri="http://schemas.microsoft.com/sharepoint/v3/contenttype/forms"/>
  </ds:schemaRefs>
</ds:datastoreItem>
</file>

<file path=customXml/itemProps3.xml><?xml version="1.0" encoding="utf-8"?>
<ds:datastoreItem xmlns:ds="http://schemas.openxmlformats.org/officeDocument/2006/customXml" ds:itemID="{AA9C06E3-346E-408E-B352-32E922A070CE}">
  <ds:schemaRefs>
    <ds:schemaRef ds:uri="http://purl.org/dc/elements/1.1/"/>
    <ds:schemaRef ds:uri="http://schemas.microsoft.com/office/2006/documentManagement/types"/>
    <ds:schemaRef ds:uri="de47e97d-64fd-4aef-b10e-fd7d6cfcfcf4"/>
    <ds:schemaRef ds:uri="http://purl.org/dc/dcmitype/"/>
    <ds:schemaRef ds:uri="http://purl.org/dc/terms/"/>
    <ds:schemaRef ds:uri="abdc9a1f-962e-4235-838d-61f9c438f4db"/>
    <ds:schemaRef ds:uri="http://www.w3.org/XML/1998/namespace"/>
    <ds:schemaRef ds:uri="http://schemas.microsoft.com/office/infopath/2007/PartnerControls"/>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0</TotalTime>
  <Words>1451</Words>
  <Application>Microsoft Office PowerPoint</Application>
  <PresentationFormat>Widescreen</PresentationFormat>
  <Paragraphs>177</Paragraphs>
  <Slides>25</Slides>
  <Notes>10</Notes>
  <HiddenSlides>3</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25</vt:i4>
      </vt:variant>
    </vt:vector>
  </HeadingPairs>
  <TitlesOfParts>
    <vt:vector size="38" baseType="lpstr">
      <vt:lpstr>Acumin Pro Black</vt:lpstr>
      <vt:lpstr>Aptos</vt:lpstr>
      <vt:lpstr>Arial</vt:lpstr>
      <vt:lpstr>Calibri</vt:lpstr>
      <vt:lpstr>Consolas</vt:lpstr>
      <vt:lpstr>Segoe UI</vt:lpstr>
      <vt:lpstr>Segoe UI Light</vt:lpstr>
      <vt:lpstr>Stencil</vt:lpstr>
      <vt:lpstr>Wingdings</vt:lpstr>
      <vt:lpstr>Title</vt:lpstr>
      <vt:lpstr>Blank</vt:lpstr>
      <vt:lpstr>Speaker's slide</vt:lpstr>
      <vt:lpstr>Content</vt:lpstr>
      <vt:lpstr>Next Up:</vt:lpstr>
      <vt:lpstr>3</vt:lpstr>
      <vt:lpstr>2</vt:lpstr>
      <vt:lpstr>1</vt:lpstr>
      <vt:lpstr>Persist Your PowerShell Script Data with Data API Builder</vt:lpstr>
      <vt:lpstr>Click to edit Master title style</vt:lpstr>
      <vt:lpstr>Jess Pomfret (She/Her)</vt:lpstr>
      <vt:lpstr>What is Data API Builder?</vt:lpstr>
      <vt:lpstr>Databases &amp; Endpoints</vt:lpstr>
      <vt:lpstr>Built-in Capabilities</vt:lpstr>
      <vt:lpstr>How DAB Works</vt:lpstr>
      <vt:lpstr>Zero to API in Minutes</vt:lpstr>
      <vt:lpstr>Calling DAB from PowerShell</vt:lpstr>
      <vt:lpstr>What Can You Persist?</vt:lpstr>
      <vt:lpstr>Azure Function + DAB</vt:lpstr>
      <vt:lpstr>This</vt:lpstr>
      <vt:lpstr>PowerPoint Presentation</vt:lpstr>
      <vt:lpstr>PowerPoint Presentation</vt:lpstr>
      <vt:lpstr>Get Started Today</vt:lpstr>
      <vt:lpstr>Demos</vt:lpstr>
      <vt:lpstr>PowerPoint Presentation</vt:lpstr>
      <vt:lpstr>PowerPoint Presentation</vt:lpstr>
      <vt:lpstr>README</vt:lpstr>
      <vt:lpstr>Instructions</vt:lpstr>
      <vt:lpstr>Instruction (Continued)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Jess Pomfret</cp:lastModifiedBy>
  <cp:revision>11</cp:revision>
  <dcterms:created xsi:type="dcterms:W3CDTF">2024-03-26T13:08:23Z</dcterms:created>
  <dcterms:modified xsi:type="dcterms:W3CDTF">2026-05-16T15:44:20Z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0x010100333502FDC476714EB47BD1BE2BFD7B3D</vt:lpwstr>
  </property>
  <property fmtid="{D5CDD505-2E9C-101B-9397-08002B2CF9AE}" pid="3" name="MediaServiceImageTags">
    <vt:lpwstr/>
  </property>
</Properties>
</file>