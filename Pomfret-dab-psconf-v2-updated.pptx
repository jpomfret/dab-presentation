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97" r:id="rId5"/>
    <p:sldMasterId id="2147483695" r:id="rId6"/>
    <p:sldMasterId id="2147483684" r:id="rId7"/>
  </p:sldMasterIdLst>
  <p:notesMasterIdLst>
    <p:notesMasterId r:id="rId52"/>
  </p:notesMasterIdLst>
  <p:handoutMasterIdLst>
    <p:handoutMasterId r:id="rId53"/>
  </p:handoutMasterIdLst>
  <p:sldIdLst>
    <p:sldId id="272" r:id="rId8"/>
    <p:sldId id="259" r:id="rId9"/>
    <p:sldId id="269" r:id="rId10"/>
    <p:sldId id="270" r:id="rId11"/>
    <p:sldId id="273" r:id="rId12"/>
    <p:sldId id="2147483620" r:id="rId13"/>
    <p:sldId id="267" r:id="rId14"/>
    <p:sldId id="376" r:id="rId15"/>
    <p:sldId id="377" r:id="rId16"/>
    <p:sldId id="378" r:id="rId17"/>
    <p:sldId id="379" r:id="rId18"/>
    <p:sldId id="380" r:id="rId19"/>
    <p:sldId id="381" r:id="rId20"/>
    <p:sldId id="382" r:id="rId21"/>
    <p:sldId id="383" r:id="rId22"/>
    <p:sldId id="384" r:id="rId23"/>
    <p:sldId id="385" r:id="rId24"/>
    <p:sldId id="286" r:id="rId25"/>
    <p:sldId id="2147483635" r:id="rId26"/>
    <p:sldId id="386" r:id="rId27"/>
    <p:sldId id="2147483636" r:id="rId28"/>
    <p:sldId id="2147483626" r:id="rId29"/>
    <p:sldId id="2147483627" r:id="rId30"/>
    <p:sldId id="2147483631" r:id="rId31"/>
    <p:sldId id="330" r:id="rId32"/>
    <p:sldId id="327" r:id="rId33"/>
    <p:sldId id="351" r:id="rId34"/>
    <p:sldId id="2147483633" r:id="rId35"/>
    <p:sldId id="335" r:id="rId36"/>
    <p:sldId id="352" r:id="rId37"/>
    <p:sldId id="346" r:id="rId38"/>
    <p:sldId id="331" r:id="rId39"/>
    <p:sldId id="345" r:id="rId40"/>
    <p:sldId id="375" r:id="rId41"/>
    <p:sldId id="344" r:id="rId42"/>
    <p:sldId id="264" r:id="rId43"/>
    <p:sldId id="265" r:id="rId44"/>
    <p:sldId id="274" r:id="rId45"/>
    <p:sldId id="343" r:id="rId46"/>
    <p:sldId id="285" r:id="rId47"/>
    <p:sldId id="271" r:id="rId48"/>
    <p:sldId id="263" r:id="rId49"/>
    <p:sldId id="266" r:id="rId50"/>
    <p:sldId id="367"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session" id="{9248E0E9-B469-42C5-B521-34DBB63F9E0C}">
          <p14:sldIdLst>
            <p14:sldId id="272"/>
            <p14:sldId id="259"/>
            <p14:sldId id="269"/>
            <p14:sldId id="270"/>
          </p14:sldIdLst>
        </p14:section>
        <p14:section name="The session" id="{9BCE8471-468A-4538-82B3-E4E62B0A593E}">
          <p14:sldIdLst>
            <p14:sldId id="273"/>
            <p14:sldId id="2147483620"/>
            <p14:sldId id="267"/>
          </p14:sldIdLst>
        </p14:section>
        <p14:section name="story" id="{C1761D44-D0FF-40B0-8973-21383C2CDAFE}">
          <p14:sldIdLst>
            <p14:sldId id="376"/>
            <p14:sldId id="377"/>
            <p14:sldId id="378"/>
            <p14:sldId id="379"/>
            <p14:sldId id="380"/>
            <p14:sldId id="381"/>
            <p14:sldId id="382"/>
            <p14:sldId id="383"/>
            <p14:sldId id="384"/>
            <p14:sldId id="385"/>
            <p14:sldId id="286"/>
            <p14:sldId id="2147483635"/>
            <p14:sldId id="386"/>
            <p14:sldId id="2147483636"/>
            <p14:sldId id="2147483626"/>
            <p14:sldId id="2147483627"/>
            <p14:sldId id="2147483631"/>
            <p14:sldId id="330"/>
            <p14:sldId id="327"/>
            <p14:sldId id="351"/>
            <p14:sldId id="2147483633"/>
            <p14:sldId id="335"/>
            <p14:sldId id="352"/>
            <p14:sldId id="346"/>
            <p14:sldId id="331"/>
            <p14:sldId id="345"/>
            <p14:sldId id="375"/>
            <p14:sldId id="344"/>
          </p14:sldIdLst>
        </p14:section>
        <p14:section name="Persist Log Data" id="{B18BB96A-4A72-4035-9538-B75B0617B1CC}">
          <p14:sldIdLst>
            <p14:sldId id="264"/>
            <p14:sldId id="265"/>
            <p14:sldId id="274"/>
          </p14:sldIdLst>
        </p14:section>
        <p14:section name="archive" id="{B37EAA5E-C2E4-48CE-9D96-FF11D3F16E54}">
          <p14:sldIdLst>
            <p14:sldId id="343"/>
            <p14:sldId id="285"/>
            <p14:sldId id="271"/>
            <p14:sldId id="263"/>
            <p14:sldId id="266"/>
            <p14:sldId id="3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E4ED"/>
    <a:srgbClr val="3B2A47"/>
    <a:srgbClr val="3B2B46"/>
    <a:srgbClr val="346297"/>
    <a:srgbClr val="000000"/>
    <a:srgbClr val="FFFFFF"/>
    <a:srgbClr val="346296"/>
    <a:srgbClr val="E646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9DF284-ECBD-EE42-323A-0CB3009BCB25}" v="1" dt="2026-03-15T16:37:15.4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77" autoAdjust="0"/>
    <p:restoredTop sz="69903" autoAdjust="0"/>
  </p:normalViewPr>
  <p:slideViewPr>
    <p:cSldViewPr snapToGrid="0">
      <p:cViewPr>
        <p:scale>
          <a:sx n="66" d="100"/>
          <a:sy n="66" d="100"/>
        </p:scale>
        <p:origin x="1651" y="7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handoutMaster" Target="handoutMasters/handoutMaster1.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tableStyles" Target="tableStyle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BDC4E67-8CB2-26CB-9842-22F9A691D9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CE31EB5F-53B0-CDA3-72A4-3FA9BE40D0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440670-43D7-400A-ABC5-B69E064DBB37}" type="datetimeFigureOut">
              <a:rPr lang="en-GB" smtClean="0"/>
              <a:t>24/05/2026</a:t>
            </a:fld>
            <a:endParaRPr lang="en-GB"/>
          </a:p>
        </p:txBody>
      </p:sp>
      <p:sp>
        <p:nvSpPr>
          <p:cNvPr id="4" name="Espace réservé du pied de page 3">
            <a:extLst>
              <a:ext uri="{FF2B5EF4-FFF2-40B4-BE49-F238E27FC236}">
                <a16:creationId xmlns:a16="http://schemas.microsoft.com/office/drawing/2014/main" id="{00EB1E06-E4F0-A1A2-1EFB-AD58FA1AF7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47061963-6110-4C16-C593-C8C56E4881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274045-2E90-4839-9E75-1C1FCF04B584}" type="slidenum">
              <a:rPr lang="en-GB" smtClean="0"/>
              <a:t>‹#›</a:t>
            </a:fld>
            <a:endParaRPr lang="en-GB"/>
          </a:p>
        </p:txBody>
      </p:sp>
    </p:spTree>
    <p:extLst>
      <p:ext uri="{BB962C8B-B14F-4D97-AF65-F5344CB8AC3E}">
        <p14:creationId xmlns:p14="http://schemas.microsoft.com/office/powerpoint/2010/main" val="21401830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1B03A4-75C9-4E3D-9183-2102CA9AEC33}" type="datetimeFigureOut">
              <a:rPr lang="en-GB" smtClean="0"/>
              <a:t>24/05/2026</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9206-A81D-4F76-8486-302187992F73}" type="slidenum">
              <a:rPr lang="en-GB" smtClean="0"/>
              <a:t>‹#›</a:t>
            </a:fld>
            <a:endParaRPr lang="en-GB"/>
          </a:p>
        </p:txBody>
      </p:sp>
    </p:spTree>
    <p:extLst>
      <p:ext uri="{BB962C8B-B14F-4D97-AF65-F5344CB8AC3E}">
        <p14:creationId xmlns:p14="http://schemas.microsoft.com/office/powerpoint/2010/main" val="323080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en.wikipedia.org/wiki/High-bandwidth_Digital_Content_Protection" TargetMode="External"/><Relationship Id="rId2" Type="http://schemas.openxmlformats.org/officeDocument/2006/relationships/slide" Target="../slides/slide41.xml"/><Relationship Id="rId1" Type="http://schemas.openxmlformats.org/officeDocument/2006/relationships/notesMaster" Target="../notesMasters/notesMaster1.xml"/><Relationship Id="rId5" Type="http://schemas.openxmlformats.org/officeDocument/2006/relationships/hyperlink" Target="https://vimeo.com/thorstenbutz/byourself" TargetMode="External"/><Relationship Id="rId4" Type="http://schemas.openxmlformats.org/officeDocument/2006/relationships/image" Target="../media/image39.png"/></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1</a:t>
            </a:fld>
            <a:endParaRPr lang="en-GB"/>
          </a:p>
        </p:txBody>
      </p:sp>
    </p:spTree>
    <p:extLst>
      <p:ext uri="{BB962C8B-B14F-4D97-AF65-F5344CB8AC3E}">
        <p14:creationId xmlns:p14="http://schemas.microsoft.com/office/powerpoint/2010/main" val="302026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2</a:t>
            </a:fld>
            <a:endParaRPr lang="en-GB"/>
          </a:p>
        </p:txBody>
      </p:sp>
    </p:spTree>
    <p:extLst>
      <p:ext uri="{BB962C8B-B14F-4D97-AF65-F5344CB8AC3E}">
        <p14:creationId xmlns:p14="http://schemas.microsoft.com/office/powerpoint/2010/main" val="4198534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3</a:t>
            </a:fld>
            <a:endParaRPr lang="en-GB"/>
          </a:p>
        </p:txBody>
      </p:sp>
    </p:spTree>
    <p:extLst>
      <p:ext uri="{BB962C8B-B14F-4D97-AF65-F5344CB8AC3E}">
        <p14:creationId xmlns:p14="http://schemas.microsoft.com/office/powerpoint/2010/main" val="18827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4</a:t>
            </a:fld>
            <a:endParaRPr lang="en-GB"/>
          </a:p>
        </p:txBody>
      </p:sp>
    </p:spTree>
    <p:extLst>
      <p:ext uri="{BB962C8B-B14F-4D97-AF65-F5344CB8AC3E}">
        <p14:creationId xmlns:p14="http://schemas.microsoft.com/office/powerpoint/2010/main" val="2166726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GB" dirty="0" err="1"/>
              <a:t>PSConfEU</a:t>
            </a:r>
            <a:r>
              <a:rPr lang="en-GB" dirty="0"/>
              <a:t> does not happen without our sponsors. A quick thank you to all of them — please check them out on the booths, they pay so we get to be here.</a:t>
            </a:r>
          </a:p>
          <a:p>
            <a:r>
              <a:rPr lang="en-GB" dirty="0"/>
              <a:t>Don't dwell. 15 seconds, move on.</a:t>
            </a:r>
          </a:p>
          <a:p>
            <a:endParaRPr lang="en-GB" dirty="0"/>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6</a:t>
            </a:fld>
            <a:endParaRPr lang="en-GB"/>
          </a:p>
        </p:txBody>
      </p:sp>
    </p:spTree>
    <p:extLst>
      <p:ext uri="{BB962C8B-B14F-4D97-AF65-F5344CB8AC3E}">
        <p14:creationId xmlns:p14="http://schemas.microsoft.com/office/powerpoint/2010/main" val="529600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095F5A33-66F9-73F2-0190-00248F6453D0}"/>
            </a:ext>
          </a:extLst>
        </p:cNvPr>
        <p:cNvGrpSpPr/>
        <p:nvPr/>
      </p:nvGrpSpPr>
      <p:grpSpPr>
        <a:xfrm>
          <a:off x="0" y="0"/>
          <a:ext cx="0" cy="0"/>
          <a:chOff x="0" y="0"/>
          <a:chExt cx="0" cy="0"/>
        </a:xfrm>
      </p:grpSpPr>
      <p:sp>
        <p:nvSpPr>
          <p:cNvPr id="62" name="Google Shape;62;g3d73be8fb28_0_92:notes">
            <a:extLst>
              <a:ext uri="{FF2B5EF4-FFF2-40B4-BE49-F238E27FC236}">
                <a16:creationId xmlns:a16="http://schemas.microsoft.com/office/drawing/2014/main" id="{C9F4DAAB-F8E2-7B2A-DB9F-B2DECEAF1D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d73be8fb28_0_92:notes">
            <a:extLst>
              <a:ext uri="{FF2B5EF4-FFF2-40B4-BE49-F238E27FC236}">
                <a16:creationId xmlns:a16="http://schemas.microsoft.com/office/drawing/2014/main" id="{88A5A34F-568D-82DA-AEB0-71E12F3DC8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Last November I got a text message in a gym cycling group</a:t>
            </a:r>
          </a:p>
          <a:p>
            <a:r>
              <a:rPr lang="en-GB" dirty="0"/>
              <a:t>Pete said ‘hey does anyone want to do this’ … and I thought – what a terrible idea, absolutely not…</a:t>
            </a:r>
          </a:p>
          <a:p>
            <a:r>
              <a:rPr lang="en-GB" dirty="0"/>
              <a:t>And then… </a:t>
            </a:r>
          </a:p>
          <a:p>
            <a:r>
              <a:rPr lang="en-GB" dirty="0"/>
              <a:t>Wait a min…. </a:t>
            </a:r>
          </a:p>
          <a:p>
            <a:r>
              <a:rPr lang="en-GB" dirty="0"/>
              <a:t>That’s the gif of a tumbleweed… </a:t>
            </a:r>
          </a:p>
          <a:p>
            <a:endParaRPr dirty="0"/>
          </a:p>
        </p:txBody>
      </p:sp>
    </p:spTree>
    <p:extLst>
      <p:ext uri="{BB962C8B-B14F-4D97-AF65-F5344CB8AC3E}">
        <p14:creationId xmlns:p14="http://schemas.microsoft.com/office/powerpoint/2010/main" val="3820441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C9F6F646-2E32-8753-20CD-EB83B53197A5}"/>
            </a:ext>
          </a:extLst>
        </p:cNvPr>
        <p:cNvGrpSpPr/>
        <p:nvPr/>
      </p:nvGrpSpPr>
      <p:grpSpPr>
        <a:xfrm>
          <a:off x="0" y="0"/>
          <a:ext cx="0" cy="0"/>
          <a:chOff x="0" y="0"/>
          <a:chExt cx="0" cy="0"/>
        </a:xfrm>
      </p:grpSpPr>
      <p:sp>
        <p:nvSpPr>
          <p:cNvPr id="62" name="Google Shape;62;g3d73be8fb28_0_92:notes">
            <a:extLst>
              <a:ext uri="{FF2B5EF4-FFF2-40B4-BE49-F238E27FC236}">
                <a16:creationId xmlns:a16="http://schemas.microsoft.com/office/drawing/2014/main" id="{5BDB1F79-328F-58B8-38A1-E0A47193CF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d73be8fb28_0_92:notes">
            <a:extLst>
              <a:ext uri="{FF2B5EF4-FFF2-40B4-BE49-F238E27FC236}">
                <a16:creationId xmlns:a16="http://schemas.microsoft.com/office/drawing/2014/main" id="{BF24D552-DE80-627D-BB97-8DF2C51295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Big number, sets up the bet. Pause. Let it land.</a:t>
            </a:r>
            <a:endParaRPr lang="en-GB" dirty="0"/>
          </a:p>
          <a:p>
            <a:r>
              <a:rPr lang="en-GB" dirty="0"/>
              <a:t>what a great plan 🤣</a:t>
            </a:r>
          </a:p>
          <a:p>
            <a:endParaRPr lang="en-GB" dirty="0"/>
          </a:p>
          <a:p>
            <a:endParaRPr lang="en-GB" dirty="0"/>
          </a:p>
          <a:p>
            <a:r>
              <a:rPr lang="en-GB" dirty="0"/>
              <a:t>In 30 days time</a:t>
            </a:r>
            <a:endParaRPr dirty="0"/>
          </a:p>
        </p:txBody>
      </p:sp>
    </p:spTree>
    <p:extLst>
      <p:ext uri="{BB962C8B-B14F-4D97-AF65-F5344CB8AC3E}">
        <p14:creationId xmlns:p14="http://schemas.microsoft.com/office/powerpoint/2010/main" val="21180547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8A088E6D-C354-0ABA-6D28-3CFCAE23E96C}"/>
            </a:ext>
          </a:extLst>
        </p:cNvPr>
        <p:cNvGrpSpPr/>
        <p:nvPr/>
      </p:nvGrpSpPr>
      <p:grpSpPr>
        <a:xfrm>
          <a:off x="0" y="0"/>
          <a:ext cx="0" cy="0"/>
          <a:chOff x="0" y="0"/>
          <a:chExt cx="0" cy="0"/>
        </a:xfrm>
      </p:grpSpPr>
      <p:sp>
        <p:nvSpPr>
          <p:cNvPr id="73" name="Google Shape;73;g3d73be8fb28_0_5:notes">
            <a:extLst>
              <a:ext uri="{FF2B5EF4-FFF2-40B4-BE49-F238E27FC236}">
                <a16:creationId xmlns:a16="http://schemas.microsoft.com/office/drawing/2014/main" id="{74C3BE78-D60C-ECA2-66BC-5A21A61C9D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d73be8fb28_0_5:notes">
            <a:extLst>
              <a:ext uri="{FF2B5EF4-FFF2-40B4-BE49-F238E27FC236}">
                <a16:creationId xmlns:a16="http://schemas.microsoft.com/office/drawing/2014/main" id="{46470E35-8991-8F9B-54BF-637D075265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3 days after my 40</a:t>
            </a:r>
            <a:r>
              <a:rPr lang="en-GB" baseline="30000" dirty="0"/>
              <a:t>th</a:t>
            </a:r>
            <a:r>
              <a:rPr lang="en-GB" dirty="0"/>
              <a:t> birthday – midlife crisis anyone?</a:t>
            </a:r>
          </a:p>
          <a:p>
            <a:endParaRPr dirty="0"/>
          </a:p>
        </p:txBody>
      </p:sp>
    </p:spTree>
    <p:extLst>
      <p:ext uri="{BB962C8B-B14F-4D97-AF65-F5344CB8AC3E}">
        <p14:creationId xmlns:p14="http://schemas.microsoft.com/office/powerpoint/2010/main" val="3184162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538C28D0-0624-707C-4713-F0F280196DE5}"/>
            </a:ext>
          </a:extLst>
        </p:cNvPr>
        <p:cNvGrpSpPr/>
        <p:nvPr/>
      </p:nvGrpSpPr>
      <p:grpSpPr>
        <a:xfrm>
          <a:off x="0" y="0"/>
          <a:ext cx="0" cy="0"/>
          <a:chOff x="0" y="0"/>
          <a:chExt cx="0" cy="0"/>
        </a:xfrm>
      </p:grpSpPr>
      <p:sp>
        <p:nvSpPr>
          <p:cNvPr id="82" name="Google Shape;82;g3d73be8fb28_0_117:notes">
            <a:extLst>
              <a:ext uri="{FF2B5EF4-FFF2-40B4-BE49-F238E27FC236}">
                <a16:creationId xmlns:a16="http://schemas.microsoft.com/office/drawing/2014/main" id="{F085E846-0EE9-DB34-B6FD-F0B08ADB55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d73be8fb28_0_117:notes">
            <a:extLst>
              <a:ext uri="{FF2B5EF4-FFF2-40B4-BE49-F238E27FC236}">
                <a16:creationId xmlns:a16="http://schemas.microsoft.com/office/drawing/2014/main" id="{8D2401E0-9202-5809-C3B7-C80A37449A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It’s also worth saying that I have a somewhat addictive personality – which tends to mean when I’m in… I’m all in….</a:t>
            </a:r>
          </a:p>
          <a:p>
            <a:endParaRPr lang="en-GB" dirty="0"/>
          </a:p>
          <a:p>
            <a:endParaRPr lang="en-GB" dirty="0"/>
          </a:p>
        </p:txBody>
      </p:sp>
    </p:spTree>
    <p:extLst>
      <p:ext uri="{BB962C8B-B14F-4D97-AF65-F5344CB8AC3E}">
        <p14:creationId xmlns:p14="http://schemas.microsoft.com/office/powerpoint/2010/main" val="1934472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C0A4EE5D-0F7B-BABA-6670-787484870273}"/>
            </a:ext>
          </a:extLst>
        </p:cNvPr>
        <p:cNvGrpSpPr/>
        <p:nvPr/>
      </p:nvGrpSpPr>
      <p:grpSpPr>
        <a:xfrm>
          <a:off x="0" y="0"/>
          <a:ext cx="0" cy="0"/>
          <a:chOff x="0" y="0"/>
          <a:chExt cx="0" cy="0"/>
        </a:xfrm>
      </p:grpSpPr>
      <p:sp>
        <p:nvSpPr>
          <p:cNvPr id="82" name="Google Shape;82;g3d73be8fb28_0_117:notes">
            <a:extLst>
              <a:ext uri="{FF2B5EF4-FFF2-40B4-BE49-F238E27FC236}">
                <a16:creationId xmlns:a16="http://schemas.microsoft.com/office/drawing/2014/main" id="{92BFD241-DA96-3C2E-83F9-B3DEE0DC16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d73be8fb28_0_117:notes">
            <a:extLst>
              <a:ext uri="{FF2B5EF4-FFF2-40B4-BE49-F238E27FC236}">
                <a16:creationId xmlns:a16="http://schemas.microsoft.com/office/drawing/2014/main" id="{24B9DFC0-F0A6-344E-44A9-56EC8889A1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This has generated a lot of data – and I thought what better way to procrastinate writing this presentation… than building something to solve this problem, while showing how cool DAB really is – so here we are!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GB"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GB"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sz="1100" b="1" i="0" u="none" strike="noStrike" cap="none" dirty="0">
                <a:solidFill>
                  <a:srgbClr val="000000"/>
                </a:solidFill>
                <a:effectLst/>
                <a:latin typeface="Arial"/>
                <a:ea typeface="Arial"/>
                <a:cs typeface="Arial"/>
                <a:sym typeface="Arial"/>
              </a:rPr>
              <a:t>Heart Rate Variability (HRV) </a:t>
            </a:r>
            <a:r>
              <a:rPr lang="en-GB" sz="1100" b="0" i="0" u="none" strike="noStrike" cap="none" dirty="0">
                <a:solidFill>
                  <a:srgbClr val="000000"/>
                </a:solidFill>
                <a:effectLst/>
                <a:latin typeface="Arial"/>
                <a:ea typeface="Arial"/>
                <a:cs typeface="Arial"/>
                <a:sym typeface="Arial"/>
              </a:rPr>
              <a:t>is </a:t>
            </a:r>
            <a:r>
              <a:rPr lang="en-GB" dirty="0"/>
              <a:t>the measure of the variation in milliseconds between consecutive heartbeats</a:t>
            </a:r>
            <a:endParaRPr lang="en-GB" sz="1100" b="1" i="0" u="none" strike="noStrike" cap="none" dirty="0">
              <a:solidFill>
                <a:srgbClr val="000000"/>
              </a:solidFill>
              <a:effectLst/>
              <a:latin typeface="Arial"/>
              <a:ea typeface="Arial"/>
              <a:cs typeface="Arial"/>
              <a:sym typeface="Arial"/>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sz="1100" b="1" i="0" u="none" strike="noStrike" cap="none" dirty="0">
                <a:solidFill>
                  <a:srgbClr val="000000"/>
                </a:solidFill>
                <a:effectLst/>
                <a:latin typeface="Arial"/>
                <a:ea typeface="Arial"/>
                <a:cs typeface="Arial"/>
                <a:sym typeface="Arial"/>
              </a:rPr>
              <a:t>Rate of Perceived Exertion (RPE)</a:t>
            </a:r>
            <a:r>
              <a:rPr lang="en-GB" dirty="0"/>
              <a:t> is a subjective 1–10 scale</a:t>
            </a:r>
          </a:p>
          <a:p>
            <a:endParaRPr lang="en-GB" dirty="0"/>
          </a:p>
          <a:p>
            <a:r>
              <a:rPr lang="en-GB" dirty="0"/>
              <a:t>And when I say there has been a lot of data…</a:t>
            </a:r>
          </a:p>
          <a:p>
            <a:endParaRPr lang="en-GB" dirty="0"/>
          </a:p>
        </p:txBody>
      </p:sp>
    </p:spTree>
    <p:extLst>
      <p:ext uri="{BB962C8B-B14F-4D97-AF65-F5344CB8AC3E}">
        <p14:creationId xmlns:p14="http://schemas.microsoft.com/office/powerpoint/2010/main" val="835602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9B046E2F-3A65-8B22-7FD7-D658FA63DB5C}"/>
            </a:ext>
          </a:extLst>
        </p:cNvPr>
        <p:cNvGrpSpPr/>
        <p:nvPr/>
      </p:nvGrpSpPr>
      <p:grpSpPr>
        <a:xfrm>
          <a:off x="0" y="0"/>
          <a:ext cx="0" cy="0"/>
          <a:chOff x="0" y="0"/>
          <a:chExt cx="0" cy="0"/>
        </a:xfrm>
      </p:grpSpPr>
      <p:sp>
        <p:nvSpPr>
          <p:cNvPr id="82" name="Google Shape;82;g3d73be8fb28_0_117:notes">
            <a:extLst>
              <a:ext uri="{FF2B5EF4-FFF2-40B4-BE49-F238E27FC236}">
                <a16:creationId xmlns:a16="http://schemas.microsoft.com/office/drawing/2014/main" id="{59EA34B2-764E-4974-A960-21C55EEE1E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d73be8fb28_0_117:notes">
            <a:extLst>
              <a:ext uri="{FF2B5EF4-FFF2-40B4-BE49-F238E27FC236}">
                <a16:creationId xmlns:a16="http://schemas.microsoft.com/office/drawing/2014/main" id="{6EF2DD38-B625-1AC2-FC87-49C437A892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en-GB" dirty="0"/>
              <a:t>We’ve got sleep stats, heart rate, heart rate variability, body battery, recovery, training readiness all coming from my Garmin watch</a:t>
            </a:r>
          </a:p>
          <a:p>
            <a:pPr lvl="0"/>
            <a:endParaRPr lang="en-GB" dirty="0"/>
          </a:p>
          <a:p>
            <a:pPr lvl="0"/>
            <a:r>
              <a:rPr lang="en-GB" dirty="0"/>
              <a:t>And We’ve got bike ride data coming from a Garmin edge head unit – distance, speed, maps of where I’ve been</a:t>
            </a:r>
          </a:p>
          <a:p>
            <a:pPr lvl="0"/>
            <a:endParaRPr lang="en-GB" dirty="0"/>
          </a:p>
          <a:p>
            <a:pPr lvl="0"/>
            <a:r>
              <a:rPr lang="en-GB" dirty="0"/>
              <a:t>+ HR strap for more accurate HR reading</a:t>
            </a:r>
          </a:p>
          <a:p>
            <a:pPr lvl="0"/>
            <a:endParaRPr lang="en-GB" dirty="0"/>
          </a:p>
          <a:p>
            <a:pPr lvl="0"/>
            <a:r>
              <a:rPr lang="en-GB" dirty="0"/>
              <a:t>+ power pedals – how much force I’m putting through the pedals</a:t>
            </a:r>
          </a:p>
          <a:p>
            <a:pPr marL="158750" lvl="0" indent="0">
              <a:buNone/>
            </a:pPr>
            <a:endParaRPr lang="en-GB" dirty="0"/>
          </a:p>
          <a:p>
            <a:pPr lvl="0"/>
            <a:r>
              <a:rPr lang="en-GB" dirty="0"/>
              <a:t>And we’ve got weights and calories of all the food that my wife is cooking, and I’m busy eating… </a:t>
            </a:r>
          </a:p>
          <a:p>
            <a:pPr lvl="0"/>
            <a:endParaRPr lang="en-GB" dirty="0"/>
          </a:p>
          <a:p>
            <a:pPr lvl="0"/>
            <a:r>
              <a:rPr lang="en-GB" dirty="0"/>
              <a:t>The last few months have been a lot of cycling, eating, recovering… and obviously working (literally my whole team is here shh)</a:t>
            </a:r>
          </a:p>
          <a:p>
            <a:pPr lvl="0"/>
            <a:endParaRPr lang="en-GB" dirty="0"/>
          </a:p>
          <a:p>
            <a:pPr lvl="0"/>
            <a:endParaRPr lang="en-GB" dirty="0"/>
          </a:p>
          <a:p>
            <a:pPr lvl="0"/>
            <a:endParaRPr lang="en-GB" dirty="0"/>
          </a:p>
          <a:p>
            <a:pPr lvl="0"/>
            <a:r>
              <a:rPr lang="en-GB" sz="1100" b="1" dirty="0">
                <a:solidFill>
                  <a:srgbClr val="1A1A1A"/>
                </a:solidFill>
                <a:latin typeface="Garet"/>
              </a:rPr>
              <a:t>Heart rate, sleep, HRV, RPE, distance, speed, power, </a:t>
            </a:r>
            <a:r>
              <a:rPr lang="en-GB" sz="1100" b="1" dirty="0" err="1">
                <a:solidFill>
                  <a:srgbClr val="1A1A1A"/>
                </a:solidFill>
                <a:latin typeface="Garet"/>
              </a:rPr>
              <a:t>fueling</a:t>
            </a:r>
            <a:endParaRPr lang="en-GB" dirty="0"/>
          </a:p>
        </p:txBody>
      </p:sp>
    </p:spTree>
    <p:extLst>
      <p:ext uri="{BB962C8B-B14F-4D97-AF65-F5344CB8AC3E}">
        <p14:creationId xmlns:p14="http://schemas.microsoft.com/office/powerpoint/2010/main" val="4153321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90F43-5ECF-7880-A15B-89B25879C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C4810C-AB72-A572-3CCF-D626914DBDA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7BDB4F6-6355-E00D-FA7D-27FC27F6691E}"/>
              </a:ext>
            </a:extLst>
          </p:cNvPr>
          <p:cNvSpPr>
            <a:spLocks noGrp="1"/>
          </p:cNvSpPr>
          <p:nvPr>
            <p:ph type="body" idx="1"/>
          </p:nvPr>
        </p:nvSpPr>
        <p:spPr/>
        <p:txBody>
          <a:bodyPr/>
          <a:lstStyle/>
          <a:p>
            <a:r>
              <a:rPr lang="en-GB" dirty="0"/>
              <a:t>So most of this data goes via Garmin into </a:t>
            </a:r>
            <a:r>
              <a:rPr lang="en-GB" dirty="0" err="1"/>
              <a:t>intervals.icu</a:t>
            </a:r>
            <a:r>
              <a:rPr lang="en-GB" dirty="0"/>
              <a:t> a great open source tool for training data</a:t>
            </a:r>
          </a:p>
          <a:p>
            <a:r>
              <a:rPr lang="en-GB" dirty="0"/>
              <a:t>They have all kinds of metrics, and explanations on metrics</a:t>
            </a:r>
          </a:p>
          <a:p>
            <a:r>
              <a:rPr lang="en-GB" dirty="0"/>
              <a:t>And all kinds of graphs – this top one is fitness  vs  fatigue, basically if you keep the purple fatigue line above the blue fitness line your fitness will increase</a:t>
            </a:r>
          </a:p>
          <a:p>
            <a:r>
              <a:rPr lang="en-GB" dirty="0"/>
              <a:t>You can see the opposite happened while I was in Australia</a:t>
            </a:r>
          </a:p>
          <a:p>
            <a:r>
              <a:rPr lang="en-GB" dirty="0"/>
              <a:t>But too much training is bad, so also aim to keep this form line close to green…</a:t>
            </a:r>
          </a:p>
          <a:p>
            <a:endParaRPr lang="en-GB" dirty="0"/>
          </a:p>
          <a:p>
            <a:r>
              <a:rPr lang="en-GB" dirty="0"/>
              <a:t>You can also plan your training here, chat to other cycling nerds, but nothing for weight\nutrition</a:t>
            </a:r>
          </a:p>
          <a:p>
            <a:endParaRPr lang="en-GB" dirty="0"/>
          </a:p>
          <a:p>
            <a:pPr marL="158750" indent="0">
              <a:buNone/>
            </a:pPr>
            <a:endParaRPr lang="en-GB" dirty="0"/>
          </a:p>
        </p:txBody>
      </p:sp>
    </p:spTree>
    <p:extLst>
      <p:ext uri="{BB962C8B-B14F-4D97-AF65-F5344CB8AC3E}">
        <p14:creationId xmlns:p14="http://schemas.microsoft.com/office/powerpoint/2010/main" val="7726341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5B3B9-2475-04D1-2054-F23D70805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0369AB-CFD3-AA14-1C4A-8F5972266AE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30EAB6E-A2D9-AD3F-8687-3DB4DF3D4EC3}"/>
              </a:ext>
            </a:extLst>
          </p:cNvPr>
          <p:cNvSpPr>
            <a:spLocks noGrp="1"/>
          </p:cNvSpPr>
          <p:nvPr>
            <p:ph type="body" idx="1"/>
          </p:nvPr>
        </p:nvSpPr>
        <p:spPr/>
        <p:txBody>
          <a:bodyPr/>
          <a:lstStyle/>
          <a:p>
            <a:r>
              <a:rPr lang="en-GB" dirty="0"/>
              <a:t>So I built my own simple app</a:t>
            </a:r>
          </a:p>
          <a:p>
            <a:r>
              <a:rPr lang="en-GB" dirty="0"/>
              <a:t>And then I built my own app to track my calories consumed, it pulls in data from Garmin for my daily calories burned to make sure I’m eating enough \ not eating too much</a:t>
            </a:r>
          </a:p>
          <a:p>
            <a:endParaRPr lang="en-GB" dirty="0"/>
          </a:p>
          <a:p>
            <a:endParaRPr lang="en-GB" dirty="0"/>
          </a:p>
          <a:p>
            <a:pPr marL="158750" indent="0">
              <a:buNone/>
            </a:pPr>
            <a:endParaRPr lang="en-GB" dirty="0"/>
          </a:p>
        </p:txBody>
      </p:sp>
    </p:spTree>
    <p:extLst>
      <p:ext uri="{BB962C8B-B14F-4D97-AF65-F5344CB8AC3E}">
        <p14:creationId xmlns:p14="http://schemas.microsoft.com/office/powerpoint/2010/main" val="4209880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FE3DCF9-FB73-FC5A-0614-887144E623B8}"/>
            </a:ext>
          </a:extLst>
        </p:cNvPr>
        <p:cNvGrpSpPr/>
        <p:nvPr/>
      </p:nvGrpSpPr>
      <p:grpSpPr>
        <a:xfrm>
          <a:off x="0" y="0"/>
          <a:ext cx="0" cy="0"/>
          <a:chOff x="0" y="0"/>
          <a:chExt cx="0" cy="0"/>
        </a:xfrm>
      </p:grpSpPr>
      <p:sp>
        <p:nvSpPr>
          <p:cNvPr id="101" name="Google Shape;101;g3d73be8fb28_0_17:notes">
            <a:extLst>
              <a:ext uri="{FF2B5EF4-FFF2-40B4-BE49-F238E27FC236}">
                <a16:creationId xmlns:a16="http://schemas.microsoft.com/office/drawing/2014/main" id="{7C2B193C-F96A-A19D-2628-DB9895E833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d73be8fb28_0_17:notes">
            <a:extLst>
              <a:ext uri="{FF2B5EF4-FFF2-40B4-BE49-F238E27FC236}">
                <a16:creationId xmlns:a16="http://schemas.microsoft.com/office/drawing/2014/main" id="{0B2ED96A-8B9C-351D-DD29-1050C88F03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GB" dirty="0"/>
          </a:p>
          <a:p>
            <a:r>
              <a:rPr lang="en-GB" dirty="0"/>
              <a:t>I want to collect my data – load it into my Azure SQL Database – we’ll use Data API Builder as the API layer</a:t>
            </a:r>
          </a:p>
          <a:p>
            <a:endParaRPr lang="en-GB" dirty="0"/>
          </a:p>
          <a:p>
            <a:r>
              <a:rPr lang="en-GB" dirty="0"/>
              <a:t>We can use DAB to create GET and POST endpoints – meaning we can get and set data using this – and it’s so simple to get it set up</a:t>
            </a:r>
          </a:p>
          <a:p>
            <a:endParaRPr lang="en-GB" dirty="0"/>
          </a:p>
        </p:txBody>
      </p:sp>
    </p:spTree>
    <p:extLst>
      <p:ext uri="{BB962C8B-B14F-4D97-AF65-F5344CB8AC3E}">
        <p14:creationId xmlns:p14="http://schemas.microsoft.com/office/powerpoint/2010/main" val="31161749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9D576-DA6B-8C95-D75D-AD55F56546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84A4B-4F15-5589-E57B-9B03E97A3C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1D2D91-25D0-8331-0007-AB14E711F1FC}"/>
              </a:ext>
            </a:extLst>
          </p:cNvPr>
          <p:cNvSpPr>
            <a:spLocks noGrp="1"/>
          </p:cNvSpPr>
          <p:nvPr>
            <p:ph type="body" idx="1"/>
          </p:nvPr>
        </p:nvSpPr>
        <p:spPr/>
        <p:txBody>
          <a:bodyPr/>
          <a:lstStyle/>
          <a:p>
            <a:r>
              <a:rPr lang="en-GB" dirty="0"/>
              <a:t>So I built this…</a:t>
            </a:r>
          </a:p>
          <a:p>
            <a:endParaRPr lang="en-GB" dirty="0"/>
          </a:p>
          <a:p>
            <a:r>
              <a:rPr lang="en-GB" dirty="0"/>
              <a:t>Centred around Data API Builder which is cool – but this session is about persisting data from our scripts – and we can use DAB for that too.</a:t>
            </a:r>
          </a:p>
        </p:txBody>
      </p:sp>
      <p:sp>
        <p:nvSpPr>
          <p:cNvPr id="4" name="Slide Number Placeholder 3">
            <a:extLst>
              <a:ext uri="{FF2B5EF4-FFF2-40B4-BE49-F238E27FC236}">
                <a16:creationId xmlns:a16="http://schemas.microsoft.com/office/drawing/2014/main" id="{0D0C1758-5440-9229-6FFE-CA4C424B7077}"/>
              </a:ext>
            </a:extLst>
          </p:cNvPr>
          <p:cNvSpPr>
            <a:spLocks noGrp="1"/>
          </p:cNvSpPr>
          <p:nvPr>
            <p:ph type="sldNum" sz="quarter" idx="5"/>
          </p:nvPr>
        </p:nvSpPr>
        <p:spPr/>
        <p:txBody>
          <a:bodyPr/>
          <a:lstStyle/>
          <a:p>
            <a:fld id="{A7839206-A81D-4F76-8486-302187992F73}" type="slidenum">
              <a:rPr lang="en-GB" smtClean="0"/>
              <a:t>17</a:t>
            </a:fld>
            <a:endParaRPr lang="en-GB"/>
          </a:p>
        </p:txBody>
      </p:sp>
    </p:spTree>
    <p:extLst>
      <p:ext uri="{BB962C8B-B14F-4D97-AF65-F5344CB8AC3E}">
        <p14:creationId xmlns:p14="http://schemas.microsoft.com/office/powerpoint/2010/main" val="2371855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74485B5D-1573-0820-8AEF-E69CA4E8550A}"/>
              </a:ext>
            </a:extLst>
          </p:cNvPr>
          <p:cNvSpPr>
            <a:spLocks noGrp="1"/>
          </p:cNvSpPr>
          <p:nvPr>
            <p:ph type="body" idx="1"/>
          </p:nvPr>
        </p:nvSpPr>
        <p:spPr/>
        <p:txBody>
          <a:bodyPr/>
          <a:lstStyle/>
          <a:p>
            <a:r>
              <a:rPr lang="en-GB" dirty="0"/>
              <a:t>Go to the dashboard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ED2BD-0E7B-72AB-5D3D-8491293D7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DA7CCF-ACB5-ED08-F031-29F051CD43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77CC7-F1A3-9D9C-9598-9682E071F96D}"/>
              </a:ext>
            </a:extLst>
          </p:cNvPr>
          <p:cNvSpPr>
            <a:spLocks noGrp="1"/>
          </p:cNvSpPr>
          <p:nvPr>
            <p:ph type="body" idx="1"/>
          </p:nvPr>
        </p:nvSpPr>
        <p:spPr/>
        <p:txBody>
          <a:bodyPr/>
          <a:lstStyle/>
          <a:p>
            <a:r>
              <a:rPr lang="en-GB" dirty="0"/>
              <a:t>So I built this…</a:t>
            </a:r>
          </a:p>
          <a:p>
            <a:endParaRPr lang="en-GB" dirty="0"/>
          </a:p>
          <a:p>
            <a:r>
              <a:rPr lang="en-GB" dirty="0"/>
              <a:t>Centred around Data API Builder which is cool – but this session is about persisting data from our scripts – and we can use DAB for that too.</a:t>
            </a:r>
          </a:p>
        </p:txBody>
      </p:sp>
      <p:sp>
        <p:nvSpPr>
          <p:cNvPr id="4" name="Slide Number Placeholder 3">
            <a:extLst>
              <a:ext uri="{FF2B5EF4-FFF2-40B4-BE49-F238E27FC236}">
                <a16:creationId xmlns:a16="http://schemas.microsoft.com/office/drawing/2014/main" id="{8A73C523-6D48-74C3-3422-D53C286F23AC}"/>
              </a:ext>
            </a:extLst>
          </p:cNvPr>
          <p:cNvSpPr>
            <a:spLocks noGrp="1"/>
          </p:cNvSpPr>
          <p:nvPr>
            <p:ph type="sldNum" sz="quarter" idx="5"/>
          </p:nvPr>
        </p:nvSpPr>
        <p:spPr/>
        <p:txBody>
          <a:bodyPr/>
          <a:lstStyle/>
          <a:p>
            <a:fld id="{A7839206-A81D-4F76-8486-302187992F73}" type="slidenum">
              <a:rPr lang="en-GB" smtClean="0"/>
              <a:t>19</a:t>
            </a:fld>
            <a:endParaRPr lang="en-GB"/>
          </a:p>
        </p:txBody>
      </p:sp>
    </p:spTree>
    <p:extLst>
      <p:ext uri="{BB962C8B-B14F-4D97-AF65-F5344CB8AC3E}">
        <p14:creationId xmlns:p14="http://schemas.microsoft.com/office/powerpoint/2010/main" val="3896076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0655A-8AEE-475B-7521-E6DA8A053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30895-7A73-AAAD-5CFC-C627DF176F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DBE7A1-B515-51F0-F53D-042FDA2B5E61}"/>
              </a:ext>
            </a:extLst>
          </p:cNvPr>
          <p:cNvSpPr>
            <a:spLocks noGrp="1"/>
          </p:cNvSpPr>
          <p:nvPr>
            <p:ph type="body" idx="1"/>
          </p:nvPr>
        </p:nvSpPr>
        <p:spPr/>
        <p:txBody>
          <a:bodyPr/>
          <a:lstStyle/>
          <a:p>
            <a:r>
              <a:rPr lang="en-GB" dirty="0"/>
              <a:t>We are going to focus on this corner </a:t>
            </a:r>
          </a:p>
          <a:p>
            <a:endParaRPr lang="en-GB" dirty="0"/>
          </a:p>
          <a:p>
            <a:r>
              <a:rPr lang="en-GB" dirty="0"/>
              <a:t>An Azure Function that gets that data from </a:t>
            </a:r>
            <a:r>
              <a:rPr lang="en-GB" dirty="0" err="1"/>
              <a:t>intervals.icu</a:t>
            </a:r>
            <a:r>
              <a:rPr lang="en-GB" dirty="0"/>
              <a:t> and puts it into the Azure SQL Database via DAB… but how do we know it’s working? And what it got up to?</a:t>
            </a:r>
          </a:p>
          <a:p>
            <a:endParaRPr lang="en-GB" dirty="0"/>
          </a:p>
          <a:p>
            <a:endParaRPr lang="en-GB" dirty="0"/>
          </a:p>
        </p:txBody>
      </p:sp>
      <p:sp>
        <p:nvSpPr>
          <p:cNvPr id="4" name="Slide Number Placeholder 3">
            <a:extLst>
              <a:ext uri="{FF2B5EF4-FFF2-40B4-BE49-F238E27FC236}">
                <a16:creationId xmlns:a16="http://schemas.microsoft.com/office/drawing/2014/main" id="{84796F36-CCDB-F447-C58B-A09FCCBC1607}"/>
              </a:ext>
            </a:extLst>
          </p:cNvPr>
          <p:cNvSpPr>
            <a:spLocks noGrp="1"/>
          </p:cNvSpPr>
          <p:nvPr>
            <p:ph type="sldNum" sz="quarter" idx="5"/>
          </p:nvPr>
        </p:nvSpPr>
        <p:spPr/>
        <p:txBody>
          <a:bodyPr/>
          <a:lstStyle/>
          <a:p>
            <a:fld id="{A7839206-A81D-4F76-8486-302187992F73}" type="slidenum">
              <a:rPr lang="en-GB" smtClean="0"/>
              <a:t>20</a:t>
            </a:fld>
            <a:endParaRPr lang="en-GB"/>
          </a:p>
        </p:txBody>
      </p:sp>
    </p:spTree>
    <p:extLst>
      <p:ext uri="{BB962C8B-B14F-4D97-AF65-F5344CB8AC3E}">
        <p14:creationId xmlns:p14="http://schemas.microsoft.com/office/powerpoint/2010/main" val="8392896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B77BB-3214-A4CA-0493-C9209643D3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F468A-3D66-77B3-EF95-24EA49360D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304A88-8545-05DF-BB4E-A91A2A43440E}"/>
              </a:ext>
            </a:extLst>
          </p:cNvPr>
          <p:cNvSpPr>
            <a:spLocks noGrp="1"/>
          </p:cNvSpPr>
          <p:nvPr>
            <p:ph type="body" idx="1"/>
          </p:nvPr>
        </p:nvSpPr>
        <p:spPr/>
        <p:txBody>
          <a:bodyPr/>
          <a:lstStyle/>
          <a:p>
            <a:r>
              <a:rPr lang="en-GB" dirty="0"/>
              <a:t>We are going to focus on this corner </a:t>
            </a:r>
          </a:p>
          <a:p>
            <a:endParaRPr lang="en-GB" dirty="0"/>
          </a:p>
          <a:p>
            <a:r>
              <a:rPr lang="en-GB" dirty="0"/>
              <a:t>An Azure Function that gets that data from </a:t>
            </a:r>
            <a:r>
              <a:rPr lang="en-GB" dirty="0" err="1"/>
              <a:t>intervals.icu</a:t>
            </a:r>
            <a:r>
              <a:rPr lang="en-GB" dirty="0"/>
              <a:t> and puts it into the Azure SQL Database via DAB… but how do we know it’s working? And what it got up to?</a:t>
            </a:r>
          </a:p>
          <a:p>
            <a:endParaRPr lang="en-GB" dirty="0"/>
          </a:p>
          <a:p>
            <a:endParaRPr lang="en-GB" dirty="0"/>
          </a:p>
        </p:txBody>
      </p:sp>
      <p:sp>
        <p:nvSpPr>
          <p:cNvPr id="4" name="Slide Number Placeholder 3">
            <a:extLst>
              <a:ext uri="{FF2B5EF4-FFF2-40B4-BE49-F238E27FC236}">
                <a16:creationId xmlns:a16="http://schemas.microsoft.com/office/drawing/2014/main" id="{F0D695CB-39E2-AF25-781D-7DFB402EAAE6}"/>
              </a:ext>
            </a:extLst>
          </p:cNvPr>
          <p:cNvSpPr>
            <a:spLocks noGrp="1"/>
          </p:cNvSpPr>
          <p:nvPr>
            <p:ph type="sldNum" sz="quarter" idx="5"/>
          </p:nvPr>
        </p:nvSpPr>
        <p:spPr/>
        <p:txBody>
          <a:bodyPr/>
          <a:lstStyle/>
          <a:p>
            <a:fld id="{A7839206-A81D-4F76-8486-302187992F73}" type="slidenum">
              <a:rPr lang="en-GB" smtClean="0"/>
              <a:t>21</a:t>
            </a:fld>
            <a:endParaRPr lang="en-GB"/>
          </a:p>
        </p:txBody>
      </p:sp>
    </p:spTree>
    <p:extLst>
      <p:ext uri="{BB962C8B-B14F-4D97-AF65-F5344CB8AC3E}">
        <p14:creationId xmlns:p14="http://schemas.microsoft.com/office/powerpoint/2010/main" val="23172220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7839206-A81D-4F76-8486-302187992F73}" type="slidenum">
              <a:rPr lang="en-GB" smtClean="0"/>
              <a:t>22</a:t>
            </a:fld>
            <a:endParaRPr lang="en-GB"/>
          </a:p>
        </p:txBody>
      </p:sp>
    </p:spTree>
    <p:extLst>
      <p:ext uri="{BB962C8B-B14F-4D97-AF65-F5344CB8AC3E}">
        <p14:creationId xmlns:p14="http://schemas.microsoft.com/office/powerpoint/2010/main" val="38017333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Anywhere you can call an API from – get a token, auth, put data in the database</a:t>
            </a:r>
          </a:p>
        </p:txBody>
      </p:sp>
      <p:sp>
        <p:nvSpPr>
          <p:cNvPr id="4" name="Slide Number Placeholder 3"/>
          <p:cNvSpPr>
            <a:spLocks noGrp="1"/>
          </p:cNvSpPr>
          <p:nvPr>
            <p:ph type="sldNum" sz="quarter" idx="5"/>
          </p:nvPr>
        </p:nvSpPr>
        <p:spPr/>
        <p:txBody>
          <a:bodyPr/>
          <a:lstStyle/>
          <a:p>
            <a:fld id="{A7839206-A81D-4F76-8486-302187992F73}" type="slidenum">
              <a:rPr lang="en-GB" smtClean="0"/>
              <a:t>23</a:t>
            </a:fld>
            <a:endParaRPr lang="en-GB"/>
          </a:p>
        </p:txBody>
      </p:sp>
    </p:spTree>
    <p:extLst>
      <p:ext uri="{BB962C8B-B14F-4D97-AF65-F5344CB8AC3E}">
        <p14:creationId xmlns:p14="http://schemas.microsoft.com/office/powerpoint/2010/main" val="23313762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d73be8fb28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d73be8fb28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Simplest setup – we have a database, we have DAB running in a container say, and then we can access the endpoints</a:t>
            </a:r>
          </a:p>
          <a:p>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7839206-A81D-4F76-8486-302187992F73}" type="slidenum">
              <a:rPr lang="en-GB" smtClean="0"/>
              <a:t>25</a:t>
            </a:fld>
            <a:endParaRPr lang="en-GB"/>
          </a:p>
        </p:txBody>
      </p:sp>
    </p:spTree>
    <p:extLst>
      <p:ext uri="{BB962C8B-B14F-4D97-AF65-F5344CB8AC3E}">
        <p14:creationId xmlns:p14="http://schemas.microsoft.com/office/powerpoint/2010/main" val="9018004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d73be8fb28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d73be8fb28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Simplest form of config</a:t>
            </a:r>
          </a:p>
          <a:p>
            <a:pPr lvl="1"/>
            <a:r>
              <a:rPr lang="en-GB" dirty="0"/>
              <a:t>Using an environment variable for the connection string</a:t>
            </a:r>
          </a:p>
          <a:p>
            <a:pPr lvl="1"/>
            <a:r>
              <a:rPr lang="en-GB" dirty="0"/>
              <a:t>Exposing one table for authenticated access</a:t>
            </a:r>
          </a:p>
          <a:p>
            <a:pPr lvl="1"/>
            <a:r>
              <a:rPr lang="en-GB" dirty="0"/>
              <a:t>The name of the entity ‘</a:t>
            </a:r>
            <a:r>
              <a:rPr lang="en-GB" dirty="0" err="1"/>
              <a:t>SyncLog</a:t>
            </a:r>
            <a:r>
              <a:rPr lang="en-GB" dirty="0"/>
              <a:t>’ in this example will become the API endpoint</a:t>
            </a:r>
          </a:p>
          <a:p>
            <a:pPr lvl="1"/>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ZeroToDab</a:t>
            </a:r>
            <a:endParaRPr lang="en-GB" dirty="0"/>
          </a:p>
          <a:p>
            <a:r>
              <a:rPr lang="en-GB" dirty="0"/>
              <a:t>Docker Container</a:t>
            </a:r>
          </a:p>
        </p:txBody>
      </p:sp>
      <p:sp>
        <p:nvSpPr>
          <p:cNvPr id="4" name="Slide Number Placeholder 3"/>
          <p:cNvSpPr>
            <a:spLocks noGrp="1"/>
          </p:cNvSpPr>
          <p:nvPr>
            <p:ph type="sldNum" sz="quarter" idx="5"/>
          </p:nvPr>
        </p:nvSpPr>
        <p:spPr/>
        <p:txBody>
          <a:bodyPr/>
          <a:lstStyle/>
          <a:p>
            <a:fld id="{A7839206-A81D-4F76-8486-302187992F73}" type="slidenum">
              <a:rPr lang="en-GB" smtClean="0"/>
              <a:t>28</a:t>
            </a:fld>
            <a:endParaRPr lang="en-GB"/>
          </a:p>
        </p:txBody>
      </p:sp>
    </p:spTree>
    <p:extLst>
      <p:ext uri="{BB962C8B-B14F-4D97-AF65-F5344CB8AC3E}">
        <p14:creationId xmlns:p14="http://schemas.microsoft.com/office/powerpoint/2010/main" val="24745244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Demo – 1-zerotodab.ps1</a:t>
            </a:r>
          </a:p>
        </p:txBody>
      </p:sp>
      <p:sp>
        <p:nvSpPr>
          <p:cNvPr id="4" name="Slide Number Placeholder 3"/>
          <p:cNvSpPr>
            <a:spLocks noGrp="1"/>
          </p:cNvSpPr>
          <p:nvPr>
            <p:ph type="sldNum" sz="quarter" idx="5"/>
          </p:nvPr>
        </p:nvSpPr>
        <p:spPr/>
        <p:txBody>
          <a:bodyPr/>
          <a:lstStyle/>
          <a:p>
            <a:fld id="{A7839206-A81D-4F76-8486-302187992F73}" type="slidenum">
              <a:rPr lang="en-GB" smtClean="0"/>
              <a:t>29</a:t>
            </a:fld>
            <a:endParaRPr lang="en-GB"/>
          </a:p>
        </p:txBody>
      </p:sp>
    </p:spTree>
    <p:extLst>
      <p:ext uri="{BB962C8B-B14F-4D97-AF65-F5344CB8AC3E}">
        <p14:creationId xmlns:p14="http://schemas.microsoft.com/office/powerpoint/2010/main" val="39240187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d73be8fb28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d73be8fb28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Deployment — four options, one container image</a:t>
            </a:r>
          </a:p>
          <a:p>
            <a:endParaRPr lang="en-GB" dirty="0"/>
          </a:p>
          <a:p>
            <a:r>
              <a:rPr lang="en-GB" b="1" dirty="0"/>
              <a:t>Docker container:</a:t>
            </a:r>
          </a:p>
          <a:p>
            <a:r>
              <a:rPr lang="en-GB" dirty="0"/>
              <a:t>- The DAB runtime ships as a single Docker image from Microsoft Container Registry.</a:t>
            </a:r>
          </a:p>
          <a:p>
            <a:r>
              <a:rPr lang="en-GB" dirty="0"/>
              <a:t>- docker run is all you need for local development — pass your connection string as an environment variable.</a:t>
            </a:r>
          </a:p>
          <a:p>
            <a:r>
              <a:rPr lang="en-GB" dirty="0"/>
              <a:t>- Same image works in CI pipelines for integration testing — spin it up, run tests, tear it down.</a:t>
            </a:r>
          </a:p>
          <a:p>
            <a:r>
              <a:rPr lang="en-GB" dirty="0"/>
              <a:t>- For bare-metal or VM deployments, just run the container directly. No framework dependency on the host.</a:t>
            </a:r>
          </a:p>
          <a:p>
            <a:endParaRPr lang="en-GB" dirty="0"/>
          </a:p>
          <a:p>
            <a:r>
              <a:rPr lang="en-GB" b="1" dirty="0"/>
              <a:t>Azure Container Apps:</a:t>
            </a:r>
          </a:p>
          <a:p>
            <a:r>
              <a:rPr lang="en-GB" dirty="0"/>
              <a:t>- Recommended starting point for most teams. Serverless — you don't manage infrastructure.</a:t>
            </a:r>
          </a:p>
          <a:p>
            <a:r>
              <a:rPr lang="en-GB" dirty="0"/>
              <a:t>- Built-in auto-scale from zero to N replicas based on HTTP traffic. You pay per request, not per VM.</a:t>
            </a:r>
          </a:p>
          <a:p>
            <a:r>
              <a:rPr lang="en-GB" dirty="0"/>
              <a:t>- Supports revision-based traffic splitting for canary deployments.</a:t>
            </a:r>
          </a:p>
          <a:p>
            <a:endParaRPr lang="en-GB" dirty="0"/>
          </a:p>
          <a:p>
            <a:r>
              <a:rPr lang="en-GB" b="1" dirty="0"/>
              <a:t>Azure App Service:</a:t>
            </a:r>
          </a:p>
          <a:p>
            <a:r>
              <a:rPr lang="en-GB" dirty="0"/>
              <a:t>- If your team already runs .NET apps on App Service, DAB slots right in.</a:t>
            </a:r>
          </a:p>
          <a:p>
            <a:r>
              <a:rPr lang="en-GB" dirty="0"/>
              <a:t>- Deployment slots give you blue-green deployments out of the box.</a:t>
            </a:r>
          </a:p>
          <a:p>
            <a:r>
              <a:rPr lang="en-GB" dirty="0"/>
              <a:t>- Built-in auth integration with Entra ID (formerly AAD) — no code changes needed.</a:t>
            </a:r>
          </a:p>
          <a:p>
            <a:endParaRPr lang="en-GB" dirty="0"/>
          </a:p>
          <a:p>
            <a:r>
              <a:rPr lang="en-GB" b="1" dirty="0"/>
              <a:t>Azure Kubernetes Service (AKS):</a:t>
            </a:r>
          </a:p>
          <a:p>
            <a:r>
              <a:rPr lang="en-GB" dirty="0"/>
              <a:t>- For teams that already operate a K8s cluster. Helm chart is provided.</a:t>
            </a:r>
          </a:p>
          <a:p>
            <a:r>
              <a:rPr lang="en-GB" dirty="0"/>
              <a:t>- Fits into existing service mesh, observability, and scaling policies.</a:t>
            </a:r>
          </a:p>
          <a:p>
            <a:r>
              <a:rPr lang="en-GB" dirty="0"/>
              <a:t>- Most operational overhead — only choose this if you already have the K8s muscle.</a:t>
            </a:r>
          </a:p>
          <a:p>
            <a:endParaRPr lang="en-GB" dirty="0"/>
          </a:p>
          <a:p>
            <a:r>
              <a:rPr lang="en-GB" b="1" dirty="0"/>
              <a:t>Key message: identical image everywhere. The only thing that changes between environments is the config — connection strings, auth settings, CORS rules. All of that lives in environment variables or a JSON config file, never in source code. Connection strings should be stored in Azure Key Vault and referenced via env vars.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DAB delegates authentication to your identity provider and validates the tokens it receives. Four provider options cover every scenario:</a:t>
            </a:r>
          </a:p>
          <a:p>
            <a:endParaRPr lang="en-GB" dirty="0"/>
          </a:p>
          <a:p>
            <a:r>
              <a:rPr lang="en-GB" b="1" dirty="0"/>
              <a:t>EntraID / AzureAD</a:t>
            </a:r>
            <a:r>
              <a:rPr lang="en-GB" dirty="0"/>
              <a:t> – JWT bearer validation with extra signing-key issuer checks specific to Microsoft Entra tokens. Configure audience and issuer in the host section. Supports managed identity for the database connection.</a:t>
            </a:r>
          </a:p>
          <a:p>
            <a:r>
              <a:rPr lang="en-GB" b="1" dirty="0"/>
              <a:t>AppService (EasyAuth)</a:t>
            </a:r>
            <a:r>
              <a:rPr lang="en-GB" dirty="0"/>
              <a:t> – App Service handles the OAuth flow and injects the X-MS-CLIENT-PRINCIPAL header. Works with Microsoft, Google, Facebook, Twitter, and OpenID Connect. No jwt.audience or jwt.issuer settings needed.</a:t>
            </a:r>
          </a:p>
          <a:p>
            <a:r>
              <a:rPr lang="en-GB" b="1" dirty="0"/>
              <a:t>Custom JWT</a:t>
            </a:r>
            <a:r>
              <a:rPr lang="en-GB" dirty="0"/>
              <a:t> – Any standards-compliant JWT server (e.g. Keycloak, Auth0, Okta). You supply the audience and issuer.</a:t>
            </a:r>
          </a:p>
          <a:p>
            <a:r>
              <a:rPr lang="en-GB" b="1" dirty="0"/>
              <a:t>Simulator</a:t>
            </a:r>
            <a:r>
              <a:rPr lang="en-GB" dirty="0"/>
              <a:t> – Treats all requests as authenticated without validating a real token. Development and testing only.</a:t>
            </a:r>
          </a:p>
          <a:p>
            <a:endParaRPr lang="en-GB" dirty="0"/>
          </a:p>
          <a:p>
            <a:r>
              <a:rPr lang="en-GB" dirty="0"/>
              <a:t>Authorization is role-based. Every request resolves to exactly one effective role. Two system roles (Anonymous, Authenticated) are auto-assigned; custom roles map to token claims via the X-MS-API-ROLE header. </a:t>
            </a:r>
          </a:p>
          <a:p>
            <a:endParaRPr lang="en-GB" dirty="0"/>
          </a:p>
          <a:p>
            <a:r>
              <a:rPr lang="en-GB" dirty="0"/>
              <a:t>Database policies add row-level filtering – predicates are injected into queries so users only see authorised records. Token claims can also be passed to the SQL session context for stored-procedure or trigger-level logic.</a:t>
            </a:r>
          </a:p>
          <a:p>
            <a:endParaRPr lang="en-GB" dirty="0"/>
          </a:p>
          <a:p>
            <a:r>
              <a:rPr lang="en-GB" dirty="0"/>
              <a:t>Key detail: DAB validates the user token but connects to the database with its own credentials (managed identity or SQL auth) by default. On-Behalf-Of (OBO) is optional if you need the database to authenticate as the actual caller. Secrets can be stored in Azure Key Vault and referenced via @akv() in the config.</a:t>
            </a:r>
          </a:p>
        </p:txBody>
      </p:sp>
    </p:spTree>
    <p:extLst>
      <p:ext uri="{BB962C8B-B14F-4D97-AF65-F5344CB8AC3E}">
        <p14:creationId xmlns:p14="http://schemas.microsoft.com/office/powerpoint/2010/main" val="15812638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More advanced demos against </a:t>
            </a:r>
            <a:r>
              <a:rPr lang="en-GB" dirty="0" err="1"/>
              <a:t>synclog</a:t>
            </a:r>
            <a:r>
              <a:rPr lang="en-GB" dirty="0"/>
              <a:t> / container app</a:t>
            </a:r>
          </a:p>
        </p:txBody>
      </p:sp>
      <p:sp>
        <p:nvSpPr>
          <p:cNvPr id="4" name="Slide Number Placeholder 3"/>
          <p:cNvSpPr>
            <a:spLocks noGrp="1"/>
          </p:cNvSpPr>
          <p:nvPr>
            <p:ph type="sldNum" sz="quarter" idx="5"/>
          </p:nvPr>
        </p:nvSpPr>
        <p:spPr/>
        <p:txBody>
          <a:bodyPr/>
          <a:lstStyle/>
          <a:p>
            <a:fld id="{A7839206-A81D-4F76-8486-302187992F73}" type="slidenum">
              <a:rPr lang="en-GB" smtClean="0"/>
              <a:t>36</a:t>
            </a:fld>
            <a:endParaRPr lang="en-GB"/>
          </a:p>
        </p:txBody>
      </p:sp>
    </p:spTree>
    <p:extLst>
      <p:ext uri="{BB962C8B-B14F-4D97-AF65-F5344CB8AC3E}">
        <p14:creationId xmlns:p14="http://schemas.microsoft.com/office/powerpoint/2010/main" val="9857042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38</a:t>
            </a:fld>
            <a:endParaRPr lang="en-GB"/>
          </a:p>
        </p:txBody>
      </p:sp>
    </p:spTree>
    <p:extLst>
      <p:ext uri="{BB962C8B-B14F-4D97-AF65-F5344CB8AC3E}">
        <p14:creationId xmlns:p14="http://schemas.microsoft.com/office/powerpoint/2010/main" val="16863083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this session is about DAB – Data API Builder</a:t>
            </a:r>
          </a:p>
          <a:p>
            <a:endParaRPr lang="en-GB" dirty="0"/>
          </a:p>
          <a:p>
            <a:r>
              <a:rPr lang="en-GB" dirty="0"/>
              <a:t>But it’s also about persisting data from your scripts\jobs\tasks</a:t>
            </a:r>
          </a:p>
          <a:p>
            <a:endParaRPr lang="en-GB" dirty="0"/>
          </a:p>
          <a:p>
            <a:r>
              <a:rPr lang="en-GB" dirty="0"/>
              <a:t>And while I was building this session – I was struck with an idea – some will call it procrastination</a:t>
            </a:r>
          </a:p>
          <a:p>
            <a:endParaRPr lang="en-GB" dirty="0"/>
          </a:p>
          <a:p>
            <a:r>
              <a:rPr lang="en-GB" dirty="0"/>
              <a:t>How could I show how great DAB is? And how it can be used to persist script data?</a:t>
            </a:r>
          </a:p>
          <a:p>
            <a:endParaRPr lang="en-GB" dirty="0"/>
          </a:p>
          <a:p>
            <a:r>
              <a:rPr lang="en-GB" dirty="0"/>
              <a:t>Well a fun side project of course!</a:t>
            </a:r>
          </a:p>
          <a:p>
            <a:endParaRPr lang="en-GB" dirty="0"/>
          </a:p>
          <a:p>
            <a:endParaRPr lang="en-GB" dirty="0"/>
          </a:p>
        </p:txBody>
      </p:sp>
      <p:sp>
        <p:nvSpPr>
          <p:cNvPr id="4" name="Slide Number Placeholder 3"/>
          <p:cNvSpPr>
            <a:spLocks noGrp="1"/>
          </p:cNvSpPr>
          <p:nvPr>
            <p:ph type="sldNum" sz="quarter" idx="5"/>
          </p:nvPr>
        </p:nvSpPr>
        <p:spPr/>
        <p:txBody>
          <a:bodyPr/>
          <a:lstStyle/>
          <a:p>
            <a:fld id="{A7839206-A81D-4F76-8486-302187992F73}" type="slidenum">
              <a:rPr lang="en-GB" smtClean="0"/>
              <a:t>40</a:t>
            </a:fld>
            <a:endParaRPr lang="en-GB"/>
          </a:p>
        </p:txBody>
      </p:sp>
    </p:spTree>
    <p:extLst>
      <p:ext uri="{BB962C8B-B14F-4D97-AF65-F5344CB8AC3E}">
        <p14:creationId xmlns:p14="http://schemas.microsoft.com/office/powerpoint/2010/main" val="16336479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85800" y="4400549"/>
            <a:ext cx="2743200" cy="4467225"/>
          </a:xfrm>
        </p:spPr>
        <p:txBody>
          <a:bodyPr/>
          <a:lstStyle/>
          <a:p>
            <a:pPr>
              <a:lnSpc>
                <a:spcPct val="110000"/>
              </a:lnSpc>
            </a:pPr>
            <a:r>
              <a:rPr lang="en-US" sz="900" b="1">
                <a:latin typeface="Aptos" panose="020B0004020202020204" pitchFamily="34" charset="0"/>
              </a:rPr>
              <a:t>The fine print (additional information)</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Why should you care about HDCP? </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a:t>
            </a:r>
            <a:r>
              <a:rPr lang="en-US" sz="900" i="1">
                <a:latin typeface="Aptos" panose="020B0004020202020204" pitchFamily="34" charset="0"/>
              </a:rPr>
              <a:t>High-bandwidth Digital Content Protection (HDCP) is a form of digital copy protection developed by Intel Corporation to prevent copying of digital audio and video content as it travels across connections. Types of connections include DisplayPort (DP), Digital Visual Interface (DVI), and High-Definition Multimedia Interface (HDMI), as well as less popular or now deprecated protocols like Gigabit Video Interface (GVIF) and Unified Display Interface (UDI).</a:t>
            </a:r>
            <a:r>
              <a:rPr lang="en-US" sz="900">
                <a:latin typeface="Aptos" panose="020B0004020202020204" pitchFamily="34" charset="0"/>
              </a:rPr>
              <a:t>"</a:t>
            </a:r>
          </a:p>
          <a:p>
            <a:pPr>
              <a:lnSpc>
                <a:spcPct val="110000"/>
              </a:lnSpc>
            </a:pPr>
            <a:r>
              <a:rPr lang="de-DE" sz="900">
                <a:latin typeface="Aptos" panose="020B0004020202020204" pitchFamily="34" charset="0"/>
                <a:hlinkClick r:id="rId3"/>
              </a:rPr>
              <a:t>https://en.wikipedia.org/wiki/High-bandwidth_Digital_Content_Protection</a:t>
            </a:r>
            <a:endParaRPr lang="de-DE"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Some notebooks ignore the HDCP standard, some vendors comply with the standard. Apple and Microsoft are somehow famous for strictly following the HDCP guidelines. Sadly, we will not be able to guarantee, that your session can be recorded in the latter case.</a:t>
            </a: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But you can do simple things, to  overcome these problems. </a:t>
            </a:r>
            <a:r>
              <a:rPr lang="en-US" sz="900">
                <a:latin typeface="Aptos" panose="020B0004020202020204" pitchFamily="34" charset="0"/>
              </a:rPr>
              <a:t>It is also very likely that you presented with your notebook before. So you will know, if this worked fine.If you are in doubt and if the agenda allows, try a dry-run a day before and connect everything.</a:t>
            </a: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p:txBody>
      </p:sp>
      <p:sp>
        <p:nvSpPr>
          <p:cNvPr id="4" name="Foliennummernplatzhalter 3"/>
          <p:cNvSpPr>
            <a:spLocks noGrp="1"/>
          </p:cNvSpPr>
          <p:nvPr>
            <p:ph type="sldNum" sz="quarter" idx="5"/>
          </p:nvPr>
        </p:nvSpPr>
        <p:spPr/>
        <p:txBody>
          <a:bodyPr/>
          <a:lstStyle/>
          <a:p>
            <a:fld id="{A7839206-A81D-4F76-8486-302187992F73}" type="slidenum">
              <a:rPr lang="en-GB" smtClean="0"/>
              <a:t>41</a:t>
            </a:fld>
            <a:endParaRPr lang="en-GB"/>
          </a:p>
        </p:txBody>
      </p:sp>
      <p:pic>
        <p:nvPicPr>
          <p:cNvPr id="5" name="Grafik 4" descr="https://www.amazon.de/gp/product/B09F2N17H5/ref=ppx_yo_dt_b_asin_title_o09_s00">
            <a:extLst>
              <a:ext uri="{FF2B5EF4-FFF2-40B4-BE49-F238E27FC236}">
                <a16:creationId xmlns:a16="http://schemas.microsoft.com/office/drawing/2014/main" id="{E466A8E6-289E-2C4E-027A-1D532F5BF0BF}"/>
              </a:ext>
            </a:extLst>
          </p:cNvPr>
          <p:cNvPicPr>
            <a:picLocks noChangeAspect="1"/>
          </p:cNvPicPr>
          <p:nvPr/>
        </p:nvPicPr>
        <p:blipFill>
          <a:blip r:embed="rId4"/>
          <a:stretch>
            <a:fillRect/>
          </a:stretch>
        </p:blipFill>
        <p:spPr>
          <a:xfrm>
            <a:off x="3699256" y="5256530"/>
            <a:ext cx="2202687" cy="1967734"/>
          </a:xfrm>
          <a:prstGeom prst="rect">
            <a:avLst/>
          </a:prstGeom>
        </p:spPr>
      </p:pic>
      <p:sp>
        <p:nvSpPr>
          <p:cNvPr id="6" name="Notizenplatzhalter 2">
            <a:extLst>
              <a:ext uri="{FF2B5EF4-FFF2-40B4-BE49-F238E27FC236}">
                <a16:creationId xmlns:a16="http://schemas.microsoft.com/office/drawing/2014/main" id="{6C2E4E82-CC92-21BA-6CC9-5E1EC16B971C}"/>
              </a:ext>
            </a:extLst>
          </p:cNvPr>
          <p:cNvSpPr txBox="1">
            <a:spLocks/>
          </p:cNvSpPr>
          <p:nvPr/>
        </p:nvSpPr>
        <p:spPr>
          <a:xfrm>
            <a:off x="3429000" y="4400548"/>
            <a:ext cx="2743200" cy="4467225"/>
          </a:xfrm>
          <a:prstGeom prst="rect">
            <a:avLst/>
          </a:prstGeom>
        </p:spPr>
        <p:txBody>
          <a:bodyPr vert="horz" lIns="91440" tIns="45720" rIns="91440" bIns="45720" rtlCol="0"/>
          <a:lst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a:lnSpc>
                <a:spcPct val="110000"/>
              </a:lnSpc>
            </a:pPr>
            <a:r>
              <a:rPr lang="en-US" sz="900">
                <a:latin typeface="Aptos" panose="020B0004020202020204" pitchFamily="34" charset="0"/>
              </a:rPr>
              <a:t>In general you can easily bypass HDCP restrictions with a cheap splitter (the cheaper the better), just like the one you see below. This is an example device that we bought for 16 euros (in Germany). </a:t>
            </a:r>
          </a:p>
          <a:p>
            <a:pPr>
              <a:lnSpc>
                <a:spcPct val="110000"/>
              </a:lnSpc>
            </a:pPr>
            <a:r>
              <a:rPr lang="en-US" sz="900">
                <a:latin typeface="Aptos" panose="020B0004020202020204" pitchFamily="34" charset="0"/>
              </a:rPr>
              <a:t>Ask us, we will lend you such a device.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Thorsten also gave a whole presentation about "Broadcasting yourself" -  easy steps to record yourself and create a (backup) session recording on your own. If you want to invest your time and dive deeper, take a look at his recordings and notes:</a:t>
            </a:r>
            <a:endParaRPr lang="de-DE" sz="900">
              <a:latin typeface="Aptos" panose="020B0004020202020204" pitchFamily="34" charset="0"/>
            </a:endParaRPr>
          </a:p>
          <a:p>
            <a:pPr>
              <a:lnSpc>
                <a:spcPct val="110000"/>
              </a:lnSpc>
              <a:spcAft>
                <a:spcPts val="1000"/>
              </a:spcAft>
            </a:pPr>
            <a:r>
              <a:rPr lang="de-DE" sz="900">
                <a:latin typeface="Aptos" panose="020B0004020202020204" pitchFamily="34" charset="0"/>
                <a:hlinkClick r:id="rId5"/>
              </a:rPr>
              <a:t>https://vimeo.com/thorstenbutz/byourself</a:t>
            </a:r>
            <a:endParaRPr lang="de-DE" sz="900">
              <a:latin typeface="Aptos" panose="020B0004020202020204" pitchFamily="34" charset="0"/>
            </a:endParaRPr>
          </a:p>
          <a:p>
            <a:pPr>
              <a:lnSpc>
                <a:spcPct val="110000"/>
              </a:lnSpc>
            </a:pPr>
            <a:r>
              <a:rPr lang="en-US" sz="900">
                <a:latin typeface="Aptos" panose="020B0004020202020204" pitchFamily="34" charset="0"/>
              </a:rPr>
              <a:t>This is of course completely voluntary, but perhaps you will find it helpful.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endParaRPr lang="en-DE" sz="900">
              <a:latin typeface="Aptos" panose="020B0004020202020204" pitchFamily="34" charset="0"/>
            </a:endParaRPr>
          </a:p>
        </p:txBody>
      </p:sp>
    </p:spTree>
    <p:extLst>
      <p:ext uri="{BB962C8B-B14F-4D97-AF65-F5344CB8AC3E}">
        <p14:creationId xmlns:p14="http://schemas.microsoft.com/office/powerpoint/2010/main" val="414027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34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blac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4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ly blue">
    <p:bg>
      <p:bgPr>
        <a:solidFill>
          <a:srgbClr val="34629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615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l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66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659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4938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4C786-AD10-7D88-1933-9D7659D256DF}"/>
              </a:ext>
            </a:extLst>
          </p:cNvPr>
          <p:cNvSpPr>
            <a:spLocks noGrp="1"/>
          </p:cNvSpPr>
          <p:nvPr>
            <p:ph idx="1"/>
          </p:nvPr>
        </p:nvSpPr>
        <p:spPr>
          <a:xfrm>
            <a:off x="3467314" y="1852863"/>
            <a:ext cx="7886486" cy="4324100"/>
          </a:xfrm>
          <a:prstGeom prst="rect">
            <a:avLst/>
          </a:prstGeom>
        </p:spPr>
        <p:txBody>
          <a:bodyPr vert="horz" lIns="91440" tIns="45720" rIns="91440" bIns="45720" rtlCol="0">
            <a:normAutofit/>
          </a:bodyPr>
          <a:lstStyle/>
          <a:p>
            <a:pPr lvl="0"/>
            <a:r>
              <a:rPr lang="en-US"/>
              <a:t>Your bio</a:t>
            </a:r>
            <a:endParaRPr lang="en-GB"/>
          </a:p>
        </p:txBody>
      </p:sp>
      <p:sp>
        <p:nvSpPr>
          <p:cNvPr id="4" name="Title Placeholder 1">
            <a:extLst>
              <a:ext uri="{FF2B5EF4-FFF2-40B4-BE49-F238E27FC236}">
                <a16:creationId xmlns:a16="http://schemas.microsoft.com/office/drawing/2014/main" id="{1BA7B894-6BCA-2B29-BA04-8AAB1735BFFD}"/>
              </a:ext>
            </a:extLst>
          </p:cNvPr>
          <p:cNvSpPr>
            <a:spLocks noGrp="1"/>
          </p:cNvSpPr>
          <p:nvPr>
            <p:ph type="title"/>
          </p:nvPr>
        </p:nvSpPr>
        <p:spPr>
          <a:xfrm>
            <a:off x="3467313" y="324853"/>
            <a:ext cx="7886485" cy="1325563"/>
          </a:xfrm>
          <a:prstGeom prst="rect">
            <a:avLst/>
          </a:prstGeom>
        </p:spPr>
        <p:txBody>
          <a:bodyPr vert="horz" lIns="91440" tIns="45720" rIns="91440" bIns="45720" rtlCol="0" anchor="ctr">
            <a:normAutofit/>
          </a:bodyPr>
          <a:lstStyle/>
          <a:p>
            <a:r>
              <a:rPr lang="en-US"/>
              <a:t>Speaker’s name</a:t>
            </a:r>
            <a:endParaRPr lang="en-GB"/>
          </a:p>
        </p:txBody>
      </p:sp>
    </p:spTree>
    <p:extLst>
      <p:ext uri="{BB962C8B-B14F-4D97-AF65-F5344CB8AC3E}">
        <p14:creationId xmlns:p14="http://schemas.microsoft.com/office/powerpoint/2010/main" val="1603374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GB" smtClean="0"/>
              <a:pPr algn="r"/>
              <a:t>‹#›</a:t>
            </a:fld>
            <a:endParaRPr lang="en-GB"/>
          </a:p>
        </p:txBody>
      </p:sp>
    </p:spTree>
    <p:extLst>
      <p:ext uri="{BB962C8B-B14F-4D97-AF65-F5344CB8AC3E}">
        <p14:creationId xmlns:p14="http://schemas.microsoft.com/office/powerpoint/2010/main" val="3499684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GB" smtClean="0"/>
              <a:pPr algn="r"/>
              <a:t>‹#›</a:t>
            </a:fld>
            <a:endParaRPr lang="en-GB"/>
          </a:p>
        </p:txBody>
      </p:sp>
    </p:spTree>
    <p:extLst>
      <p:ext uri="{BB962C8B-B14F-4D97-AF65-F5344CB8AC3E}">
        <p14:creationId xmlns:p14="http://schemas.microsoft.com/office/powerpoint/2010/main" val="1094223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nl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3780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202-8931-7832-6C93-86B82B6865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BC0C-D418-7F75-653D-7BD01A94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714868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FF0C1-723F-8331-7203-2AD1CA3085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200EBD9-8D5A-98D4-BC92-CE5E1C756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417239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202-8931-7832-6C93-86B82B6865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BC0C-D418-7F75-653D-7BD01A94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024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3987-4D9C-734A-F0DD-FA7C5E5BF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48C8F2A-06F7-926F-11A3-0E18B5E01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76032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D26B-2105-B752-1559-A5E7E3580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CB2030-5E24-3C76-AF6E-BEABDB29D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0EF88D-DEBE-FA6D-7C2B-49DE203B99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30253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F04B-2070-B32A-26F9-689ACEB1798E}"/>
              </a:ext>
            </a:extLst>
          </p:cNvPr>
          <p:cNvSpPr>
            <a:spLocks noGrp="1"/>
          </p:cNvSpPr>
          <p:nvPr>
            <p:ph type="title"/>
          </p:nvPr>
        </p:nvSpPr>
        <p:spPr>
          <a:xfrm>
            <a:off x="839788" y="365125"/>
            <a:ext cx="9721532"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351C8F-389D-6D1D-529E-8F7B5D2561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7AB8FD-3AC0-420A-CD1A-4BB2C4DEB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2E0881B-0B39-A9CB-08B8-7FA6C0D98A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7CCB1-27F7-D503-AC18-183950FAE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547285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4D49-1A5A-DFCF-8CA7-93B2889E2B5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650198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4708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FA22-F0C4-1510-0E4C-953C802C4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786368D-1D41-F3F9-3D07-85EFF2CFB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B83765E-1500-5380-7D29-9BED9AFAF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641347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19606-9316-A7A0-65BC-635A494F0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3637042-5D0D-C650-5659-376D12BF8F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9EF090A-47F3-1576-D5A3-105EE3376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74897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B042-3840-06BB-E1DF-E9094D81989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CC1C5E-7112-083E-8A66-4B30A4DD39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73646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GB" smtClean="0"/>
              <a:pPr algn="r"/>
              <a:t>‹#›</a:t>
            </a:fld>
            <a:endParaRPr lang="en-GB"/>
          </a:p>
        </p:txBody>
      </p:sp>
    </p:spTree>
    <p:extLst>
      <p:ext uri="{BB962C8B-B14F-4D97-AF65-F5344CB8AC3E}">
        <p14:creationId xmlns:p14="http://schemas.microsoft.com/office/powerpoint/2010/main" val="2814504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9.xml"/><Relationship Id="rId7" Type="http://schemas.openxmlformats.org/officeDocument/2006/relationships/image" Target="../media/image1.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3.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4.xml"/><Relationship Id="rId17" Type="http://schemas.openxmlformats.org/officeDocument/2006/relationships/image" Target="../media/image4.png"/><Relationship Id="rId2" Type="http://schemas.openxmlformats.org/officeDocument/2006/relationships/slideLayout" Target="../slideLayouts/slideLayout13.xml"/><Relationship Id="rId16" Type="http://schemas.openxmlformats.org/officeDocument/2006/relationships/image" Target="../media/image7.sv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6.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Image 13" descr="Une image contenant texte  Description générée automatiquement">
            <a:extLst>
              <a:ext uri="{FF2B5EF4-FFF2-40B4-BE49-F238E27FC236}">
                <a16:creationId xmlns:a16="http://schemas.microsoft.com/office/drawing/2014/main" id="{46B6AA1A-3151-3AC2-83FB-1C6A4D626CEE}"/>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pic>
        <p:nvPicPr>
          <p:cNvPr id="3" name="Image 2">
            <a:extLst>
              <a:ext uri="{FF2B5EF4-FFF2-40B4-BE49-F238E27FC236}">
                <a16:creationId xmlns:a16="http://schemas.microsoft.com/office/drawing/2014/main" id="{E38E8CAF-D224-9556-511F-8D65E9383F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10591" y="137310"/>
            <a:ext cx="4166241" cy="1426795"/>
          </a:xfrm>
          <a:prstGeom prst="rect">
            <a:avLst/>
          </a:prstGeom>
        </p:spPr>
      </p:pic>
      <p:pic>
        <p:nvPicPr>
          <p:cNvPr id="8" name="Image 7" descr="Une image contenant Police, Graphique, typographie, graphisme  Le contenu généré par l’IA peut être incorrect.">
            <a:extLst>
              <a:ext uri="{FF2B5EF4-FFF2-40B4-BE49-F238E27FC236}">
                <a16:creationId xmlns:a16="http://schemas.microsoft.com/office/drawing/2014/main" id="{B287398A-20D9-4E87-9997-CB57AB2CCE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08900" y="6074646"/>
            <a:ext cx="2471121" cy="372258"/>
          </a:xfrm>
          <a:prstGeom prst="rect">
            <a:avLst/>
          </a:prstGeom>
        </p:spPr>
      </p:pic>
    </p:spTree>
    <p:extLst>
      <p:ext uri="{BB962C8B-B14F-4D97-AF65-F5344CB8AC3E}">
        <p14:creationId xmlns:p14="http://schemas.microsoft.com/office/powerpoint/2010/main" val="1739929472"/>
      </p:ext>
    </p:extLst>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427B60B6-58D4-7B9F-C29A-CE66AF93F596}"/>
              </a:ext>
            </a:extLst>
          </p:cNvPr>
          <p:cNvSpPr txBox="1">
            <a:spLocks/>
          </p:cNvSpPr>
          <p:nvPr userDrawn="1"/>
        </p:nvSpPr>
        <p:spPr>
          <a:xfrm>
            <a:off x="0" y="1"/>
            <a:ext cx="12192000" cy="6858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25000">
                <a:latin typeface="Stencil" panose="040409050D0802020404" pitchFamily="82" charset="0"/>
              </a:rPr>
              <a:t> </a:t>
            </a:r>
            <a:endParaRPr lang="en-DE" sz="25000">
              <a:latin typeface="Stencil" panose="040409050D0802020404" pitchFamily="82" charset="0"/>
            </a:endParaRPr>
          </a:p>
        </p:txBody>
      </p:sp>
    </p:spTree>
    <p:extLst>
      <p:ext uri="{BB962C8B-B14F-4D97-AF65-F5344CB8AC3E}">
        <p14:creationId xmlns:p14="http://schemas.microsoft.com/office/powerpoint/2010/main" val="201887762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  Description générée automatiquement">
            <a:extLst>
              <a:ext uri="{FF2B5EF4-FFF2-40B4-BE49-F238E27FC236}">
                <a16:creationId xmlns:a16="http://schemas.microsoft.com/office/drawing/2014/main" id="{E6A8F4F5-7628-E9E8-23A7-09169C6794F7}"/>
              </a:ext>
            </a:extLst>
          </p:cNvPr>
          <p:cNvPicPr>
            <a:picLocks noGrp="1" noRot="1" noMove="1" noResize="1" noEditPoints="1" noAdjustHandles="1" noChangeArrowheads="1" noChangeShapeType="1" noCrop="1"/>
          </p:cNvPicPr>
          <p:nvPr userDrawn="1"/>
        </p:nvPicPr>
        <p:blipFill>
          <a:blip r:embed="rId7">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3" name="Espace réservé du numéro de diapositive 5">
            <a:extLst>
              <a:ext uri="{FF2B5EF4-FFF2-40B4-BE49-F238E27FC236}">
                <a16:creationId xmlns:a16="http://schemas.microsoft.com/office/drawing/2014/main" id="{FC40251A-A850-BFFB-8B10-8DF9490B82FC}"/>
              </a:ext>
            </a:extLst>
          </p:cNvPr>
          <p:cNvSpPr txBox="1">
            <a:spLocks/>
          </p:cNvSpPr>
          <p:nvPr userDrawn="1"/>
        </p:nvSpPr>
        <p:spPr>
          <a:xfrm>
            <a:off x="7001786" y="6335963"/>
            <a:ext cx="305661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b="1" dirty="0">
              <a:solidFill>
                <a:srgbClr val="3B2B46"/>
              </a:solidFill>
            </a:endParaRPr>
          </a:p>
        </p:txBody>
      </p:sp>
      <p:sp>
        <p:nvSpPr>
          <p:cNvPr id="4" name="Rectangle 3">
            <a:extLst>
              <a:ext uri="{FF2B5EF4-FFF2-40B4-BE49-F238E27FC236}">
                <a16:creationId xmlns:a16="http://schemas.microsoft.com/office/drawing/2014/main" id="{BB4BA6D3-5703-2B33-8381-A6B521E4EF59}"/>
              </a:ext>
            </a:extLst>
          </p:cNvPr>
          <p:cNvSpPr/>
          <p:nvPr userDrawn="1"/>
        </p:nvSpPr>
        <p:spPr>
          <a:xfrm>
            <a:off x="6636662" y="6335963"/>
            <a:ext cx="365125" cy="522037"/>
          </a:xfrm>
          <a:prstGeom prst="rect">
            <a:avLst/>
          </a:prstGeom>
          <a:solidFill>
            <a:srgbClr val="3B2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1A860DC8-4B78-2237-4C38-2C185C670544}"/>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679687" y="6457483"/>
            <a:ext cx="300326" cy="278517"/>
          </a:xfrm>
          <a:prstGeom prst="rect">
            <a:avLst/>
          </a:prstGeom>
        </p:spPr>
      </p:pic>
      <p:sp>
        <p:nvSpPr>
          <p:cNvPr id="8" name="Espace réservé du numéro de diapositive 5">
            <a:extLst>
              <a:ext uri="{FF2B5EF4-FFF2-40B4-BE49-F238E27FC236}">
                <a16:creationId xmlns:a16="http://schemas.microsoft.com/office/drawing/2014/main" id="{A2B033C5-BD82-5743-BD0D-F87D0516D009}"/>
              </a:ext>
            </a:extLst>
          </p:cNvPr>
          <p:cNvSpPr txBox="1">
            <a:spLocks/>
          </p:cNvSpPr>
          <p:nvPr userDrawn="1"/>
        </p:nvSpPr>
        <p:spPr>
          <a:xfrm>
            <a:off x="7044812" y="6414178"/>
            <a:ext cx="305661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err="1">
                <a:solidFill>
                  <a:srgbClr val="3B2B46"/>
                </a:solidFill>
              </a:rPr>
              <a:t>jpomfret</a:t>
            </a:r>
            <a:endParaRPr lang="en-GB" b="1" dirty="0">
              <a:solidFill>
                <a:srgbClr val="3B2B46"/>
              </a:solidFill>
            </a:endParaRPr>
          </a:p>
        </p:txBody>
      </p:sp>
    </p:spTree>
    <p:extLst>
      <p:ext uri="{BB962C8B-B14F-4D97-AF65-F5344CB8AC3E}">
        <p14:creationId xmlns:p14="http://schemas.microsoft.com/office/powerpoint/2010/main" val="1520531744"/>
      </p:ext>
    </p:extLst>
  </p:cSld>
  <p:clrMap bg1="lt1" tx1="dk1" bg2="lt2" tx2="dk2" accent1="accent1" accent2="accent2" accent3="accent3" accent4="accent4" accent5="accent5" accent6="accent6" hlink="hlink" folHlink="folHlink"/>
  <p:sldLayoutIdLst>
    <p:sldLayoutId id="2147483696" r:id="rId1"/>
    <p:sldLayoutId id="2147483703" r:id="rId2"/>
    <p:sldLayoutId id="2147483705" r:id="rId3"/>
    <p:sldLayoutId id="2147483706" r:id="rId4"/>
    <p:sldLayoutId id="2147483707" r:id="rId5"/>
  </p:sldLayoutIdLst>
  <p:txStyles>
    <p:title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  Description générée automatiquement">
            <a:extLst>
              <a:ext uri="{FF2B5EF4-FFF2-40B4-BE49-F238E27FC236}">
                <a16:creationId xmlns:a16="http://schemas.microsoft.com/office/drawing/2014/main" id="{1B01AB94-EEA2-3211-2551-34A16625A107}"/>
              </a:ext>
            </a:extLst>
          </p:cNvPr>
          <p:cNvPicPr>
            <a:picLocks noGrp="1" noRot="1" noChangeAspect="1" noMove="1" noResize="1" noEditPoints="1" noAdjustHandles="1" noChangeArrowheads="1" noChangeShapeType="1" noCrop="1"/>
          </p:cNvPicPr>
          <p:nvPr userDrawn="1"/>
        </p:nvPicPr>
        <p:blipFill>
          <a:blip r:embed="rId1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2" name="Title Placeholder 1">
            <a:extLst>
              <a:ext uri="{FF2B5EF4-FFF2-40B4-BE49-F238E27FC236}">
                <a16:creationId xmlns:a16="http://schemas.microsoft.com/office/drawing/2014/main" id="{4157010D-0C09-8FBA-F719-A4ED7C3FC593}"/>
              </a:ext>
            </a:extLst>
          </p:cNvPr>
          <p:cNvSpPr>
            <a:spLocks noGrp="1"/>
          </p:cNvSpPr>
          <p:nvPr>
            <p:ph type="title"/>
          </p:nvPr>
        </p:nvSpPr>
        <p:spPr>
          <a:xfrm>
            <a:off x="838200" y="365125"/>
            <a:ext cx="973328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C054D6-CB61-3142-2199-DDEA2FD48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Graphique 7">
            <a:extLst>
              <a:ext uri="{FF2B5EF4-FFF2-40B4-BE49-F238E27FC236}">
                <a16:creationId xmlns:a16="http://schemas.microsoft.com/office/drawing/2014/main" id="{59BD5C5E-FB1B-A32E-1927-AB6A3C9A6664}"/>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10822738" y="196674"/>
            <a:ext cx="1062038" cy="904875"/>
          </a:xfrm>
          <a:prstGeom prst="rect">
            <a:avLst/>
          </a:prstGeom>
        </p:spPr>
      </p:pic>
      <p:pic>
        <p:nvPicPr>
          <p:cNvPr id="12" name="Image 11" descr="Une image contenant Police, Graphique, capture d’écran, graphisme  Le contenu généré par l’IA peut être incorrect.">
            <a:extLst>
              <a:ext uri="{FF2B5EF4-FFF2-40B4-BE49-F238E27FC236}">
                <a16:creationId xmlns:a16="http://schemas.microsoft.com/office/drawing/2014/main" id="{9DA822DC-EA6F-C834-636F-0CFA0983C12B}"/>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799716" y="1147469"/>
            <a:ext cx="1169451" cy="376843"/>
          </a:xfrm>
          <a:prstGeom prst="rect">
            <a:avLst/>
          </a:prstGeom>
        </p:spPr>
      </p:pic>
      <p:pic>
        <p:nvPicPr>
          <p:cNvPr id="15" name="Graphique 14">
            <a:extLst>
              <a:ext uri="{FF2B5EF4-FFF2-40B4-BE49-F238E27FC236}">
                <a16:creationId xmlns:a16="http://schemas.microsoft.com/office/drawing/2014/main" id="{E16A90F8-D789-E1FC-28F1-B2BFBC4CCE32}"/>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6636662" y="6335963"/>
            <a:ext cx="365125" cy="365125"/>
          </a:xfrm>
          <a:prstGeom prst="rect">
            <a:avLst/>
          </a:prstGeom>
        </p:spPr>
      </p:pic>
      <p:sp>
        <p:nvSpPr>
          <p:cNvPr id="4" name="Rectangle 3">
            <a:extLst>
              <a:ext uri="{FF2B5EF4-FFF2-40B4-BE49-F238E27FC236}">
                <a16:creationId xmlns:a16="http://schemas.microsoft.com/office/drawing/2014/main" id="{DF44D690-D208-DF75-EDDE-A77CD190B586}"/>
              </a:ext>
            </a:extLst>
          </p:cNvPr>
          <p:cNvSpPr/>
          <p:nvPr userDrawn="1"/>
        </p:nvSpPr>
        <p:spPr>
          <a:xfrm>
            <a:off x="6636662" y="6335963"/>
            <a:ext cx="365125" cy="522037"/>
          </a:xfrm>
          <a:prstGeom prst="rect">
            <a:avLst/>
          </a:prstGeom>
          <a:solidFill>
            <a:srgbClr val="3B2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147E2725-8D28-B4C1-15B4-1519C4991933}"/>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6679687" y="6457483"/>
            <a:ext cx="300326" cy="278517"/>
          </a:xfrm>
          <a:prstGeom prst="rect">
            <a:avLst/>
          </a:prstGeom>
        </p:spPr>
      </p:pic>
      <p:sp>
        <p:nvSpPr>
          <p:cNvPr id="6" name="Espace réservé du numéro de diapositive 5">
            <a:extLst>
              <a:ext uri="{FF2B5EF4-FFF2-40B4-BE49-F238E27FC236}">
                <a16:creationId xmlns:a16="http://schemas.microsoft.com/office/drawing/2014/main" id="{195238B8-FE7E-DFE9-C79A-68FC0BBEE783}"/>
              </a:ext>
            </a:extLst>
          </p:cNvPr>
          <p:cNvSpPr txBox="1">
            <a:spLocks/>
          </p:cNvSpPr>
          <p:nvPr userDrawn="1"/>
        </p:nvSpPr>
        <p:spPr>
          <a:xfrm>
            <a:off x="7044812" y="6414178"/>
            <a:ext cx="305661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err="1">
                <a:solidFill>
                  <a:srgbClr val="3B2B46"/>
                </a:solidFill>
              </a:rPr>
              <a:t>jpomfret</a:t>
            </a:r>
            <a:endParaRPr lang="en-GB" b="1" dirty="0">
              <a:solidFill>
                <a:srgbClr val="3B2B46"/>
              </a:solidFill>
            </a:endParaRPr>
          </a:p>
        </p:txBody>
      </p:sp>
    </p:spTree>
    <p:extLst>
      <p:ext uri="{BB962C8B-B14F-4D97-AF65-F5344CB8AC3E}">
        <p14:creationId xmlns:p14="http://schemas.microsoft.com/office/powerpoint/2010/main" val="257769973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704" r:id="rId11"/>
  </p:sldLayoutIdLst>
  <p:txStyles>
    <p:titleStyle>
      <a:lvl1pPr algn="l" defTabSz="914400" rtl="0" eaLnBrk="1" latinLnBrk="0" hangingPunct="1">
        <a:lnSpc>
          <a:spcPct val="90000"/>
        </a:lnSpc>
        <a:spcBef>
          <a:spcPct val="0"/>
        </a:spcBef>
        <a:buNone/>
        <a:defRPr sz="5400" b="1" kern="120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18.xml"/><Relationship Id="rId5" Type="http://schemas.openxmlformats.org/officeDocument/2006/relationships/image" Target="../media/image8.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11.gi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29.svg"/><Relationship Id="rId4" Type="http://schemas.openxmlformats.org/officeDocument/2006/relationships/image" Target="../media/image28.svg"/></Relationships>
</file>

<file path=ppt/slides/_rels/slide2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30.xml"/><Relationship Id="rId1" Type="http://schemas.openxmlformats.org/officeDocument/2006/relationships/slideLayout" Target="../slideLayouts/slideLayout14.xm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2" Type="http://schemas.openxmlformats.org/officeDocument/2006/relationships/image" Target="../media/image38.sv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svg"/><Relationship Id="rId1" Type="http://schemas.openxmlformats.org/officeDocument/2006/relationships/slideLayout" Target="../slideLayouts/slideLayout13.xml"/><Relationship Id="rId4" Type="http://schemas.openxmlformats.org/officeDocument/2006/relationships/image" Target="../media/image4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512BD2B3-5213-AE89-B245-3E2067844782}"/>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dirty="0">
                <a:latin typeface="Segoe UI" panose="020B0502040204020203" pitchFamily="34" charset="0"/>
                <a:cs typeface="Segoe UI" panose="020B0502040204020203" pitchFamily="34" charset="0"/>
              </a:rPr>
              <a:t>Jess Pomfret</a:t>
            </a:r>
            <a:endParaRPr lang="en-GB" b="1" i="1" dirty="0">
              <a:latin typeface="Segoe UI" panose="020B0502040204020203" pitchFamily="34" charset="0"/>
              <a:cs typeface="Segoe UI" panose="020B0502040204020203" pitchFamily="34" charset="0"/>
            </a:endParaRPr>
          </a:p>
        </p:txBody>
      </p:sp>
      <p:cxnSp>
        <p:nvCxnSpPr>
          <p:cNvPr id="4" name="Connecteur droit 5">
            <a:extLst>
              <a:ext uri="{FF2B5EF4-FFF2-40B4-BE49-F238E27FC236}">
                <a16:creationId xmlns:a16="http://schemas.microsoft.com/office/drawing/2014/main" id="{E9631884-5100-1BA8-2365-47609B2977D7}"/>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5" name="Titel 4">
            <a:extLst>
              <a:ext uri="{FF2B5EF4-FFF2-40B4-BE49-F238E27FC236}">
                <a16:creationId xmlns:a16="http://schemas.microsoft.com/office/drawing/2014/main" id="{EC34FE26-AFCF-2A09-DB2E-84FFA4D454A5}"/>
              </a:ext>
            </a:extLst>
          </p:cNvPr>
          <p:cNvSpPr>
            <a:spLocks noGrp="1"/>
          </p:cNvSpPr>
          <p:nvPr>
            <p:ph type="title" idx="4294967295"/>
          </p:nvPr>
        </p:nvSpPr>
        <p:spPr>
          <a:xfrm>
            <a:off x="863600" y="2672840"/>
            <a:ext cx="10515600" cy="1325563"/>
          </a:xfrm>
          <a:prstGeom prst="rect">
            <a:avLst/>
          </a:prstGeom>
        </p:spPr>
        <p:txBody>
          <a:bodyPr anchor="b" anchorCtr="0"/>
          <a:lstStyle/>
          <a:p>
            <a:pPr algn="ctr"/>
            <a:r>
              <a:rPr lang="en-DE" sz="6000" b="1">
                <a:solidFill>
                  <a:srgbClr val="346296"/>
                </a:solidFill>
                <a:latin typeface="Segoe UI Light" panose="020B0502040204020203" pitchFamily="34" charset="0"/>
                <a:cs typeface="Segoe UI Light" panose="020B0502040204020203" pitchFamily="34" charset="0"/>
              </a:rPr>
              <a:t>N</a:t>
            </a:r>
            <a:r>
              <a:rPr lang="en-US" sz="6000" b="1" err="1">
                <a:solidFill>
                  <a:srgbClr val="346296"/>
                </a:solidFill>
                <a:latin typeface="Segoe UI Light" panose="020B0502040204020203" pitchFamily="34" charset="0"/>
                <a:cs typeface="Segoe UI Light" panose="020B0502040204020203" pitchFamily="34" charset="0"/>
              </a:rPr>
              <a:t>ext</a:t>
            </a:r>
            <a:r>
              <a:rPr lang="en-US" sz="6000" b="1">
                <a:solidFill>
                  <a:srgbClr val="346296"/>
                </a:solidFill>
                <a:latin typeface="Segoe UI Light" panose="020B0502040204020203" pitchFamily="34" charset="0"/>
                <a:cs typeface="Segoe UI Light" panose="020B0502040204020203" pitchFamily="34" charset="0"/>
              </a:rPr>
              <a:t> Up:</a:t>
            </a:r>
            <a:endParaRPr lang="en-DE" sz="6000" b="1">
              <a:solidFill>
                <a:srgbClr val="346296"/>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315886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82643D59-896E-68AE-5BCA-3F8558F198EF}"/>
              </a:ext>
            </a:extLst>
          </p:cNvPr>
          <p:cNvSpPr txBox="1">
            <a:spLocks/>
          </p:cNvSpPr>
          <p:nvPr/>
        </p:nvSpPr>
        <p:spPr>
          <a:xfrm>
            <a:off x="838200" y="365125"/>
            <a:ext cx="973328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t>3</a:t>
            </a:r>
            <a:endParaRPr lang="en-GB"/>
          </a:p>
        </p:txBody>
      </p:sp>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solidFill>
                  <a:schemeClr val="bg1"/>
                </a:solidFill>
                <a:latin typeface="Stencil" panose="040409050D0802020404" pitchFamily="82" charset="0"/>
              </a:rPr>
              <a:t>3</a:t>
            </a:r>
            <a:endParaRPr lang="en-DE" sz="25000">
              <a:solidFill>
                <a:schemeClr val="bg1"/>
              </a:solidFill>
              <a:latin typeface="Stencil" panose="040409050D0802020404" pitchFamily="82" charset="0"/>
            </a:endParaRPr>
          </a:p>
        </p:txBody>
      </p:sp>
    </p:spTree>
    <p:extLst>
      <p:ext uri="{BB962C8B-B14F-4D97-AF65-F5344CB8AC3E}">
        <p14:creationId xmlns:p14="http://schemas.microsoft.com/office/powerpoint/2010/main" val="2970004164"/>
      </p:ext>
    </p:extLst>
  </p:cSld>
  <p:clrMapOvr>
    <a:masterClrMapping/>
  </p:clrMapOvr>
  <p:transition spd="slow" advTm="1000">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solidFill>
                  <a:schemeClr val="bg1"/>
                </a:solidFill>
                <a:latin typeface="Stencil" panose="040409050D0802020404" pitchFamily="82" charset="0"/>
              </a:rPr>
              <a:t>2</a:t>
            </a:r>
            <a:endParaRPr lang="en-DE" sz="25000">
              <a:solidFill>
                <a:schemeClr val="bg1"/>
              </a:solidFill>
              <a:latin typeface="Stencil" panose="040409050D0802020404" pitchFamily="82" charset="0"/>
            </a:endParaRPr>
          </a:p>
        </p:txBody>
      </p:sp>
    </p:spTree>
    <p:extLst>
      <p:ext uri="{BB962C8B-B14F-4D97-AF65-F5344CB8AC3E}">
        <p14:creationId xmlns:p14="http://schemas.microsoft.com/office/powerpoint/2010/main" val="986012733"/>
      </p:ext>
    </p:extLst>
  </p:cSld>
  <p:clrMapOvr>
    <a:masterClrMapping/>
  </p:clrMapOvr>
  <p:transition spd="slow" advTm="100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latin typeface="Stencil" panose="040409050D0802020404" pitchFamily="82" charset="0"/>
              </a:rPr>
              <a:t>1</a:t>
            </a:r>
            <a:endParaRPr lang="en-DE" sz="25000">
              <a:latin typeface="Stencil" panose="040409050D0802020404" pitchFamily="82" charset="0"/>
            </a:endParaRPr>
          </a:p>
        </p:txBody>
      </p:sp>
    </p:spTree>
    <p:extLst>
      <p:ext uri="{BB962C8B-B14F-4D97-AF65-F5344CB8AC3E}">
        <p14:creationId xmlns:p14="http://schemas.microsoft.com/office/powerpoint/2010/main" val="73231530"/>
      </p:ext>
    </p:extLst>
  </p:cSld>
  <p:clrMapOvr>
    <a:masterClrMapping/>
  </p:clrMapOvr>
  <p:transition spd="slow" advTm="100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FB22B504-146E-1966-17CE-BB797BC6083D}"/>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b="1" i="1" dirty="0"/>
              <a:t>Jess Pomfret</a:t>
            </a:r>
            <a:endParaRPr lang="en-GB" b="1" i="1" dirty="0"/>
          </a:p>
        </p:txBody>
      </p:sp>
      <p:cxnSp>
        <p:nvCxnSpPr>
          <p:cNvPr id="6" name="Connecteur droit 5">
            <a:extLst>
              <a:ext uri="{FF2B5EF4-FFF2-40B4-BE49-F238E27FC236}">
                <a16:creationId xmlns:a16="http://schemas.microsoft.com/office/drawing/2014/main" id="{A169C0FB-08C4-E3EC-573C-91852880EBAA}"/>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0E2348EB-2258-5792-670F-322202E630B4}"/>
              </a:ext>
            </a:extLst>
          </p:cNvPr>
          <p:cNvSpPr>
            <a:spLocks noGrp="1"/>
          </p:cNvSpPr>
          <p:nvPr>
            <p:ph type="title" idx="4294967295"/>
          </p:nvPr>
        </p:nvSpPr>
        <p:spPr>
          <a:xfrm>
            <a:off x="838200" y="2666707"/>
            <a:ext cx="10515600" cy="1325563"/>
          </a:xfrm>
          <a:prstGeom prst="rect">
            <a:avLst/>
          </a:prstGeom>
        </p:spPr>
        <p:txBody>
          <a:bodyPr anchor="b" anchorCtr="0"/>
          <a:lstStyle/>
          <a:p>
            <a:pPr algn="ctr"/>
            <a:r>
              <a:rPr lang="en-GB" sz="6000" b="1" dirty="0">
                <a:solidFill>
                  <a:srgbClr val="346296"/>
                </a:solidFill>
                <a:latin typeface="+mn-lt"/>
              </a:rPr>
              <a:t>Persist Your PowerShell Script Data with Data API Builder</a:t>
            </a:r>
            <a:endParaRPr lang="en-DE" sz="6000" b="1" dirty="0">
              <a:solidFill>
                <a:srgbClr val="346296"/>
              </a:solidFill>
              <a:latin typeface="+mn-lt"/>
            </a:endParaRPr>
          </a:p>
        </p:txBody>
      </p:sp>
    </p:spTree>
    <p:extLst>
      <p:ext uri="{BB962C8B-B14F-4D97-AF65-F5344CB8AC3E}">
        <p14:creationId xmlns:p14="http://schemas.microsoft.com/office/powerpoint/2010/main" val="2193816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que 4">
            <a:extLst>
              <a:ext uri="{FF2B5EF4-FFF2-40B4-BE49-F238E27FC236}">
                <a16:creationId xmlns:a16="http://schemas.microsoft.com/office/drawing/2014/main" id="{EF9B1DF0-A0CC-866F-E6E6-1E43146702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22738" y="196674"/>
            <a:ext cx="1062038" cy="904875"/>
          </a:xfrm>
          <a:prstGeom prst="rect">
            <a:avLst/>
          </a:prstGeom>
        </p:spPr>
      </p:pic>
      <p:pic>
        <p:nvPicPr>
          <p:cNvPr id="5" name="Image 5" descr="Une image contenant Police, Graphique, capture d’écran, graphisme&#10;&#10;Le contenu généré par l’IA peut être incorrect.">
            <a:extLst>
              <a:ext uri="{FF2B5EF4-FFF2-40B4-BE49-F238E27FC236}">
                <a16:creationId xmlns:a16="http://schemas.microsoft.com/office/drawing/2014/main" id="{C70A20FF-BFBC-E1EB-1AA1-A625DE087C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99716" y="1147469"/>
            <a:ext cx="1169451" cy="376843"/>
          </a:xfrm>
          <a:prstGeom prst="rect">
            <a:avLst/>
          </a:prstGeom>
        </p:spPr>
      </p:pic>
      <p:sp>
        <p:nvSpPr>
          <p:cNvPr id="9" name="Titel 3">
            <a:extLst>
              <a:ext uri="{FF2B5EF4-FFF2-40B4-BE49-F238E27FC236}">
                <a16:creationId xmlns:a16="http://schemas.microsoft.com/office/drawing/2014/main" id="{BB081433-3D88-BD05-BFE7-808231BD8054}"/>
              </a:ext>
            </a:extLst>
          </p:cNvPr>
          <p:cNvSpPr txBox="1">
            <a:spLocks/>
          </p:cNvSpPr>
          <p:nvPr/>
        </p:nvSpPr>
        <p:spPr>
          <a:xfrm>
            <a:off x="1009061" y="630961"/>
            <a:ext cx="973328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b="1">
                <a:solidFill>
                  <a:srgbClr val="3B2A47"/>
                </a:solidFill>
                <a:latin typeface="Calibri" panose="020F0502020204030204" pitchFamily="34" charset="0"/>
                <a:ea typeface="+mn-ea"/>
                <a:cs typeface="+mn-cs"/>
              </a:rPr>
              <a:t>Many thanks to our sponsors:</a:t>
            </a:r>
            <a:endParaRPr lang="en-DE">
              <a:solidFill>
                <a:srgbClr val="3B2A47"/>
              </a:solidFill>
            </a:endParaRPr>
          </a:p>
        </p:txBody>
      </p:sp>
      <p:pic>
        <p:nvPicPr>
          <p:cNvPr id="10" name="Graphique 6">
            <a:extLst>
              <a:ext uri="{FF2B5EF4-FFF2-40B4-BE49-F238E27FC236}">
                <a16:creationId xmlns:a16="http://schemas.microsoft.com/office/drawing/2014/main" id="{605E380D-A844-808B-8BA2-FC205D496CB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42212" y="2226290"/>
            <a:ext cx="8666977" cy="2650633"/>
          </a:xfrm>
          <a:prstGeom prst="rect">
            <a:avLst/>
          </a:prstGeom>
        </p:spPr>
      </p:pic>
    </p:spTree>
    <p:extLst>
      <p:ext uri="{BB962C8B-B14F-4D97-AF65-F5344CB8AC3E}">
        <p14:creationId xmlns:p14="http://schemas.microsoft.com/office/powerpoint/2010/main" val="256832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93312970-1382-905E-DF3A-5D367E6E7736}"/>
              </a:ext>
            </a:extLst>
          </p:cNvPr>
          <p:cNvSpPr txBox="1">
            <a:spLocks/>
          </p:cNvSpPr>
          <p:nvPr/>
        </p:nvSpPr>
        <p:spPr>
          <a:xfrm>
            <a:off x="3467314" y="1852863"/>
            <a:ext cx="7886486" cy="4324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lnSpc>
                <a:spcPct val="100000"/>
              </a:lnSpc>
              <a:spcBef>
                <a:spcPts val="800"/>
              </a:spcBef>
              <a:buChar char="•"/>
            </a:pPr>
            <a:r>
              <a:rPr lang="en-GB" sz="2400" dirty="0">
                <a:solidFill>
                  <a:schemeClr val="tx1"/>
                </a:solidFill>
                <a:latin typeface="+mn-lt"/>
              </a:rPr>
              <a:t>Data Platform Engineer</a:t>
            </a:r>
          </a:p>
          <a:p>
            <a:pPr marL="228600" indent="-228600">
              <a:lnSpc>
                <a:spcPct val="100000"/>
              </a:lnSpc>
              <a:spcBef>
                <a:spcPts val="800"/>
              </a:spcBef>
              <a:buChar char="•"/>
            </a:pPr>
            <a:r>
              <a:rPr lang="en-GB" sz="2400" dirty="0">
                <a:solidFill>
                  <a:schemeClr val="tx1"/>
                </a:solidFill>
                <a:latin typeface="+mn-lt"/>
              </a:rPr>
              <a:t>LinkedIn Learning Instructor</a:t>
            </a:r>
          </a:p>
          <a:p>
            <a:pPr marL="228600" indent="-228600">
              <a:lnSpc>
                <a:spcPct val="100000"/>
              </a:lnSpc>
              <a:spcBef>
                <a:spcPts val="800"/>
              </a:spcBef>
              <a:buChar char="•"/>
            </a:pPr>
            <a:r>
              <a:rPr lang="en-GB" sz="2400" dirty="0">
                <a:solidFill>
                  <a:schemeClr val="tx1"/>
                </a:solidFill>
                <a:latin typeface="+mn-lt"/>
              </a:rPr>
              <a:t>Open Source Contributor</a:t>
            </a:r>
          </a:p>
          <a:p>
            <a:pPr marL="571500" indent="-228600">
              <a:lnSpc>
                <a:spcPct val="100000"/>
              </a:lnSpc>
              <a:spcBef>
                <a:spcPts val="400"/>
              </a:spcBef>
              <a:buChar char="–"/>
            </a:pPr>
            <a:r>
              <a:rPr lang="en-GB" sz="2000" dirty="0">
                <a:solidFill>
                  <a:schemeClr val="tx1"/>
                </a:solidFill>
                <a:latin typeface="+mn-lt"/>
              </a:rPr>
              <a:t>dbatools, MicrosoftFabricMgmt</a:t>
            </a:r>
          </a:p>
          <a:p>
            <a:pPr marL="228600" indent="-228600">
              <a:lnSpc>
                <a:spcPct val="100000"/>
              </a:lnSpc>
              <a:spcBef>
                <a:spcPts val="800"/>
              </a:spcBef>
              <a:buChar char="•"/>
            </a:pPr>
            <a:r>
              <a:rPr lang="en-GB" sz="2400" dirty="0">
                <a:solidFill>
                  <a:schemeClr val="tx1"/>
                </a:solidFill>
                <a:latin typeface="+mn-lt"/>
              </a:rPr>
              <a:t>Passionate about Automation, Proper Football &amp; Fitness</a:t>
            </a:r>
          </a:p>
          <a:p>
            <a:pPr>
              <a:spcBef>
                <a:spcPts val="1200"/>
              </a:spcBef>
              <a:buNone/>
            </a:pPr>
            <a:endParaRPr lang="en-GB" sz="2000" dirty="0"/>
          </a:p>
          <a:p>
            <a:pPr>
              <a:spcBef>
                <a:spcPts val="200"/>
              </a:spcBef>
              <a:buNone/>
            </a:pPr>
            <a:r>
              <a:rPr lang="en-GB" sz="2000" dirty="0">
                <a:solidFill>
                  <a:schemeClr val="tx1"/>
                </a:solidFill>
                <a:latin typeface="+mn-lt"/>
              </a:rPr>
              <a:t>jpomfret7@gmail.com</a:t>
            </a:r>
          </a:p>
          <a:p>
            <a:pPr>
              <a:spcBef>
                <a:spcPts val="200"/>
              </a:spcBef>
              <a:buNone/>
            </a:pPr>
            <a:r>
              <a:rPr lang="en-GB" sz="2000" dirty="0">
                <a:solidFill>
                  <a:schemeClr val="tx1"/>
                </a:solidFill>
                <a:latin typeface="+mn-lt"/>
              </a:rPr>
              <a:t>jesspomfret.com</a:t>
            </a:r>
          </a:p>
          <a:p>
            <a:pPr>
              <a:spcBef>
                <a:spcPts val="200"/>
              </a:spcBef>
              <a:buNone/>
            </a:pPr>
            <a:r>
              <a:rPr lang="en-GB" sz="2000" dirty="0">
                <a:solidFill>
                  <a:schemeClr val="tx1"/>
                </a:solidFill>
                <a:latin typeface="+mn-lt"/>
              </a:rPr>
              <a:t>linkedin.com/in/jpomfret/</a:t>
            </a:r>
          </a:p>
        </p:txBody>
      </p:sp>
      <p:sp>
        <p:nvSpPr>
          <p:cNvPr id="2" name="Titel 1">
            <a:extLst>
              <a:ext uri="{FF2B5EF4-FFF2-40B4-BE49-F238E27FC236}">
                <a16:creationId xmlns:a16="http://schemas.microsoft.com/office/drawing/2014/main" id="{B63F84C9-7486-D81C-EDE7-12CE856D5B81}"/>
              </a:ext>
            </a:extLst>
          </p:cNvPr>
          <p:cNvSpPr>
            <a:spLocks noGrp="1"/>
          </p:cNvSpPr>
          <p:nvPr>
            <p:ph type="title"/>
          </p:nvPr>
        </p:nvSpPr>
        <p:spPr>
          <a:xfrm>
            <a:off x="3467312" y="324852"/>
            <a:ext cx="7886485" cy="1325563"/>
          </a:xfrm>
        </p:spPr>
        <p:txBody>
          <a:bodyPr>
            <a:normAutofit fontScale="90000"/>
          </a:bodyPr>
          <a:lstStyle/>
          <a:p>
            <a:r>
              <a:rPr lang="en-GB" sz="6600" dirty="0">
                <a:solidFill>
                  <a:srgbClr val="3B2A47"/>
                </a:solidFill>
                <a:latin typeface="+mn-lt"/>
                <a:ea typeface="+mn-ea"/>
                <a:cs typeface="+mn-cs"/>
              </a:rPr>
              <a:t>Jess Pomfret</a:t>
            </a:r>
            <a:endParaRPr lang="en-DE" sz="6600" dirty="0">
              <a:solidFill>
                <a:srgbClr val="3B2A47"/>
              </a:solidFill>
              <a:latin typeface="+mn-lt"/>
              <a:ea typeface="+mn-ea"/>
              <a:cs typeface="+mn-cs"/>
            </a:endParaRPr>
          </a:p>
          <a:p>
            <a:r>
              <a:rPr lang="en-GB" sz="2600" i="1" dirty="0">
                <a:solidFill>
                  <a:srgbClr val="3B2A47"/>
                </a:solidFill>
                <a:latin typeface="+mn-lt"/>
              </a:rPr>
              <a:t>(She/Her)</a:t>
            </a:r>
          </a:p>
        </p:txBody>
      </p:sp>
      <p:pic>
        <p:nvPicPr>
          <p:cNvPr id="9" name="Picture 8">
            <a:extLst>
              <a:ext uri="{FF2B5EF4-FFF2-40B4-BE49-F238E27FC236}">
                <a16:creationId xmlns:a16="http://schemas.microsoft.com/office/drawing/2014/main" id="{F2AE40DF-15AC-174A-3587-47495ED2FB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977634"/>
            <a:ext cx="2880366" cy="2880366"/>
          </a:xfrm>
          <a:prstGeom prst="rect">
            <a:avLst/>
          </a:prstGeom>
        </p:spPr>
      </p:pic>
    </p:spTree>
    <p:extLst>
      <p:ext uri="{BB962C8B-B14F-4D97-AF65-F5344CB8AC3E}">
        <p14:creationId xmlns:p14="http://schemas.microsoft.com/office/powerpoint/2010/main" val="751095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FBC13-E691-7A13-AFE6-2D01993D4AC2}"/>
            </a:ext>
          </a:extLst>
        </p:cNvPr>
        <p:cNvGrpSpPr/>
        <p:nvPr/>
      </p:nvGrpSpPr>
      <p:grpSpPr>
        <a:xfrm>
          <a:off x="0" y="0"/>
          <a:ext cx="0" cy="0"/>
          <a:chOff x="0" y="0"/>
          <a:chExt cx="0" cy="0"/>
        </a:xfrm>
      </p:grpSpPr>
      <p:sp>
        <p:nvSpPr>
          <p:cNvPr id="71" name="Google Shape;71;p14">
            <a:extLst>
              <a:ext uri="{FF2B5EF4-FFF2-40B4-BE49-F238E27FC236}">
                <a16:creationId xmlns:a16="http://schemas.microsoft.com/office/drawing/2014/main" id="{34E2EEFB-801B-C23E-402F-B714321F7238}"/>
              </a:ext>
            </a:extLst>
          </p:cNvPr>
          <p:cNvSpPr txBox="1">
            <a:spLocks noGrp="1"/>
          </p:cNvSpPr>
          <p:nvPr>
            <p:ph type="ctrTitle"/>
          </p:nvPr>
        </p:nvSpPr>
        <p:spPr>
          <a:xfrm>
            <a:off x="415600" y="2068335"/>
            <a:ext cx="11360800" cy="847269"/>
          </a:xfrm>
          <a:prstGeom prst="rect">
            <a:avLst/>
          </a:prstGeom>
        </p:spPr>
        <p:txBody>
          <a:bodyPr spcFirstLastPara="1" wrap="square" lIns="121900" tIns="121900" rIns="121900" bIns="121900" anchor="b" anchorCtr="0">
            <a:normAutofit fontScale="90000"/>
          </a:bodyPr>
          <a:lstStyle/>
          <a:p>
            <a:pPr algn="l"/>
            <a:br>
              <a:rPr lang="en-GB" sz="5333" dirty="0">
                <a:solidFill>
                  <a:srgbClr val="10265D"/>
                </a:solidFill>
                <a:latin typeface="Etna"/>
              </a:rPr>
            </a:br>
            <a:r>
              <a:rPr lang="en-GB" sz="5333" dirty="0">
                <a:solidFill>
                  <a:srgbClr val="10265D"/>
                </a:solidFill>
                <a:latin typeface="Etna"/>
              </a:rPr>
              <a:t>if I wanted to cycle 205 miles in one day…</a:t>
            </a:r>
            <a:endParaRPr dirty="0"/>
          </a:p>
        </p:txBody>
      </p:sp>
      <p:sp>
        <p:nvSpPr>
          <p:cNvPr id="4" name="Google Shape;71;p14">
            <a:extLst>
              <a:ext uri="{FF2B5EF4-FFF2-40B4-BE49-F238E27FC236}">
                <a16:creationId xmlns:a16="http://schemas.microsoft.com/office/drawing/2014/main" id="{69F4CD06-E7C7-9D24-8AA5-77F2B565F957}"/>
              </a:ext>
            </a:extLst>
          </p:cNvPr>
          <p:cNvSpPr txBox="1">
            <a:spLocks/>
          </p:cNvSpPr>
          <p:nvPr/>
        </p:nvSpPr>
        <p:spPr>
          <a:xfrm>
            <a:off x="415600" y="969756"/>
            <a:ext cx="11360800" cy="1294473"/>
          </a:xfrm>
          <a:prstGeom prst="rect">
            <a:avLst/>
          </a:prstGeom>
          <a:noFill/>
          <a:ln>
            <a:noFill/>
          </a:ln>
        </p:spPr>
        <p:txBody>
          <a:bodyPr spcFirstLastPara="1" wrap="square" lIns="121900" tIns="121900" rIns="121900" bIns="121900" anchor="b"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pPr algn="l"/>
            <a:r>
              <a:rPr lang="en-GB" sz="5333" b="1" dirty="0">
                <a:solidFill>
                  <a:srgbClr val="10265D"/>
                </a:solidFill>
                <a:latin typeface="Etna"/>
              </a:rPr>
              <a:t>One day someone asked</a:t>
            </a:r>
            <a:endParaRPr lang="en-GB" sz="6933" dirty="0"/>
          </a:p>
        </p:txBody>
      </p:sp>
      <p:grpSp>
        <p:nvGrpSpPr>
          <p:cNvPr id="7" name="Group 6">
            <a:extLst>
              <a:ext uri="{FF2B5EF4-FFF2-40B4-BE49-F238E27FC236}">
                <a16:creationId xmlns:a16="http://schemas.microsoft.com/office/drawing/2014/main" id="{6C5E6C93-5335-843A-2AFB-67C53AA5D857}"/>
              </a:ext>
            </a:extLst>
          </p:cNvPr>
          <p:cNvGrpSpPr/>
          <p:nvPr/>
        </p:nvGrpSpPr>
        <p:grpSpPr>
          <a:xfrm>
            <a:off x="0" y="3439988"/>
            <a:ext cx="4275117" cy="3429000"/>
            <a:chOff x="0" y="2579991"/>
            <a:chExt cx="3206338" cy="2571750"/>
          </a:xfrm>
        </p:grpSpPr>
        <p:pic>
          <p:nvPicPr>
            <p:cNvPr id="3" name="Picture 2">
              <a:extLst>
                <a:ext uri="{FF2B5EF4-FFF2-40B4-BE49-F238E27FC236}">
                  <a16:creationId xmlns:a16="http://schemas.microsoft.com/office/drawing/2014/main" id="{B9695A5B-05AF-A3FD-860D-D0973151D29F}"/>
                </a:ext>
              </a:extLst>
            </p:cNvPr>
            <p:cNvPicPr>
              <a:picLocks noChangeAspect="1"/>
            </p:cNvPicPr>
            <p:nvPr/>
          </p:nvPicPr>
          <p:blipFill>
            <a:blip r:embed="rId3"/>
            <a:stretch>
              <a:fillRect/>
            </a:stretch>
          </p:blipFill>
          <p:spPr>
            <a:xfrm>
              <a:off x="0" y="2579991"/>
              <a:ext cx="3206338" cy="2571750"/>
            </a:xfrm>
            <a:prstGeom prst="rect">
              <a:avLst/>
            </a:prstGeom>
          </p:spPr>
        </p:pic>
        <p:pic>
          <p:nvPicPr>
            <p:cNvPr id="5" name="Picture 4">
              <a:extLst>
                <a:ext uri="{FF2B5EF4-FFF2-40B4-BE49-F238E27FC236}">
                  <a16:creationId xmlns:a16="http://schemas.microsoft.com/office/drawing/2014/main" id="{84361593-4E69-64A5-93FF-4EE8A16903C9}"/>
                </a:ext>
              </a:extLst>
            </p:cNvPr>
            <p:cNvPicPr>
              <a:picLocks noChangeAspect="1"/>
            </p:cNvPicPr>
            <p:nvPr/>
          </p:nvPicPr>
          <p:blipFill>
            <a:blip r:embed="rId4"/>
            <a:stretch>
              <a:fillRect/>
            </a:stretch>
          </p:blipFill>
          <p:spPr>
            <a:xfrm>
              <a:off x="338415" y="3931049"/>
              <a:ext cx="2236510" cy="1028794"/>
            </a:xfrm>
            <a:prstGeom prst="rect">
              <a:avLst/>
            </a:prstGeom>
          </p:spPr>
        </p:pic>
      </p:grpSp>
    </p:spTree>
    <p:extLst>
      <p:ext uri="{BB962C8B-B14F-4D97-AF65-F5344CB8AC3E}">
        <p14:creationId xmlns:p14="http://schemas.microsoft.com/office/powerpoint/2010/main" val="1640818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7"/>
                                        </p:tgtEl>
                                        <p:attrNameLst>
                                          <p:attrName>style.visibility</p:attrName>
                                        </p:attrNameLst>
                                      </p:cBhvr>
                                      <p:to>
                                        <p:strVal val="visible"/>
                                      </p:to>
                                    </p:set>
                                    <p:anim calcmode="lin" valueType="num">
                                      <p:cBhvr additive="base">
                                        <p:cTn id="9" dur="500" fill="hold"/>
                                        <p:tgtEl>
                                          <p:spTgt spid="7"/>
                                        </p:tgtEl>
                                        <p:attrNameLst>
                                          <p:attrName>ppt_x</p:attrName>
                                        </p:attrNameLst>
                                      </p:cBhvr>
                                      <p:tavLst>
                                        <p:tav tm="0">
                                          <p:val>
                                            <p:strVal val="#ppt_x"/>
                                          </p:val>
                                        </p:tav>
                                        <p:tav tm="100000">
                                          <p:val>
                                            <p:strVal val="#ppt_x"/>
                                          </p:val>
                                        </p:tav>
                                      </p:tavLst>
                                    </p:anim>
                                    <p:anim calcmode="lin" valueType="num">
                                      <p:cBhvr additive="base">
                                        <p:cTn id="1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EED22-03AA-BE25-81FC-A4F18275DB66}"/>
            </a:ext>
          </a:extLst>
        </p:cNvPr>
        <p:cNvGrpSpPr/>
        <p:nvPr/>
      </p:nvGrpSpPr>
      <p:grpSpPr>
        <a:xfrm>
          <a:off x="0" y="0"/>
          <a:ext cx="0" cy="0"/>
          <a:chOff x="0" y="0"/>
          <a:chExt cx="0" cy="0"/>
        </a:xfrm>
      </p:grpSpPr>
      <p:sp>
        <p:nvSpPr>
          <p:cNvPr id="71" name="Google Shape;71;p14">
            <a:extLst>
              <a:ext uri="{FF2B5EF4-FFF2-40B4-BE49-F238E27FC236}">
                <a16:creationId xmlns:a16="http://schemas.microsoft.com/office/drawing/2014/main" id="{C4597395-7CE4-2821-F22B-CB8C2E0FE5B6}"/>
              </a:ext>
            </a:extLst>
          </p:cNvPr>
          <p:cNvSpPr txBox="1">
            <a:spLocks noGrp="1"/>
          </p:cNvSpPr>
          <p:nvPr>
            <p:ph type="ctrTitle"/>
          </p:nvPr>
        </p:nvSpPr>
        <p:spPr>
          <a:xfrm>
            <a:off x="415600" y="992767"/>
            <a:ext cx="11360800" cy="1928400"/>
          </a:xfrm>
          <a:prstGeom prst="rect">
            <a:avLst/>
          </a:prstGeom>
        </p:spPr>
        <p:txBody>
          <a:bodyPr spcFirstLastPara="1" wrap="square" lIns="121900" tIns="121900" rIns="121900" bIns="121900" anchor="b" anchorCtr="0">
            <a:normAutofit/>
          </a:bodyPr>
          <a:lstStyle/>
          <a:p>
            <a:pPr algn="l"/>
            <a:r>
              <a:rPr sz="5333" dirty="0">
                <a:solidFill>
                  <a:srgbClr val="10265D"/>
                </a:solidFill>
                <a:latin typeface="Etna"/>
              </a:rPr>
              <a:t>On </a:t>
            </a:r>
            <a:r>
              <a:rPr lang="en-GB" sz="5333" dirty="0">
                <a:solidFill>
                  <a:srgbClr val="10265D"/>
                </a:solidFill>
                <a:latin typeface="Etna"/>
              </a:rPr>
              <a:t>20</a:t>
            </a:r>
            <a:r>
              <a:rPr lang="en-GB" sz="5333" baseline="30000" dirty="0">
                <a:solidFill>
                  <a:srgbClr val="10265D"/>
                </a:solidFill>
                <a:latin typeface="Etna"/>
              </a:rPr>
              <a:t>th</a:t>
            </a:r>
            <a:r>
              <a:rPr lang="en-GB" sz="5333" dirty="0">
                <a:solidFill>
                  <a:srgbClr val="10265D"/>
                </a:solidFill>
                <a:latin typeface="Etna"/>
              </a:rPr>
              <a:t> </a:t>
            </a:r>
            <a:r>
              <a:rPr sz="5333" dirty="0">
                <a:solidFill>
                  <a:srgbClr val="10265D"/>
                </a:solidFill>
                <a:latin typeface="Etna"/>
              </a:rPr>
              <a:t>June</a:t>
            </a:r>
            <a:r>
              <a:rPr lang="en-GB" sz="5333" dirty="0">
                <a:solidFill>
                  <a:srgbClr val="10265D"/>
                </a:solidFill>
                <a:latin typeface="Etna"/>
              </a:rPr>
              <a:t> 2026</a:t>
            </a:r>
            <a:r>
              <a:rPr sz="5333" dirty="0">
                <a:solidFill>
                  <a:srgbClr val="10265D"/>
                </a:solidFill>
                <a:latin typeface="Etna"/>
              </a:rPr>
              <a:t>,</a:t>
            </a:r>
            <a:br>
              <a:rPr lang="en-GB" sz="5333" dirty="0">
                <a:solidFill>
                  <a:srgbClr val="10265D"/>
                </a:solidFill>
                <a:latin typeface="Etna"/>
              </a:rPr>
            </a:br>
            <a:r>
              <a:rPr sz="5333" dirty="0">
                <a:solidFill>
                  <a:srgbClr val="10265D"/>
                </a:solidFill>
                <a:latin typeface="Etna"/>
              </a:rPr>
              <a:t>I'm cycling 205 miles</a:t>
            </a:r>
            <a:r>
              <a:rPr lang="en-GB" sz="5333" dirty="0">
                <a:solidFill>
                  <a:srgbClr val="10265D"/>
                </a:solidFill>
                <a:latin typeface="Etna"/>
              </a:rPr>
              <a:t>… in one day!</a:t>
            </a:r>
            <a:endParaRPr dirty="0"/>
          </a:p>
        </p:txBody>
      </p:sp>
    </p:spTree>
    <p:extLst>
      <p:ext uri="{BB962C8B-B14F-4D97-AF65-F5344CB8AC3E}">
        <p14:creationId xmlns:p14="http://schemas.microsoft.com/office/powerpoint/2010/main" val="456814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78675-BFC2-F2D7-A738-ABAFC0950CCD}"/>
            </a:ext>
          </a:extLst>
        </p:cNvPr>
        <p:cNvGrpSpPr/>
        <p:nvPr/>
      </p:nvGrpSpPr>
      <p:grpSpPr>
        <a:xfrm>
          <a:off x="0" y="0"/>
          <a:ext cx="0" cy="0"/>
          <a:chOff x="0" y="0"/>
          <a:chExt cx="0" cy="0"/>
        </a:xfrm>
      </p:grpSpPr>
      <p:sp>
        <p:nvSpPr>
          <p:cNvPr id="81" name="TextBox 80">
            <a:extLst>
              <a:ext uri="{FF2B5EF4-FFF2-40B4-BE49-F238E27FC236}">
                <a16:creationId xmlns:a16="http://schemas.microsoft.com/office/drawing/2014/main" id="{73522A19-4A22-8A9F-BB1B-D52143B5F16E}"/>
              </a:ext>
            </a:extLst>
          </p:cNvPr>
          <p:cNvSpPr txBox="1"/>
          <p:nvPr/>
        </p:nvSpPr>
        <p:spPr>
          <a:xfrm>
            <a:off x="415600" y="466667"/>
            <a:ext cx="11360800" cy="820674"/>
          </a:xfrm>
          <a:prstGeom prst="rect">
            <a:avLst/>
          </a:prstGeom>
          <a:noFill/>
        </p:spPr>
        <p:txBody>
          <a:bodyPr wrap="square" lIns="0" tIns="0" rIns="0" bIns="0" anchor="t">
            <a:spAutoFit/>
          </a:bodyPr>
          <a:lstStyle/>
          <a:p>
            <a:pPr algn="l"/>
            <a:r>
              <a:rPr sz="5333" b="1" dirty="0">
                <a:solidFill>
                  <a:srgbClr val="10265D"/>
                </a:solidFill>
                <a:latin typeface="Etna"/>
              </a:rPr>
              <a:t>Chase the Sun</a:t>
            </a:r>
            <a:r>
              <a:rPr lang="en-GB" sz="5333" b="1" dirty="0">
                <a:solidFill>
                  <a:srgbClr val="10265D"/>
                </a:solidFill>
                <a:latin typeface="Etna"/>
              </a:rPr>
              <a:t> 2026</a:t>
            </a:r>
            <a:endParaRPr sz="5333" b="1" dirty="0">
              <a:solidFill>
                <a:srgbClr val="10265D"/>
              </a:solidFill>
              <a:latin typeface="Etna"/>
            </a:endParaRPr>
          </a:p>
        </p:txBody>
      </p:sp>
      <p:sp>
        <p:nvSpPr>
          <p:cNvPr id="82" name="TextBox 81">
            <a:extLst>
              <a:ext uri="{FF2B5EF4-FFF2-40B4-BE49-F238E27FC236}">
                <a16:creationId xmlns:a16="http://schemas.microsoft.com/office/drawing/2014/main" id="{1A88C7A3-CD19-0AA6-4F8F-D40016611AC2}"/>
              </a:ext>
            </a:extLst>
          </p:cNvPr>
          <p:cNvSpPr txBox="1"/>
          <p:nvPr/>
        </p:nvSpPr>
        <p:spPr>
          <a:xfrm>
            <a:off x="415600" y="2000000"/>
            <a:ext cx="11360800" cy="923458"/>
          </a:xfrm>
          <a:prstGeom prst="rect">
            <a:avLst/>
          </a:prstGeom>
          <a:noFill/>
        </p:spPr>
        <p:txBody>
          <a:bodyPr wrap="square" lIns="0" tIns="0" rIns="0" bIns="0" anchor="t">
            <a:spAutoFit/>
          </a:bodyPr>
          <a:lstStyle/>
          <a:p>
            <a:pPr>
              <a:spcAft>
                <a:spcPts val="800"/>
              </a:spcAft>
            </a:pPr>
            <a:r>
              <a:rPr sz="2667" b="1" dirty="0">
                <a:solidFill>
                  <a:srgbClr val="1A1A1A"/>
                </a:solidFill>
                <a:latin typeface="Garet"/>
              </a:rPr>
              <a:t>205 miles. Minster-on-Sea </a:t>
            </a:r>
            <a:r>
              <a:rPr lang="en-GB" sz="2667" b="1" dirty="0">
                <a:solidFill>
                  <a:srgbClr val="1A1A1A"/>
                </a:solidFill>
                <a:latin typeface="Garet"/>
              </a:rPr>
              <a:t>to Weston-Super-Mare</a:t>
            </a:r>
            <a:endParaRPr sz="2667" b="1" dirty="0">
              <a:solidFill>
                <a:srgbClr val="1A1A1A"/>
              </a:solidFill>
              <a:latin typeface="Garet"/>
            </a:endParaRPr>
          </a:p>
          <a:p>
            <a:pPr>
              <a:spcAft>
                <a:spcPts val="800"/>
              </a:spcAft>
            </a:pPr>
            <a:r>
              <a:rPr sz="2667" dirty="0">
                <a:solidFill>
                  <a:srgbClr val="1A1A1A"/>
                </a:solidFill>
                <a:latin typeface="Garet"/>
              </a:rPr>
              <a:t>Sunrise to sunset. One day. Coast to coast.</a:t>
            </a:r>
          </a:p>
        </p:txBody>
      </p:sp>
      <p:pic>
        <p:nvPicPr>
          <p:cNvPr id="2" name="Picture 2" descr="Chase The Sun South detailed route map from Minster-on-sea to Weston-Super-Mare cycling challenge.">
            <a:extLst>
              <a:ext uri="{FF2B5EF4-FFF2-40B4-BE49-F238E27FC236}">
                <a16:creationId xmlns:a16="http://schemas.microsoft.com/office/drawing/2014/main" id="{E0D4A7F4-BD57-AD14-C7FB-628450D32D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6490" y="3586376"/>
            <a:ext cx="7558989" cy="32716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45A3A6C-E112-1BD1-B877-D567FD0CE5C9}"/>
              </a:ext>
            </a:extLst>
          </p:cNvPr>
          <p:cNvSpPr txBox="1"/>
          <p:nvPr/>
        </p:nvSpPr>
        <p:spPr>
          <a:xfrm>
            <a:off x="415600" y="3018631"/>
            <a:ext cx="11360800" cy="410433"/>
          </a:xfrm>
          <a:prstGeom prst="rect">
            <a:avLst/>
          </a:prstGeom>
          <a:noFill/>
        </p:spPr>
        <p:txBody>
          <a:bodyPr wrap="square" lIns="0" tIns="0" rIns="0" bIns="0" anchor="t">
            <a:spAutoFit/>
          </a:bodyPr>
          <a:lstStyle/>
          <a:p>
            <a:pPr>
              <a:spcAft>
                <a:spcPts val="800"/>
              </a:spcAft>
            </a:pPr>
            <a:r>
              <a:rPr lang="en-GB" sz="2667" dirty="0">
                <a:solidFill>
                  <a:srgbClr val="1A1A1A"/>
                </a:solidFill>
                <a:latin typeface="Garet"/>
              </a:rPr>
              <a:t>3 days after m</a:t>
            </a:r>
            <a:r>
              <a:rPr sz="2667" dirty="0">
                <a:solidFill>
                  <a:srgbClr val="1A1A1A"/>
                </a:solidFill>
                <a:latin typeface="Garet"/>
              </a:rPr>
              <a:t>y 40th birthday.</a:t>
            </a:r>
            <a:endParaRPr lang="en-GB" sz="2667" dirty="0">
              <a:solidFill>
                <a:srgbClr val="1A1A1A"/>
              </a:solidFill>
              <a:latin typeface="Garet"/>
            </a:endParaRPr>
          </a:p>
        </p:txBody>
      </p:sp>
    </p:spTree>
    <p:extLst>
      <p:ext uri="{BB962C8B-B14F-4D97-AF65-F5344CB8AC3E}">
        <p14:creationId xmlns:p14="http://schemas.microsoft.com/office/powerpoint/2010/main" val="1923162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C4A1C-60A3-1040-FFFC-BABAF9179900}"/>
            </a:ext>
          </a:extLst>
        </p:cNvPr>
        <p:cNvGrpSpPr/>
        <p:nvPr/>
      </p:nvGrpSpPr>
      <p:grpSpPr>
        <a:xfrm>
          <a:off x="0" y="0"/>
          <a:ext cx="0" cy="0"/>
          <a:chOff x="0" y="0"/>
          <a:chExt cx="0" cy="0"/>
        </a:xfrm>
      </p:grpSpPr>
      <p:sp>
        <p:nvSpPr>
          <p:cNvPr id="90" name="TextBox 89">
            <a:extLst>
              <a:ext uri="{FF2B5EF4-FFF2-40B4-BE49-F238E27FC236}">
                <a16:creationId xmlns:a16="http://schemas.microsoft.com/office/drawing/2014/main" id="{48239DCF-FD43-DE07-E248-DB5B5FF33F8A}"/>
              </a:ext>
            </a:extLst>
          </p:cNvPr>
          <p:cNvSpPr txBox="1"/>
          <p:nvPr/>
        </p:nvSpPr>
        <p:spPr>
          <a:xfrm>
            <a:off x="415600" y="466667"/>
            <a:ext cx="11360800" cy="738664"/>
          </a:xfrm>
          <a:prstGeom prst="rect">
            <a:avLst/>
          </a:prstGeom>
          <a:noFill/>
        </p:spPr>
        <p:txBody>
          <a:bodyPr wrap="square" lIns="0" tIns="0" rIns="0" bIns="0" anchor="t">
            <a:spAutoFit/>
          </a:bodyPr>
          <a:lstStyle/>
          <a:p>
            <a:pPr algn="l"/>
            <a:r>
              <a:rPr lang="en-GB" sz="4800" b="1" dirty="0">
                <a:solidFill>
                  <a:srgbClr val="10265D"/>
                </a:solidFill>
                <a:latin typeface="Etna"/>
              </a:rPr>
              <a:t>The Problem?</a:t>
            </a:r>
            <a:endParaRPr sz="4800" b="1" dirty="0">
              <a:solidFill>
                <a:srgbClr val="10265D"/>
              </a:solidFill>
              <a:latin typeface="Etna"/>
            </a:endParaRPr>
          </a:p>
        </p:txBody>
      </p:sp>
      <p:sp>
        <p:nvSpPr>
          <p:cNvPr id="91" name="TextBox 90">
            <a:extLst>
              <a:ext uri="{FF2B5EF4-FFF2-40B4-BE49-F238E27FC236}">
                <a16:creationId xmlns:a16="http://schemas.microsoft.com/office/drawing/2014/main" id="{BF69F06D-8BB1-E320-AC50-C647AE6E504B}"/>
              </a:ext>
            </a:extLst>
          </p:cNvPr>
          <p:cNvSpPr txBox="1"/>
          <p:nvPr/>
        </p:nvSpPr>
        <p:spPr>
          <a:xfrm>
            <a:off x="415600" y="2000001"/>
            <a:ext cx="11360800" cy="410433"/>
          </a:xfrm>
          <a:prstGeom prst="rect">
            <a:avLst/>
          </a:prstGeom>
          <a:noFill/>
        </p:spPr>
        <p:txBody>
          <a:bodyPr wrap="square" lIns="0" tIns="0" rIns="0" bIns="0" anchor="t">
            <a:spAutoFit/>
          </a:bodyPr>
          <a:lstStyle/>
          <a:p>
            <a:pPr>
              <a:spcAft>
                <a:spcPts val="800"/>
              </a:spcAft>
            </a:pPr>
            <a:r>
              <a:rPr lang="en-GB" sz="2667" b="1" dirty="0">
                <a:solidFill>
                  <a:srgbClr val="1A1A1A"/>
                </a:solidFill>
                <a:latin typeface="Garet"/>
              </a:rPr>
              <a:t>Getting to the start line. Trained. Fuelled. Ready</a:t>
            </a:r>
            <a:endParaRPr sz="2667" dirty="0">
              <a:solidFill>
                <a:srgbClr val="1A1A1A"/>
              </a:solidFill>
              <a:latin typeface="Garet"/>
            </a:endParaRPr>
          </a:p>
        </p:txBody>
      </p:sp>
      <p:pic>
        <p:nvPicPr>
          <p:cNvPr id="3" name="Picture 2">
            <a:extLst>
              <a:ext uri="{FF2B5EF4-FFF2-40B4-BE49-F238E27FC236}">
                <a16:creationId xmlns:a16="http://schemas.microsoft.com/office/drawing/2014/main" id="{06DA1A41-09DF-7531-A315-E987035D2B99}"/>
              </a:ext>
            </a:extLst>
          </p:cNvPr>
          <p:cNvPicPr>
            <a:picLocks noChangeAspect="1"/>
          </p:cNvPicPr>
          <p:nvPr/>
        </p:nvPicPr>
        <p:blipFill>
          <a:blip r:embed="rId3"/>
          <a:srcRect t="15395" b="24490"/>
          <a:stretch>
            <a:fillRect/>
          </a:stretch>
        </p:blipFill>
        <p:spPr>
          <a:xfrm>
            <a:off x="4512215" y="2735346"/>
            <a:ext cx="3167539" cy="4122655"/>
          </a:xfrm>
          <a:prstGeom prst="rect">
            <a:avLst/>
          </a:prstGeom>
        </p:spPr>
      </p:pic>
    </p:spTree>
    <p:extLst>
      <p:ext uri="{BB962C8B-B14F-4D97-AF65-F5344CB8AC3E}">
        <p14:creationId xmlns:p14="http://schemas.microsoft.com/office/powerpoint/2010/main" val="2880539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E9E57-4EF1-FC20-1AD0-77067924C72B}"/>
            </a:ext>
          </a:extLst>
        </p:cNvPr>
        <p:cNvGrpSpPr/>
        <p:nvPr/>
      </p:nvGrpSpPr>
      <p:grpSpPr>
        <a:xfrm>
          <a:off x="0" y="0"/>
          <a:ext cx="0" cy="0"/>
          <a:chOff x="0" y="0"/>
          <a:chExt cx="0" cy="0"/>
        </a:xfrm>
      </p:grpSpPr>
      <p:sp>
        <p:nvSpPr>
          <p:cNvPr id="90" name="TextBox 89">
            <a:extLst>
              <a:ext uri="{FF2B5EF4-FFF2-40B4-BE49-F238E27FC236}">
                <a16:creationId xmlns:a16="http://schemas.microsoft.com/office/drawing/2014/main" id="{6435F0D1-B459-5B21-1F49-2D43D4FB370A}"/>
              </a:ext>
            </a:extLst>
          </p:cNvPr>
          <p:cNvSpPr txBox="1"/>
          <p:nvPr/>
        </p:nvSpPr>
        <p:spPr>
          <a:xfrm>
            <a:off x="415600" y="466667"/>
            <a:ext cx="11360800" cy="738664"/>
          </a:xfrm>
          <a:prstGeom prst="rect">
            <a:avLst/>
          </a:prstGeom>
          <a:noFill/>
        </p:spPr>
        <p:txBody>
          <a:bodyPr wrap="square" lIns="0" tIns="0" rIns="0" bIns="0" anchor="t">
            <a:spAutoFit/>
          </a:bodyPr>
          <a:lstStyle/>
          <a:p>
            <a:pPr algn="l"/>
            <a:r>
              <a:rPr lang="en-GB" sz="4800" b="1" dirty="0">
                <a:solidFill>
                  <a:srgbClr val="10265D"/>
                </a:solidFill>
                <a:latin typeface="Etna"/>
              </a:rPr>
              <a:t>This has generated a lot of data</a:t>
            </a:r>
            <a:endParaRPr sz="4800" b="1" dirty="0">
              <a:solidFill>
                <a:srgbClr val="10265D"/>
              </a:solidFill>
              <a:latin typeface="Etna"/>
            </a:endParaRPr>
          </a:p>
        </p:txBody>
      </p:sp>
      <p:sp>
        <p:nvSpPr>
          <p:cNvPr id="91" name="TextBox 90">
            <a:extLst>
              <a:ext uri="{FF2B5EF4-FFF2-40B4-BE49-F238E27FC236}">
                <a16:creationId xmlns:a16="http://schemas.microsoft.com/office/drawing/2014/main" id="{A3EDCAF9-8ED6-0000-29E9-BCB3590788EB}"/>
              </a:ext>
            </a:extLst>
          </p:cNvPr>
          <p:cNvSpPr txBox="1"/>
          <p:nvPr/>
        </p:nvSpPr>
        <p:spPr>
          <a:xfrm>
            <a:off x="415600" y="2000000"/>
            <a:ext cx="11360800" cy="1436483"/>
          </a:xfrm>
          <a:prstGeom prst="rect">
            <a:avLst/>
          </a:prstGeom>
          <a:noFill/>
        </p:spPr>
        <p:txBody>
          <a:bodyPr wrap="square" lIns="0" tIns="0" rIns="0" bIns="0" anchor="t">
            <a:spAutoFit/>
          </a:bodyPr>
          <a:lstStyle/>
          <a:p>
            <a:pPr>
              <a:spcAft>
                <a:spcPts val="800"/>
              </a:spcAft>
            </a:pPr>
            <a:r>
              <a:rPr lang="en-GB" sz="2667" b="1" dirty="0">
                <a:solidFill>
                  <a:srgbClr val="1A1A1A"/>
                </a:solidFill>
                <a:latin typeface="Garet"/>
              </a:rPr>
              <a:t>Wellness, fitness,</a:t>
            </a:r>
            <a:r>
              <a:rPr sz="2667" b="1" dirty="0">
                <a:solidFill>
                  <a:srgbClr val="1A1A1A"/>
                </a:solidFill>
                <a:latin typeface="Garet"/>
              </a:rPr>
              <a:t> fueling.</a:t>
            </a:r>
          </a:p>
          <a:p>
            <a:pPr>
              <a:spcAft>
                <a:spcPts val="800"/>
              </a:spcAft>
            </a:pPr>
            <a:r>
              <a:rPr lang="en-GB" sz="2667" dirty="0">
                <a:solidFill>
                  <a:srgbClr val="1A1A1A"/>
                </a:solidFill>
                <a:latin typeface="Garet"/>
              </a:rPr>
              <a:t>Many devices. Many Apps</a:t>
            </a:r>
            <a:r>
              <a:rPr sz="2667" dirty="0">
                <a:solidFill>
                  <a:srgbClr val="1A1A1A"/>
                </a:solidFill>
                <a:latin typeface="Garet"/>
              </a:rPr>
              <a:t>. No shared view. No way to query it together.</a:t>
            </a:r>
          </a:p>
          <a:p>
            <a:pPr>
              <a:spcAft>
                <a:spcPts val="800"/>
              </a:spcAft>
            </a:pPr>
            <a:r>
              <a:rPr sz="2667" dirty="0">
                <a:solidFill>
                  <a:srgbClr val="1A1A1A"/>
                </a:solidFill>
                <a:latin typeface="Garet"/>
              </a:rPr>
              <a:t>I'm a </a:t>
            </a:r>
            <a:r>
              <a:rPr lang="en-GB" sz="2667" dirty="0">
                <a:solidFill>
                  <a:srgbClr val="1A1A1A"/>
                </a:solidFill>
                <a:latin typeface="Garet"/>
              </a:rPr>
              <a:t>data nerd</a:t>
            </a:r>
            <a:r>
              <a:rPr sz="2667" dirty="0">
                <a:solidFill>
                  <a:srgbClr val="1A1A1A"/>
                </a:solidFill>
                <a:latin typeface="Garet"/>
              </a:rPr>
              <a:t>. I want it in my database.</a:t>
            </a:r>
          </a:p>
        </p:txBody>
      </p:sp>
    </p:spTree>
    <p:extLst>
      <p:ext uri="{BB962C8B-B14F-4D97-AF65-F5344CB8AC3E}">
        <p14:creationId xmlns:p14="http://schemas.microsoft.com/office/powerpoint/2010/main" val="3461119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CD8A2-77E5-E4E9-73FA-BFF9272A24C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CE9C671-0E0D-83B6-1C97-EEC58CCCCC97}"/>
              </a:ext>
            </a:extLst>
          </p:cNvPr>
          <p:cNvPicPr>
            <a:picLocks noChangeAspect="1"/>
          </p:cNvPicPr>
          <p:nvPr/>
        </p:nvPicPr>
        <p:blipFill>
          <a:blip r:embed="rId3"/>
          <a:stretch>
            <a:fillRect/>
          </a:stretch>
        </p:blipFill>
        <p:spPr>
          <a:xfrm>
            <a:off x="3025069" y="1345254"/>
            <a:ext cx="1237220" cy="2409057"/>
          </a:xfrm>
          <a:prstGeom prst="rect">
            <a:avLst/>
          </a:prstGeom>
        </p:spPr>
      </p:pic>
      <p:sp>
        <p:nvSpPr>
          <p:cNvPr id="90" name="TextBox 89">
            <a:extLst>
              <a:ext uri="{FF2B5EF4-FFF2-40B4-BE49-F238E27FC236}">
                <a16:creationId xmlns:a16="http://schemas.microsoft.com/office/drawing/2014/main" id="{532C60D6-0E2F-F414-98DD-662489C20699}"/>
              </a:ext>
            </a:extLst>
          </p:cNvPr>
          <p:cNvSpPr txBox="1"/>
          <p:nvPr/>
        </p:nvSpPr>
        <p:spPr>
          <a:xfrm>
            <a:off x="415600" y="466667"/>
            <a:ext cx="11360800" cy="738664"/>
          </a:xfrm>
          <a:prstGeom prst="rect">
            <a:avLst/>
          </a:prstGeom>
          <a:noFill/>
        </p:spPr>
        <p:txBody>
          <a:bodyPr wrap="square" lIns="0" tIns="0" rIns="0" bIns="0" anchor="t">
            <a:spAutoFit/>
          </a:bodyPr>
          <a:lstStyle/>
          <a:p>
            <a:pPr algn="l"/>
            <a:r>
              <a:rPr lang="en-GB" sz="4800" b="1" dirty="0">
                <a:solidFill>
                  <a:srgbClr val="10265D"/>
                </a:solidFill>
                <a:latin typeface="Etna"/>
              </a:rPr>
              <a:t>No… like A LOT of data</a:t>
            </a:r>
            <a:endParaRPr sz="4800" b="1" dirty="0">
              <a:solidFill>
                <a:srgbClr val="10265D"/>
              </a:solidFill>
              <a:latin typeface="Etna"/>
            </a:endParaRPr>
          </a:p>
        </p:txBody>
      </p:sp>
      <p:pic>
        <p:nvPicPr>
          <p:cNvPr id="7" name="Picture 6">
            <a:extLst>
              <a:ext uri="{FF2B5EF4-FFF2-40B4-BE49-F238E27FC236}">
                <a16:creationId xmlns:a16="http://schemas.microsoft.com/office/drawing/2014/main" id="{B608EAEC-39C1-21FB-DFD6-E2A412680E52}"/>
              </a:ext>
            </a:extLst>
          </p:cNvPr>
          <p:cNvPicPr>
            <a:picLocks noChangeAspect="1"/>
          </p:cNvPicPr>
          <p:nvPr/>
        </p:nvPicPr>
        <p:blipFill>
          <a:blip r:embed="rId4"/>
          <a:stretch>
            <a:fillRect/>
          </a:stretch>
        </p:blipFill>
        <p:spPr>
          <a:xfrm>
            <a:off x="415601" y="1619713"/>
            <a:ext cx="2334460" cy="2053576"/>
          </a:xfrm>
          <a:prstGeom prst="rect">
            <a:avLst/>
          </a:prstGeom>
        </p:spPr>
      </p:pic>
      <p:pic>
        <p:nvPicPr>
          <p:cNvPr id="9" name="Picture 8">
            <a:extLst>
              <a:ext uri="{FF2B5EF4-FFF2-40B4-BE49-F238E27FC236}">
                <a16:creationId xmlns:a16="http://schemas.microsoft.com/office/drawing/2014/main" id="{4AFF5FE8-5FD2-578C-3847-5F7FE0ED7621}"/>
              </a:ext>
            </a:extLst>
          </p:cNvPr>
          <p:cNvPicPr>
            <a:picLocks noChangeAspect="1"/>
          </p:cNvPicPr>
          <p:nvPr/>
        </p:nvPicPr>
        <p:blipFill>
          <a:blip r:embed="rId5"/>
          <a:stretch/>
        </p:blipFill>
        <p:spPr>
          <a:xfrm>
            <a:off x="2726883" y="3835333"/>
            <a:ext cx="1535405" cy="1533152"/>
          </a:xfrm>
          <a:prstGeom prst="rect">
            <a:avLst/>
          </a:prstGeom>
        </p:spPr>
      </p:pic>
      <p:pic>
        <p:nvPicPr>
          <p:cNvPr id="13" name="Picture 12">
            <a:extLst>
              <a:ext uri="{FF2B5EF4-FFF2-40B4-BE49-F238E27FC236}">
                <a16:creationId xmlns:a16="http://schemas.microsoft.com/office/drawing/2014/main" id="{912BCEBD-64D3-FCA8-1892-F48780746954}"/>
              </a:ext>
            </a:extLst>
          </p:cNvPr>
          <p:cNvPicPr>
            <a:picLocks noChangeAspect="1"/>
          </p:cNvPicPr>
          <p:nvPr/>
        </p:nvPicPr>
        <p:blipFill>
          <a:blip r:embed="rId6"/>
          <a:stretch>
            <a:fillRect/>
          </a:stretch>
        </p:blipFill>
        <p:spPr>
          <a:xfrm>
            <a:off x="4690510" y="1515608"/>
            <a:ext cx="2344196" cy="2002185"/>
          </a:xfrm>
          <a:prstGeom prst="rect">
            <a:avLst/>
          </a:prstGeom>
        </p:spPr>
      </p:pic>
      <p:pic>
        <p:nvPicPr>
          <p:cNvPr id="14" name="Picture 13">
            <a:extLst>
              <a:ext uri="{FF2B5EF4-FFF2-40B4-BE49-F238E27FC236}">
                <a16:creationId xmlns:a16="http://schemas.microsoft.com/office/drawing/2014/main" id="{F8A85586-20C9-1D93-6AE8-D032FF056CC8}"/>
              </a:ext>
            </a:extLst>
          </p:cNvPr>
          <p:cNvPicPr>
            <a:picLocks noChangeAspect="1"/>
          </p:cNvPicPr>
          <p:nvPr/>
        </p:nvPicPr>
        <p:blipFill>
          <a:blip r:embed="rId7"/>
          <a:stretch>
            <a:fillRect/>
          </a:stretch>
        </p:blipFill>
        <p:spPr>
          <a:xfrm>
            <a:off x="7532197" y="1011143"/>
            <a:ext cx="2400036" cy="4254200"/>
          </a:xfrm>
          <a:prstGeom prst="rect">
            <a:avLst/>
          </a:prstGeom>
        </p:spPr>
      </p:pic>
      <p:pic>
        <p:nvPicPr>
          <p:cNvPr id="1026" name="Picture 2" descr="Garmin Index S2 Smart Bathroom Scale - Black 0">
            <a:extLst>
              <a:ext uri="{FF2B5EF4-FFF2-40B4-BE49-F238E27FC236}">
                <a16:creationId xmlns:a16="http://schemas.microsoft.com/office/drawing/2014/main" id="{4768D29E-59C4-E787-DEED-B87D2AB6101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9646" r="12986"/>
          <a:stretch>
            <a:fillRect/>
          </a:stretch>
        </p:blipFill>
        <p:spPr bwMode="auto">
          <a:xfrm>
            <a:off x="374895" y="3754459"/>
            <a:ext cx="2235200" cy="1694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552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D66C8-D885-A30C-1ACA-77148B5061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9F83F4E-FBF6-C5CA-188C-4CF5277406D5}"/>
              </a:ext>
            </a:extLst>
          </p:cNvPr>
          <p:cNvSpPr txBox="1"/>
          <p:nvPr/>
        </p:nvSpPr>
        <p:spPr>
          <a:xfrm>
            <a:off x="415600" y="536229"/>
            <a:ext cx="11360800" cy="820674"/>
          </a:xfrm>
          <a:prstGeom prst="rect">
            <a:avLst/>
          </a:prstGeom>
          <a:noFill/>
        </p:spPr>
        <p:txBody>
          <a:bodyPr wrap="square" lIns="0" tIns="0" rIns="0" bIns="0" anchor="t">
            <a:spAutoFit/>
          </a:bodyPr>
          <a:lstStyle/>
          <a:p>
            <a:pPr algn="l"/>
            <a:r>
              <a:rPr lang="en-GB" sz="5333" b="1" dirty="0" err="1">
                <a:solidFill>
                  <a:srgbClr val="10265D"/>
                </a:solidFill>
                <a:latin typeface="Etna"/>
              </a:rPr>
              <a:t>Intervals.icu</a:t>
            </a:r>
            <a:endParaRPr sz="5333" b="1" dirty="0">
              <a:solidFill>
                <a:srgbClr val="10265D"/>
              </a:solidFill>
              <a:latin typeface="Etna"/>
            </a:endParaRPr>
          </a:p>
        </p:txBody>
      </p:sp>
      <p:pic>
        <p:nvPicPr>
          <p:cNvPr id="12" name="Picture 11">
            <a:extLst>
              <a:ext uri="{FF2B5EF4-FFF2-40B4-BE49-F238E27FC236}">
                <a16:creationId xmlns:a16="http://schemas.microsoft.com/office/drawing/2014/main" id="{B50FEF69-03B9-4AC5-F1C8-9480B8BF852A}"/>
              </a:ext>
            </a:extLst>
          </p:cNvPr>
          <p:cNvPicPr>
            <a:picLocks noChangeAspect="1"/>
          </p:cNvPicPr>
          <p:nvPr/>
        </p:nvPicPr>
        <p:blipFill>
          <a:blip r:embed="rId3"/>
          <a:stretch>
            <a:fillRect/>
          </a:stretch>
        </p:blipFill>
        <p:spPr>
          <a:xfrm>
            <a:off x="0" y="1257625"/>
            <a:ext cx="12192000" cy="6053532"/>
          </a:xfrm>
          <a:prstGeom prst="rect">
            <a:avLst/>
          </a:prstGeom>
        </p:spPr>
      </p:pic>
    </p:spTree>
    <p:extLst>
      <p:ext uri="{BB962C8B-B14F-4D97-AF65-F5344CB8AC3E}">
        <p14:creationId xmlns:p14="http://schemas.microsoft.com/office/powerpoint/2010/main" val="316743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9AAA7-65BB-565C-1EDD-34FCD62F5D4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0613736-1B00-F31A-D527-CE718CE400D8}"/>
              </a:ext>
            </a:extLst>
          </p:cNvPr>
          <p:cNvSpPr txBox="1"/>
          <p:nvPr/>
        </p:nvSpPr>
        <p:spPr>
          <a:xfrm>
            <a:off x="415600" y="536229"/>
            <a:ext cx="11360800" cy="820674"/>
          </a:xfrm>
          <a:prstGeom prst="rect">
            <a:avLst/>
          </a:prstGeom>
          <a:noFill/>
        </p:spPr>
        <p:txBody>
          <a:bodyPr wrap="square" lIns="0" tIns="0" rIns="0" bIns="0" anchor="t">
            <a:spAutoFit/>
          </a:bodyPr>
          <a:lstStyle/>
          <a:p>
            <a:pPr algn="l"/>
            <a:r>
              <a:rPr lang="en-GB" sz="5333" b="1" dirty="0" err="1">
                <a:solidFill>
                  <a:srgbClr val="10265D"/>
                </a:solidFill>
                <a:latin typeface="Etna"/>
              </a:rPr>
              <a:t>FuelGauge</a:t>
            </a:r>
            <a:endParaRPr sz="5333" b="1" dirty="0">
              <a:solidFill>
                <a:srgbClr val="10265D"/>
              </a:solidFill>
              <a:latin typeface="Etna"/>
            </a:endParaRPr>
          </a:p>
        </p:txBody>
      </p:sp>
      <p:pic>
        <p:nvPicPr>
          <p:cNvPr id="5" name="Picture 4">
            <a:extLst>
              <a:ext uri="{FF2B5EF4-FFF2-40B4-BE49-F238E27FC236}">
                <a16:creationId xmlns:a16="http://schemas.microsoft.com/office/drawing/2014/main" id="{53D67B6E-88A5-AABF-0344-0011DA0248A5}"/>
              </a:ext>
            </a:extLst>
          </p:cNvPr>
          <p:cNvPicPr>
            <a:picLocks noChangeAspect="1"/>
          </p:cNvPicPr>
          <p:nvPr/>
        </p:nvPicPr>
        <p:blipFill>
          <a:blip r:embed="rId3"/>
          <a:stretch>
            <a:fillRect/>
          </a:stretch>
        </p:blipFill>
        <p:spPr>
          <a:xfrm>
            <a:off x="8163576" y="0"/>
            <a:ext cx="4028424" cy="6858000"/>
          </a:xfrm>
          <a:prstGeom prst="rect">
            <a:avLst/>
          </a:prstGeom>
        </p:spPr>
      </p:pic>
      <p:sp>
        <p:nvSpPr>
          <p:cNvPr id="2" name="TextBox 1">
            <a:extLst>
              <a:ext uri="{FF2B5EF4-FFF2-40B4-BE49-F238E27FC236}">
                <a16:creationId xmlns:a16="http://schemas.microsoft.com/office/drawing/2014/main" id="{877B06D4-DFD4-F80B-E828-DD09414AB597}"/>
              </a:ext>
            </a:extLst>
          </p:cNvPr>
          <p:cNvSpPr txBox="1"/>
          <p:nvPr/>
        </p:nvSpPr>
        <p:spPr>
          <a:xfrm>
            <a:off x="415600" y="2000001"/>
            <a:ext cx="3532819" cy="2257349"/>
          </a:xfrm>
          <a:prstGeom prst="rect">
            <a:avLst/>
          </a:prstGeom>
          <a:noFill/>
        </p:spPr>
        <p:txBody>
          <a:bodyPr wrap="square" lIns="0" tIns="0" rIns="0" bIns="0" anchor="t">
            <a:spAutoFit/>
          </a:bodyPr>
          <a:lstStyle/>
          <a:p>
            <a:pPr>
              <a:spcAft>
                <a:spcPts val="800"/>
              </a:spcAft>
            </a:pPr>
            <a:r>
              <a:rPr lang="en-GB" sz="2667" b="1" dirty="0">
                <a:solidFill>
                  <a:srgbClr val="1A1A1A"/>
                </a:solidFill>
                <a:latin typeface="Garet"/>
              </a:rPr>
              <a:t>Home grown app</a:t>
            </a:r>
          </a:p>
          <a:p>
            <a:pPr>
              <a:spcAft>
                <a:spcPts val="800"/>
              </a:spcAft>
            </a:pPr>
            <a:r>
              <a:rPr lang="en-GB" sz="2667" dirty="0">
                <a:solidFill>
                  <a:srgbClr val="1A1A1A"/>
                </a:solidFill>
                <a:latin typeface="Garet"/>
              </a:rPr>
              <a:t>Tracks Calories Consumed</a:t>
            </a:r>
          </a:p>
          <a:p>
            <a:pPr>
              <a:spcAft>
                <a:spcPts val="800"/>
              </a:spcAft>
            </a:pPr>
            <a:r>
              <a:rPr lang="en-GB" sz="2667" dirty="0">
                <a:solidFill>
                  <a:srgbClr val="1A1A1A"/>
                </a:solidFill>
                <a:latin typeface="Garet"/>
              </a:rPr>
              <a:t>Compares to Calories Burnt</a:t>
            </a:r>
          </a:p>
        </p:txBody>
      </p:sp>
      <p:pic>
        <p:nvPicPr>
          <p:cNvPr id="4" name="Picture 3">
            <a:extLst>
              <a:ext uri="{FF2B5EF4-FFF2-40B4-BE49-F238E27FC236}">
                <a16:creationId xmlns:a16="http://schemas.microsoft.com/office/drawing/2014/main" id="{4E3A8712-8BCA-4C49-4D3C-A18F7AEF5272}"/>
              </a:ext>
            </a:extLst>
          </p:cNvPr>
          <p:cNvPicPr>
            <a:picLocks noChangeAspect="1"/>
          </p:cNvPicPr>
          <p:nvPr/>
        </p:nvPicPr>
        <p:blipFill>
          <a:blip r:embed="rId4"/>
          <a:srcRect l="6939" r="2894"/>
          <a:stretch>
            <a:fillRect/>
          </a:stretch>
        </p:blipFill>
        <p:spPr>
          <a:xfrm>
            <a:off x="4081788" y="0"/>
            <a:ext cx="4028424" cy="6858000"/>
          </a:xfrm>
          <a:prstGeom prst="rect">
            <a:avLst/>
          </a:prstGeom>
        </p:spPr>
      </p:pic>
      <p:sp>
        <p:nvSpPr>
          <p:cNvPr id="8" name="TextBox 7">
            <a:extLst>
              <a:ext uri="{FF2B5EF4-FFF2-40B4-BE49-F238E27FC236}">
                <a16:creationId xmlns:a16="http://schemas.microsoft.com/office/drawing/2014/main" id="{B479E533-772E-7CE1-5842-6DAA6E3DA191}"/>
              </a:ext>
            </a:extLst>
          </p:cNvPr>
          <p:cNvSpPr txBox="1"/>
          <p:nvPr/>
        </p:nvSpPr>
        <p:spPr>
          <a:xfrm>
            <a:off x="415601" y="6013994"/>
            <a:ext cx="3154260" cy="830997"/>
          </a:xfrm>
          <a:prstGeom prst="rect">
            <a:avLst/>
          </a:prstGeom>
          <a:noFill/>
        </p:spPr>
        <p:txBody>
          <a:bodyPr wrap="square">
            <a:spAutoFit/>
          </a:bodyPr>
          <a:lstStyle/>
          <a:p>
            <a:pPr>
              <a:spcAft>
                <a:spcPts val="800"/>
              </a:spcAft>
            </a:pPr>
            <a:r>
              <a:rPr lang="en-GB" sz="1600" dirty="0">
                <a:solidFill>
                  <a:srgbClr val="1A1A1A"/>
                </a:solidFill>
                <a:latin typeface="Garet"/>
              </a:rPr>
              <a:t>Stored in </a:t>
            </a:r>
            <a:r>
              <a:rPr lang="en-GB" sz="1600" dirty="0" err="1">
                <a:solidFill>
                  <a:srgbClr val="1A1A1A"/>
                </a:solidFill>
                <a:latin typeface="Garet"/>
              </a:rPr>
              <a:t>postgres</a:t>
            </a:r>
            <a:r>
              <a:rPr lang="en-GB" sz="1600" dirty="0">
                <a:solidFill>
                  <a:srgbClr val="1A1A1A"/>
                </a:solidFill>
                <a:latin typeface="Garet"/>
              </a:rPr>
              <a:t> &amp; influx databases running on Kubernetes (don’t ask)</a:t>
            </a:r>
          </a:p>
        </p:txBody>
      </p:sp>
    </p:spTree>
    <p:extLst>
      <p:ext uri="{BB962C8B-B14F-4D97-AF65-F5344CB8AC3E}">
        <p14:creationId xmlns:p14="http://schemas.microsoft.com/office/powerpoint/2010/main" val="3852333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C7DBB-190B-94C7-89C4-5720C812EB48}"/>
            </a:ext>
          </a:extLst>
        </p:cNvPr>
        <p:cNvGrpSpPr/>
        <p:nvPr/>
      </p:nvGrpSpPr>
      <p:grpSpPr>
        <a:xfrm>
          <a:off x="0" y="0"/>
          <a:ext cx="0" cy="0"/>
          <a:chOff x="0" y="0"/>
          <a:chExt cx="0" cy="0"/>
        </a:xfrm>
      </p:grpSpPr>
      <p:sp>
        <p:nvSpPr>
          <p:cNvPr id="109" name="TextBox 108">
            <a:extLst>
              <a:ext uri="{FF2B5EF4-FFF2-40B4-BE49-F238E27FC236}">
                <a16:creationId xmlns:a16="http://schemas.microsoft.com/office/drawing/2014/main" id="{87AF0B56-AD7C-6BC7-E967-24782DC598AA}"/>
              </a:ext>
            </a:extLst>
          </p:cNvPr>
          <p:cNvSpPr txBox="1"/>
          <p:nvPr/>
        </p:nvSpPr>
        <p:spPr>
          <a:xfrm>
            <a:off x="415600" y="466667"/>
            <a:ext cx="11360800" cy="656655"/>
          </a:xfrm>
          <a:prstGeom prst="rect">
            <a:avLst/>
          </a:prstGeom>
          <a:noFill/>
        </p:spPr>
        <p:txBody>
          <a:bodyPr wrap="square" lIns="0" tIns="0" rIns="0" bIns="0" anchor="t">
            <a:spAutoFit/>
          </a:bodyPr>
          <a:lstStyle/>
          <a:p>
            <a:pPr algn="l"/>
            <a:r>
              <a:rPr sz="4267" b="1">
                <a:solidFill>
                  <a:srgbClr val="10265D"/>
                </a:solidFill>
                <a:latin typeface="Etna"/>
              </a:rPr>
              <a:t>One place. One way in. One way out.</a:t>
            </a:r>
          </a:p>
        </p:txBody>
      </p:sp>
      <p:sp>
        <p:nvSpPr>
          <p:cNvPr id="110" name="TextBox 109">
            <a:extLst>
              <a:ext uri="{FF2B5EF4-FFF2-40B4-BE49-F238E27FC236}">
                <a16:creationId xmlns:a16="http://schemas.microsoft.com/office/drawing/2014/main" id="{F31FA2E4-D27F-199C-8FD4-FA29D3311085}"/>
              </a:ext>
            </a:extLst>
          </p:cNvPr>
          <p:cNvSpPr txBox="1"/>
          <p:nvPr/>
        </p:nvSpPr>
        <p:spPr>
          <a:xfrm>
            <a:off x="415600" y="2000001"/>
            <a:ext cx="11360800" cy="2113143"/>
          </a:xfrm>
          <a:prstGeom prst="rect">
            <a:avLst/>
          </a:prstGeom>
          <a:noFill/>
        </p:spPr>
        <p:txBody>
          <a:bodyPr wrap="square" lIns="0" tIns="0" rIns="0" bIns="0" anchor="t">
            <a:spAutoFit/>
          </a:bodyPr>
          <a:lstStyle/>
          <a:p>
            <a:pPr>
              <a:spcAft>
                <a:spcPts val="800"/>
              </a:spcAft>
            </a:pPr>
            <a:r>
              <a:rPr sz="2933" b="1" dirty="0">
                <a:solidFill>
                  <a:srgbClr val="1A1A1A"/>
                </a:solidFill>
                <a:latin typeface="Garet"/>
              </a:rPr>
              <a:t>Everything in SQL Server.</a:t>
            </a:r>
          </a:p>
          <a:p>
            <a:pPr>
              <a:spcAft>
                <a:spcPts val="800"/>
              </a:spcAft>
            </a:pPr>
            <a:r>
              <a:rPr sz="2933" b="1" dirty="0">
                <a:solidFill>
                  <a:srgbClr val="1A1A1A"/>
                </a:solidFill>
                <a:latin typeface="Garet"/>
              </a:rPr>
              <a:t>PowerShell writes to it.</a:t>
            </a:r>
          </a:p>
          <a:p>
            <a:pPr>
              <a:spcAft>
                <a:spcPts val="800"/>
              </a:spcAft>
            </a:pPr>
            <a:r>
              <a:rPr sz="2933" b="1" dirty="0">
                <a:solidFill>
                  <a:srgbClr val="1A1A1A"/>
                </a:solidFill>
                <a:latin typeface="Garet"/>
              </a:rPr>
              <a:t>A dashboard reads from it.</a:t>
            </a:r>
          </a:p>
          <a:p>
            <a:pPr>
              <a:spcAft>
                <a:spcPts val="800"/>
              </a:spcAft>
            </a:pPr>
            <a:r>
              <a:rPr sz="2933" dirty="0">
                <a:solidFill>
                  <a:srgbClr val="1A1A1A"/>
                </a:solidFill>
                <a:latin typeface="Garet"/>
              </a:rPr>
              <a:t>I do not want to write a backend.</a:t>
            </a:r>
          </a:p>
        </p:txBody>
      </p:sp>
    </p:spTree>
    <p:extLst>
      <p:ext uri="{BB962C8B-B14F-4D97-AF65-F5344CB8AC3E}">
        <p14:creationId xmlns:p14="http://schemas.microsoft.com/office/powerpoint/2010/main" val="12271990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5ECB9-81A3-EF2A-E10B-AF5B4D9EF785}"/>
            </a:ext>
          </a:extLst>
        </p:cNvPr>
        <p:cNvGrpSpPr/>
        <p:nvPr/>
      </p:nvGrpSpPr>
      <p:grpSpPr>
        <a:xfrm>
          <a:off x="0" y="0"/>
          <a:ext cx="0" cy="0"/>
          <a:chOff x="0" y="0"/>
          <a:chExt cx="0" cy="0"/>
        </a:xfrm>
      </p:grpSpPr>
      <p:pic>
        <p:nvPicPr>
          <p:cNvPr id="11" name="Graphic 10">
            <a:extLst>
              <a:ext uri="{FF2B5EF4-FFF2-40B4-BE49-F238E27FC236}">
                <a16:creationId xmlns:a16="http://schemas.microsoft.com/office/drawing/2014/main" id="{409FF0D3-C766-A01C-3520-CF5AFE3A2F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20040"/>
            <a:ext cx="12192000" cy="6217920"/>
          </a:xfrm>
          <a:prstGeom prst="rect">
            <a:avLst/>
          </a:prstGeom>
        </p:spPr>
      </p:pic>
    </p:spTree>
    <p:extLst>
      <p:ext uri="{BB962C8B-B14F-4D97-AF65-F5344CB8AC3E}">
        <p14:creationId xmlns:p14="http://schemas.microsoft.com/office/powerpoint/2010/main" val="2340721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Box 118"/>
          <p:cNvSpPr txBox="1"/>
          <p:nvPr/>
        </p:nvSpPr>
        <p:spPr>
          <a:xfrm>
            <a:off x="415600" y="466667"/>
            <a:ext cx="11360800" cy="738664"/>
          </a:xfrm>
          <a:prstGeom prst="rect">
            <a:avLst/>
          </a:prstGeom>
          <a:noFill/>
        </p:spPr>
        <p:txBody>
          <a:bodyPr wrap="square" lIns="0" tIns="0" rIns="0" bIns="0" anchor="t">
            <a:spAutoFit/>
          </a:bodyPr>
          <a:lstStyle/>
          <a:p>
            <a:pPr algn="l"/>
            <a:r>
              <a:rPr sz="4800" b="1" dirty="0">
                <a:solidFill>
                  <a:srgbClr val="10265D"/>
                </a:solidFill>
                <a:latin typeface="Etna"/>
              </a:rPr>
              <a:t>Wellness dashboard</a:t>
            </a:r>
          </a:p>
        </p:txBody>
      </p:sp>
      <p:pic>
        <p:nvPicPr>
          <p:cNvPr id="3" name="Picture 2">
            <a:extLst>
              <a:ext uri="{FF2B5EF4-FFF2-40B4-BE49-F238E27FC236}">
                <a16:creationId xmlns:a16="http://schemas.microsoft.com/office/drawing/2014/main" id="{14034ED1-5DD2-4E38-29DE-2E8D793B8C15}"/>
              </a:ext>
            </a:extLst>
          </p:cNvPr>
          <p:cNvPicPr>
            <a:picLocks noChangeAspect="1"/>
          </p:cNvPicPr>
          <p:nvPr/>
        </p:nvPicPr>
        <p:blipFill>
          <a:blip r:embed="rId3"/>
          <a:stretch>
            <a:fillRect/>
          </a:stretch>
        </p:blipFill>
        <p:spPr>
          <a:xfrm>
            <a:off x="1813907" y="1357923"/>
            <a:ext cx="8564155" cy="5500077"/>
          </a:xfrm>
          <a:prstGeom prst="rect">
            <a:avLst/>
          </a:prstGeom>
        </p:spPr>
      </p:pic>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98F1A-CB5C-691B-8D79-F9756A1FB8FD}"/>
            </a:ext>
          </a:extLst>
        </p:cNvPr>
        <p:cNvGrpSpPr/>
        <p:nvPr/>
      </p:nvGrpSpPr>
      <p:grpSpPr>
        <a:xfrm>
          <a:off x="0" y="0"/>
          <a:ext cx="0" cy="0"/>
          <a:chOff x="0" y="0"/>
          <a:chExt cx="0" cy="0"/>
        </a:xfrm>
      </p:grpSpPr>
      <p:pic>
        <p:nvPicPr>
          <p:cNvPr id="11" name="Graphic 10">
            <a:extLst>
              <a:ext uri="{FF2B5EF4-FFF2-40B4-BE49-F238E27FC236}">
                <a16:creationId xmlns:a16="http://schemas.microsoft.com/office/drawing/2014/main" id="{E44576A3-4EAD-995B-58CB-9B548B7338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20040"/>
            <a:ext cx="12192000" cy="6217920"/>
          </a:xfrm>
          <a:prstGeom prst="rect">
            <a:avLst/>
          </a:prstGeom>
        </p:spPr>
      </p:pic>
    </p:spTree>
    <p:extLst>
      <p:ext uri="{BB962C8B-B14F-4D97-AF65-F5344CB8AC3E}">
        <p14:creationId xmlns:p14="http://schemas.microsoft.com/office/powerpoint/2010/main" val="3420687144"/>
      </p:ext>
    </p:extLst>
  </p:cSld>
  <p:clrMapOvr>
    <a:masterClrMapping/>
  </p:clrMapOvr>
  <p:transition spd="slow">
    <p:push dir="d"/>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52849FB-DC6A-90A9-98B0-92952273AE6A}"/>
            </a:ext>
          </a:extLst>
        </p:cNvPr>
        <p:cNvGrpSpPr/>
        <p:nvPr/>
      </p:nvGrpSpPr>
      <p:grpSpPr>
        <a:xfrm>
          <a:off x="0" y="0"/>
          <a:ext cx="0" cy="0"/>
          <a:chOff x="0" y="0"/>
          <a:chExt cx="0" cy="0"/>
        </a:xfrm>
      </p:grpSpPr>
      <p:pic>
        <p:nvPicPr>
          <p:cNvPr id="11" name="Graphic 10">
            <a:extLst>
              <a:ext uri="{FF2B5EF4-FFF2-40B4-BE49-F238E27FC236}">
                <a16:creationId xmlns:a16="http://schemas.microsoft.com/office/drawing/2014/main" id="{B8E46784-25F4-5E45-036A-94011D2A07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108" y="-20956"/>
            <a:ext cx="21780500" cy="11108055"/>
          </a:xfrm>
          <a:prstGeom prst="rect">
            <a:avLst/>
          </a:prstGeom>
        </p:spPr>
      </p:pic>
    </p:spTree>
    <p:extLst>
      <p:ext uri="{BB962C8B-B14F-4D97-AF65-F5344CB8AC3E}">
        <p14:creationId xmlns:p14="http://schemas.microsoft.com/office/powerpoint/2010/main" val="4394629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EE80C-1538-A302-CE66-763E750FD43C}"/>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D01293FD-7DCE-286F-F304-DACEA10AC9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2028" y="-46892"/>
            <a:ext cx="21734584" cy="11084638"/>
          </a:xfrm>
          <a:prstGeom prst="rect">
            <a:avLst/>
          </a:prstGeom>
        </p:spPr>
      </p:pic>
    </p:spTree>
    <p:extLst>
      <p:ext uri="{BB962C8B-B14F-4D97-AF65-F5344CB8AC3E}">
        <p14:creationId xmlns:p14="http://schemas.microsoft.com/office/powerpoint/2010/main" val="7164725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86D66-5C96-7759-5B6E-F3285C58545F}"/>
              </a:ext>
            </a:extLst>
          </p:cNvPr>
          <p:cNvSpPr>
            <a:spLocks noGrp="1"/>
          </p:cNvSpPr>
          <p:nvPr>
            <p:ph type="title"/>
          </p:nvPr>
        </p:nvSpPr>
        <p:spPr>
          <a:xfrm>
            <a:off x="457200" y="274638"/>
            <a:ext cx="8229600" cy="1143000"/>
          </a:xfrm>
        </p:spPr>
        <p:txBody>
          <a:bodyPr>
            <a:normAutofit fontScale="90000"/>
          </a:bodyPr>
          <a:lstStyle/>
          <a:p>
            <a:r>
              <a:rPr lang="en-GB" dirty="0">
                <a:solidFill>
                  <a:srgbClr val="346296"/>
                </a:solidFill>
              </a:rPr>
              <a:t>Keeping History Data with DAB</a:t>
            </a:r>
            <a:endParaRPr lang="en-GB" dirty="0"/>
          </a:p>
        </p:txBody>
      </p:sp>
      <p:sp>
        <p:nvSpPr>
          <p:cNvPr id="3" name="Content Placeholder 2">
            <a:extLst>
              <a:ext uri="{FF2B5EF4-FFF2-40B4-BE49-F238E27FC236}">
                <a16:creationId xmlns:a16="http://schemas.microsoft.com/office/drawing/2014/main" id="{4E667704-27B8-70F6-029B-B39347798D77}"/>
              </a:ext>
            </a:extLst>
          </p:cNvPr>
          <p:cNvSpPr>
            <a:spLocks noGrp="1"/>
          </p:cNvSpPr>
          <p:nvPr>
            <p:ph idx="1"/>
          </p:nvPr>
        </p:nvSpPr>
        <p:spPr>
          <a:xfrm>
            <a:off x="457199" y="1600200"/>
            <a:ext cx="11511023" cy="4572000"/>
          </a:xfrm>
        </p:spPr>
        <p:txBody>
          <a:bodyPr/>
          <a:lstStyle/>
          <a:p>
            <a:pPr marL="457200" indent="-457200">
              <a:buFont typeface="Arial"/>
              <a:buChar char="•"/>
            </a:pPr>
            <a:r>
              <a:rPr lang="en-GB" sz="2800" dirty="0"/>
              <a:t>Azure Functions generate valuable runtime data: logs, stats &amp; metrics</a:t>
            </a:r>
          </a:p>
          <a:p>
            <a:pPr marL="457200" indent="-457200">
              <a:buFont typeface="Arial"/>
              <a:buChar char="•"/>
            </a:pPr>
            <a:r>
              <a:rPr lang="en-GB" sz="2800" dirty="0"/>
              <a:t>DAB gives you an instant REST API on top of Azure SQL Database</a:t>
            </a:r>
          </a:p>
          <a:p>
            <a:pPr marL="457200" indent="-457200">
              <a:buFont typeface="Arial"/>
              <a:buChar char="•"/>
            </a:pPr>
            <a:r>
              <a:rPr lang="en-GB" sz="2800" dirty="0"/>
              <a:t>POST log data, stats &amp; history from your function via simple HTTP calls</a:t>
            </a:r>
          </a:p>
          <a:p>
            <a:pPr marL="457200" indent="-457200">
              <a:buFont typeface="Arial"/>
              <a:buChar char="•"/>
            </a:pPr>
            <a:r>
              <a:rPr lang="en-GB" sz="2800" dirty="0"/>
              <a:t>No custom data-access code or connection string management needed</a:t>
            </a:r>
          </a:p>
          <a:p>
            <a:pPr marL="457200" indent="-457200">
              <a:buFont typeface="Arial"/>
              <a:buChar char="•"/>
            </a:pPr>
            <a:r>
              <a:rPr lang="en-GB" sz="2800" dirty="0"/>
              <a:t>Persist history for reporting, auditing &amp; troubleshooting</a:t>
            </a:r>
          </a:p>
        </p:txBody>
      </p:sp>
    </p:spTree>
    <p:extLst>
      <p:ext uri="{BB962C8B-B14F-4D97-AF65-F5344CB8AC3E}">
        <p14:creationId xmlns:p14="http://schemas.microsoft.com/office/powerpoint/2010/main" val="3889658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txBox="1"/>
          <p:nvPr/>
        </p:nvSpPr>
        <p:spPr>
          <a:xfrm>
            <a:off x="419100" y="469900"/>
            <a:ext cx="8572500" cy="762000"/>
          </a:xfrm>
          <a:prstGeom prst="rect">
            <a:avLst/>
          </a:prstGeom>
          <a:noFill/>
        </p:spPr>
        <p:txBody>
          <a:bodyPr wrap="square" rtlCol="0" anchor="t"/>
          <a:lstStyle/>
          <a:p>
            <a:pPr algn="l"/>
            <a:r>
              <a:rPr lang="en-GB" sz="4800" b="1" dirty="0">
                <a:solidFill>
                  <a:srgbClr val="10265D"/>
                </a:solidFill>
                <a:latin typeface="Etna"/>
              </a:rPr>
              <a:t>What Can You Persist?</a:t>
            </a:r>
          </a:p>
        </p:txBody>
      </p:sp>
      <p:sp>
        <p:nvSpPr>
          <p:cNvPr id="11" name="Body"/>
          <p:cNvSpPr txBox="1"/>
          <p:nvPr/>
        </p:nvSpPr>
        <p:spPr>
          <a:xfrm>
            <a:off x="419100" y="1371600"/>
            <a:ext cx="8572500" cy="4114800"/>
          </a:xfrm>
          <a:prstGeom prst="rect">
            <a:avLst/>
          </a:prstGeom>
          <a:noFill/>
        </p:spPr>
        <p:txBody>
          <a:bodyPr wrap="square" rtlCol="0" anchor="t"/>
          <a:lstStyle/>
          <a:p>
            <a:pPr>
              <a:spcAft>
                <a:spcPts val="800"/>
              </a:spcAft>
            </a:pPr>
            <a:r>
              <a:rPr lang="en-GB" sz="2400" b="1" dirty="0">
                <a:solidFill>
                  <a:srgbClr val="4472C4"/>
                </a:solidFill>
                <a:latin typeface="Garet"/>
              </a:rPr>
              <a:t>Script Execution Logs</a:t>
            </a:r>
            <a:r>
              <a:rPr lang="en-GB" sz="2400" dirty="0">
                <a:solidFill>
                  <a:srgbClr val="1A1A1A"/>
                </a:solidFill>
                <a:latin typeface="Garet"/>
              </a:rPr>
              <a:t>  —  when it ran, result, errors</a:t>
            </a:r>
          </a:p>
          <a:p>
            <a:pPr>
              <a:spcAft>
                <a:spcPts val="800"/>
              </a:spcAft>
            </a:pPr>
            <a:r>
              <a:rPr lang="en-GB" sz="2400" b="1" dirty="0">
                <a:solidFill>
                  <a:srgbClr val="4472C4"/>
                </a:solidFill>
                <a:latin typeface="Garet"/>
              </a:rPr>
              <a:t>Automation State</a:t>
            </a:r>
            <a:r>
              <a:rPr lang="en-GB" sz="2400" dirty="0">
                <a:solidFill>
                  <a:srgbClr val="1A1A1A"/>
                </a:solidFill>
                <a:latin typeface="Garet"/>
              </a:rPr>
              <a:t>  —  resume where you left off</a:t>
            </a:r>
          </a:p>
          <a:p>
            <a:pPr>
              <a:spcAft>
                <a:spcPts val="800"/>
              </a:spcAft>
            </a:pPr>
            <a:r>
              <a:rPr lang="en-GB" sz="2400" b="1" dirty="0">
                <a:solidFill>
                  <a:srgbClr val="4472C4"/>
                </a:solidFill>
                <a:latin typeface="Garet"/>
              </a:rPr>
              <a:t>System Health</a:t>
            </a:r>
            <a:r>
              <a:rPr lang="en-GB" sz="2400" dirty="0">
                <a:solidFill>
                  <a:srgbClr val="1A1A1A"/>
                </a:solidFill>
                <a:latin typeface="Garet"/>
              </a:rPr>
              <a:t>  —  inventory, ping results, disk usage</a:t>
            </a:r>
          </a:p>
          <a:p>
            <a:pPr>
              <a:spcAft>
                <a:spcPts val="800"/>
              </a:spcAft>
            </a:pPr>
            <a:r>
              <a:rPr lang="en-GB" sz="2400" b="1" dirty="0">
                <a:solidFill>
                  <a:srgbClr val="4472C4"/>
                </a:solidFill>
                <a:latin typeface="Garet"/>
              </a:rPr>
              <a:t>Job Results</a:t>
            </a:r>
            <a:r>
              <a:rPr lang="en-GB" sz="2400" dirty="0">
                <a:solidFill>
                  <a:srgbClr val="1A1A1A"/>
                </a:solidFill>
                <a:latin typeface="Garet"/>
              </a:rPr>
              <a:t>  —  pipeline outputs, test data, reports</a:t>
            </a:r>
          </a:p>
          <a:p>
            <a:pPr>
              <a:spcBef>
                <a:spcPts val="600"/>
              </a:spcBef>
            </a:pPr>
            <a:r>
              <a:rPr lang="en-GB" sz="2400" b="1" dirty="0">
                <a:solidFill>
                  <a:srgbClr val="ED7D31"/>
                </a:solidFill>
                <a:latin typeface="Garet"/>
              </a:rPr>
              <a:t>Anything you'd put in a CSV — now queryable forever.</a:t>
            </a:r>
          </a:p>
        </p:txBody>
      </p:sp>
      <p:pic>
        <p:nvPicPr>
          <p:cNvPr id="4" name="Graphic 4" descr="Persistence - disk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68000" y="2286000"/>
            <a:ext cx="1016000" cy="1016000"/>
          </a:xfrm>
          <a:prstGeom prst="rect">
            <a:avLst/>
          </a:prstGeom>
        </p:spPr>
      </p:pic>
    </p:spTree>
    <p:extLst>
      <p:ext uri="{BB962C8B-B14F-4D97-AF65-F5344CB8AC3E}">
        <p14:creationId xmlns:p14="http://schemas.microsoft.com/office/powerpoint/2010/main" val="37180439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Box 138"/>
          <p:cNvSpPr txBox="1"/>
          <p:nvPr/>
        </p:nvSpPr>
        <p:spPr>
          <a:xfrm>
            <a:off x="415600" y="466667"/>
            <a:ext cx="11360800" cy="738664"/>
          </a:xfrm>
          <a:prstGeom prst="rect">
            <a:avLst/>
          </a:prstGeom>
          <a:noFill/>
        </p:spPr>
        <p:txBody>
          <a:bodyPr wrap="square" lIns="0" tIns="0" rIns="0" bIns="0" anchor="t">
            <a:spAutoFit/>
          </a:bodyPr>
          <a:lstStyle/>
          <a:p>
            <a:pPr algn="l"/>
            <a:r>
              <a:rPr sz="4800" b="1" dirty="0">
                <a:solidFill>
                  <a:srgbClr val="10265D"/>
                </a:solidFill>
                <a:latin typeface="Etna"/>
              </a:rPr>
              <a:t>How It Works</a:t>
            </a:r>
          </a:p>
        </p:txBody>
      </p:sp>
      <p:sp>
        <p:nvSpPr>
          <p:cNvPr id="140" name="Rectangle 139"/>
          <p:cNvSpPr/>
          <p:nvPr/>
        </p:nvSpPr>
        <p:spPr>
          <a:xfrm>
            <a:off x="933334" y="2838167"/>
            <a:ext cx="2933333" cy="1466667"/>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wrap="square" lIns="106667" tIns="106667" rIns="106667" bIns="106667" rtlCol="0" anchor="ctr"/>
          <a:lstStyle/>
          <a:p>
            <a:pPr algn="ctr"/>
            <a:r>
              <a:rPr sz="2200" b="1" dirty="0">
                <a:solidFill>
                  <a:srgbClr val="FFFFFF"/>
                </a:solidFill>
                <a:latin typeface="Garet"/>
              </a:rPr>
              <a:t>Azure Function</a:t>
            </a:r>
          </a:p>
          <a:p>
            <a:pPr algn="ctr"/>
            <a:r>
              <a:rPr sz="1600" dirty="0">
                <a:solidFill>
                  <a:srgbClr val="FFFFFF"/>
                </a:solidFill>
                <a:latin typeface="Garet"/>
              </a:rPr>
              <a:t>runs your script</a:t>
            </a:r>
          </a:p>
        </p:txBody>
      </p:sp>
      <p:sp>
        <p:nvSpPr>
          <p:cNvPr id="142" name="Rectangle 141"/>
          <p:cNvSpPr/>
          <p:nvPr/>
        </p:nvSpPr>
        <p:spPr>
          <a:xfrm>
            <a:off x="4400000" y="2838167"/>
            <a:ext cx="2933333" cy="1466667"/>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wrap="square" lIns="106667" tIns="106667" rIns="106667" bIns="106667" rtlCol="0" anchor="ctr"/>
          <a:lstStyle/>
          <a:p>
            <a:pPr algn="ctr"/>
            <a:r>
              <a:rPr sz="2200" b="1" dirty="0">
                <a:solidFill>
                  <a:srgbClr val="FFFFFF"/>
                </a:solidFill>
                <a:latin typeface="Garet"/>
              </a:rPr>
              <a:t>Data API Builder</a:t>
            </a:r>
          </a:p>
          <a:p>
            <a:pPr algn="ctr"/>
            <a:r>
              <a:rPr sz="1600" dirty="0">
                <a:solidFill>
                  <a:srgbClr val="FFFFFF"/>
                </a:solidFill>
                <a:latin typeface="Garet"/>
              </a:rPr>
              <a:t>REST endpoints</a:t>
            </a:r>
          </a:p>
        </p:txBody>
      </p:sp>
      <p:sp>
        <p:nvSpPr>
          <p:cNvPr id="144" name="Rectangle 143"/>
          <p:cNvSpPr/>
          <p:nvPr/>
        </p:nvSpPr>
        <p:spPr>
          <a:xfrm>
            <a:off x="7866667" y="2838167"/>
            <a:ext cx="2933333" cy="1466667"/>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wrap="square" lIns="106667" tIns="106667" rIns="106667" bIns="106667" rtlCol="0" anchor="ctr"/>
          <a:lstStyle/>
          <a:p>
            <a:pPr algn="ctr"/>
            <a:r>
              <a:rPr sz="2200" b="1" dirty="0">
                <a:solidFill>
                  <a:srgbClr val="FFFFFF"/>
                </a:solidFill>
                <a:latin typeface="Garet"/>
              </a:rPr>
              <a:t>Azure SQL</a:t>
            </a:r>
          </a:p>
          <a:p>
            <a:pPr algn="ctr"/>
            <a:r>
              <a:rPr sz="1600" dirty="0">
                <a:solidFill>
                  <a:srgbClr val="FFFFFF"/>
                </a:solidFill>
                <a:latin typeface="Garet"/>
              </a:rPr>
              <a:t>persists history</a:t>
            </a:r>
          </a:p>
        </p:txBody>
      </p:sp>
      <p:sp>
        <p:nvSpPr>
          <p:cNvPr id="145" name="TextBox 144"/>
          <p:cNvSpPr txBox="1"/>
          <p:nvPr/>
        </p:nvSpPr>
        <p:spPr>
          <a:xfrm>
            <a:off x="415600" y="4571501"/>
            <a:ext cx="11360800" cy="328231"/>
          </a:xfrm>
          <a:prstGeom prst="rect">
            <a:avLst/>
          </a:prstGeom>
          <a:noFill/>
        </p:spPr>
        <p:txBody>
          <a:bodyPr wrap="square" lIns="0" tIns="0" rIns="0" bIns="0" anchor="t">
            <a:spAutoFit/>
          </a:bodyPr>
          <a:lstStyle/>
          <a:p>
            <a:pPr algn="ctr">
              <a:spcAft>
                <a:spcPts val="800"/>
              </a:spcAft>
            </a:pPr>
            <a:r>
              <a:rPr sz="2000" dirty="0">
                <a:solidFill>
                  <a:srgbClr val="44546A"/>
                </a:solidFill>
                <a:latin typeface="Garet"/>
              </a:rPr>
              <a:t>Your function POSTs log data, stats &amp; history to SQL via DAB — zero custom data-access code.</a:t>
            </a:r>
          </a:p>
        </p:txBody>
      </p:sp>
      <p:sp>
        <p:nvSpPr>
          <p:cNvPr id="200" name="Arrow 1"/>
          <p:cNvSpPr/>
          <p:nvPr/>
        </p:nvSpPr>
        <p:spPr>
          <a:xfrm>
            <a:off x="3886200" y="3429000"/>
            <a:ext cx="533400" cy="254000"/>
          </a:xfrm>
          <a:prstGeom prst="rightArrow">
            <a:avLst/>
          </a:prstGeom>
          <a:solidFill>
            <a:srgbClr val="ED7D31"/>
          </a:solidFill>
          <a:ln>
            <a:noFill/>
          </a:ln>
        </p:spPr>
        <p:txBody>
          <a:bodyPr/>
          <a:lstStyle/>
          <a:p>
            <a:pPr algn="ctr"/>
            <a:endParaRPr lang="en-GB" sz="1400" b="1" dirty="0">
              <a:solidFill>
                <a:srgbClr val="FFFFFF"/>
              </a:solidFill>
              <a:latin typeface="Garet"/>
            </a:endParaRPr>
          </a:p>
        </p:txBody>
      </p:sp>
      <p:sp>
        <p:nvSpPr>
          <p:cNvPr id="201" name="Arrow 2"/>
          <p:cNvSpPr/>
          <p:nvPr/>
        </p:nvSpPr>
        <p:spPr>
          <a:xfrm>
            <a:off x="7391400" y="3429000"/>
            <a:ext cx="533400" cy="254000"/>
          </a:xfrm>
          <a:prstGeom prst="rightArrow">
            <a:avLst/>
          </a:prstGeom>
          <a:solidFill>
            <a:srgbClr val="ED7D31"/>
          </a:solidFill>
          <a:ln>
            <a:noFill/>
          </a:ln>
        </p:spPr>
        <p:txBody>
          <a:bodyPr/>
          <a:lstStyle/>
          <a:p>
            <a:pPr algn="ctr"/>
            <a:endParaRPr lang="en-GB" sz="1400" b="1" dirty="0">
              <a:solidFill>
                <a:srgbClr val="FFFFFF"/>
              </a:solidFill>
              <a:latin typeface="Garet"/>
            </a:endParaRPr>
          </a:p>
        </p:txBody>
      </p:sp>
      <p:pic>
        <p:nvPicPr>
          <p:cNvPr id="202" name="Graphic 202" descr="Azure Functions lightning bol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82800" y="2070100"/>
            <a:ext cx="609600" cy="609600"/>
          </a:xfrm>
          <a:prstGeom prst="rect">
            <a:avLst/>
          </a:prstGeom>
        </p:spPr>
      </p:pic>
      <p:pic>
        <p:nvPicPr>
          <p:cNvPr id="203" name="Graphic 203" descr="Azure SQL Databas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29700" y="2070100"/>
            <a:ext cx="609600" cy="609600"/>
          </a:xfrm>
          <a:prstGeom prst="rect">
            <a:avLst/>
          </a:prstGeom>
        </p:spPr>
      </p:pic>
      <p:pic>
        <p:nvPicPr>
          <p:cNvPr id="204" name="Graphic 204" descr="Data API Builder gears"/>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49900" y="2070100"/>
            <a:ext cx="609600" cy="609600"/>
          </a:xfrm>
          <a:prstGeom prst="rect">
            <a:avLst/>
          </a:prstGeom>
        </p:spPr>
      </p:pic>
    </p:spTree>
    <p:extLst>
      <p:ext uri="{BB962C8B-B14F-4D97-AF65-F5344CB8AC3E}">
        <p14:creationId xmlns:p14="http://schemas.microsoft.com/office/powerpoint/2010/main" val="24849165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Data API Builder?</a:t>
            </a:r>
          </a:p>
        </p:txBody>
      </p:sp>
      <p:sp>
        <p:nvSpPr>
          <p:cNvPr id="3" name="Content Placeholder 2"/>
          <p:cNvSpPr>
            <a:spLocks noGrp="1"/>
          </p:cNvSpPr>
          <p:nvPr>
            <p:ph idx="1"/>
          </p:nvPr>
        </p:nvSpPr>
        <p:spPr>
          <a:xfrm>
            <a:off x="838200" y="1825625"/>
            <a:ext cx="9525000" cy="4351338"/>
          </a:xfrm>
        </p:spPr>
        <p:txBody>
          <a:bodyPr>
            <a:normAutofit/>
          </a:bodyPr>
          <a:lstStyle/>
          <a:p>
            <a:pPr marL="0" indent="0">
              <a:buNone/>
            </a:pPr>
            <a:r>
              <a:rPr lang="en-GB" sz="2400" dirty="0"/>
              <a:t>A config-driven engine that instantly generates REST and GraphQL APIs over your database — with zero backend code.</a:t>
            </a:r>
          </a:p>
          <a:p>
            <a:pPr marL="0" indent="0">
              <a:buNone/>
            </a:pPr>
            <a:r>
              <a:rPr lang="en-GB" sz="2000" dirty="0">
                <a:solidFill>
                  <a:srgbClr val="44546A"/>
                </a:solidFill>
              </a:rPr>
              <a:t>Just define a </a:t>
            </a:r>
            <a:r>
              <a:rPr lang="en-GB" sz="2000" b="1" dirty="0">
                <a:solidFill>
                  <a:srgbClr val="4472C4"/>
                </a:solidFill>
              </a:rPr>
              <a:t>dab-config.json</a:t>
            </a:r>
            <a:r>
              <a:rPr lang="en-GB" sz="2000" dirty="0">
                <a:solidFill>
                  <a:srgbClr val="44546A"/>
                </a:solidFill>
              </a:rPr>
              <a:t> and you're live.</a:t>
            </a:r>
          </a:p>
          <a:p>
            <a:pPr marL="0" indent="0">
              <a:buNone/>
            </a:pPr>
            <a:r>
              <a:rPr lang="en-GB" sz="1600" dirty="0">
                <a:solidFill>
                  <a:srgbClr val="44546A"/>
                </a:solidFill>
              </a:rPr>
              <a:t>Open source, Microsoft-backed</a:t>
            </a:r>
          </a:p>
        </p:txBody>
      </p:sp>
      <p:pic>
        <p:nvPicPr>
          <p:cNvPr id="4" name="Graphic 4" descr="Config-driven settings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41000" y="3810000"/>
            <a:ext cx="1143000" cy="1143000"/>
          </a:xfrm>
          <a:prstGeom prst="rect">
            <a:avLst/>
          </a:prstGeom>
        </p:spPr>
      </p:pic>
    </p:spTree>
    <p:extLst>
      <p:ext uri="{BB962C8B-B14F-4D97-AF65-F5344CB8AC3E}">
        <p14:creationId xmlns:p14="http://schemas.microsoft.com/office/powerpoint/2010/main" val="38627897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Databases &amp; Endpoints</a:t>
            </a:r>
          </a:p>
        </p:txBody>
      </p:sp>
      <p:sp>
        <p:nvSpPr>
          <p:cNvPr id="3" name="Content Placeholder 2"/>
          <p:cNvSpPr>
            <a:spLocks noGrp="1"/>
          </p:cNvSpPr>
          <p:nvPr>
            <p:ph idx="1"/>
          </p:nvPr>
        </p:nvSpPr>
        <p:spPr>
          <a:xfrm>
            <a:off x="838200" y="1825625"/>
            <a:ext cx="9525000" cy="4351338"/>
          </a:xfrm>
        </p:spPr>
        <p:txBody>
          <a:bodyPr>
            <a:normAutofit/>
          </a:bodyPr>
          <a:lstStyle/>
          <a:p>
            <a:pPr marL="0" indent="0">
              <a:buNone/>
            </a:pPr>
            <a:r>
              <a:rPr lang="en-GB" sz="2400" b="1" dirty="0">
                <a:solidFill>
                  <a:srgbClr val="4472C4"/>
                </a:solidFill>
              </a:rPr>
              <a:t>Supported Databases</a:t>
            </a:r>
          </a:p>
          <a:p>
            <a:pPr marL="457200" indent="-457200">
              <a:spcBef>
                <a:spcPts val="300"/>
              </a:spcBef>
              <a:buFont typeface="Arial"/>
              <a:buChar char="■"/>
            </a:pPr>
            <a:r>
              <a:rPr lang="en-GB" sz="2000" dirty="0"/>
              <a:t>SQL Server</a:t>
            </a:r>
            <a:r>
              <a:rPr lang="en-GB" sz="2000" dirty="0">
                <a:solidFill>
                  <a:srgbClr val="A5A5A5"/>
                </a:solidFill>
              </a:rPr>
              <a:t>  ·  </a:t>
            </a:r>
            <a:r>
              <a:rPr lang="en-GB" sz="2000" dirty="0"/>
              <a:t>PostgreSQL</a:t>
            </a:r>
            <a:r>
              <a:rPr lang="en-GB" sz="2000" dirty="0">
                <a:solidFill>
                  <a:srgbClr val="A5A5A5"/>
                </a:solidFill>
              </a:rPr>
              <a:t>  ·  </a:t>
            </a:r>
            <a:r>
              <a:rPr lang="en-GB" sz="2000" dirty="0"/>
              <a:t>MySQL</a:t>
            </a:r>
            <a:r>
              <a:rPr lang="en-GB" sz="2000" dirty="0">
                <a:solidFill>
                  <a:srgbClr val="A5A5A5"/>
                </a:solidFill>
              </a:rPr>
              <a:t>  ·  </a:t>
            </a:r>
            <a:r>
              <a:rPr lang="en-GB" sz="2000" dirty="0"/>
              <a:t>CosmosDB</a:t>
            </a:r>
          </a:p>
          <a:p>
            <a:pPr marL="0" indent="0">
              <a:buNone/>
            </a:pPr>
            <a:endParaRPr lang="en-GB" sz="2400" b="1" dirty="0">
              <a:solidFill>
                <a:srgbClr val="4472C4"/>
              </a:solidFill>
            </a:endParaRPr>
          </a:p>
          <a:p>
            <a:pPr marL="0" indent="0">
              <a:buNone/>
            </a:pPr>
            <a:r>
              <a:rPr lang="en-GB" sz="2400" b="1" dirty="0">
                <a:solidFill>
                  <a:srgbClr val="4472C4"/>
                </a:solidFill>
              </a:rPr>
              <a:t>Expose as HTTP Endpoints</a:t>
            </a:r>
          </a:p>
          <a:p>
            <a:pPr marL="457200" indent="-457200">
              <a:spcBef>
                <a:spcPts val="300"/>
              </a:spcBef>
              <a:buFont typeface="Arial"/>
              <a:buChar char="■"/>
            </a:pPr>
            <a:r>
              <a:rPr lang="en-GB" sz="2000" dirty="0"/>
              <a:t>Tables</a:t>
            </a:r>
          </a:p>
          <a:p>
            <a:pPr marL="457200" indent="-457200">
              <a:spcBef>
                <a:spcPts val="200"/>
              </a:spcBef>
              <a:buFont typeface="Arial"/>
              <a:buChar char="■"/>
            </a:pPr>
            <a:r>
              <a:rPr lang="en-GB" sz="2000" dirty="0"/>
              <a:t>Views</a:t>
            </a:r>
          </a:p>
          <a:p>
            <a:pPr marL="457200" indent="-457200">
              <a:spcBef>
                <a:spcPts val="200"/>
              </a:spcBef>
              <a:buFont typeface="Arial"/>
              <a:buChar char="■"/>
            </a:pPr>
            <a:r>
              <a:rPr lang="en-GB" sz="2000" dirty="0"/>
              <a:t>Stored Procedures</a:t>
            </a:r>
          </a:p>
        </p:txBody>
      </p:sp>
      <p:pic>
        <p:nvPicPr>
          <p:cNvPr id="4" name="Graphic 4" descr="Database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41000" y="2286000"/>
            <a:ext cx="1016000" cy="1016000"/>
          </a:xfrm>
          <a:prstGeom prst="rect">
            <a:avLst/>
          </a:prstGeom>
        </p:spPr>
      </p:pic>
    </p:spTree>
    <p:extLst>
      <p:ext uri="{BB962C8B-B14F-4D97-AF65-F5344CB8AC3E}">
        <p14:creationId xmlns:p14="http://schemas.microsoft.com/office/powerpoint/2010/main" val="1677258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TextBox 151"/>
          <p:cNvSpPr txBox="1"/>
          <p:nvPr/>
        </p:nvSpPr>
        <p:spPr>
          <a:xfrm>
            <a:off x="415600" y="466667"/>
            <a:ext cx="11360800" cy="738664"/>
          </a:xfrm>
          <a:prstGeom prst="rect">
            <a:avLst/>
          </a:prstGeom>
          <a:noFill/>
        </p:spPr>
        <p:txBody>
          <a:bodyPr wrap="square" lIns="0" tIns="0" rIns="0" bIns="0" anchor="t">
            <a:spAutoFit/>
          </a:bodyPr>
          <a:lstStyle/>
          <a:p>
            <a:pPr algn="l"/>
            <a:r>
              <a:rPr sz="4800" b="1">
                <a:solidFill>
                  <a:srgbClr val="346296"/>
                </a:solidFill>
                <a:latin typeface="Segoe UI Light"/>
              </a:rPr>
              <a:t>The config file</a:t>
            </a:r>
          </a:p>
        </p:txBody>
      </p:sp>
      <p:sp>
        <p:nvSpPr>
          <p:cNvPr id="153" name="TextBox 152"/>
          <p:cNvSpPr txBox="1"/>
          <p:nvPr/>
        </p:nvSpPr>
        <p:spPr>
          <a:xfrm>
            <a:off x="415600" y="1466667"/>
            <a:ext cx="11360800" cy="369332"/>
          </a:xfrm>
          <a:prstGeom prst="rect">
            <a:avLst/>
          </a:prstGeom>
          <a:noFill/>
        </p:spPr>
        <p:txBody>
          <a:bodyPr wrap="square" lIns="0" tIns="0" rIns="0" bIns="0" anchor="t">
            <a:spAutoFit/>
          </a:bodyPr>
          <a:lstStyle/>
          <a:p>
            <a:pPr>
              <a:spcAft>
                <a:spcPts val="800"/>
              </a:spcAft>
            </a:pPr>
            <a:r>
              <a:rPr sz="2400" dirty="0">
                <a:solidFill>
                  <a:srgbClr val="44546A"/>
                </a:solidFill>
                <a:latin typeface="Calibri"/>
              </a:rPr>
              <a:t>One JSON file. Two </a:t>
            </a:r>
            <a:r>
              <a:rPr lang="en-GB" sz="2400" dirty="0">
                <a:solidFill>
                  <a:srgbClr val="44546A"/>
                </a:solidFill>
                <a:latin typeface="Calibri"/>
              </a:rPr>
              <a:t>important parts</a:t>
            </a:r>
            <a:r>
              <a:rPr sz="2400" dirty="0">
                <a:solidFill>
                  <a:srgbClr val="44546A"/>
                </a:solidFill>
                <a:latin typeface="Calibri"/>
              </a:rPr>
              <a:t>: data source and entities.</a:t>
            </a:r>
          </a:p>
        </p:txBody>
      </p:sp>
      <p:sp>
        <p:nvSpPr>
          <p:cNvPr id="154" name="TextBox 153"/>
          <p:cNvSpPr txBox="1"/>
          <p:nvPr/>
        </p:nvSpPr>
        <p:spPr>
          <a:xfrm>
            <a:off x="400400" y="1965108"/>
            <a:ext cx="11376000" cy="4894583"/>
          </a:xfrm>
          <a:prstGeom prst="rect">
            <a:avLst/>
          </a:prstGeom>
          <a:solidFill>
            <a:srgbClr val="F4F7FB"/>
          </a:solidFill>
          <a:ln>
            <a:solidFill>
              <a:srgbClr val="BDECFE"/>
            </a:solidFill>
          </a:ln>
        </p:spPr>
        <p:txBody>
          <a:bodyPr wrap="square" lIns="160000" tIns="106667" rIns="160000" bIns="106667">
            <a:spAutoFit/>
          </a:bodyPr>
          <a:lstStyle/>
          <a:p>
            <a:r>
              <a:rPr sz="1867" dirty="0">
                <a:solidFill>
                  <a:srgbClr val="346296"/>
                </a:solidFill>
                <a:latin typeface="Cascadia Mono"/>
              </a:rPr>
              <a:t>{</a:t>
            </a:r>
          </a:p>
          <a:p>
            <a:r>
              <a:rPr sz="1867" dirty="0">
                <a:solidFill>
                  <a:srgbClr val="346296"/>
                </a:solidFill>
                <a:latin typeface="Cascadia Mono"/>
              </a:rPr>
              <a:t>  "data-source": {</a:t>
            </a:r>
          </a:p>
          <a:p>
            <a:r>
              <a:rPr sz="1867" dirty="0">
                <a:solidFill>
                  <a:srgbClr val="346296"/>
                </a:solidFill>
                <a:latin typeface="Cascadia Mono"/>
              </a:rPr>
              <a:t>    "database-type": "</a:t>
            </a:r>
            <a:r>
              <a:rPr sz="1867" dirty="0" err="1">
                <a:solidFill>
                  <a:srgbClr val="346296"/>
                </a:solidFill>
                <a:latin typeface="Cascadia Mono"/>
              </a:rPr>
              <a:t>mssql</a:t>
            </a:r>
            <a:r>
              <a:rPr sz="1867" dirty="0">
                <a:solidFill>
                  <a:srgbClr val="346296"/>
                </a:solidFill>
                <a:latin typeface="Cascadia Mono"/>
              </a:rPr>
              <a:t>",</a:t>
            </a:r>
          </a:p>
          <a:p>
            <a:r>
              <a:rPr sz="1867" dirty="0">
                <a:solidFill>
                  <a:srgbClr val="346296"/>
                </a:solidFill>
                <a:latin typeface="Cascadia Mono"/>
              </a:rPr>
              <a:t>    "connection-string": "@env('</a:t>
            </a:r>
            <a:r>
              <a:rPr lang="en-GB" sz="1867" dirty="0">
                <a:solidFill>
                  <a:srgbClr val="346296"/>
                </a:solidFill>
                <a:latin typeface="Cascadia Mono"/>
              </a:rPr>
              <a:t>DATABASE_CONNECTION_STRING</a:t>
            </a:r>
            <a:r>
              <a:rPr sz="1867" dirty="0">
                <a:solidFill>
                  <a:srgbClr val="346296"/>
                </a:solidFill>
                <a:latin typeface="Cascadia Mono"/>
              </a:rPr>
              <a:t>')"</a:t>
            </a:r>
          </a:p>
          <a:p>
            <a:r>
              <a:rPr sz="1867" dirty="0">
                <a:solidFill>
                  <a:srgbClr val="346296"/>
                </a:solidFill>
                <a:latin typeface="Cascadia Mono"/>
              </a:rPr>
              <a:t>  },</a:t>
            </a:r>
            <a:endParaRPr lang="en-GB" sz="1867" dirty="0">
              <a:solidFill>
                <a:srgbClr val="346296"/>
              </a:solidFill>
              <a:latin typeface="Cascadia Mono"/>
            </a:endParaRPr>
          </a:p>
          <a:p>
            <a:r>
              <a:rPr lang="en-GB" sz="2400" dirty="0">
                <a:solidFill>
                  <a:srgbClr val="346296"/>
                </a:solidFill>
                <a:latin typeface="Cascadia Mono"/>
              </a:rPr>
              <a:t>...</a:t>
            </a:r>
            <a:endParaRPr sz="1867" dirty="0">
              <a:solidFill>
                <a:srgbClr val="346296"/>
              </a:solidFill>
              <a:latin typeface="Cascadia Mono"/>
            </a:endParaRPr>
          </a:p>
          <a:p>
            <a:r>
              <a:rPr sz="1867" dirty="0">
                <a:solidFill>
                  <a:srgbClr val="346296"/>
                </a:solidFill>
                <a:latin typeface="Cascadia Mono"/>
              </a:rPr>
              <a:t>  "entities": {</a:t>
            </a:r>
          </a:p>
          <a:p>
            <a:r>
              <a:rPr sz="1867" dirty="0">
                <a:solidFill>
                  <a:srgbClr val="346296"/>
                </a:solidFill>
                <a:latin typeface="Cascadia Mono"/>
              </a:rPr>
              <a:t>    "</a:t>
            </a:r>
            <a:r>
              <a:rPr lang="en-GB" sz="1867" dirty="0" err="1">
                <a:solidFill>
                  <a:srgbClr val="346296"/>
                </a:solidFill>
                <a:latin typeface="Cascadia Mono"/>
              </a:rPr>
              <a:t>SyncLog</a:t>
            </a:r>
            <a:r>
              <a:rPr sz="1867" dirty="0">
                <a:solidFill>
                  <a:srgbClr val="346296"/>
                </a:solidFill>
                <a:latin typeface="Cascadia Mono"/>
              </a:rPr>
              <a:t>": {</a:t>
            </a:r>
          </a:p>
          <a:p>
            <a:r>
              <a:rPr sz="1867" dirty="0">
                <a:solidFill>
                  <a:srgbClr val="346296"/>
                </a:solidFill>
                <a:latin typeface="Cascadia Mono"/>
              </a:rPr>
              <a:t>      </a:t>
            </a:r>
            <a:r>
              <a:rPr lang="en-GB" sz="1867" dirty="0">
                <a:solidFill>
                  <a:srgbClr val="346296"/>
                </a:solidFill>
                <a:latin typeface="Cascadia Mono"/>
              </a:rPr>
              <a:t>"source": {</a:t>
            </a:r>
          </a:p>
          <a:p>
            <a:r>
              <a:rPr lang="en-GB" sz="1867" dirty="0">
                <a:solidFill>
                  <a:srgbClr val="346296"/>
                </a:solidFill>
                <a:latin typeface="Cascadia Mono"/>
              </a:rPr>
              <a:t>        "object": "</a:t>
            </a:r>
            <a:r>
              <a:rPr lang="en-GB" sz="1867" dirty="0" err="1">
                <a:solidFill>
                  <a:srgbClr val="346296"/>
                </a:solidFill>
                <a:latin typeface="Cascadia Mono"/>
              </a:rPr>
              <a:t>dbo.SyncLog</a:t>
            </a:r>
            <a:r>
              <a:rPr lang="en-GB" sz="1867" dirty="0">
                <a:solidFill>
                  <a:srgbClr val="346296"/>
                </a:solidFill>
                <a:latin typeface="Cascadia Mono"/>
              </a:rPr>
              <a:t>",</a:t>
            </a:r>
          </a:p>
          <a:p>
            <a:r>
              <a:rPr lang="en-GB" sz="1867" dirty="0">
                <a:solidFill>
                  <a:srgbClr val="346296"/>
                </a:solidFill>
                <a:latin typeface="Cascadia Mono"/>
              </a:rPr>
              <a:t>        "type": "table"</a:t>
            </a:r>
          </a:p>
          <a:p>
            <a:r>
              <a:rPr lang="en-GB" sz="1867" dirty="0">
                <a:solidFill>
                  <a:srgbClr val="346296"/>
                </a:solidFill>
                <a:latin typeface="Cascadia Mono"/>
              </a:rPr>
              <a:t>      },</a:t>
            </a:r>
            <a:endParaRPr sz="1867" dirty="0">
              <a:solidFill>
                <a:srgbClr val="346296"/>
              </a:solidFill>
              <a:latin typeface="Cascadia Mono"/>
            </a:endParaRPr>
          </a:p>
          <a:p>
            <a:r>
              <a:rPr sz="1867" dirty="0">
                <a:solidFill>
                  <a:srgbClr val="346296"/>
                </a:solidFill>
                <a:latin typeface="Cascadia Mono"/>
              </a:rPr>
              <a:t>      "permissions": [{ "role":"</a:t>
            </a:r>
            <a:r>
              <a:rPr lang="en-GB" sz="1867" dirty="0">
                <a:solidFill>
                  <a:srgbClr val="346296"/>
                </a:solidFill>
                <a:latin typeface="Cascadia Mono"/>
              </a:rPr>
              <a:t>authenticated</a:t>
            </a:r>
            <a:r>
              <a:rPr sz="1867" dirty="0">
                <a:solidFill>
                  <a:srgbClr val="346296"/>
                </a:solidFill>
                <a:latin typeface="Cascadia Mono"/>
              </a:rPr>
              <a:t>", "actions": </a:t>
            </a:r>
            <a:r>
              <a:rPr lang="en-GB" sz="1867" dirty="0">
                <a:solidFill>
                  <a:srgbClr val="346296"/>
                </a:solidFill>
                <a:latin typeface="Cascadia Mono"/>
              </a:rPr>
              <a:t>[{"action": "*"}</a:t>
            </a:r>
            <a:r>
              <a:rPr sz="1867" dirty="0">
                <a:solidFill>
                  <a:srgbClr val="346296"/>
                </a:solidFill>
                <a:latin typeface="Cascadia Mono"/>
              </a:rPr>
              <a:t>]</a:t>
            </a:r>
            <a:r>
              <a:rPr lang="en-GB" sz="1867" dirty="0">
                <a:solidFill>
                  <a:srgbClr val="346296"/>
                </a:solidFill>
                <a:latin typeface="Cascadia Mono"/>
              </a:rPr>
              <a:t> }]</a:t>
            </a:r>
            <a:endParaRPr sz="1867" dirty="0">
              <a:solidFill>
                <a:srgbClr val="346296"/>
              </a:solidFill>
              <a:latin typeface="Cascadia Mono"/>
            </a:endParaRPr>
          </a:p>
          <a:p>
            <a:r>
              <a:rPr sz="1867" dirty="0">
                <a:solidFill>
                  <a:srgbClr val="346296"/>
                </a:solidFill>
                <a:latin typeface="Cascadia Mono"/>
              </a:rPr>
              <a:t>    }</a:t>
            </a:r>
          </a:p>
          <a:p>
            <a:r>
              <a:rPr sz="1867" dirty="0">
                <a:solidFill>
                  <a:srgbClr val="346296"/>
                </a:solidFill>
                <a:latin typeface="Cascadia Mono"/>
              </a:rPr>
              <a:t>  }</a:t>
            </a:r>
          </a:p>
          <a:p>
            <a:r>
              <a:rPr sz="1867" dirty="0">
                <a:solidFill>
                  <a:srgbClr val="346296"/>
                </a:solidFill>
                <a:latin typeface="Cascadia Mono"/>
              </a:rPr>
              <a:t>}</a:t>
            </a:r>
          </a:p>
        </p:txBody>
      </p:sp>
    </p:spTree>
    <p:extLst>
      <p:ext uri="{BB962C8B-B14F-4D97-AF65-F5344CB8AC3E}">
        <p14:creationId xmlns:p14="http://schemas.microsoft.com/office/powerpoint/2010/main" val="2405070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AA094-A275-03EB-A973-2D334D82FB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2D418BB-89C4-BCC7-89A6-D91BFF4F6163}"/>
              </a:ext>
            </a:extLst>
          </p:cNvPr>
          <p:cNvSpPr>
            <a:spLocks noGrp="1"/>
          </p:cNvSpPr>
          <p:nvPr>
            <p:ph type="title"/>
          </p:nvPr>
        </p:nvSpPr>
        <p:spPr>
          <a:xfrm>
            <a:off x="831850" y="529389"/>
            <a:ext cx="10515600" cy="1004637"/>
          </a:xfrm>
        </p:spPr>
        <p:txBody>
          <a:bodyPr/>
          <a:lstStyle/>
          <a:p>
            <a:r>
              <a:rPr lang="en-GB"/>
              <a:t>Demos</a:t>
            </a:r>
          </a:p>
        </p:txBody>
      </p:sp>
      <p:sp>
        <p:nvSpPr>
          <p:cNvPr id="5" name="Text Placeholder 4">
            <a:extLst>
              <a:ext uri="{FF2B5EF4-FFF2-40B4-BE49-F238E27FC236}">
                <a16:creationId xmlns:a16="http://schemas.microsoft.com/office/drawing/2014/main" id="{72FDB6FD-6DA7-7277-BEF8-2AFB6B28066C}"/>
              </a:ext>
            </a:extLst>
          </p:cNvPr>
          <p:cNvSpPr>
            <a:spLocks noGrp="1"/>
          </p:cNvSpPr>
          <p:nvPr>
            <p:ph type="body" idx="1"/>
          </p:nvPr>
        </p:nvSpPr>
        <p:spPr>
          <a:xfrm>
            <a:off x="831850" y="1653758"/>
            <a:ext cx="10515600" cy="1500187"/>
          </a:xfrm>
        </p:spPr>
        <p:txBody>
          <a:bodyPr/>
          <a:lstStyle/>
          <a:p>
            <a:r>
              <a:rPr lang="en-GB"/>
              <a:t>We love Demos!</a:t>
            </a:r>
          </a:p>
        </p:txBody>
      </p:sp>
      <p:pic>
        <p:nvPicPr>
          <p:cNvPr id="9" name="Picture 9">
            <a:extLst>
              <a:ext uri="{FF2B5EF4-FFF2-40B4-BE49-F238E27FC236}">
                <a16:creationId xmlns:a16="http://schemas.microsoft.com/office/drawing/2014/main" id="{8EBF460D-0163-5DDE-DD7B-E044EA9C5A10}"/>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3404191" y="615392"/>
            <a:ext cx="6127897" cy="50601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606578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Zero to API in Minutes</a:t>
            </a:r>
          </a:p>
        </p:txBody>
      </p:sp>
      <p:sp>
        <p:nvSpPr>
          <p:cNvPr id="3" name="Content Placeholder 2"/>
          <p:cNvSpPr>
            <a:spLocks noGrp="1"/>
          </p:cNvSpPr>
          <p:nvPr>
            <p:ph idx="1"/>
          </p:nvPr>
        </p:nvSpPr>
        <p:spPr>
          <a:xfrm>
            <a:off x="838200" y="1825625"/>
            <a:ext cx="9525000" cy="4351338"/>
          </a:xfrm>
        </p:spPr>
        <p:txBody>
          <a:bodyPr>
            <a:normAutofit lnSpcReduction="10000"/>
          </a:bodyPr>
          <a:lstStyle/>
          <a:p>
            <a:pPr marL="0" indent="0">
              <a:buNone/>
            </a:pPr>
            <a:r>
              <a:rPr lang="en-GB" sz="2400" b="1" dirty="0">
                <a:solidFill>
                  <a:srgbClr val="4472C4"/>
                </a:solidFill>
              </a:rPr>
              <a:t>1. Install</a:t>
            </a:r>
          </a:p>
          <a:p>
            <a:pPr marL="457200" indent="-457200">
              <a:spcBef>
                <a:spcPts val="100"/>
              </a:spcBef>
              <a:buNone/>
            </a:pPr>
            <a:r>
              <a:rPr lang="en-GB" sz="1800" dirty="0">
                <a:solidFill>
                  <a:srgbClr val="44546A"/>
                </a:solidFill>
                <a:latin typeface="Consolas"/>
              </a:rPr>
              <a:t>dotnet tool install --global Microsoft.DataApiBuilder</a:t>
            </a:r>
          </a:p>
          <a:p>
            <a:pPr marL="0" indent="0">
              <a:buNone/>
            </a:pPr>
            <a:endParaRPr lang="en-GB" sz="2400" b="1" dirty="0">
              <a:solidFill>
                <a:srgbClr val="4472C4"/>
              </a:solidFill>
            </a:endParaRPr>
          </a:p>
          <a:p>
            <a:pPr marL="0" indent="0">
              <a:buNone/>
            </a:pPr>
            <a:r>
              <a:rPr lang="en-GB" sz="2400" b="1" dirty="0">
                <a:solidFill>
                  <a:srgbClr val="4472C4"/>
                </a:solidFill>
              </a:rPr>
              <a:t>2. Initialise Config</a:t>
            </a:r>
          </a:p>
          <a:p>
            <a:pPr marL="457200" indent="-457200">
              <a:spcBef>
                <a:spcPts val="100"/>
              </a:spcBef>
              <a:buNone/>
            </a:pPr>
            <a:r>
              <a:rPr lang="en-GB" sz="1800" dirty="0">
                <a:solidFill>
                  <a:srgbClr val="44546A"/>
                </a:solidFill>
                <a:latin typeface="Consolas"/>
              </a:rPr>
              <a:t>dab </a:t>
            </a:r>
            <a:r>
              <a:rPr lang="en-GB" sz="1800" dirty="0" err="1">
                <a:solidFill>
                  <a:srgbClr val="44546A"/>
                </a:solidFill>
                <a:latin typeface="Consolas"/>
              </a:rPr>
              <a:t>init</a:t>
            </a:r>
            <a:r>
              <a:rPr lang="en-GB" sz="1800" dirty="0">
                <a:solidFill>
                  <a:srgbClr val="44546A"/>
                </a:solidFill>
                <a:latin typeface="Consolas"/>
              </a:rPr>
              <a:t> --database-type </a:t>
            </a:r>
            <a:r>
              <a:rPr lang="en-GB" sz="1800" dirty="0" err="1">
                <a:solidFill>
                  <a:srgbClr val="44546A"/>
                </a:solidFill>
                <a:latin typeface="Consolas"/>
              </a:rPr>
              <a:t>mssql</a:t>
            </a:r>
            <a:r>
              <a:rPr lang="en-GB" sz="1800" dirty="0">
                <a:solidFill>
                  <a:srgbClr val="44546A"/>
                </a:solidFill>
                <a:latin typeface="Consolas"/>
              </a:rPr>
              <a:t> --connection-string "@env('CONN_STR’)”</a:t>
            </a:r>
            <a:endParaRPr lang="en-GB" sz="2400" b="1" dirty="0">
              <a:solidFill>
                <a:srgbClr val="4472C4"/>
              </a:solidFill>
            </a:endParaRPr>
          </a:p>
          <a:p>
            <a:pPr marL="0" indent="0">
              <a:buNone/>
            </a:pPr>
            <a:endParaRPr lang="en-GB" sz="2400" b="1" dirty="0">
              <a:solidFill>
                <a:srgbClr val="4472C4"/>
              </a:solidFill>
            </a:endParaRPr>
          </a:p>
          <a:p>
            <a:pPr marL="0" indent="0">
              <a:buNone/>
            </a:pPr>
            <a:r>
              <a:rPr lang="en-GB" sz="2400" b="1" dirty="0">
                <a:solidFill>
                  <a:srgbClr val="4472C4"/>
                </a:solidFill>
              </a:rPr>
              <a:t>3. Add an Entity</a:t>
            </a:r>
          </a:p>
          <a:p>
            <a:pPr marL="457200" indent="-457200">
              <a:spcBef>
                <a:spcPts val="100"/>
              </a:spcBef>
              <a:buNone/>
            </a:pPr>
            <a:r>
              <a:rPr lang="en-GB" sz="1800" dirty="0">
                <a:solidFill>
                  <a:srgbClr val="44546A"/>
                </a:solidFill>
                <a:latin typeface="Consolas"/>
              </a:rPr>
              <a:t>dab add Author --source "</a:t>
            </a:r>
            <a:r>
              <a:rPr lang="en-GB" sz="1800" dirty="0" err="1">
                <a:solidFill>
                  <a:srgbClr val="44546A"/>
                </a:solidFill>
                <a:latin typeface="Consolas"/>
              </a:rPr>
              <a:t>dbo.authors</a:t>
            </a:r>
            <a:r>
              <a:rPr lang="en-GB" sz="1800" dirty="0">
                <a:solidFill>
                  <a:srgbClr val="44546A"/>
                </a:solidFill>
                <a:latin typeface="Consolas"/>
              </a:rPr>
              <a:t>" --permissions "anonymous:*"</a:t>
            </a:r>
          </a:p>
          <a:p>
            <a:pPr marL="457200" indent="-457200">
              <a:spcBef>
                <a:spcPts val="100"/>
              </a:spcBef>
              <a:buNone/>
            </a:pPr>
            <a:endParaRPr lang="en-GB" sz="2400" b="1" dirty="0">
              <a:solidFill>
                <a:srgbClr val="4472C4"/>
              </a:solidFill>
            </a:endParaRPr>
          </a:p>
          <a:p>
            <a:pPr marL="0" indent="0">
              <a:buNone/>
            </a:pPr>
            <a:r>
              <a:rPr lang="en-GB" sz="2400" b="1" dirty="0">
                <a:solidFill>
                  <a:srgbClr val="4472C4"/>
                </a:solidFill>
              </a:rPr>
              <a:t>4. Start</a:t>
            </a:r>
          </a:p>
          <a:p>
            <a:pPr marL="457200" indent="-457200">
              <a:spcBef>
                <a:spcPts val="100"/>
              </a:spcBef>
              <a:buNone/>
            </a:pPr>
            <a:r>
              <a:rPr lang="en-GB" sz="1800" dirty="0">
                <a:solidFill>
                  <a:srgbClr val="44546A"/>
                </a:solidFill>
                <a:latin typeface="Consolas"/>
              </a:rPr>
              <a:t>dab start</a:t>
            </a:r>
            <a:r>
              <a:rPr lang="en-GB" sz="1800" dirty="0">
                <a:solidFill>
                  <a:srgbClr val="A5A5A5"/>
                </a:solidFill>
              </a:rPr>
              <a:t>   </a:t>
            </a:r>
          </a:p>
          <a:p>
            <a:pPr marL="457200" indent="-457200">
              <a:spcBef>
                <a:spcPts val="100"/>
              </a:spcBef>
              <a:buNone/>
            </a:pPr>
            <a:endParaRPr lang="en-GB" sz="1800" dirty="0">
              <a:solidFill>
                <a:srgbClr val="A5A5A5"/>
              </a:solidFill>
            </a:endParaRPr>
          </a:p>
          <a:p>
            <a:pPr marL="457200" indent="-457200">
              <a:spcBef>
                <a:spcPts val="100"/>
              </a:spcBef>
              <a:buNone/>
            </a:pPr>
            <a:r>
              <a:rPr lang="en-GB" sz="1800" dirty="0">
                <a:solidFill>
                  <a:srgbClr val="A5A5A5"/>
                </a:solidFill>
              </a:rPr>
              <a:t>http://localhost:5000/api/Author</a:t>
            </a:r>
          </a:p>
        </p:txBody>
      </p:sp>
      <p:pic>
        <p:nvPicPr>
          <p:cNvPr id="4" name="Graphic 4" descr="Rocket - quickstart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68000" y="2286000"/>
            <a:ext cx="1016000" cy="1016000"/>
          </a:xfrm>
          <a:prstGeom prst="rect">
            <a:avLst/>
          </a:prstGeom>
        </p:spPr>
      </p:pic>
    </p:spTree>
    <p:extLst>
      <p:ext uri="{BB962C8B-B14F-4D97-AF65-F5344CB8AC3E}">
        <p14:creationId xmlns:p14="http://schemas.microsoft.com/office/powerpoint/2010/main" val="1140952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LeftPanel"/>
          <p:cNvSpPr/>
          <p:nvPr/>
        </p:nvSpPr>
        <p:spPr>
          <a:xfrm>
            <a:off x="0" y="0"/>
            <a:ext cx="3894667" cy="6858000"/>
          </a:xfrm>
          <a:prstGeom prst="rect">
            <a:avLst/>
          </a:prstGeom>
          <a:solidFill>
            <a:srgbClr val="D6E4F0"/>
          </a:solidFill>
          <a:ln>
            <a:noFill/>
          </a:ln>
        </p:spPr>
        <p:txBody>
          <a:bodyPr lIns="365760" tIns="609600" rIns="243840" bIns="121920" anchor="t"/>
          <a:lstStyle/>
          <a:p>
            <a:pPr>
              <a:spcAft>
                <a:spcPts val="800"/>
              </a:spcAft>
            </a:pPr>
            <a:r>
              <a:rPr lang="en-GB" sz="4267" b="1" dirty="0">
                <a:solidFill>
                  <a:srgbClr val="346296"/>
                </a:solidFill>
                <a:latin typeface="Segoe UI Light"/>
              </a:rPr>
              <a:t>Deployment</a:t>
            </a:r>
          </a:p>
          <a:p>
            <a:pPr>
              <a:lnSpc>
                <a:spcPts val="2400"/>
              </a:lnSpc>
            </a:pPr>
            <a:r>
              <a:rPr lang="en-GB" sz="1867" dirty="0">
                <a:solidFill>
                  <a:srgbClr val="4472C4"/>
                </a:solidFill>
                <a:latin typeface="Calibri"/>
              </a:rPr>
              <a:t>One container image. </a:t>
            </a:r>
          </a:p>
          <a:p>
            <a:pPr>
              <a:lnSpc>
                <a:spcPts val="2400"/>
              </a:lnSpc>
            </a:pPr>
            <a:r>
              <a:rPr lang="en-GB" sz="1867" dirty="0">
                <a:solidFill>
                  <a:srgbClr val="4472C4"/>
                </a:solidFill>
                <a:latin typeface="Calibri"/>
              </a:rPr>
              <a:t>Multiple ways to run it.</a:t>
            </a:r>
          </a:p>
        </p:txBody>
      </p:sp>
      <p:sp>
        <p:nvSpPr>
          <p:cNvPr id="201" name="AccentStrip"/>
          <p:cNvSpPr/>
          <p:nvPr/>
        </p:nvSpPr>
        <p:spPr>
          <a:xfrm>
            <a:off x="0" y="6519333"/>
            <a:ext cx="3894667" cy="338667"/>
          </a:xfrm>
          <a:prstGeom prst="rect">
            <a:avLst/>
          </a:prstGeom>
          <a:solidFill>
            <a:srgbClr val="4472C4"/>
          </a:solidFill>
          <a:ln>
            <a:noFill/>
          </a:ln>
        </p:spPr>
        <p:txBody>
          <a:bodyPr/>
          <a:lstStyle/>
          <a:p>
            <a:endParaRPr lang="en-GB" sz="2400"/>
          </a:p>
        </p:txBody>
      </p:sp>
      <p:sp>
        <p:nvSpPr>
          <p:cNvPr id="211" name="Circle01"/>
          <p:cNvSpPr/>
          <p:nvPr/>
        </p:nvSpPr>
        <p:spPr>
          <a:xfrm>
            <a:off x="4233333" y="541867"/>
            <a:ext cx="711200" cy="711200"/>
          </a:xfrm>
          <a:prstGeom prst="ellipse">
            <a:avLst/>
          </a:prstGeom>
          <a:solidFill>
            <a:srgbClr val="4472C4"/>
          </a:solidFill>
          <a:ln>
            <a:noFill/>
          </a:ln>
        </p:spPr>
        <p:txBody>
          <a:bodyPr wrap="none" lIns="0" tIns="0" rIns="0" bIns="0" anchor="ctr"/>
          <a:lstStyle/>
          <a:p>
            <a:pPr algn="ctr"/>
            <a:r>
              <a:rPr lang="en-GB" sz="2133" b="1" dirty="0">
                <a:solidFill>
                  <a:srgbClr val="FFFFFF"/>
                </a:solidFill>
                <a:latin typeface="Segoe UI Light"/>
              </a:rPr>
              <a:t>01</a:t>
            </a:r>
          </a:p>
        </p:txBody>
      </p:sp>
      <p:sp>
        <p:nvSpPr>
          <p:cNvPr id="212" name="Text01"/>
          <p:cNvSpPr/>
          <p:nvPr/>
        </p:nvSpPr>
        <p:spPr>
          <a:xfrm>
            <a:off x="5164667" y="457200"/>
            <a:ext cx="6604000" cy="1151467"/>
          </a:xfrm>
          <a:prstGeom prst="rect">
            <a:avLst/>
          </a:prstGeom>
          <a:noFill/>
          <a:ln>
            <a:noFill/>
          </a:ln>
        </p:spPr>
        <p:txBody>
          <a:bodyPr lIns="0" tIns="0" rIns="121920" bIns="0" anchor="t"/>
          <a:lstStyle/>
          <a:p>
            <a:pPr>
              <a:spcAft>
                <a:spcPts val="267"/>
              </a:spcAft>
            </a:pPr>
            <a:r>
              <a:rPr lang="en-GB" sz="2400" b="1" dirty="0">
                <a:solidFill>
                  <a:srgbClr val="346296"/>
                </a:solidFill>
                <a:latin typeface="Segoe UI Light"/>
              </a:rPr>
              <a:t>Docker container</a:t>
            </a:r>
          </a:p>
          <a:p>
            <a:pPr>
              <a:lnSpc>
                <a:spcPts val="2133"/>
              </a:lnSpc>
            </a:pPr>
            <a:r>
              <a:rPr lang="en-GB" sz="1867" dirty="0">
                <a:solidFill>
                  <a:srgbClr val="44546A"/>
                </a:solidFill>
                <a:latin typeface="Calibri"/>
              </a:rPr>
              <a:t>Single image, runs anywhere — local dev, CI pipelines, </a:t>
            </a:r>
          </a:p>
          <a:p>
            <a:pPr>
              <a:lnSpc>
                <a:spcPts val="2133"/>
              </a:lnSpc>
            </a:pPr>
            <a:r>
              <a:rPr lang="en-GB" sz="1867" dirty="0">
                <a:solidFill>
                  <a:srgbClr val="44546A"/>
                </a:solidFill>
                <a:latin typeface="Calibri"/>
              </a:rPr>
              <a:t>or bare-metal servers. Just point it at your database.</a:t>
            </a:r>
          </a:p>
        </p:txBody>
      </p:sp>
      <p:sp>
        <p:nvSpPr>
          <p:cNvPr id="213" name="Line01"/>
          <p:cNvSpPr/>
          <p:nvPr/>
        </p:nvSpPr>
        <p:spPr>
          <a:xfrm>
            <a:off x="4233334" y="1727200"/>
            <a:ext cx="7535333" cy="0"/>
          </a:xfrm>
          <a:prstGeom prst="line">
            <a:avLst/>
          </a:prstGeom>
          <a:ln w="6350">
            <a:solidFill>
              <a:srgbClr val="EEEEEE"/>
            </a:solidFill>
          </a:ln>
        </p:spPr>
        <p:txBody>
          <a:bodyPr/>
          <a:lstStyle/>
          <a:p>
            <a:endParaRPr lang="en-GB" sz="2400"/>
          </a:p>
        </p:txBody>
      </p:sp>
      <p:sp>
        <p:nvSpPr>
          <p:cNvPr id="221" name="Circle02"/>
          <p:cNvSpPr/>
          <p:nvPr/>
        </p:nvSpPr>
        <p:spPr>
          <a:xfrm>
            <a:off x="4233333" y="2032000"/>
            <a:ext cx="711200" cy="711200"/>
          </a:xfrm>
          <a:prstGeom prst="ellipse">
            <a:avLst/>
          </a:prstGeom>
          <a:solidFill>
            <a:srgbClr val="4472C4"/>
          </a:solidFill>
          <a:ln>
            <a:noFill/>
          </a:ln>
        </p:spPr>
        <p:txBody>
          <a:bodyPr wrap="none" lIns="0" tIns="0" rIns="0" bIns="0" anchor="ctr"/>
          <a:lstStyle/>
          <a:p>
            <a:pPr algn="ctr"/>
            <a:r>
              <a:rPr lang="en-GB" sz="2133" b="1" dirty="0">
                <a:solidFill>
                  <a:srgbClr val="FFFFFF"/>
                </a:solidFill>
                <a:latin typeface="Segoe UI Light"/>
              </a:rPr>
              <a:t>02</a:t>
            </a:r>
          </a:p>
        </p:txBody>
      </p:sp>
      <p:sp>
        <p:nvSpPr>
          <p:cNvPr id="222" name="Text02"/>
          <p:cNvSpPr/>
          <p:nvPr/>
        </p:nvSpPr>
        <p:spPr>
          <a:xfrm>
            <a:off x="5164667" y="1947333"/>
            <a:ext cx="6604000" cy="1151467"/>
          </a:xfrm>
          <a:prstGeom prst="rect">
            <a:avLst/>
          </a:prstGeom>
          <a:noFill/>
          <a:ln>
            <a:noFill/>
          </a:ln>
        </p:spPr>
        <p:txBody>
          <a:bodyPr lIns="0" tIns="0" rIns="121920" bIns="0" anchor="t"/>
          <a:lstStyle/>
          <a:p>
            <a:pPr>
              <a:spcAft>
                <a:spcPts val="267"/>
              </a:spcAft>
            </a:pPr>
            <a:r>
              <a:rPr lang="en-GB" sz="2400" b="1" dirty="0">
                <a:solidFill>
                  <a:srgbClr val="346296"/>
                </a:solidFill>
                <a:latin typeface="Segoe UI Light"/>
              </a:rPr>
              <a:t>Azure Container Apps</a:t>
            </a:r>
          </a:p>
          <a:p>
            <a:pPr>
              <a:lnSpc>
                <a:spcPts val="2133"/>
              </a:lnSpc>
            </a:pPr>
            <a:r>
              <a:rPr lang="en-GB" sz="1867" dirty="0">
                <a:solidFill>
                  <a:srgbClr val="44546A"/>
                </a:solidFill>
                <a:latin typeface="Calibri"/>
              </a:rPr>
              <a:t>Serverless container hosting with auto-scale. No cluster to manage. Pay only for what you use.</a:t>
            </a:r>
          </a:p>
        </p:txBody>
      </p:sp>
      <p:sp>
        <p:nvSpPr>
          <p:cNvPr id="223" name="Line02"/>
          <p:cNvSpPr/>
          <p:nvPr/>
        </p:nvSpPr>
        <p:spPr>
          <a:xfrm>
            <a:off x="4233334" y="3217333"/>
            <a:ext cx="7535333" cy="0"/>
          </a:xfrm>
          <a:prstGeom prst="line">
            <a:avLst/>
          </a:prstGeom>
          <a:ln w="6350">
            <a:solidFill>
              <a:srgbClr val="EEEEEE"/>
            </a:solidFill>
          </a:ln>
        </p:spPr>
        <p:txBody>
          <a:bodyPr/>
          <a:lstStyle/>
          <a:p>
            <a:endParaRPr lang="en-GB" sz="2400"/>
          </a:p>
        </p:txBody>
      </p:sp>
      <p:sp>
        <p:nvSpPr>
          <p:cNvPr id="231" name="Circle03"/>
          <p:cNvSpPr/>
          <p:nvPr/>
        </p:nvSpPr>
        <p:spPr>
          <a:xfrm>
            <a:off x="4233333" y="3522133"/>
            <a:ext cx="711200" cy="711200"/>
          </a:xfrm>
          <a:prstGeom prst="ellipse">
            <a:avLst/>
          </a:prstGeom>
          <a:solidFill>
            <a:srgbClr val="4472C4"/>
          </a:solidFill>
          <a:ln>
            <a:noFill/>
          </a:ln>
        </p:spPr>
        <p:txBody>
          <a:bodyPr wrap="none" lIns="0" tIns="0" rIns="0" bIns="0" anchor="ctr"/>
          <a:lstStyle/>
          <a:p>
            <a:pPr algn="ctr"/>
            <a:r>
              <a:rPr lang="en-GB" sz="2133" b="1" dirty="0">
                <a:solidFill>
                  <a:srgbClr val="FFFFFF"/>
                </a:solidFill>
                <a:latin typeface="Segoe UI Light"/>
              </a:rPr>
              <a:t>03</a:t>
            </a:r>
          </a:p>
        </p:txBody>
      </p:sp>
      <p:sp>
        <p:nvSpPr>
          <p:cNvPr id="232" name="Text03"/>
          <p:cNvSpPr/>
          <p:nvPr/>
        </p:nvSpPr>
        <p:spPr>
          <a:xfrm>
            <a:off x="5164667" y="3437467"/>
            <a:ext cx="6604000" cy="1151467"/>
          </a:xfrm>
          <a:prstGeom prst="rect">
            <a:avLst/>
          </a:prstGeom>
          <a:noFill/>
          <a:ln>
            <a:noFill/>
          </a:ln>
        </p:spPr>
        <p:txBody>
          <a:bodyPr lIns="0" tIns="0" rIns="121920" bIns="0" anchor="t"/>
          <a:lstStyle/>
          <a:p>
            <a:pPr>
              <a:spcAft>
                <a:spcPts val="267"/>
              </a:spcAft>
            </a:pPr>
            <a:r>
              <a:rPr lang="en-GB" sz="2400" b="1" dirty="0">
                <a:solidFill>
                  <a:srgbClr val="346296"/>
                </a:solidFill>
                <a:latin typeface="Segoe UI Light"/>
              </a:rPr>
              <a:t>Azure App Service</a:t>
            </a:r>
          </a:p>
          <a:p>
            <a:pPr>
              <a:lnSpc>
                <a:spcPts val="2133"/>
              </a:lnSpc>
            </a:pPr>
            <a:r>
              <a:rPr lang="en-GB" sz="1867" dirty="0">
                <a:solidFill>
                  <a:srgbClr val="44546A"/>
                </a:solidFill>
                <a:latin typeface="Calibri"/>
              </a:rPr>
              <a:t>Managed PaaS with built-in auth, custom domains, and deployment slots. Familiar to any .NET team.</a:t>
            </a:r>
          </a:p>
        </p:txBody>
      </p:sp>
      <p:sp>
        <p:nvSpPr>
          <p:cNvPr id="233" name="Line03"/>
          <p:cNvSpPr/>
          <p:nvPr/>
        </p:nvSpPr>
        <p:spPr>
          <a:xfrm>
            <a:off x="4233334" y="4707467"/>
            <a:ext cx="7535333" cy="0"/>
          </a:xfrm>
          <a:prstGeom prst="line">
            <a:avLst/>
          </a:prstGeom>
          <a:ln w="6350">
            <a:solidFill>
              <a:srgbClr val="EEEEEE"/>
            </a:solidFill>
          </a:ln>
        </p:spPr>
        <p:txBody>
          <a:bodyPr/>
          <a:lstStyle/>
          <a:p>
            <a:endParaRPr lang="en-GB" sz="2400"/>
          </a:p>
        </p:txBody>
      </p:sp>
      <p:sp>
        <p:nvSpPr>
          <p:cNvPr id="241" name="Circle04"/>
          <p:cNvSpPr/>
          <p:nvPr/>
        </p:nvSpPr>
        <p:spPr>
          <a:xfrm>
            <a:off x="4233333" y="5012267"/>
            <a:ext cx="711200" cy="711200"/>
          </a:xfrm>
          <a:prstGeom prst="ellipse">
            <a:avLst/>
          </a:prstGeom>
          <a:solidFill>
            <a:srgbClr val="4472C4"/>
          </a:solidFill>
          <a:ln>
            <a:noFill/>
          </a:ln>
        </p:spPr>
        <p:txBody>
          <a:bodyPr wrap="none" lIns="0" tIns="0" rIns="0" bIns="0" anchor="ctr"/>
          <a:lstStyle/>
          <a:p>
            <a:pPr algn="ctr"/>
            <a:r>
              <a:rPr lang="en-GB" sz="2133" b="1" dirty="0">
                <a:solidFill>
                  <a:srgbClr val="FFFFFF"/>
                </a:solidFill>
                <a:latin typeface="Segoe UI Light"/>
              </a:rPr>
              <a:t>04</a:t>
            </a:r>
          </a:p>
        </p:txBody>
      </p:sp>
      <p:sp>
        <p:nvSpPr>
          <p:cNvPr id="242" name="Text04"/>
          <p:cNvSpPr/>
          <p:nvPr/>
        </p:nvSpPr>
        <p:spPr>
          <a:xfrm>
            <a:off x="5164667" y="4927600"/>
            <a:ext cx="6604000" cy="1151467"/>
          </a:xfrm>
          <a:prstGeom prst="rect">
            <a:avLst/>
          </a:prstGeom>
          <a:noFill/>
          <a:ln>
            <a:noFill/>
          </a:ln>
        </p:spPr>
        <p:txBody>
          <a:bodyPr lIns="0" tIns="0" rIns="121920" bIns="0" anchor="t"/>
          <a:lstStyle/>
          <a:p>
            <a:pPr>
              <a:spcAft>
                <a:spcPts val="267"/>
              </a:spcAft>
            </a:pPr>
            <a:r>
              <a:rPr lang="en-GB" sz="2400" b="1" dirty="0">
                <a:solidFill>
                  <a:srgbClr val="346296"/>
                </a:solidFill>
                <a:latin typeface="Segoe UI Light"/>
              </a:rPr>
              <a:t>Azure Kubernetes (AKS)</a:t>
            </a:r>
          </a:p>
          <a:p>
            <a:pPr>
              <a:lnSpc>
                <a:spcPts val="2133"/>
              </a:lnSpc>
            </a:pPr>
            <a:r>
              <a:rPr lang="en-GB" sz="1867" dirty="0">
                <a:solidFill>
                  <a:srgbClr val="44546A"/>
                </a:solidFill>
                <a:latin typeface="Calibri"/>
              </a:rPr>
              <a:t>Full orchestration if you already run K8s. Helm chart included. </a:t>
            </a:r>
          </a:p>
          <a:p>
            <a:pPr>
              <a:lnSpc>
                <a:spcPts val="2133"/>
              </a:lnSpc>
            </a:pPr>
            <a:r>
              <a:rPr lang="en-GB" sz="1867" dirty="0">
                <a:solidFill>
                  <a:srgbClr val="44546A"/>
                </a:solidFill>
                <a:latin typeface="Calibri"/>
              </a:rPr>
              <a:t>Fits into your existing cluster.</a:t>
            </a:r>
          </a:p>
        </p:txBody>
      </p:sp>
      <p:sp>
        <p:nvSpPr>
          <p:cNvPr id="250" name="ConfigNote"/>
          <p:cNvSpPr/>
          <p:nvPr/>
        </p:nvSpPr>
        <p:spPr>
          <a:xfrm>
            <a:off x="4233334" y="6192542"/>
            <a:ext cx="7831996" cy="677330"/>
          </a:xfrm>
          <a:prstGeom prst="roundRect">
            <a:avLst>
              <a:gd name="adj" fmla="val 50000"/>
            </a:avLst>
          </a:prstGeom>
          <a:solidFill>
            <a:srgbClr val="F3EAFA"/>
          </a:solidFill>
          <a:ln>
            <a:noFill/>
          </a:ln>
        </p:spPr>
        <p:txBody>
          <a:bodyPr lIns="182880" tIns="0" rIns="182880" bIns="0" anchor="ctr"/>
          <a:lstStyle/>
          <a:p>
            <a:pPr algn="l"/>
            <a:r>
              <a:rPr lang="en-GB" sz="1867" dirty="0">
                <a:solidFill>
                  <a:srgbClr val="346296"/>
                </a:solidFill>
                <a:latin typeface="Calibri"/>
              </a:rPr>
              <a:t>All options use env vars or JSON config — zero code changes between environments</a:t>
            </a:r>
          </a:p>
        </p:txBody>
      </p:sp>
      <p:pic>
        <p:nvPicPr>
          <p:cNvPr id="1026" name="Picture 2" descr="Build your APIs with DAB using containers. - Azure SQL Dev Corner">
            <a:extLst>
              <a:ext uri="{FF2B5EF4-FFF2-40B4-BE49-F238E27FC236}">
                <a16:creationId xmlns:a16="http://schemas.microsoft.com/office/drawing/2014/main" id="{0CF1D8F0-F162-4BA3-2D08-E938E8BD06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499" y="4273834"/>
            <a:ext cx="2243668" cy="2243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549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Sorting &amp; Selecting</a:t>
            </a:r>
          </a:p>
        </p:txBody>
      </p:sp>
      <p:sp>
        <p:nvSpPr>
          <p:cNvPr id="3" name="Content Placeholder 2"/>
          <p:cNvSpPr>
            <a:spLocks noGrp="1"/>
          </p:cNvSpPr>
          <p:nvPr>
            <p:ph idx="1"/>
          </p:nvPr>
        </p:nvSpPr>
        <p:spPr>
          <a:xfrm>
            <a:off x="838200" y="2032000"/>
            <a:ext cx="10363000" cy="4445000"/>
          </a:xfrm>
        </p:spPr>
        <p:txBody>
          <a:bodyPr>
            <a:normAutofit/>
          </a:bodyPr>
          <a:lstStyle/>
          <a:p>
            <a:pPr marL="0" indent="0">
              <a:buNone/>
            </a:pPr>
            <a:r>
              <a:rPr lang="en-GB" sz="1800" b="1" dirty="0">
                <a:solidFill>
                  <a:srgbClr val="44546A"/>
                </a:solidFill>
              </a:rPr>
              <a:t>Sorting</a:t>
            </a:r>
            <a:r>
              <a:rPr lang="en-GB" sz="1800" dirty="0">
                <a:solidFill>
                  <a:srgbClr val="44546A"/>
                </a:solidFill>
              </a:rPr>
              <a:t> — order by any exposed column, ascending or descending</a:t>
            </a:r>
          </a:p>
          <a:p>
            <a:pPr marL="0" indent="0">
              <a:spcBef>
                <a:spcPts val="500"/>
              </a:spcBef>
              <a:buNone/>
            </a:pPr>
            <a:r>
              <a:rPr lang="en-GB" sz="1600" dirty="0">
                <a:solidFill>
                  <a:srgbClr val="44546A"/>
                </a:solidFill>
                <a:latin typeface="Consolas"/>
              </a:rPr>
              <a:t>GET /api/SyncLog?$orderby=RunAt desc</a:t>
            </a:r>
          </a:p>
          <a:p>
            <a:pPr marL="0" indent="0">
              <a:spcBef>
                <a:spcPts val="300"/>
              </a:spcBef>
              <a:buNone/>
            </a:pPr>
            <a:r>
              <a:rPr lang="en-GB" sz="1600" dirty="0">
                <a:solidFill>
                  <a:srgbClr val="44546A"/>
                </a:solidFill>
                <a:latin typeface="Consolas"/>
              </a:rPr>
              <a:t>GET /api/SyncLog?$orderby=DurationMs asc</a:t>
            </a:r>
          </a:p>
          <a:p>
            <a:pPr marL="0" indent="0">
              <a:spcBef>
                <a:spcPts val="900"/>
              </a:spcBef>
              <a:buNone/>
            </a:pPr>
            <a:endParaRPr lang="en-GB" sz="1800" b="1" dirty="0">
              <a:solidFill>
                <a:srgbClr val="44546A"/>
              </a:solidFill>
            </a:endParaRPr>
          </a:p>
          <a:p>
            <a:pPr marL="0" indent="0">
              <a:spcBef>
                <a:spcPts val="900"/>
              </a:spcBef>
              <a:buNone/>
            </a:pPr>
            <a:r>
              <a:rPr lang="en-GB" sz="1800" b="1" dirty="0">
                <a:solidFill>
                  <a:srgbClr val="44546A"/>
                </a:solidFill>
              </a:rPr>
              <a:t>$select</a:t>
            </a:r>
            <a:r>
              <a:rPr lang="en-GB" sz="1800" dirty="0">
                <a:solidFill>
                  <a:srgbClr val="44546A"/>
                </a:solidFill>
              </a:rPr>
              <a:t> — slim the payload, fetch only what you need</a:t>
            </a:r>
          </a:p>
          <a:p>
            <a:pPr marL="0" indent="0">
              <a:spcBef>
                <a:spcPts val="500"/>
              </a:spcBef>
              <a:buNone/>
            </a:pPr>
            <a:r>
              <a:rPr lang="en-GB" sz="1600" dirty="0">
                <a:solidFill>
                  <a:srgbClr val="44546A"/>
                </a:solidFill>
                <a:latin typeface="Consolas"/>
              </a:rPr>
              <a:t>GET /api/SyncLog?$select=LogId,RunAt,Status,DurationMs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Filtering</a:t>
            </a:r>
          </a:p>
        </p:txBody>
      </p:sp>
      <p:sp>
        <p:nvSpPr>
          <p:cNvPr id="3" name="Content Placeholder 2"/>
          <p:cNvSpPr>
            <a:spLocks noGrp="1"/>
          </p:cNvSpPr>
          <p:nvPr>
            <p:ph idx="1"/>
          </p:nvPr>
        </p:nvSpPr>
        <p:spPr>
          <a:xfrm>
            <a:off x="838200" y="2032000"/>
            <a:ext cx="10363000" cy="4445000"/>
          </a:xfrm>
        </p:spPr>
        <p:txBody>
          <a:bodyPr>
            <a:normAutofit/>
          </a:bodyPr>
          <a:lstStyle/>
          <a:p>
            <a:pPr marL="0" indent="0">
              <a:buNone/>
            </a:pPr>
            <a:r>
              <a:rPr lang="en-GB" sz="1800" dirty="0">
                <a:solidFill>
                  <a:srgbClr val="44546A"/>
                </a:solidFill>
              </a:rPr>
              <a:t>OData-style </a:t>
            </a:r>
            <a:r>
              <a:rPr lang="en-GB" sz="1800" b="1" dirty="0">
                <a:solidFill>
                  <a:srgbClr val="4472C4"/>
                </a:solidFill>
                <a:latin typeface="Consolas"/>
              </a:rPr>
              <a:t>$filter</a:t>
            </a:r>
            <a:r>
              <a:rPr lang="en-GB" sz="1800" dirty="0">
                <a:solidFill>
                  <a:srgbClr val="44546A"/>
                </a:solidFill>
              </a:rPr>
              <a:t> expressions — query exactly what you need, no extra code.</a:t>
            </a:r>
          </a:p>
          <a:p>
            <a:pPr marL="0" indent="0">
              <a:spcBef>
                <a:spcPts val="800"/>
              </a:spcBef>
              <a:buNone/>
            </a:pPr>
            <a:endParaRPr lang="en-GB" sz="1600" dirty="0">
              <a:solidFill>
                <a:srgbClr val="44546A"/>
              </a:solidFill>
              <a:latin typeface="Consolas"/>
            </a:endParaRPr>
          </a:p>
          <a:p>
            <a:pPr marL="0" indent="0">
              <a:spcBef>
                <a:spcPts val="800"/>
              </a:spcBef>
              <a:buNone/>
            </a:pPr>
            <a:r>
              <a:rPr lang="en-GB" sz="1600" dirty="0">
                <a:solidFill>
                  <a:srgbClr val="44546A"/>
                </a:solidFill>
                <a:latin typeface="Consolas"/>
              </a:rPr>
              <a:t>GET /api/SyncLog?$filter=Status eq 'Error'</a:t>
            </a:r>
          </a:p>
          <a:p>
            <a:pPr marL="0" indent="0">
              <a:spcBef>
                <a:spcPts val="400"/>
              </a:spcBef>
              <a:buNone/>
            </a:pPr>
            <a:r>
              <a:rPr lang="en-GB" sz="1600" dirty="0">
                <a:solidFill>
                  <a:srgbClr val="44546A"/>
                </a:solidFill>
                <a:latin typeface="Consolas"/>
              </a:rPr>
              <a:t>GET /api/SyncLog?$filter=Source eq 'IntervalsSync'</a:t>
            </a:r>
          </a:p>
          <a:p>
            <a:pPr marL="0" indent="0">
              <a:spcBef>
                <a:spcPts val="400"/>
              </a:spcBef>
              <a:buNone/>
            </a:pPr>
            <a:r>
              <a:rPr lang="en-GB" sz="1600" dirty="0">
                <a:solidFill>
                  <a:srgbClr val="44546A"/>
                </a:solidFill>
                <a:latin typeface="Consolas"/>
              </a:rPr>
              <a:t>GET /api/SyncLog?$filter=Status eq 'Error' and RunAt ge 2025-01-01T00:00:00Z</a:t>
            </a:r>
          </a:p>
          <a:p>
            <a:pPr marL="0" indent="0">
              <a:spcBef>
                <a:spcPts val="1000"/>
              </a:spcBef>
              <a:buNone/>
            </a:pPr>
            <a:endParaRPr lang="en-GB" sz="1400" i="1" dirty="0">
              <a:solidFill>
                <a:srgbClr val="7F7F7F"/>
              </a:solidFill>
            </a:endParaRPr>
          </a:p>
          <a:p>
            <a:pPr marL="0" indent="0">
              <a:spcBef>
                <a:spcPts val="1000"/>
              </a:spcBef>
              <a:buNone/>
            </a:pPr>
            <a:r>
              <a:rPr lang="en-GB" sz="1400" i="1" dirty="0">
                <a:solidFill>
                  <a:srgbClr val="7F7F7F"/>
                </a:solidFill>
              </a:rPr>
              <a:t>Operators: eq, ne, gt, lt, ge, le — combine with and / or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Pagination</a:t>
            </a:r>
          </a:p>
        </p:txBody>
      </p:sp>
      <p:sp>
        <p:nvSpPr>
          <p:cNvPr id="3" name="Content Placeholder 2"/>
          <p:cNvSpPr>
            <a:spLocks noGrp="1"/>
          </p:cNvSpPr>
          <p:nvPr>
            <p:ph idx="1"/>
          </p:nvPr>
        </p:nvSpPr>
        <p:spPr>
          <a:xfrm>
            <a:off x="838200" y="2032000"/>
            <a:ext cx="10363000" cy="4445000"/>
          </a:xfrm>
        </p:spPr>
        <p:txBody>
          <a:bodyPr>
            <a:normAutofit/>
          </a:bodyPr>
          <a:lstStyle/>
          <a:p>
            <a:pPr marL="0" indent="0">
              <a:buNone/>
            </a:pPr>
            <a:r>
              <a:rPr lang="en-GB" sz="1800" dirty="0">
                <a:solidFill>
                  <a:srgbClr val="44546A"/>
                </a:solidFill>
              </a:rPr>
              <a:t>Cursor-based pagination with </a:t>
            </a:r>
            <a:r>
              <a:rPr lang="en-GB" sz="1800" b="1" dirty="0">
                <a:solidFill>
                  <a:srgbClr val="4472C4"/>
                </a:solidFill>
                <a:latin typeface="Consolas"/>
              </a:rPr>
              <a:t>$first</a:t>
            </a:r>
            <a:r>
              <a:rPr lang="en-GB" sz="1800" dirty="0">
                <a:solidFill>
                  <a:srgbClr val="44546A"/>
                </a:solidFill>
              </a:rPr>
              <a:t> and </a:t>
            </a:r>
            <a:r>
              <a:rPr lang="en-GB" sz="1800" b="1" dirty="0">
                <a:solidFill>
                  <a:srgbClr val="4472C4"/>
                </a:solidFill>
                <a:latin typeface="Consolas"/>
              </a:rPr>
              <a:t>$after</a:t>
            </a:r>
            <a:r>
              <a:rPr lang="en-GB" sz="1800" dirty="0">
                <a:solidFill>
                  <a:srgbClr val="44546A"/>
                </a:solidFill>
              </a:rPr>
              <a:t> — no offset, no skipped rows.</a:t>
            </a:r>
          </a:p>
          <a:p>
            <a:pPr marL="0" indent="0">
              <a:spcBef>
                <a:spcPts val="800"/>
              </a:spcBef>
              <a:buNone/>
            </a:pPr>
            <a:endParaRPr lang="en-GB" sz="1600" dirty="0">
              <a:solidFill>
                <a:srgbClr val="44546A"/>
              </a:solidFill>
              <a:latin typeface="Consolas"/>
            </a:endParaRPr>
          </a:p>
          <a:p>
            <a:pPr marL="0" indent="0">
              <a:spcBef>
                <a:spcPts val="800"/>
              </a:spcBef>
              <a:buNone/>
            </a:pPr>
            <a:r>
              <a:rPr lang="en-GB" sz="1600" dirty="0">
                <a:solidFill>
                  <a:srgbClr val="44546A"/>
                </a:solidFill>
                <a:latin typeface="Consolas"/>
              </a:rPr>
              <a:t>GET /api/SyncLog?$first=10</a:t>
            </a:r>
          </a:p>
          <a:p>
            <a:pPr marL="0" indent="0">
              <a:spcBef>
                <a:spcPts val="300"/>
              </a:spcBef>
              <a:buNone/>
            </a:pPr>
            <a:r>
              <a:rPr lang="en-GB" sz="1400" i="1" dirty="0">
                <a:solidFill>
                  <a:srgbClr val="7F7F7F"/>
                </a:solidFill>
              </a:rPr>
              <a:t>Response includes nextLink with a $after cursor token</a:t>
            </a:r>
          </a:p>
          <a:p>
            <a:pPr marL="0" indent="0">
              <a:spcBef>
                <a:spcPts val="600"/>
              </a:spcBef>
              <a:buNone/>
            </a:pPr>
            <a:r>
              <a:rPr lang="en-GB" sz="1600" dirty="0">
                <a:solidFill>
                  <a:srgbClr val="44546A"/>
                </a:solidFill>
                <a:latin typeface="Consolas"/>
              </a:rPr>
              <a:t>GET /api/SyncLog?$first=10&amp;$after=&lt;token&gt;</a:t>
            </a:r>
          </a:p>
          <a:p>
            <a:pPr marL="0" indent="0">
              <a:spcBef>
                <a:spcPts val="1000"/>
              </a:spcBef>
              <a:buNone/>
            </a:pPr>
            <a:r>
              <a:rPr lang="en-GB" sz="1400" i="1" dirty="0">
                <a:solidFill>
                  <a:srgbClr val="7F7F7F"/>
                </a:solidFill>
              </a:rPr>
              <a:t>Works with any page size — 10, 25, 50 rows — stable under concurrent writes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F9AFC-C6EC-0B06-FB80-31789DDF37EC}"/>
              </a:ext>
            </a:extLst>
          </p:cNvPr>
          <p:cNvSpPr>
            <a:spLocks noGrp="1"/>
          </p:cNvSpPr>
          <p:nvPr>
            <p:ph type="title"/>
          </p:nvPr>
        </p:nvSpPr>
        <p:spPr/>
        <p:txBody>
          <a:bodyPr>
            <a:normAutofit/>
          </a:bodyPr>
          <a:lstStyle/>
          <a:p>
            <a:r>
              <a:rPr lang="en-GB" dirty="0"/>
              <a:t>Authentication</a:t>
            </a:r>
          </a:p>
        </p:txBody>
      </p:sp>
      <p:sp>
        <p:nvSpPr>
          <p:cNvPr id="3" name="Text Placeholder 2">
            <a:extLst>
              <a:ext uri="{FF2B5EF4-FFF2-40B4-BE49-F238E27FC236}">
                <a16:creationId xmlns:a16="http://schemas.microsoft.com/office/drawing/2014/main" id="{E5A3EF4B-AF7C-178E-F388-53381BF10D3D}"/>
              </a:ext>
            </a:extLst>
          </p:cNvPr>
          <p:cNvSpPr>
            <a:spLocks noGrp="1"/>
          </p:cNvSpPr>
          <p:nvPr>
            <p:ph idx="1"/>
          </p:nvPr>
        </p:nvSpPr>
        <p:spPr/>
        <p:txBody>
          <a:bodyPr>
            <a:normAutofit/>
          </a:bodyPr>
          <a:lstStyle/>
          <a:p>
            <a:pPr marL="0" indent="0">
              <a:buNone/>
            </a:pPr>
            <a:r>
              <a:rPr lang="en-GB" sz="2400" b="1" dirty="0">
                <a:solidFill>
                  <a:srgbClr val="44546A"/>
                </a:solidFill>
              </a:rPr>
              <a:t>Plug in your identity provider</a:t>
            </a:r>
          </a:p>
          <a:p>
            <a:pPr marL="0" indent="0">
              <a:spcBef>
                <a:spcPts val="300"/>
              </a:spcBef>
              <a:buNone/>
            </a:pPr>
            <a:r>
              <a:rPr lang="en-GB" sz="2000" dirty="0">
                <a:solidFill>
                  <a:srgbClr val="44546A"/>
                </a:solidFill>
              </a:rPr>
              <a:t>Entra ID, EasyAuth, any JWT server, or Simulator for dev.</a:t>
            </a:r>
          </a:p>
          <a:p>
            <a:pPr marL="0" indent="0">
              <a:spcBef>
                <a:spcPts val="900"/>
              </a:spcBef>
              <a:buNone/>
            </a:pPr>
            <a:endParaRPr lang="en-GB" sz="2400" b="1" dirty="0">
              <a:solidFill>
                <a:srgbClr val="44546A"/>
              </a:solidFill>
            </a:endParaRPr>
          </a:p>
          <a:p>
            <a:pPr marL="0" indent="0">
              <a:spcBef>
                <a:spcPts val="900"/>
              </a:spcBef>
              <a:buNone/>
            </a:pPr>
            <a:r>
              <a:rPr lang="en-GB" sz="2400" b="1" dirty="0">
                <a:solidFill>
                  <a:srgbClr val="44546A"/>
                </a:solidFill>
              </a:rPr>
              <a:t>Role-based access control</a:t>
            </a:r>
          </a:p>
          <a:p>
            <a:pPr marL="0" indent="0">
              <a:spcBef>
                <a:spcPts val="300"/>
              </a:spcBef>
              <a:buNone/>
            </a:pPr>
            <a:r>
              <a:rPr lang="en-GB" sz="2000" dirty="0">
                <a:solidFill>
                  <a:srgbClr val="44546A"/>
                </a:solidFill>
              </a:rPr>
              <a:t>Anonymous + Authenticated system roles, custom user roles, one effective role per request.</a:t>
            </a:r>
          </a:p>
          <a:p>
            <a:pPr marL="0" indent="0">
              <a:spcBef>
                <a:spcPts val="900"/>
              </a:spcBef>
              <a:buNone/>
            </a:pPr>
            <a:endParaRPr lang="en-GB" sz="2400" b="1" dirty="0">
              <a:solidFill>
                <a:srgbClr val="44546A"/>
              </a:solidFill>
            </a:endParaRPr>
          </a:p>
          <a:p>
            <a:pPr marL="0" indent="0">
              <a:spcBef>
                <a:spcPts val="900"/>
              </a:spcBef>
              <a:buNone/>
            </a:pPr>
            <a:r>
              <a:rPr lang="en-GB" sz="2400" b="1" dirty="0">
                <a:solidFill>
                  <a:srgbClr val="44546A"/>
                </a:solidFill>
              </a:rPr>
              <a:t>Database policies</a:t>
            </a:r>
          </a:p>
          <a:p>
            <a:pPr marL="0" indent="0">
              <a:spcBef>
                <a:spcPts val="300"/>
              </a:spcBef>
              <a:buNone/>
            </a:pPr>
            <a:r>
              <a:rPr lang="en-GB" sz="2000" dirty="0">
                <a:solidFill>
                  <a:srgbClr val="44546A"/>
                </a:solidFill>
              </a:rPr>
              <a:t>Row-level security filter results. Claims flow to SQL session context.</a:t>
            </a:r>
          </a:p>
        </p:txBody>
      </p:sp>
    </p:spTree>
    <p:extLst>
      <p:ext uri="{BB962C8B-B14F-4D97-AF65-F5344CB8AC3E}">
        <p14:creationId xmlns:p14="http://schemas.microsoft.com/office/powerpoint/2010/main" val="25455925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Azure Function + DAB</a:t>
            </a:r>
          </a:p>
        </p:txBody>
      </p:sp>
      <p:sp>
        <p:nvSpPr>
          <p:cNvPr id="3" name="Content Placeholder 2"/>
          <p:cNvSpPr>
            <a:spLocks noGrp="1"/>
          </p:cNvSpPr>
          <p:nvPr>
            <p:ph idx="1"/>
          </p:nvPr>
        </p:nvSpPr>
        <p:spPr>
          <a:xfrm>
            <a:off x="838200" y="1832203"/>
            <a:ext cx="9525000" cy="4351338"/>
          </a:xfrm>
        </p:spPr>
        <p:txBody>
          <a:bodyPr>
            <a:normAutofit/>
          </a:bodyPr>
          <a:lstStyle/>
          <a:p>
            <a:pPr marL="0" indent="0">
              <a:buNone/>
            </a:pPr>
            <a:r>
              <a:rPr lang="en-GB" sz="1800" dirty="0">
                <a:solidFill>
                  <a:srgbClr val="44546A"/>
                </a:solidFill>
              </a:rPr>
              <a:t>No direct database connections in your functions — just HTTP.</a:t>
            </a:r>
          </a:p>
          <a:p>
            <a:pPr marL="0" indent="0">
              <a:buNone/>
            </a:pPr>
            <a:r>
              <a:rPr lang="en-GB" sz="2000" b="1" dirty="0">
                <a:solidFill>
                  <a:srgbClr val="4472C4"/>
                </a:solidFill>
              </a:rPr>
              <a:t>Architecture</a:t>
            </a:r>
          </a:p>
          <a:p>
            <a:pPr marL="457200" indent="-457200">
              <a:spcBef>
                <a:spcPts val="200"/>
              </a:spcBef>
              <a:buFont typeface="Arial"/>
              <a:buChar char="■"/>
            </a:pPr>
            <a:r>
              <a:rPr lang="en-GB" sz="1800" dirty="0"/>
              <a:t>DAB in Azure Container Instance (config in Azure File Share)</a:t>
            </a:r>
          </a:p>
          <a:p>
            <a:pPr marL="457200" indent="-457200">
              <a:spcBef>
                <a:spcPts val="200"/>
              </a:spcBef>
              <a:buFont typeface="Arial"/>
              <a:buChar char="■"/>
            </a:pPr>
            <a:r>
              <a:rPr lang="en-GB" sz="1800" dirty="0"/>
              <a:t>Azure SQL Database as the backend</a:t>
            </a:r>
          </a:p>
          <a:p>
            <a:pPr marL="0" indent="0">
              <a:buNone/>
            </a:pPr>
            <a:endParaRPr lang="en-GB" sz="2000" b="1" dirty="0">
              <a:solidFill>
                <a:srgbClr val="4472C4"/>
              </a:solidFill>
            </a:endParaRPr>
          </a:p>
          <a:p>
            <a:pPr marL="0" indent="0">
              <a:buNone/>
            </a:pPr>
            <a:r>
              <a:rPr lang="en-GB" sz="2000" b="1" dirty="0">
                <a:solidFill>
                  <a:srgbClr val="4472C4"/>
                </a:solidFill>
              </a:rPr>
              <a:t>Workflow</a:t>
            </a:r>
          </a:p>
          <a:p>
            <a:pPr marL="457200" indent="-457200">
              <a:spcBef>
                <a:spcPts val="200"/>
              </a:spcBef>
              <a:buFont typeface="Arial"/>
              <a:buChar char="■"/>
            </a:pPr>
            <a:r>
              <a:rPr lang="en-GB" sz="1800" dirty="0"/>
              <a:t>Azure Function runs on a schedule</a:t>
            </a:r>
          </a:p>
          <a:p>
            <a:pPr marL="457200" indent="-457200">
              <a:spcBef>
                <a:spcPts val="200"/>
              </a:spcBef>
              <a:buFont typeface="Arial"/>
              <a:buChar char="■"/>
            </a:pPr>
            <a:r>
              <a:rPr lang="en-GB" sz="1800" dirty="0"/>
              <a:t>Fetches data from external API, POSTs to DAB endpoint</a:t>
            </a:r>
          </a:p>
          <a:p>
            <a:pPr marL="457200" indent="-457200">
              <a:spcBef>
                <a:spcPts val="200"/>
              </a:spcBef>
              <a:buFont typeface="Arial"/>
              <a:buChar char="■"/>
            </a:pPr>
            <a:r>
              <a:rPr lang="en-GB" sz="1800" dirty="0"/>
              <a:t>DAB writes to SQL — function never touches the DB</a:t>
            </a:r>
          </a:p>
        </p:txBody>
      </p:sp>
      <p:pic>
        <p:nvPicPr>
          <p:cNvPr id="4" name="Graphic 4" descr="Cloud - Azure architecture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68000" y="2286000"/>
            <a:ext cx="1016000" cy="1016000"/>
          </a:xfrm>
          <a:prstGeom prst="rect">
            <a:avLst/>
          </a:prstGeom>
        </p:spPr>
      </p:pic>
    </p:spTree>
    <p:extLst>
      <p:ext uri="{BB962C8B-B14F-4D97-AF65-F5344CB8AC3E}">
        <p14:creationId xmlns:p14="http://schemas.microsoft.com/office/powerpoint/2010/main" val="1696806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167248-C99C-E892-89E1-4CBB81F02F90}"/>
              </a:ext>
            </a:extLst>
          </p:cNvPr>
          <p:cNvSpPr>
            <a:spLocks noGrp="1"/>
          </p:cNvSpPr>
          <p:nvPr>
            <p:ph type="title"/>
          </p:nvPr>
        </p:nvSpPr>
        <p:spPr>
          <a:xfrm>
            <a:off x="831850" y="529389"/>
            <a:ext cx="10515600" cy="1004637"/>
          </a:xfrm>
        </p:spPr>
        <p:txBody>
          <a:bodyPr/>
          <a:lstStyle/>
          <a:p>
            <a:r>
              <a:rPr lang="en-GB"/>
              <a:t>Demos</a:t>
            </a:r>
          </a:p>
        </p:txBody>
      </p:sp>
      <p:sp>
        <p:nvSpPr>
          <p:cNvPr id="5" name="Text Placeholder 4">
            <a:extLst>
              <a:ext uri="{FF2B5EF4-FFF2-40B4-BE49-F238E27FC236}">
                <a16:creationId xmlns:a16="http://schemas.microsoft.com/office/drawing/2014/main" id="{2CACAFC7-78CB-98F9-FEF3-D3E8C9FF6E6F}"/>
              </a:ext>
            </a:extLst>
          </p:cNvPr>
          <p:cNvSpPr>
            <a:spLocks noGrp="1"/>
          </p:cNvSpPr>
          <p:nvPr>
            <p:ph type="body" idx="1"/>
          </p:nvPr>
        </p:nvSpPr>
        <p:spPr>
          <a:xfrm>
            <a:off x="831850" y="1653758"/>
            <a:ext cx="10515600" cy="1500187"/>
          </a:xfrm>
        </p:spPr>
        <p:txBody>
          <a:bodyPr/>
          <a:lstStyle/>
          <a:p>
            <a:r>
              <a:rPr lang="en-GB"/>
              <a:t>We love Demos!</a:t>
            </a:r>
          </a:p>
        </p:txBody>
      </p:sp>
      <p:pic>
        <p:nvPicPr>
          <p:cNvPr id="9" name="Picture 9">
            <a:extLst>
              <a:ext uri="{FF2B5EF4-FFF2-40B4-BE49-F238E27FC236}">
                <a16:creationId xmlns:a16="http://schemas.microsoft.com/office/drawing/2014/main" id="{776AC288-703A-8014-23CA-E040CDD7E976}"/>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3404191" y="615392"/>
            <a:ext cx="6127897" cy="50601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172594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063F7B61-5334-421F-9456-A905D333F4B3}"/>
              </a:ext>
            </a:extLst>
          </p:cNvPr>
          <p:cNvSpPr txBox="1">
            <a:spLocks/>
          </p:cNvSpPr>
          <p:nvPr/>
        </p:nvSpPr>
        <p:spPr>
          <a:xfrm>
            <a:off x="831850" y="529389"/>
            <a:ext cx="10515600" cy="10046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GB"/>
              <a:t>Q&amp;A</a:t>
            </a:r>
          </a:p>
        </p:txBody>
      </p:sp>
      <p:sp>
        <p:nvSpPr>
          <p:cNvPr id="10" name="Text Placeholder 4">
            <a:extLst>
              <a:ext uri="{FF2B5EF4-FFF2-40B4-BE49-F238E27FC236}">
                <a16:creationId xmlns:a16="http://schemas.microsoft.com/office/drawing/2014/main" id="{E7911686-C4FE-022C-2490-99F4F5BFDF39}"/>
              </a:ext>
            </a:extLst>
          </p:cNvPr>
          <p:cNvSpPr txBox="1">
            <a:spLocks/>
          </p:cNvSpPr>
          <p:nvPr/>
        </p:nvSpPr>
        <p:spPr>
          <a:xfrm>
            <a:off x="831850" y="1653758"/>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GB"/>
              <a:t>15 minutes</a:t>
            </a:r>
          </a:p>
        </p:txBody>
      </p:sp>
      <p:pic>
        <p:nvPicPr>
          <p:cNvPr id="2" name="Picture 2">
            <a:extLst>
              <a:ext uri="{FF2B5EF4-FFF2-40B4-BE49-F238E27FC236}">
                <a16:creationId xmlns:a16="http://schemas.microsoft.com/office/drawing/2014/main" id="{04697E65-3DA9-6EF3-472C-734FB98C3839}"/>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731477" y="1770873"/>
            <a:ext cx="6729046" cy="35917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348428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C2B4B-CF61-3DC5-6221-F5F99F86F619}"/>
            </a:ext>
          </a:extLst>
        </p:cNvPr>
        <p:cNvGrpSpPr/>
        <p:nvPr/>
      </p:nvGrpSpPr>
      <p:grpSpPr>
        <a:xfrm>
          <a:off x="0" y="0"/>
          <a:ext cx="0" cy="0"/>
          <a:chOff x="0" y="0"/>
          <a:chExt cx="0" cy="0"/>
        </a:xfrm>
      </p:grpSpPr>
      <p:sp>
        <p:nvSpPr>
          <p:cNvPr id="9" name="Title 3">
            <a:extLst>
              <a:ext uri="{FF2B5EF4-FFF2-40B4-BE49-F238E27FC236}">
                <a16:creationId xmlns:a16="http://schemas.microsoft.com/office/drawing/2014/main" id="{0AFF23A2-578F-B7AD-CC96-F1E75AA0FD82}"/>
              </a:ext>
            </a:extLst>
          </p:cNvPr>
          <p:cNvSpPr txBox="1">
            <a:spLocks/>
          </p:cNvSpPr>
          <p:nvPr/>
        </p:nvSpPr>
        <p:spPr>
          <a:xfrm>
            <a:off x="831850" y="529389"/>
            <a:ext cx="10515600" cy="10046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GB"/>
              <a:t>GIVE ME FEEDBACK</a:t>
            </a:r>
          </a:p>
        </p:txBody>
      </p:sp>
      <p:sp>
        <p:nvSpPr>
          <p:cNvPr id="4" name="Rectangle 3">
            <a:extLst>
              <a:ext uri="{FF2B5EF4-FFF2-40B4-BE49-F238E27FC236}">
                <a16:creationId xmlns:a16="http://schemas.microsoft.com/office/drawing/2014/main" id="{C98D9FEC-D0B6-03AA-2C12-1CA5AE4EB596}"/>
              </a:ext>
            </a:extLst>
          </p:cNvPr>
          <p:cNvSpPr/>
          <p:nvPr/>
        </p:nvSpPr>
        <p:spPr>
          <a:xfrm>
            <a:off x="3831771" y="2046514"/>
            <a:ext cx="3868058" cy="3868058"/>
          </a:xfrm>
          <a:prstGeom prst="rect">
            <a:avLst/>
          </a:prstGeom>
          <a:noFill/>
          <a:ln w="38100">
            <a:solidFill>
              <a:srgbClr val="3B2A47"/>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prstDash val="dash"/>
              </a:ln>
            </a:endParaRPr>
          </a:p>
        </p:txBody>
      </p:sp>
      <p:sp>
        <p:nvSpPr>
          <p:cNvPr id="5" name="ZoneTexte 4">
            <a:extLst>
              <a:ext uri="{FF2B5EF4-FFF2-40B4-BE49-F238E27FC236}">
                <a16:creationId xmlns:a16="http://schemas.microsoft.com/office/drawing/2014/main" id="{2CD424B4-E900-F6B6-EAA3-A874A8F70DAC}"/>
              </a:ext>
            </a:extLst>
          </p:cNvPr>
          <p:cNvSpPr txBox="1"/>
          <p:nvPr/>
        </p:nvSpPr>
        <p:spPr>
          <a:xfrm>
            <a:off x="4049486" y="3380378"/>
            <a:ext cx="3461657" cy="1200329"/>
          </a:xfrm>
          <a:prstGeom prst="rect">
            <a:avLst/>
          </a:prstGeom>
          <a:noFill/>
        </p:spPr>
        <p:txBody>
          <a:bodyPr wrap="square" rtlCol="0">
            <a:spAutoFit/>
          </a:bodyPr>
          <a:lstStyle/>
          <a:p>
            <a:pPr algn="ctr"/>
            <a:r>
              <a:rPr lang="en-GB" sz="2400" b="1">
                <a:latin typeface="Acumin Pro Black" panose="020B0904020202020204" pitchFamily="34" charset="0"/>
              </a:rPr>
              <a:t>INSERT YOUR SESSION QRCODE HERE</a:t>
            </a:r>
          </a:p>
        </p:txBody>
      </p:sp>
      <p:pic>
        <p:nvPicPr>
          <p:cNvPr id="2" name="Graphique 5">
            <a:extLst>
              <a:ext uri="{FF2B5EF4-FFF2-40B4-BE49-F238E27FC236}">
                <a16:creationId xmlns:a16="http://schemas.microsoft.com/office/drawing/2014/main" id="{8C7569A3-761E-DEAA-1C30-F448FEB741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3433" y="1514958"/>
            <a:ext cx="1679652" cy="1865420"/>
          </a:xfrm>
          <a:prstGeom prst="rect">
            <a:avLst/>
          </a:prstGeom>
        </p:spPr>
      </p:pic>
      <p:pic>
        <p:nvPicPr>
          <p:cNvPr id="7" name="Picture 6">
            <a:extLst>
              <a:ext uri="{FF2B5EF4-FFF2-40B4-BE49-F238E27FC236}">
                <a16:creationId xmlns:a16="http://schemas.microsoft.com/office/drawing/2014/main" id="{2EAC1034-B442-7881-160D-F5A3FDEAAB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3085" y="1534026"/>
            <a:ext cx="4490186" cy="4490186"/>
          </a:xfrm>
          <a:prstGeom prst="rect">
            <a:avLst/>
          </a:prstGeom>
        </p:spPr>
      </p:pic>
    </p:spTree>
    <p:extLst>
      <p:ext uri="{BB962C8B-B14F-4D97-AF65-F5344CB8AC3E}">
        <p14:creationId xmlns:p14="http://schemas.microsoft.com/office/powerpoint/2010/main" val="9232746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Get Started Today</a:t>
            </a:r>
          </a:p>
        </p:txBody>
      </p:sp>
      <p:sp>
        <p:nvSpPr>
          <p:cNvPr id="3" name="Content Placeholder 2"/>
          <p:cNvSpPr>
            <a:spLocks noGrp="1"/>
          </p:cNvSpPr>
          <p:nvPr>
            <p:ph idx="1"/>
          </p:nvPr>
        </p:nvSpPr>
        <p:spPr>
          <a:xfrm>
            <a:off x="838200" y="1825625"/>
            <a:ext cx="9525000" cy="4351338"/>
          </a:xfrm>
        </p:spPr>
        <p:txBody>
          <a:bodyPr>
            <a:normAutofit/>
          </a:bodyPr>
          <a:lstStyle/>
          <a:p>
            <a:pPr marL="0" indent="0">
              <a:buNone/>
            </a:pPr>
            <a:r>
              <a:rPr lang="en-GB" sz="2000" b="1" dirty="0">
                <a:solidFill>
                  <a:srgbClr val="4472C4"/>
                </a:solidFill>
              </a:rPr>
              <a:t>Resources</a:t>
            </a:r>
          </a:p>
          <a:p>
            <a:pPr marL="457200" indent="-457200">
              <a:spcBef>
                <a:spcPts val="200"/>
              </a:spcBef>
              <a:buFont typeface="Arial"/>
              <a:buChar char="■"/>
            </a:pPr>
            <a:r>
              <a:rPr lang="en-GB" sz="1800" b="1" dirty="0"/>
              <a:t>Install  </a:t>
            </a:r>
            <a:r>
              <a:rPr lang="en-GB" sz="1600" dirty="0">
                <a:solidFill>
                  <a:srgbClr val="44546A"/>
                </a:solidFill>
                <a:latin typeface="Consolas"/>
              </a:rPr>
              <a:t>dotnet tool install --global Microsoft.DataApiBuilder</a:t>
            </a:r>
          </a:p>
          <a:p>
            <a:pPr marL="457200" indent="-457200">
              <a:spcBef>
                <a:spcPts val="200"/>
              </a:spcBef>
              <a:buFont typeface="Arial"/>
              <a:buChar char="■"/>
            </a:pPr>
            <a:r>
              <a:rPr lang="en-GB" sz="1800" b="1" dirty="0"/>
              <a:t>Docs  </a:t>
            </a:r>
            <a:r>
              <a:rPr lang="en-GB" sz="1800" dirty="0">
                <a:solidFill>
                  <a:srgbClr val="4472C4"/>
                </a:solidFill>
              </a:rPr>
              <a:t>aka.ms/dab</a:t>
            </a:r>
          </a:p>
          <a:p>
            <a:pPr marL="457200" indent="-457200">
              <a:spcBef>
                <a:spcPts val="200"/>
              </a:spcBef>
              <a:buFont typeface="Arial"/>
              <a:buChar char="■"/>
            </a:pPr>
            <a:r>
              <a:rPr lang="en-GB" sz="1800" b="1" dirty="0"/>
              <a:t>GitHub  </a:t>
            </a:r>
            <a:r>
              <a:rPr lang="en-GB" sz="1800" dirty="0">
                <a:solidFill>
                  <a:srgbClr val="4472C4"/>
                </a:solidFill>
              </a:rPr>
              <a:t>github.com/Azure/data-api-builder</a:t>
            </a:r>
          </a:p>
          <a:p>
            <a:pPr marL="457200" indent="-457200">
              <a:spcBef>
                <a:spcPts val="200"/>
              </a:spcBef>
              <a:buFont typeface="Arial"/>
              <a:buChar char="■"/>
            </a:pPr>
            <a:r>
              <a:rPr lang="en-GB" sz="1800" b="1" dirty="0"/>
              <a:t>Slides + Demos  </a:t>
            </a:r>
            <a:r>
              <a:rPr lang="en-GB" sz="1800" dirty="0">
                <a:solidFill>
                  <a:srgbClr val="4472C4"/>
                </a:solidFill>
              </a:rPr>
              <a:t>github.com/jpomfret/dab-presentation</a:t>
            </a:r>
          </a:p>
          <a:p>
            <a:pPr marL="0" indent="0">
              <a:buNone/>
            </a:pPr>
            <a:r>
              <a:rPr lang="en-GB" sz="2000" b="1" dirty="0">
                <a:solidFill>
                  <a:srgbClr val="ED7D31"/>
                </a:solidFill>
              </a:rPr>
              <a:t>Pick one script that writes to a CSV today.</a:t>
            </a:r>
          </a:p>
          <a:p>
            <a:pPr marL="0" indent="0">
              <a:buNone/>
            </a:pPr>
            <a:r>
              <a:rPr lang="en-GB" sz="2000" b="1" dirty="0">
                <a:solidFill>
                  <a:srgbClr val="ED7D31"/>
                </a:solidFill>
              </a:rPr>
              <a:t>Make it write to a database instead.</a:t>
            </a:r>
          </a:p>
        </p:txBody>
      </p:sp>
      <p:pic>
        <p:nvPicPr>
          <p:cNvPr id="4" name="Graphic 4" descr="Checklist - get started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68000" y="2286000"/>
            <a:ext cx="1016000" cy="1016000"/>
          </a:xfrm>
          <a:prstGeom prst="rect">
            <a:avLst/>
          </a:prstGeom>
        </p:spPr>
      </p:pic>
    </p:spTree>
    <p:extLst>
      <p:ext uri="{BB962C8B-B14F-4D97-AF65-F5344CB8AC3E}">
        <p14:creationId xmlns:p14="http://schemas.microsoft.com/office/powerpoint/2010/main" val="20846404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A62EF6-1291-F059-1B19-A50D69CCF334}"/>
              </a:ext>
            </a:extLst>
          </p:cNvPr>
          <p:cNvSpPr>
            <a:spLocks noGrp="1"/>
          </p:cNvSpPr>
          <p:nvPr>
            <p:ph idx="1"/>
          </p:nvPr>
        </p:nvSpPr>
        <p:spPr/>
        <p:txBody>
          <a:bodyPr/>
          <a:lstStyle/>
          <a:p>
            <a:endParaRPr lang="en-GB"/>
          </a:p>
        </p:txBody>
      </p:sp>
      <p:sp>
        <p:nvSpPr>
          <p:cNvPr id="3" name="Title 2">
            <a:extLst>
              <a:ext uri="{FF2B5EF4-FFF2-40B4-BE49-F238E27FC236}">
                <a16:creationId xmlns:a16="http://schemas.microsoft.com/office/drawing/2014/main" id="{93211C74-3BAF-F27C-A85F-629CB56E3E56}"/>
              </a:ext>
            </a:extLst>
          </p:cNvPr>
          <p:cNvSpPr>
            <a:spLocks noGrp="1"/>
          </p:cNvSpPr>
          <p:nvPr>
            <p:ph type="title"/>
          </p:nvPr>
        </p:nvSpPr>
        <p:spPr/>
        <p:txBody>
          <a:bodyPr/>
          <a:lstStyle/>
          <a:p>
            <a:r>
              <a:rPr lang="en-GB"/>
              <a:t>This</a:t>
            </a:r>
          </a:p>
        </p:txBody>
      </p:sp>
      <p:pic>
        <p:nvPicPr>
          <p:cNvPr id="4" name="Graphic 3">
            <a:extLst>
              <a:ext uri="{FF2B5EF4-FFF2-40B4-BE49-F238E27FC236}">
                <a16:creationId xmlns:a16="http://schemas.microsoft.com/office/drawing/2014/main" id="{14A9254E-544B-8E66-5EAE-BE35A3C03B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93342" y="-4598978"/>
            <a:ext cx="34762396" cy="17728823"/>
          </a:xfrm>
          <a:prstGeom prst="rect">
            <a:avLst/>
          </a:prstGeom>
        </p:spPr>
      </p:pic>
    </p:spTree>
    <p:extLst>
      <p:ext uri="{BB962C8B-B14F-4D97-AF65-F5344CB8AC3E}">
        <p14:creationId xmlns:p14="http://schemas.microsoft.com/office/powerpoint/2010/main" val="25315178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A13D084F-E8FE-14E3-7A60-1AB8B95A44C2}"/>
              </a:ext>
            </a:extLst>
          </p:cNvPr>
          <p:cNvSpPr txBox="1"/>
          <p:nvPr/>
        </p:nvSpPr>
        <p:spPr>
          <a:xfrm>
            <a:off x="1046162" y="1057275"/>
            <a:ext cx="4892675" cy="5187830"/>
          </a:xfrm>
          <a:prstGeom prst="rect">
            <a:avLst/>
          </a:prstGeom>
          <a:noFill/>
        </p:spPr>
        <p:txBody>
          <a:bodyPr wrap="square" rtlCol="0">
            <a:spAutoFit/>
          </a:bodyPr>
          <a:lstStyle/>
          <a:p>
            <a:pPr>
              <a:lnSpc>
                <a:spcPct val="110000"/>
              </a:lnSpc>
            </a:pPr>
            <a:r>
              <a:rPr lang="en-US" sz="1400"/>
              <a:t>Dear Speaker, we are thrilled and honored to have you with us in Wiesbaden in 2026. Take your time and read this before you prepare your session. </a:t>
            </a:r>
          </a:p>
          <a:p>
            <a:pPr>
              <a:lnSpc>
                <a:spcPct val="110000"/>
              </a:lnSpc>
            </a:pPr>
            <a:endParaRPr lang="en-US" sz="1400"/>
          </a:p>
          <a:p>
            <a:pPr>
              <a:lnSpc>
                <a:spcPct val="110000"/>
              </a:lnSpc>
              <a:spcAft>
                <a:spcPts val="1000"/>
              </a:spcAft>
            </a:pPr>
            <a:r>
              <a:rPr lang="en-US" sz="1400"/>
              <a:t>Since most of you have been with us before, you will already know a lot about </a:t>
            </a:r>
            <a:r>
              <a:rPr lang="en-US" sz="1400" err="1"/>
              <a:t>PSConfEU</a:t>
            </a:r>
            <a:r>
              <a:rPr lang="en-US" sz="1400"/>
              <a:t>. You know that we try to capture all sessions carefully and publish your work on YouTube. </a:t>
            </a:r>
            <a:r>
              <a:rPr lang="en-US" sz="1400" b="1" u="sng"/>
              <a:t>There are a few easily avoidable stumbling blocks that we would like to draw your attention to: </a:t>
            </a:r>
          </a:p>
          <a:p>
            <a:pPr marL="285750" indent="-285750">
              <a:lnSpc>
                <a:spcPct val="110000"/>
              </a:lnSpc>
              <a:buClr>
                <a:srgbClr val="C00000"/>
              </a:buClr>
              <a:buFont typeface="Arial" panose="020B0604020202020204" pitchFamily="34" charset="0"/>
              <a:buChar char="•"/>
            </a:pPr>
            <a:r>
              <a:rPr lang="en-US" sz="1400"/>
              <a:t>Your screen resolution should be</a:t>
            </a:r>
            <a:br>
              <a:rPr lang="en-US" sz="1400"/>
            </a:br>
            <a:r>
              <a:rPr lang="en-US" sz="1400"/>
              <a:t>1920x1080 </a:t>
            </a:r>
            <a:r>
              <a:rPr lang="en-US" sz="1400" err="1"/>
              <a:t>px</a:t>
            </a:r>
            <a:r>
              <a:rPr lang="en-US" sz="1400"/>
              <a:t> (</a:t>
            </a:r>
            <a:r>
              <a:rPr lang="en-US" sz="1400" err="1"/>
              <a:t>FullHD</a:t>
            </a:r>
            <a:r>
              <a:rPr lang="en-US" sz="1400"/>
              <a:t>)</a:t>
            </a:r>
          </a:p>
          <a:p>
            <a:pPr marL="285750" indent="-285750">
              <a:lnSpc>
                <a:spcPct val="110000"/>
              </a:lnSpc>
              <a:buClr>
                <a:srgbClr val="C00000"/>
              </a:buClr>
              <a:buFont typeface="Arial" panose="020B0604020202020204" pitchFamily="34" charset="0"/>
              <a:buChar char="•"/>
            </a:pPr>
            <a:r>
              <a:rPr lang="en-US" sz="1400"/>
              <a:t>You should provide a full size HDMI socket</a:t>
            </a:r>
          </a:p>
          <a:p>
            <a:pPr marL="285750" indent="-285750">
              <a:lnSpc>
                <a:spcPct val="110000"/>
              </a:lnSpc>
              <a:buClr>
                <a:srgbClr val="C00000"/>
              </a:buClr>
              <a:buFont typeface="Arial" panose="020B0604020202020204" pitchFamily="34" charset="0"/>
              <a:buChar char="•"/>
            </a:pPr>
            <a:r>
              <a:rPr lang="en-US" sz="1400"/>
              <a:t>Mirror your screen</a:t>
            </a:r>
          </a:p>
          <a:p>
            <a:pPr marL="285750" indent="-285750">
              <a:lnSpc>
                <a:spcPct val="110000"/>
              </a:lnSpc>
              <a:buClr>
                <a:srgbClr val="C00000"/>
              </a:buClr>
              <a:buFont typeface="Arial" panose="020B0604020202020204" pitchFamily="34" charset="0"/>
              <a:buChar char="•"/>
            </a:pPr>
            <a:r>
              <a:rPr lang="en-US" sz="1400"/>
              <a:t>Disable "Presenter View" in PowerPoint</a:t>
            </a:r>
          </a:p>
          <a:p>
            <a:pPr marL="285750" indent="-285750">
              <a:lnSpc>
                <a:spcPct val="110000"/>
              </a:lnSpc>
              <a:buClr>
                <a:srgbClr val="C00000"/>
              </a:buClr>
              <a:buFont typeface="Arial" panose="020B0604020202020204" pitchFamily="34" charset="0"/>
              <a:buChar char="•"/>
            </a:pPr>
            <a:r>
              <a:rPr lang="en-US" sz="1400"/>
              <a:t>Using MAC or Surface book? </a:t>
            </a:r>
            <a:br>
              <a:rPr lang="en-US" sz="1400"/>
            </a:br>
            <a:r>
              <a:rPr lang="en-US" sz="1400"/>
              <a:t>Be aware of HDCP!</a:t>
            </a:r>
          </a:p>
          <a:p>
            <a:pPr marL="285750" indent="-285750">
              <a:lnSpc>
                <a:spcPct val="110000"/>
              </a:lnSpc>
              <a:buClr>
                <a:srgbClr val="C00000"/>
              </a:buClr>
              <a:buFont typeface="Arial" panose="020B0604020202020204" pitchFamily="34" charset="0"/>
              <a:buChar char="•"/>
            </a:pPr>
            <a:r>
              <a:rPr lang="en-US" sz="1400"/>
              <a:t>Disable the ‘Night Light’ Mode</a:t>
            </a:r>
          </a:p>
          <a:p>
            <a:pPr marL="285750" indent="-285750">
              <a:lnSpc>
                <a:spcPct val="110000"/>
              </a:lnSpc>
              <a:buClr>
                <a:srgbClr val="C00000"/>
              </a:buClr>
              <a:buFont typeface="Arial" panose="020B0604020202020204" pitchFamily="34" charset="0"/>
              <a:buChar char="•"/>
            </a:pPr>
            <a:r>
              <a:rPr lang="en-GB" sz="1400"/>
              <a:t>Enable the presentation setting</a:t>
            </a:r>
            <a:br>
              <a:rPr lang="en-GB" sz="1400"/>
            </a:br>
            <a:r>
              <a:rPr lang="en-GB" sz="1400" i="1"/>
              <a:t>(presentationsettings.exe in Windows)</a:t>
            </a:r>
          </a:p>
          <a:p>
            <a:pPr marL="285750" indent="-285750">
              <a:lnSpc>
                <a:spcPct val="110000"/>
              </a:lnSpc>
              <a:buClr>
                <a:srgbClr val="C00000"/>
              </a:buClr>
              <a:buFont typeface="Arial" panose="020B0604020202020204" pitchFamily="34" charset="0"/>
              <a:buChar char="•"/>
            </a:pPr>
            <a:r>
              <a:rPr lang="en-GB" sz="1400"/>
              <a:t>If you present sensitive information on web portals, consider using something like "</a:t>
            </a:r>
            <a:r>
              <a:rPr lang="en-GB" sz="1400" err="1"/>
              <a:t>CloudCloak</a:t>
            </a:r>
            <a:r>
              <a:rPr lang="en-GB" sz="1400"/>
              <a:t>"</a:t>
            </a:r>
            <a:endParaRPr lang="en-US" sz="1400" i="1"/>
          </a:p>
        </p:txBody>
      </p:sp>
      <p:sp>
        <p:nvSpPr>
          <p:cNvPr id="4" name="Rechteck 3">
            <a:extLst>
              <a:ext uri="{FF2B5EF4-FFF2-40B4-BE49-F238E27FC236}">
                <a16:creationId xmlns:a16="http://schemas.microsoft.com/office/drawing/2014/main" id="{CBA44082-0847-F389-B219-CBA49C7725C2}"/>
              </a:ext>
            </a:extLst>
          </p:cNvPr>
          <p:cNvSpPr/>
          <p:nvPr/>
        </p:nvSpPr>
        <p:spPr>
          <a:xfrm>
            <a:off x="0" y="0"/>
            <a:ext cx="889000" cy="68580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4400">
                <a:latin typeface="Calibri" panose="020F0502020204030204" pitchFamily="34" charset="0"/>
                <a:ea typeface="Calibri" panose="020F0502020204030204" pitchFamily="34" charset="0"/>
                <a:cs typeface="Calibri" panose="020F0502020204030204" pitchFamily="34" charset="0"/>
              </a:rPr>
              <a:t>BURN AFTER READING</a:t>
            </a:r>
            <a:endParaRPr lang="en-DE" sz="4400">
              <a:latin typeface="Calibri" panose="020F0502020204030204" pitchFamily="34" charset="0"/>
              <a:ea typeface="Calibri" panose="020F0502020204030204" pitchFamily="34" charset="0"/>
              <a:cs typeface="Calibri" panose="020F0502020204030204" pitchFamily="34" charset="0"/>
            </a:endParaRPr>
          </a:p>
        </p:txBody>
      </p:sp>
      <p:sp>
        <p:nvSpPr>
          <p:cNvPr id="2" name="Textfeld 1">
            <a:extLst>
              <a:ext uri="{FF2B5EF4-FFF2-40B4-BE49-F238E27FC236}">
                <a16:creationId xmlns:a16="http://schemas.microsoft.com/office/drawing/2014/main" id="{A196BBFD-A430-8F6F-DBB7-52C55DB3DA2F}"/>
              </a:ext>
            </a:extLst>
          </p:cNvPr>
          <p:cNvSpPr txBox="1"/>
          <p:nvPr/>
        </p:nvSpPr>
        <p:spPr>
          <a:xfrm>
            <a:off x="5938836" y="663834"/>
            <a:ext cx="5972175" cy="5087290"/>
          </a:xfrm>
          <a:prstGeom prst="rect">
            <a:avLst/>
          </a:prstGeom>
          <a:noFill/>
        </p:spPr>
        <p:txBody>
          <a:bodyPr wrap="square" rtlCol="0">
            <a:spAutoFit/>
          </a:bodyPr>
          <a:lstStyle/>
          <a:p>
            <a:pPr>
              <a:lnSpc>
                <a:spcPct val="110000"/>
              </a:lnSpc>
              <a:spcAft>
                <a:spcPts val="800"/>
              </a:spcAft>
            </a:pPr>
            <a:r>
              <a:rPr lang="en-US" sz="1600" b="1" err="1">
                <a:highlight>
                  <a:srgbClr val="00FF00"/>
                </a:highlight>
              </a:rPr>
              <a:t>about_SlideDeck</a:t>
            </a:r>
            <a:endParaRPr lang="en-US" sz="1600" b="1">
              <a:highlight>
                <a:srgbClr val="00FF00"/>
              </a:highlight>
            </a:endParaRPr>
          </a:p>
          <a:p>
            <a:pPr>
              <a:lnSpc>
                <a:spcPct val="110000"/>
              </a:lnSpc>
            </a:pPr>
            <a:r>
              <a:rPr lang="en-US" sz="1400"/>
              <a:t>The actual presentation starts with slide 6 ("Session title"). The first five slides have a purely </a:t>
            </a:r>
            <a:r>
              <a:rPr lang="en-US" sz="1400" err="1"/>
              <a:t>organisational</a:t>
            </a:r>
            <a:r>
              <a:rPr lang="en-US" sz="1400"/>
              <a:t> purpose. During the break before your session, you should start the presentation with slide 2 ("Next up"), so that the audience knows that they are in the right room. It's fine if you start chatting with the audience during this break, </a:t>
            </a:r>
            <a:r>
              <a:rPr lang="en-US" sz="1400" b="1"/>
              <a:t>but</a:t>
            </a:r>
            <a:r>
              <a:rPr lang="en-US" sz="1400"/>
              <a:t> </a:t>
            </a:r>
            <a:r>
              <a:rPr lang="en-US" sz="1400" b="1"/>
              <a:t>we need a precise starting point for your presentation </a:t>
            </a:r>
            <a:r>
              <a:rPr lang="en-US" sz="1400"/>
              <a:t>in terms of editing your video. That means: </a:t>
            </a:r>
          </a:p>
          <a:p>
            <a:pPr>
              <a:lnSpc>
                <a:spcPct val="110000"/>
              </a:lnSpc>
            </a:pPr>
            <a:r>
              <a:rPr lang="en-US" sz="1400"/>
              <a:t>The recording of your presentation will start after the countdown. </a:t>
            </a:r>
            <a:r>
              <a:rPr lang="en-US" sz="1400" b="1"/>
              <a:t>Please  (RE)START talking after the countdown</a:t>
            </a:r>
            <a:r>
              <a:rPr lang="en-US" sz="1400"/>
              <a:t>, not during it! Otherwise your recording will start with a half sentence.  </a:t>
            </a:r>
          </a:p>
          <a:p>
            <a:pPr>
              <a:lnSpc>
                <a:spcPct val="110000"/>
              </a:lnSpc>
            </a:pPr>
            <a:r>
              <a:rPr lang="en-US" sz="1400"/>
              <a:t>It is not necessary to explicitly signal to the PA operator, this is your signal! </a:t>
            </a:r>
          </a:p>
          <a:p>
            <a:pPr>
              <a:lnSpc>
                <a:spcPct val="110000"/>
              </a:lnSpc>
            </a:pPr>
            <a:endParaRPr lang="en-US" sz="1400"/>
          </a:p>
          <a:p>
            <a:pPr>
              <a:lnSpc>
                <a:spcPct val="110000"/>
              </a:lnSpc>
            </a:pPr>
            <a:r>
              <a:rPr lang="en-US" sz="1400"/>
              <a:t>Finally, do you have to use this slide deck? </a:t>
            </a:r>
            <a:br>
              <a:rPr lang="en-US" sz="1400"/>
            </a:br>
            <a:r>
              <a:rPr lang="en-US" sz="1400"/>
              <a:t>No, you are free to present the way you like it. But you are asked </a:t>
            </a:r>
            <a:br>
              <a:rPr lang="en-US" sz="1400"/>
            </a:br>
            <a:r>
              <a:rPr lang="en-US" sz="1400"/>
              <a:t>to use the intro slides: countdown, session title, sponsor slide.</a:t>
            </a:r>
            <a:br>
              <a:rPr lang="en-US" sz="1400"/>
            </a:br>
            <a:r>
              <a:rPr lang="en-US" sz="1400"/>
              <a:t>Beyond that, use what is good for the cause – from no slides to sketches from your children, from </a:t>
            </a:r>
            <a:r>
              <a:rPr lang="en-US" sz="1400" err="1"/>
              <a:t>Jupyter</a:t>
            </a:r>
            <a:r>
              <a:rPr lang="en-US" sz="1400"/>
              <a:t> to $</a:t>
            </a:r>
            <a:r>
              <a:rPr lang="en-US" sz="1400" err="1"/>
              <a:t>youNameIt</a:t>
            </a:r>
            <a:r>
              <a:rPr lang="en-US" sz="1400"/>
              <a:t>. </a:t>
            </a:r>
          </a:p>
          <a:p>
            <a:pPr>
              <a:lnSpc>
                <a:spcPct val="110000"/>
              </a:lnSpc>
              <a:spcAft>
                <a:spcPts val="1000"/>
              </a:spcAft>
            </a:pPr>
            <a:r>
              <a:rPr lang="en-US" sz="1400"/>
              <a:t>You will find additional information in the notes below.</a:t>
            </a:r>
          </a:p>
          <a:p>
            <a:pPr>
              <a:lnSpc>
                <a:spcPct val="110000"/>
              </a:lnSpc>
            </a:pPr>
            <a:r>
              <a:rPr lang="en-US" sz="1400" i="1"/>
              <a:t>Sincerely, your hosts!</a:t>
            </a:r>
          </a:p>
        </p:txBody>
      </p:sp>
      <p:sp>
        <p:nvSpPr>
          <p:cNvPr id="5" name="Titel 4">
            <a:extLst>
              <a:ext uri="{FF2B5EF4-FFF2-40B4-BE49-F238E27FC236}">
                <a16:creationId xmlns:a16="http://schemas.microsoft.com/office/drawing/2014/main" id="{E2CFEAF8-3999-F242-E154-0BD39B8675DC}"/>
              </a:ext>
            </a:extLst>
          </p:cNvPr>
          <p:cNvSpPr>
            <a:spLocks noGrp="1"/>
          </p:cNvSpPr>
          <p:nvPr>
            <p:ph type="title" idx="4294967295"/>
          </p:nvPr>
        </p:nvSpPr>
        <p:spPr>
          <a:xfrm>
            <a:off x="1046161" y="66675"/>
            <a:ext cx="4892675" cy="662782"/>
          </a:xfrm>
          <a:prstGeom prst="rect">
            <a:avLst/>
          </a:prstGeom>
        </p:spPr>
        <p:txBody>
          <a:bodyPr/>
          <a:lstStyle/>
          <a:p>
            <a:r>
              <a:rPr lang="en-DE" sz="4200">
                <a:latin typeface="Calibri" panose="020F0502020204030204" pitchFamily="34" charset="0"/>
                <a:ea typeface="Calibri" panose="020F0502020204030204" pitchFamily="34" charset="0"/>
                <a:cs typeface="Calibri" panose="020F0502020204030204" pitchFamily="34" charset="0"/>
              </a:rPr>
              <a:t>R</a:t>
            </a:r>
            <a:r>
              <a:rPr lang="en-US" sz="4200">
                <a:latin typeface="Calibri" panose="020F0502020204030204" pitchFamily="34" charset="0"/>
                <a:ea typeface="Calibri" panose="020F0502020204030204" pitchFamily="34" charset="0"/>
                <a:cs typeface="Calibri" panose="020F0502020204030204" pitchFamily="34" charset="0"/>
              </a:rPr>
              <a:t>EADME</a:t>
            </a:r>
            <a:endParaRPr lang="en-DE" sz="42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10957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5B32-5508-746F-68D8-7CD5B87075B3}"/>
              </a:ext>
            </a:extLst>
          </p:cNvPr>
          <p:cNvSpPr>
            <a:spLocks noGrp="1"/>
          </p:cNvSpPr>
          <p:nvPr>
            <p:ph type="title"/>
          </p:nvPr>
        </p:nvSpPr>
        <p:spPr/>
        <p:txBody>
          <a:bodyPr/>
          <a:lstStyle/>
          <a:p>
            <a:r>
              <a:rPr lang="en-GB"/>
              <a:t>Instructions</a:t>
            </a:r>
          </a:p>
        </p:txBody>
      </p:sp>
      <p:sp>
        <p:nvSpPr>
          <p:cNvPr id="3" name="Content Placeholder 2">
            <a:extLst>
              <a:ext uri="{FF2B5EF4-FFF2-40B4-BE49-F238E27FC236}">
                <a16:creationId xmlns:a16="http://schemas.microsoft.com/office/drawing/2014/main" id="{66E58DE9-2079-E03F-78A8-7FE2D8B2F0E7}"/>
              </a:ext>
            </a:extLst>
          </p:cNvPr>
          <p:cNvSpPr>
            <a:spLocks noGrp="1"/>
          </p:cNvSpPr>
          <p:nvPr>
            <p:ph idx="1"/>
          </p:nvPr>
        </p:nvSpPr>
        <p:spPr/>
        <p:txBody>
          <a:bodyPr>
            <a:normAutofit lnSpcReduction="10000"/>
          </a:bodyPr>
          <a:lstStyle/>
          <a:p>
            <a:r>
              <a:rPr lang="en-GB"/>
              <a:t>Use this template if you want, it’s preferred but not mandatory.</a:t>
            </a:r>
          </a:p>
          <a:p>
            <a:r>
              <a:rPr lang="en-GB"/>
              <a:t>Please make sure our sponsors are mentioned on your first slide after the title.</a:t>
            </a:r>
          </a:p>
          <a:p>
            <a:r>
              <a:rPr lang="en-GB"/>
              <a:t>Do not amend the ratio or the colours of the sponsors’ logo and background.</a:t>
            </a:r>
          </a:p>
          <a:p>
            <a:r>
              <a:rPr lang="en-GB"/>
              <a:t>Update your twitter handle through the master page (see next slides).</a:t>
            </a:r>
          </a:p>
          <a:p>
            <a:endParaRPr lang="en-GB"/>
          </a:p>
        </p:txBody>
      </p:sp>
    </p:spTree>
    <p:extLst>
      <p:ext uri="{BB962C8B-B14F-4D97-AF65-F5344CB8AC3E}">
        <p14:creationId xmlns:p14="http://schemas.microsoft.com/office/powerpoint/2010/main" val="34223637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E053C-741E-8349-0EAA-61BB90AA5C8A}"/>
              </a:ext>
            </a:extLst>
          </p:cNvPr>
          <p:cNvSpPr>
            <a:spLocks noGrp="1"/>
          </p:cNvSpPr>
          <p:nvPr>
            <p:ph type="title"/>
          </p:nvPr>
        </p:nvSpPr>
        <p:spPr/>
        <p:txBody>
          <a:bodyPr/>
          <a:lstStyle/>
          <a:p>
            <a:r>
              <a:rPr lang="en-GB"/>
              <a:t>Instruction (Continued)</a:t>
            </a:r>
          </a:p>
        </p:txBody>
      </p:sp>
      <p:sp>
        <p:nvSpPr>
          <p:cNvPr id="3" name="Content Placeholder 2">
            <a:extLst>
              <a:ext uri="{FF2B5EF4-FFF2-40B4-BE49-F238E27FC236}">
                <a16:creationId xmlns:a16="http://schemas.microsoft.com/office/drawing/2014/main" id="{D7E72C65-167D-1927-2A32-0E6E760ABC81}"/>
              </a:ext>
            </a:extLst>
          </p:cNvPr>
          <p:cNvSpPr>
            <a:spLocks noGrp="1"/>
          </p:cNvSpPr>
          <p:nvPr>
            <p:ph idx="1"/>
          </p:nvPr>
        </p:nvSpPr>
        <p:spPr/>
        <p:txBody>
          <a:bodyPr/>
          <a:lstStyle/>
          <a:p>
            <a:r>
              <a:rPr lang="en-GB"/>
              <a:t>The session is 30 min.</a:t>
            </a:r>
          </a:p>
          <a:p>
            <a:r>
              <a:rPr lang="en-GB"/>
              <a:t>Then 15min Q&amp;A.</a:t>
            </a:r>
          </a:p>
          <a:p>
            <a:r>
              <a:rPr lang="en-GB"/>
              <a:t>At the end of your 45 min, please leave the room to the next speaker.</a:t>
            </a:r>
          </a:p>
          <a:p>
            <a:r>
              <a:rPr lang="en-GB"/>
              <a:t>You’re welcome to continue the discussion in the Foyer area.</a:t>
            </a:r>
          </a:p>
        </p:txBody>
      </p:sp>
    </p:spTree>
    <p:extLst>
      <p:ext uri="{BB962C8B-B14F-4D97-AF65-F5344CB8AC3E}">
        <p14:creationId xmlns:p14="http://schemas.microsoft.com/office/powerpoint/2010/main" val="29610066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DBC23-8CF5-F46B-F80E-0FCEB6A13323}"/>
              </a:ext>
            </a:extLst>
          </p:cNvPr>
          <p:cNvSpPr>
            <a:spLocks noGrp="1"/>
          </p:cNvSpPr>
          <p:nvPr>
            <p:ph type="title"/>
          </p:nvPr>
        </p:nvSpPr>
        <p:spPr/>
        <p:txBody>
          <a:bodyPr/>
          <a:lstStyle/>
          <a:p>
            <a:pPr algn="l"/>
            <a:r>
              <a:rPr lang="en-GB" sz="3600" b="1" dirty="0">
                <a:solidFill>
                  <a:srgbClr val="346296"/>
                </a:solidFill>
              </a:rPr>
              <a:t>Under the Hood</a:t>
            </a:r>
          </a:p>
        </p:txBody>
      </p:sp>
      <p:sp>
        <p:nvSpPr>
          <p:cNvPr id="3" name="Content Placeholder 2">
            <a:extLst>
              <a:ext uri="{FF2B5EF4-FFF2-40B4-BE49-F238E27FC236}">
                <a16:creationId xmlns:a16="http://schemas.microsoft.com/office/drawing/2014/main" id="{F3E50124-AB8A-E2DB-F95E-07B89E40BFE4}"/>
              </a:ext>
            </a:extLst>
          </p:cNvPr>
          <p:cNvSpPr>
            <a:spLocks noGrp="1"/>
          </p:cNvSpPr>
          <p:nvPr>
            <p:ph idx="1"/>
          </p:nvPr>
        </p:nvSpPr>
        <p:spPr/>
        <p:txBody>
          <a:bodyPr/>
          <a:lstStyle/>
          <a:p>
            <a:pPr marL="0" indent="0">
              <a:spcBef>
                <a:spcPts val="200"/>
              </a:spcBef>
              <a:spcAft>
                <a:spcPts val="600"/>
              </a:spcAft>
              <a:buNone/>
            </a:pPr>
            <a:r>
              <a:rPr lang="en-GB" sz="2000" dirty="0">
                <a:solidFill>
                  <a:srgbClr val="44546A"/>
                </a:solidFill>
              </a:rPr>
              <a:t>How Data API Builder works, how you configure it, and where you can run it.</a:t>
            </a:r>
          </a:p>
          <a:p>
            <a:pPr marL="914400" indent="0">
              <a:spcBef>
                <a:spcPts val="800"/>
              </a:spcBef>
              <a:buNone/>
            </a:pPr>
            <a:r>
              <a:rPr lang="en-GB" sz="2400" b="1" dirty="0">
                <a:solidFill>
                  <a:srgbClr val="4472C4"/>
                </a:solidFill>
              </a:rPr>
              <a:t>Architecture</a:t>
            </a:r>
          </a:p>
          <a:p>
            <a:pPr marL="914400" indent="0">
              <a:spcBef>
                <a:spcPts val="200"/>
              </a:spcBef>
              <a:buNone/>
            </a:pPr>
            <a:r>
              <a:rPr lang="en-GB" sz="1800" dirty="0">
                <a:solidFill>
                  <a:srgbClr val="44546A"/>
                </a:solidFill>
              </a:rPr>
              <a:t>Database → DAB engine → REST &amp; GraphQL endpoints</a:t>
            </a:r>
          </a:p>
          <a:p>
            <a:pPr marL="914400" indent="0">
              <a:spcBef>
                <a:spcPts val="800"/>
              </a:spcBef>
              <a:buNone/>
            </a:pPr>
            <a:r>
              <a:rPr lang="en-GB" sz="2400" b="1" dirty="0">
                <a:solidFill>
                  <a:srgbClr val="4472C4"/>
                </a:solidFill>
              </a:rPr>
              <a:t>Configuration</a:t>
            </a:r>
          </a:p>
          <a:p>
            <a:pPr marL="914400" indent="0">
              <a:spcBef>
                <a:spcPts val="200"/>
              </a:spcBef>
              <a:buNone/>
            </a:pPr>
            <a:r>
              <a:rPr lang="en-GB" sz="1800" dirty="0">
                <a:solidFill>
                  <a:srgbClr val="44546A"/>
                </a:solidFill>
              </a:rPr>
              <a:t>One JSON file defines data sources and entity exposure</a:t>
            </a:r>
          </a:p>
          <a:p>
            <a:pPr marL="914400" indent="0">
              <a:spcBef>
                <a:spcPts val="800"/>
              </a:spcBef>
              <a:buNone/>
            </a:pPr>
            <a:r>
              <a:rPr lang="en-GB" sz="2400" b="1" dirty="0">
                <a:solidFill>
                  <a:srgbClr val="4472C4"/>
                </a:solidFill>
              </a:rPr>
              <a:t>Deployment</a:t>
            </a:r>
          </a:p>
          <a:p>
            <a:pPr marL="914400" indent="0">
              <a:spcBef>
                <a:spcPts val="200"/>
              </a:spcBef>
              <a:buNone/>
            </a:pPr>
            <a:r>
              <a:rPr lang="en-GB" sz="1800" dirty="0">
                <a:solidFill>
                  <a:srgbClr val="44546A"/>
                </a:solidFill>
              </a:rPr>
              <a:t>Docker, Container Apps, App Service, or AKS</a:t>
            </a:r>
          </a:p>
        </p:txBody>
      </p:sp>
      <p:pic>
        <p:nvPicPr>
          <p:cNvPr id="4" name="Graphic 4" descr="Architecture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65200" y="2667000"/>
            <a:ext cx="558800" cy="558800"/>
          </a:xfrm>
          <a:prstGeom prst="rect">
            <a:avLst/>
          </a:prstGeom>
        </p:spPr>
      </p:pic>
      <p:pic>
        <p:nvPicPr>
          <p:cNvPr id="5" name="Graphic 5" descr="Configuration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5200" y="3937000"/>
            <a:ext cx="558800" cy="558800"/>
          </a:xfrm>
          <a:prstGeom prst="rect">
            <a:avLst/>
          </a:prstGeom>
        </p:spPr>
      </p:pic>
      <p:pic>
        <p:nvPicPr>
          <p:cNvPr id="6" name="Graphic 6" descr="Deployment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5200" y="4254500"/>
            <a:ext cx="558800" cy="558800"/>
          </a:xfrm>
          <a:prstGeom prst="rect">
            <a:avLst/>
          </a:prstGeom>
        </p:spPr>
      </p:pic>
    </p:spTree>
    <p:extLst>
      <p:ext uri="{BB962C8B-B14F-4D97-AF65-F5344CB8AC3E}">
        <p14:creationId xmlns:p14="http://schemas.microsoft.com/office/powerpoint/2010/main" val="207488058"/>
      </p:ext>
    </p:extLst>
  </p:cSld>
  <p:clrMapOvr>
    <a:masterClrMapping/>
  </p:clrMapOvr>
</p:sld>
</file>

<file path=ppt/theme/theme1.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peaker's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a:themeElements>
    <a:clrScheme name="PSConfEU">
      <a:dk1>
        <a:sysClr val="windowText" lastClr="000000"/>
      </a:dk1>
      <a:lt1>
        <a:sysClr val="window" lastClr="FFFFFF"/>
      </a:lt1>
      <a:dk2>
        <a:srgbClr val="44546A"/>
      </a:dk2>
      <a:lt2>
        <a:srgbClr val="E7E6E6"/>
      </a:lt2>
      <a:accent1>
        <a:srgbClr val="326198"/>
      </a:accent1>
      <a:accent2>
        <a:srgbClr val="ED7D31"/>
      </a:accent2>
      <a:accent3>
        <a:srgbClr val="A5A5A5"/>
      </a:accent3>
      <a:accent4>
        <a:srgbClr val="FFC000"/>
      </a:accent4>
      <a:accent5>
        <a:srgbClr val="5B9BD5"/>
      </a:accent5>
      <a:accent6>
        <a:srgbClr val="70AD47"/>
      </a:accent6>
      <a:hlink>
        <a:srgbClr val="0563C1"/>
      </a:hlink>
      <a:folHlink>
        <a:srgbClr val="0563C1"/>
      </a:folHlink>
    </a:clrScheme>
    <a:fontScheme name="PSConfEU202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5D37454-8B27-4C77-846D-04F0B0E6F709}">
  <we:reference id="wa200010001" version="1.0.0.1" store="en-US" storeType="OMEX"/>
  <we:alternateReferences>
    <we:reference id="wa200010001" version="1.0.0.1" store="wa200010001" storeType="OMEX"/>
  </we:alternateReferences>
  <we:properties>
    <we:property name="claude.fileId" value="&quot;b0462ffd-edd2-49f4-838e-a51f648c0dc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3502FDC476714EB47BD1BE2BFD7B3D" ma:contentTypeVersion="13" ma:contentTypeDescription="Create a new document." ma:contentTypeScope="" ma:versionID="0d4fb5ca5076182280cb93c7d6bdff79">
  <xsd:schema xmlns:xsd="http://www.w3.org/2001/XMLSchema" xmlns:xs="http://www.w3.org/2001/XMLSchema" xmlns:p="http://schemas.microsoft.com/office/2006/metadata/properties" xmlns:ns2="abdc9a1f-962e-4235-838d-61f9c438f4db" xmlns:ns3="de47e97d-64fd-4aef-b10e-fd7d6cfcfcf4" targetNamespace="http://schemas.microsoft.com/office/2006/metadata/properties" ma:root="true" ma:fieldsID="da14a0effa8c0f0120811d0692d695e7" ns2:_="" ns3:_="">
    <xsd:import namespace="abdc9a1f-962e-4235-838d-61f9c438f4db"/>
    <xsd:import namespace="de47e97d-64fd-4aef-b10e-fd7d6cfcfcf4"/>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dc9a1f-962e-4235-838d-61f9c438f4db"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bd613703-4b30-4a23-b3bf-9e58a81c4af7"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e47e97d-64fd-4aef-b10e-fd7d6cfcfcf4"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2f96598e-1e7b-44ab-a102-458ae76ccdba}" ma:internalName="TaxCatchAll" ma:showField="CatchAllData" ma:web="de47e97d-64fd-4aef-b10e-fd7d6cfcfcf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bdc9a1f-962e-4235-838d-61f9c438f4db">
      <Terms xmlns="http://schemas.microsoft.com/office/infopath/2007/PartnerControls"/>
    </lcf76f155ced4ddcb4097134ff3c332f>
    <TaxCatchAll xmlns="de47e97d-64fd-4aef-b10e-fd7d6cfcfcf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38D965-436F-4DCC-97AA-50BEF4F7BE29}">
  <ds:schemaRefs>
    <ds:schemaRef ds:uri="abdc9a1f-962e-4235-838d-61f9c438f4db"/>
    <ds:schemaRef ds:uri="de47e97d-64fd-4aef-b10e-fd7d6cfcfcf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A9C06E3-346E-408E-B352-32E922A070CE}">
  <ds:schemaRefs>
    <ds:schemaRef ds:uri="http://purl.org/dc/elements/1.1/"/>
    <ds:schemaRef ds:uri="http://schemas.microsoft.com/office/2006/documentManagement/types"/>
    <ds:schemaRef ds:uri="de47e97d-64fd-4aef-b10e-fd7d6cfcfcf4"/>
    <ds:schemaRef ds:uri="http://purl.org/dc/dcmitype/"/>
    <ds:schemaRef ds:uri="http://purl.org/dc/terms/"/>
    <ds:schemaRef ds:uri="abdc9a1f-962e-4235-838d-61f9c438f4db"/>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57D9B22B-F436-4FE5-B6C0-65AB2260F59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3533</Words>
  <Application>Microsoft Office PowerPoint</Application>
  <PresentationFormat>Widescreen</PresentationFormat>
  <Paragraphs>394</Paragraphs>
  <Slides>44</Slides>
  <Notes>32</Notes>
  <HiddenSlides>9</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44</vt:i4>
      </vt:variant>
    </vt:vector>
  </HeadingPairs>
  <TitlesOfParts>
    <vt:vector size="60" baseType="lpstr">
      <vt:lpstr>Acumin Pro Black</vt:lpstr>
      <vt:lpstr>Aptos</vt:lpstr>
      <vt:lpstr>Arial</vt:lpstr>
      <vt:lpstr>Calibri</vt:lpstr>
      <vt:lpstr>Cascadia Mono</vt:lpstr>
      <vt:lpstr>Consolas</vt:lpstr>
      <vt:lpstr>Etna</vt:lpstr>
      <vt:lpstr>Garet</vt:lpstr>
      <vt:lpstr>Segoe UI</vt:lpstr>
      <vt:lpstr>Segoe UI Light</vt:lpstr>
      <vt:lpstr>Stencil</vt:lpstr>
      <vt:lpstr>Wingdings</vt:lpstr>
      <vt:lpstr>Title</vt:lpstr>
      <vt:lpstr>Blank</vt:lpstr>
      <vt:lpstr>Speaker's slide</vt:lpstr>
      <vt:lpstr>Content</vt:lpstr>
      <vt:lpstr>Next Up:</vt:lpstr>
      <vt:lpstr>3</vt:lpstr>
      <vt:lpstr>2</vt:lpstr>
      <vt:lpstr>1</vt:lpstr>
      <vt:lpstr>Persist Your PowerShell Script Data with Data API Builder</vt:lpstr>
      <vt:lpstr>PowerPoint Presentation</vt:lpstr>
      <vt:lpstr>Jess Pomfret (She/Her)</vt:lpstr>
      <vt:lpstr> if I wanted to cycle 205 miles in one day…</vt:lpstr>
      <vt:lpstr>On 20th June 2026, I'm cycling 205 miles… in one day!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Keeping History Data with DAB</vt:lpstr>
      <vt:lpstr>PowerPoint Presentation</vt:lpstr>
      <vt:lpstr>PowerPoint Presentation</vt:lpstr>
      <vt:lpstr>What is Data API Builder?</vt:lpstr>
      <vt:lpstr>Databases &amp; Endpoints</vt:lpstr>
      <vt:lpstr>PowerPoint Presentation</vt:lpstr>
      <vt:lpstr>Demos</vt:lpstr>
      <vt:lpstr>Zero to API in Minutes</vt:lpstr>
      <vt:lpstr>PowerPoint Presentation</vt:lpstr>
      <vt:lpstr>Sorting &amp; Selecting</vt:lpstr>
      <vt:lpstr>Filtering</vt:lpstr>
      <vt:lpstr>Pagination</vt:lpstr>
      <vt:lpstr>Authentication</vt:lpstr>
      <vt:lpstr>Azure Function + DAB</vt:lpstr>
      <vt:lpstr>Demos</vt:lpstr>
      <vt:lpstr>PowerPoint Presentation</vt:lpstr>
      <vt:lpstr>PowerPoint Presentation</vt:lpstr>
      <vt:lpstr>Get Started Today</vt:lpstr>
      <vt:lpstr>This</vt:lpstr>
      <vt:lpstr>README</vt:lpstr>
      <vt:lpstr>Instructions</vt:lpstr>
      <vt:lpstr>Instruction (Continued)</vt:lpstr>
      <vt:lpstr>Under the Hood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Jess Pomfret</cp:lastModifiedBy>
  <cp:revision>21</cp:revision>
  <dcterms:created xsi:type="dcterms:W3CDTF">2024-03-26T13:08:23Z</dcterms:created>
  <dcterms:modified xsi:type="dcterms:W3CDTF">2026-05-24T08:29:32Z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0x010100333502FDC476714EB47BD1BE2BFD7B3D</vt:lpwstr>
  </property>
  <property fmtid="{D5CDD505-2E9C-101B-9397-08002B2CF9AE}" pid="3" name="MediaServiceImageTags">
    <vt:lpwstr/>
  </property>
</Properties>
</file>